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ورحمة الله وبركاته. أعضاء لجنة التحكيم الموقّرة، أساتذتي الكرام، أشكركم على وقتكم وحضوركم.
نحن عبد الله البكور وأحمد الفاضل ومحمد خطيب، ونقدّم اليوم مشروعنا الفصلي بعنوان «نظام إدارة المخيمات»، بإشراف المهندسة لبنى الأنيس، وهو نظام ويب متكامل بُني بإطار عمل Laravel لإدارة العمليات اليومية داخل مخيمات اللجوء: من تسجيل اللاجئ لحظة وصوله، إلى تخصيص وحدته السكنية، وتوزيع المساعدات عليه، وتتبّع حركة دخوله وخروجه عبر البوابات.
المشروع ليس واجهات فقط: خلفه قاعدة بيانات من ثمانية عشر جدولًا، وسبعة أدوار بصلاحيات دقيقة، ومساعد ذكي يجيب بالعربية، ومجموعة اختبارات آلية من 284 اختبارًا تعمل عند كل تعديل.
سأعرض عليكم البنية أولًا، ثم الوظائف، ثم الميزة البرمجية الأهم وهي المساعد الذكي، ثم كيف عالجت الحالات الاستثنائية وكيف أثبتّ ذلك بالاختبار.
[أداء] لا تقرأ الشريحة. انظر إلى اللجنة، وابتسم، وتنفّس قبل أن تبدأ. عرّف بنفسك وبزميليك ثم انتقل. الزمن: 45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العرض في ستة محاور.
أبدأ بالإطار: ما المشكلة في الإدارة التقليدية للمخيمات، وما الحل الذي أقترحه وأهدافه.
ثم البناء: التقنيات التي اخترتها ولماذا، ومعمارية النظام بطبقاتها، وتصميم قاعدة البيانات.
ثم الوظائف: الوحدات الست التي يغطيها النظام، ونظام الصلاحيات الذي يحكم من يرى ماذا، ثم جولة مصوّرة داخل الشاشات الفعلية.
ثم الابتكار، وهو ما أعتبره نقطة قوة المشروع: المساعد الذكي الذي يجيب عن سؤال مكتوب بالعربية، ومحرّك تحليل النوايا الذي يقف خلفه.
ثم المتانة: كيف يتصرّف النظام حين تسوء الأمور — اسم ملتبس، مخيم غير موجود، خطأ غير متوقع.
وأختم بالبرهان: الاختبارات الآلية التي تثبت أن كل ما قلته يعمل فعلًا، لا أنه مجرد ادّعاء في عرض تقديمي.
[أداء] هذه الشريحة تستغرق 40 ثانية. لا تشرح المحاور، فقط اذكرها ليعرف الحاضر أين هو من العرض.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كثير من المخيمات، تُدار البيانات حتى اليوم بالورق أو بملفات Excel متفرقة، يحتفظ كل قسم بنسخته الخاصة منها. والنتيجة مشاكل متسلسلة:
أولًا: لا يوجد مصدر واحد للحقيقة. قسم التسجيل لديه قائمة، وقسم المساعدات قائمة أخرى، وقسم السكن ثالثة. فإذا انتقلت أسرة من خيمة إلى أخرى، تُحدَّث قائمة واحدة وتبقى البقية قديمة. وهنا تبدأ الازدواجية: شخص يستلم المساعدة مرتين، وآخر لا يستلمها أبدًا.
ثانيًا: الطاقة الاستيعابية غير مضبوطة. لا أحد يعرف بدقة كم وحدة سكنية فارغة الآن، فيُخصَّص لخيمة سعتها خمسة أشخاصٌ ثمانية — لأن الرقم كان في ذهن موظف، لا في نظام يمنع التجاوز.
ثالثًا، وهو الأخطر أمنيًا: حركة الدخول والخروج. في نظام ورقي لا يمكنك أن تجيب عن سؤال بسيط: «من هم الموجودون داخل المخيم الآن؟» — وهو سؤال أمني وإنساني في آن واحد، يُسأل عند الحوادث وعند الإحصاء وعند البحث عن مفقود.
ورابعًا، وهي نقطة تخص لغتنا تحديدًا: البحث بالاسم العربي يفشل في الأنظمة التقليدية. الموظف يكتب «احمد» بألف بلا همزة، والاسم مخزَّن «أحمد» بالهمزة، فلا تظهر أي نتيجة — فيُنشئ الموظف سجلًا جديدًا لنفس الشخص. هكذا تُولد الازدواجية تقنيًا، لا بسبب إهمال الموظف.
والخلاصة: المشكلة ليست نقص البيانات، بل أن البيانات موجودة ولا يمكن الوصول إليها في الوقت المناسب.
[أداء] قف عند نقطة «احمد ≠ أحمد» ثانيتين — ستعود لاحقًا كإجابة.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الحل الذي بنيته نظام ويب مركزي واحد تعمل عليه جميع الأقسام في الوقت نفسه، وتُبنى عليه خمسة أهداف:
الأول: مصدر واحد للحقيقة. قاعدة بيانات علائقية واحدة مترابطة بمفاتيح أجنبية حقيقية. فحين يُنقل لاجئ من وحدة إلى أخرى، يراه قسم المساعدات وقسم الأمن في اللحظة نفسها.
الثاني: منع الخطأ لا تسجيله — وهذه نقطة تصميمية أودّ التوقف عندها. عند نقل لاجئ إلى وحدة، يحسب النظام الإشغال الحالي ويقارنه بالسعة، فإن كانت ممتلئة يرفض العملية ويعرض السبب. لا يسجّل التجاوز ثم ينبّه لاحقًا — يمنعه ابتداءً. والقاعدة في طبقة الخدمات لا في الواجهة، لأن الواجهة يمكن تجاوزها والخدمة لا. وهذا هو معنى العبارة على يسار الشريحة.
الثالث: صلاحيات دقيقة حسب الدور — سبعة أدوار، وسأخصّص لها شريحة كاملة.
الرابع: سجل تدقيق كامل. كل عملية حسّاسة تُكتب في سجل يحفظ من فعل وماذا فعل ومتى وعلى أي سجل. فالمساءلة ممكنة، وهذا مطلب أساسي في أي نظام يتعامل مع بيانات بشر.
والخامس: أن يصل المستخدم إلى المعلومة بسؤال مباشر بالعربية دون أن يتعلّم أين تقع كل شاشة.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أنتقل إلى البنية التقنية، وسأشرح لماذا اخترت كل تقنية لا ما هي فقط.
إطار العمل: Laravel 12 على PHP 8.2. اخترته لثلاثة أسباب عملية: نظام الترحيلات الذي يجعل بنية قاعدة البيانات جزءًا من الكود ويمكن إعادة بناؤها بأمر واحد؛ وطبقة Eloquent التي تستخدم الاستعلامات المُعدّة افتراضيًا فتغلق باب حقن SQL؛ ونظام الطبقات الذي سمح لي بفصل منطق العمل في اثنتي عشرة خدمة مستقلة عن المتحكّمات.
قاعدة البيانات: MySQL 8 بثمانية عشر جدولًا مترابطًا، والقيود في قاعدة البيانات نفسها: مفاتيح أجنبية، وقيود فريدة، وفهارس مركّبة. فحتى لو أخطأ الكود يومًا، قاعدة البيانات ترفض البيانات المتناقضة.
الواجهة: Blade مع CSS وJavaScript عاديين، بلا أي خطوة بناء. قرار مقصود: النظام مُوجَّه لبيئات محدودة الموارد والاتصال، ووجود عملية بناء معقّدة يجعل النشر والصيانة أصعب على فريق ميداني.
بيئة التطوير: XAMPP التي توفّر Apache وMySQL وPHP في حزمة واحدة، وهي الأنسب للتطوير المحلي والتشغيل التجريبي. وأضفت أيضًا ملف Docker Compose في المستودع كخيار بديل.
وإدارة الأكواد: Git وGitHub — لا كمخزن للنسخ فقط، بل بمنهجية فروع ومراجعة عبر طلبات دمج، مع تكامل مستمر عبر GitHub Actions يفحص التنسيق ويشغّل الاختبارات آليًا عند كل رفع.
والأرقام على اليسار: 284 اختبارًا، 18 جدولًا، 12 خدمة، نحو 13,500 سطر.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معمارية النظام من الطلب حتى قاعدة البيانات، وهي معمارية طبقية كلاسيكية بإضافة واحدة مقصودة.
الطلب يصل من المتصفح، فيمرّ أولًا على المسارات والوسائط: هناك يُتحقَّق أن المستخدم مسجّل الدخول وأن دوره يسمح له بهذا المسار. ثم على طلبات التحقق — خمسة عشر صنفًا مسؤولًا عن التأكد أن المدخلات صحيحة قبل أن تصل إلى أي منطق. ثم إلى المتحكّمات، وهي ثلاثة وعشرون متحكّمًا.
وهنا الإضافة التي أودّ التوقف عندها: المتحكّم عندي لا يحتوي منطق عمل. مهمته أن يستقبل الطلب ويسلّمه إلى خدمة، ثم يعيد النتيجة. منطق العمل كله في اثنتي عشرة خدمة مستقلة.
ولماذا؟ لأن القاعدة التي تمنع تجاوز سعة الوحدة السكنية يجب أن تسري على كل طريق يؤدي إلى النقل: شاشة النقل الفردي، ونقل الأسرة كاملة، وأي أمر مستقبلي. لو كتبتها في المتحكّم لاحتجت نسخها في كل نقطة دخول، ولاختلفت النسخ مع الوقت. في الخدمة تُكتب مرة واحدة.
وتحتها النماذج وقاعدة البيانات: ثمانية عشر نموذجًا فوق MySQL.
وثمة ضمانات عابرة للطبقات: كل عملية مركّبة تجري داخل معاملة قاعدة بيانات، فإما أن تكتمل كلها أو لا يُكتب منها شيء. والعمليات التي تقرأ رقمًا ثم تكتب بناءً عليه — كحساب الإشغال — تأخذ قفلًا على مستوى الصف حتى لا يقرأ طلبان الرقم نفسه ويكتبا فوقه. وسجل التدقيق يُكتب داخل المعاملة نفسها، فلا يبقى سجل لعملية أُلغيت.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قاعدة البيانات ثمانية عشر جدولًا، وقد جمعتها هنا في خمس مجموعات.
النواة: المخيمات، والوحدات السكنية، واللاجئون، والأسر. والعلاقة بينها هرمية: المخيم يحوي وحدات، والوحدة تُسكن لاجئين، واللاجئ ينتمي إلى أسرة لها رمز فريد ورب أسرة.
الحركة والأمن: نقاط التفتيش، وسجل الدخول والخروج، والتقارير الأمنية. وكل حركة مربوطة ببوابة محددة ووقت بالدقيقة ومن سجّلها.
المساعدات: المنظمات المانحة، وأنواع المساعدات، وعمليات التوزيع. ولاحظوا أن التوزيع يمكن أن يكون لفرد أو لأسرة، والنظام يجمع الاثنين عند السؤال عن شخص بعينه.
الطبي والسكن: الخدمات الطبية والسجلات، وجدول انتقالات الإقامة الذي يحفظ كل نقل سكني — فتاريخ سكن أي شخص محفوظ بالكامل، لا حالته الحالية فقط.
والحوكمة: المستخدمون والأدوار وسجل التدقيق والإشعارات والمرفقات.
وأربعة قرارات تصميمية تسري على الجداول كلها: المفاتيح الأجنبية تمنع السجل اليتيم — لا يمكن أن يوجد لاجئ في مخيم غير موجود. والقيود الفريدة تمنع تكرار رقم الوثيقة أو رمز الوحدة داخل المخيم. والفهارس المركّبة على أعمدة البحث المتكرر تُبقي الاستعلامات سريعة مع نمو البيانات. والحذف الناعم في تسعة نماذج يعني أن الأرشفة لا تمحو السجل، فتبقى الروابط التاريخية سليمة ويمكن الاسترجاع.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وحدات النظام الست، وسأركّز على القرار الهندسي داخل كل وحدة لا على شكل الشاشة.
الأولى: سجلات اللاجئين. تسجيل بيانات الشخص، وربطه بأسرة عبر رمز فريد مع تحديد صلة القرابة، وأرشفة المرفقات كصور الوثائق. والنظام يولّد لكل لاجئ بطاقة تعريف تحمل باركود بمعيار Code128 — برمجت مولّد الباركود بنفسي داخل المشروع دون مكتبة خارجية، وله ستة اختبارات.
الثانية: الوحدات السكنية. لكل وحدة رمز وسعة وحالة. والنقل يمرّ عبر خدمة واحدة تتحقق من السعة وترفض التجاوز. وكل نقل يُكتب في جدول انتقالات الإقامة، فتاريخ سكن أي شخص محفوظ بالكامل.
الثالثة: توزيع المساعدات. تُسجَّل المنظمات وأنواع المساعدات، ثم عمليات التوزيع لفرد أو لأسرة. والنظام يجمع الاثنين عند الاستعلام: فحين تسأل «ماذا استلم فلان؟» يحسب ما وصله شخصيًا وما وصله عبر أسرته. هذه التفصيلة هي الفرق بين رقم صحيح ورقم ناقص.
الرابعة، وأخصّها بالتفصيل: حركة الدخول والخروج. عند كل مرور يُسجَّل الشخص والبوابة والنوع والوقت والسبب ومن سجّل. وتُحدَّث حالة التواجد فورًا: داخل أو خارج. فيصبح سؤال «من الموجود الآن؟» استعلامًا لحظيًا.
وهنا حالة واقعية عالجتها: ماذا لو مرّ لاجئ من بوابة مخيم غير مخيمه؟ الناس تنتقل فعلًا. الحل الساذج أن يرفض النظام التسجيل — لكن الرفض لا يمنع المرور، بل يترك ثغرة في السجل. لذلك يُسجَّل المرور دائمًا، ويُنسب إلى مخيم البوابة لا مخيم الشخص، لأن الحدث وقع عند البوابة، مع علامة في سجل التدقيق تجعل هذه الحالات قابلة للبحث. ومع ذلك المرور لا يغيّر مكان الإقامة: تغيير الإقامة نقلٌ رسمي يمرّ بخدمة السكن وفحوصات السعة.
الخامسة: السجلات الطبية بمواعيد متابعة تُنبَّه عند استحقاقها. والسادسة: التقارير والتدقيق، بتصدير إلى Excel وطباعة.
وعنصر يخدم الوحدات كلها: البحث العربي الذكي. طبقة تطبيع توحّد الهمزات والتاء المربوطة والألف المقصورة، وتحذف التشكيل والتطويل، وتحوّل الأرقام الهندية. وتُطبَّق على طرفَي المقارنة: على ما يكتبه المستخدم وعلى ما هو مخزَّن. وبهذا «احمد» تجد «أحمد» — وتُغلق الثغرة التي ذكرتها في شريحة المشكلة.
[أداء] إن ضاق الوقت اختصر الوحدات 1 و5 و6، واحتفظ بتفصيل الوحدة الرابعة. الزمن: 2.5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النظام فيه سبعة أدوار، وهذه خريطة من يرى ماذا.
مدير النظام والمدير يريان كل المجالات. أما الأدوار المتخصصة فكل منها يرى مجاله ومجال الإدارة فقط: موظف التسجيل يرى السكان والأسر، وموظف السكن يرى الوحدات والإشغال، وموظف المساعدات يرى التوزيع، والموظف الطبي يرى السجلات الطبية، وضابط الأمن يرى الحركة والتقارير الأمنية.
ولاحظوا العمود الأخير: الإدارة مفتوحة للجميع، لأنه العمود الذي يحمل المؤشرات العامة التي يحتاجها كل موظف ليعرف موقعه من العمل.
لكن النقطة الهندسية الأهم هي السطر أسفل الجدول: هذه الخريطة مكتوبة مرة واحدة في الكود، في صنف واحد. ومنها تقرأ لوحة التحكم أي بطاقات تعرض، ومنها يقرأ المساعد الذكي أي أسئلة يجيب عنها.
ولماذا هذا مهم؟ لأنني لو كتبت الصلاحيات مرتين — مرة للشاشات ومرة للمساعد — لاختلفت النسختان مع الوقت، ولأصبح المساعد بابًا خلفيًا: موظف طبي لا يستطيع فتح شاشة المساعدات، لكنه يسأل المساعد فيحصل على الأرقام. وقد تجنّبت ذلك بأن جعلت المصدر واحدًا.
والأثر مُختبَر: هناك اختبار يتحقق أن دورًا خارج المجال يُرفض طلبه بأدب، ولا يُعطى رقمًا مختلفًا ولا ناقصًا.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لوحة التحكم كما تظهر فعليًا، والبيانات التي ترونها من قاعدة بيانات تجريبية فيها 2001 لاجئًا و10 مخيمات.
في الأعلى بطاقات المؤشرات: عدد السكان، والأسر، ونسبة الإشغال، والوحدات الفارغة، ومن هم بلا سكن، وعمليات التوزيع، والحالات الأمنية عالية الخطورة. الهدف أن يعرف الموظف حالة المخيم في ثانيتين دون فتح أي شاشة.
في الوسط مخطط الإشغال لكل مخيم، وفوقه تبويبات تبدّل المؤشر المعروض: الإشغال، حالة الوحدات، السكان، حالات السكان، النشاط، المساعدات، الطبي، الأمن.
وعلى اليمين إجراءات سريعة لأكثر ما يُستخدم يوميًا، وقائمة «تحتاج متابعة» التي تجمع البنود المفتوحة: من بلا سكن، والمتابعات الطبية، والتنبيهات الأمنية.
والنقطة الهندسية: هذه اللوحة ليست ثابتة لكل المستخدمين. البطاقات والمخططات تُبنى من خريطة الصلاحيات نفسها التي عرضتها في الشريحة السابقة، فالموظف الطبي لا يرى أرقام المساعدات أصلًا — لا أنها تُعرض ثم تُخفى، بل لا تُحسب له.
الزمن: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شاشة اللاجئين، وهي الأكثر استخدامًا بعد لوحة التحكم. في قاعدة البيانات التجريبية 2001 سجل، وترون العدد معروضًا أعلى الجدول.
خانة البحث واحدة لكنها تبحث في عدة حقول معًا: الاسم، ورقم الوثيقة، والهاتف، ورمز البطاقة. والسبب أن الموظف لا يعرف مسبقًا أي معلومة سيعطيه المراجع — قد يقول اسمه، وقد يمدّ وثيقته، وقد يقرأ رقمًا من بطاقة. فبدل أن نطلب منه اختيار نوع البحث أولًا، نبحث في الكل.
وبجانبها فلترة متقدمة: حسب المخيم، وحالة السكن مخصص أو بدون، وحالة الوجود داخل أو خارج، والفئة العمرية، والجنس.
والنقطة التقنية التي تخص لغتنا: البحث بالاسم العربي متسامح مع اختلاف الإملاء. من يكتب «احمد» بألف بلا همزة يجد «أحمد» بالهمزة، ومن يكتب «فاطمه» بالهاء يجد «فاطمة» بالتاء المربوطة. وهذا لأننا نطبّق المعالجة نفسها على طرفَي المقارنة: على ما يكتبه المستخدم وعلى ما هو مخزَّن.
ولأن تنفيذ هذه المعالجة على كل صف عند كل بحث سيكون بطيئًا مع آلاف السجلات، خزّنّا الصورة المعالَجة مسبقًا في عمود مخصص اسمه search_text، وأضفنا عليه فهرسًا. فالبحث يصبح مطابقة واحدة على عمود جاهز.
الزمن: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شاشة تسجيل لاجئ جديد، وقد ملأناها ببيانات نموذجية لتظهر كما يراها الموظف أثناء العمل.
النموذج مقسوم إلى ثلاثة أقسام واضحة: البيانات الشخصية، ثم السكن والإقامة، ثم الملاحظات. والتقسيم مقصود لأن موظف التسجيل غالبًا يملأ القسم الأول من الوثيقة التي بيد اللاجئ، والقسم الثاني يحتاج قرارًا من قسم السكن.
ولاحظوا التفصيلة تحت العنوان: «المخيم مطلوب، والسكن اختياري». وهذا قرار تصميمي مهم: الشخص يُسجَّل في اللحظة التي يصل فيها، حتى لو لم تتوفر له وحدة سكنية بعد. لو جعلنا السكن إلزاميًا لتعطّل التسجيل كلما امتلأ المخيم، ولبقي الشخص خارج السجل — وهذا أسوأ من أن يكون مسجّلًا وبلا سكن.
ومن يبقى بلا سكن يظهر تلقائيًا في قائمة «بدون سكن» على لوحة التحكم، فلا يُنسى.
أما التحقق فيجري في طبقة مستقلة قبل أن تصل البيانات إلى قاعدة البيانات: رقم الوثيقة فريد فلا يتكرر شخصان بنفس الرقم، وتاريخ الميلاد لا يقبل تاريخًا في المستقبل ولا أكثر من مئة وعشرين سنة. وقائمة الوحدات السكنية تتغيّر تبعًا للمخيم المختار، فلا يمكن تخصيص وحدة من مخيم آخر.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على اليمين ملف اللاجئ: صفحة واحدة تجمع كل ما يخص الشخص. البيانات الأساسية، والسكن الحالي مع الوحدة والمخيم وحالة التخصيص، والأسرة التي ينتمي إليها، والمرفقات كصور الوثائق، وتحتها سجله الطبي والأمني وحركة دخوله وخروجه.
الفكرة أن الموظف لا يحتاج التنقل بين خمس شاشات ليعرف حالة شخص واحد.
وعلى اليسار بطاقة التعريف التي يولّدها النظام لكل لاجئ. تحمل اسمه ورقم سجله ورقم وثيقته ومخيمه ووحدته ورمز أسرته، وفي أسفلها باركود بمعيار Code128 يحمل رقم السجل.
ونقطة نعتز بها: مولّد الباركود مكتوب داخل المشروع بلغة PHP دون أي مكتبة خارجية — رسمنا الخطوط بأنفسنا وفق جداول ترميز Code128، وله اختبارات آلية تتحقق من صحة الترميز ورقم التدقيق.
ولماذا الباركود أصلًا؟ لأن الخطوة التالية في التطوير هي تطبيق جوّال لضباط البوابات: بدل أن يبحث الضابط عن الاسم يدويًا عند كل مرور، يمسح البطاقة فتُسجَّل الحركة في ثانية. البطاقة موجودة من الآن استعدادًا لذلك.
الزمن: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شاشة الأسر، وفيها 201 أسرة في البيانات التجريبية.
وأودّ توضيح قرار تصميمي هنا: لماذا جعلنا الأسرة جدولًا مستقلًا بدل أن نضع «رقم الأسرة» حقلًا نصيًا في ملف كل فرد؟
لثلاثة أسباب عملية:
الأول: رب الأسرة. الأسرة لها رب أسرة محدد، وكل فرد له صلة قرابة به — ابن، زوجة، والد. هذه علاقة بين سجلين، ولا يمكن تمثيلها بحقل نصي.
الثاني: النقل الجماعي. حين تنتقل أسرة من وحدة إلى أخرى، تنتقل كاملة. ولو كانت الأسرة مجرد نص لاحتاج الموظف نقل كل فرد على حدة، وكل عملية قد تنجح أو تفشل، فتتفرّق الأسرة بين وحدتين. عندنا النقل الجماعي عملية واحدة تتحقق أن الوحدة الجديدة تتسع للأسرة كلها قبل أن تنقل أي فرد.
الثالث، وهو الأهم للمساعدات: كثير من المساعدات تُوزَّع على مستوى الأسرة لا الفرد — سلة غذائية للأسرة، خيمة للأسرة. فحين يُسأل النظام «ماذا استلم فلان؟» يجب أن يحسب ما وصله شخصيًا وما وصل أسرته. وهذا لا يكون ممكنًا إن لم تكن الأسرة كيانًا مستقلًا يمكن ربط التوزيع به.
الزمن: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شاشة إضافة سجل طبي، وقد ملأناها لتظهر كما تُستخدم فعلًا.
الحقل الأول هو الأهم هندسيًا: اختيار اللاجئ. لاحظوا أنه ليس حقلًا نصيًا يُكتب فيه الاسم، بل بحث يرجع سجلات حقيقية من قاعدة البيانات ويعرض مع كل اسم مخيمه ووحدته ورقم وثيقته. والسبب أن الأسماء تتكرر: في بياناتنا التجريبية هناك عدة أشخاص يحملون اسم «آية محمد الحموي»، والفرق بينهم رقم الوثيقة والوحدة. لو كان الحقل نصيًا لارتبط السجل الطبي باسم، والاسم لا يميّز شخصًا. أما هنا فالسجل يرتبط بمُعرِّف الشخص في قاعدة البيانات.
والحقل الثاني: الخدمة الطبية من قائمة مضبوطة لا نص حر. لأن التشخيص يختلف من حالة إلى حالة ويصلح أن يكون نصًا، أما نوع الخدمة فيجب أن يكون موحّدًا حتى يمكن إحصاؤه لاحقًا: كم معاينة عامة جرت هذا الشهر؟ سؤال لا يمكن الإجابة عنه إن كتب كل موظف الاسم بطريقته.
وأخيرًا خانة «تحتاج متابعة» مع تاريخها: عند تحديدها يظهر البند تلقائيًا في قائمة «تحتاج متابعة» على لوحة التحكم عند استحقاقه، فلا تضيع المتابعة في دفتر.
وهذه الشاشة محكومة بالصلاحيات: الموظف الطبي ومدير النظام فقط يصلان إليها.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شاشة تسجيل حركة دخول أو خروج عند نقطة تفتيش، وهي قلب الوحدة الأمنية.
عند كل مرور يُسجَّل: الشخص، ونقطة التفتيش، ونوع الحركة دخول أو خروج، والتاريخ والوقت بالدقيقة، والسبب، ومن سجّل العملية. وبمجرد الحفظ تتغيّر حالة تواجد الشخص: خروج يجعله «خارج المخيم»، ودخول يعيده «داخل المخيم». وبهذا يصبح سؤال «من الموجود داخل المخيم الآن؟» استعلامًا لحظيًا لا جردًا يدويًا.
وهنا الحالة الواقعية التي عالجناها تحديدًا، وأودّ التوقف عندها: ماذا لو مرّ لاجئ من بوابة مخيم غير مخيمه؟ الناس تنتقل بين المخيمات فعلًا لأسباب كثيرة.
الحل الساذج أن يرفض النظام التسجيل. لكن الرفض لا يمنع المرور — الشخص عبر البوابة بالفعل — بل يترك ثغرة في السجل. فقررنا أن يُسجَّل المرور دائمًا، وأن يُنسب إلى مخيم البوابة لا مخيم الشخص، لأن الحدث وقع عند البوابة، ولأن سطرًا يذكر بوابة في مخيم ورقمَ مخيم آخر يناقض نفسه. ومع ذلك تُوضع علامة في سجل التدقيق تجعل هذه الحالات قابلة للبحث والمراجعة لاحقًا.
والقاعدة المهمة: المرور لا يغيّر مكان الإقامة. تغيير الإقامة نقلٌ رسمي يمرّ بخدمة السكن وفحوصات السعة وسجل الانتقالات، ولا يجوز الالتفاف عليه من بوابة.
والعملية كلها تجري داخل معاملة قاعدة بيانات مع قفل على سجل الشخص، ويُكتب معها سطر في سجل التدقيق.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هاتان شاشتان مرتبطتان: الجهات الداعمة على اليمين، وأنواع المساعدات على اليسار.
الجهة الداعمة هي المنظمة المانحة — الهلال المحلي، منظمة إنسانية، جهة حكومية — وتُسجَّل مرة واحدة باسمها ومسؤول الاتصال وهاتفه وحالتها.
ونوع المساعدة يرتبط بالجهة التي تقدّمه، وله وحدة قياس: سلة غذائية بالعدد، بطانية بالعدد، مياه باللتر.
ثم تأتي عمليات التوزيع فترتبط بنوع المساعدة، وبالمستفيد — فردًا كان أو أسرة — وبالكمية والتاريخ ومن وزّعها.
ولماذا ثلاثة جداول بدل جدول واحد للتوزيع؟ لأن السؤال الذي سيُطرح لاحقًا هو: «كم سلة غذائية وزّعها الهلال المحلي هذا الشهر؟» أو «ما أكثر أنواع المساعدات توزيعًا؟». لو كان اسم المنظمة ونوع المساعدة نصًا حرًا في كل عملية توزيع، لكتبها كل موظف بطريقة: «الهلال المحلي»، «الهلال»، «هلال محلي» — وأصبح الإحصاء مستحيلًا.
بفصلها إلى جداول مرتبطة، يصبح كل سؤال من هذا النوع استعلامًا واحدًا. وهذه هي فائدة النمذجة العلائقية عمليًا، لا نظريًا.
الزمن: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نصل إلى الميزة التي أعتبرها نقطة القوة الحقيقية: المساعد الذكي.
الفكرة: بدل أن يتنقّل الموظف بين الشاشات ليجد رقمًا، يكتب سؤاله بالعربية في مربع حوار داخل النظام، فيحصل على الإجابة مع السجلات وروابط الإجراء المناسبة.
وقبل أن أشرح كيف يعمل، أودّ توضيح ما لا يفعله، لأن هذا هو القرار الهندسي الأهم في المشروع كله: هذا المساعد لا يستخدم نموذجًا لغويًا كبيرًا، ولا يولّد جملة SQL من كلام المستخدم. وهذا اختيار مقصود لثلاثة أسباب:
الأول، الخصوصية: نحن نتعامل مع أسماء لاجئين وأرقام وثائق وتشخيصات طبية. إرسال هذه البيانات إلى خدمة خارجية غير مقبول أخلاقيًا ولا قانونيًا. في تصميمي لا تغادر البيانات الخادم إطلاقًا، والنظام يعمل كاملًا دون اتصال بالإنترنت — وهذا وحده يجعله صالحًا لمخيم حقيقي قد لا يملك اتصالًا مستقرًا.
الثاني، الدقة: النموذج اللغوي ينتج إجابة محتملة، ونحن نحتاج إجابة صحيحة. حين يُسأل النظام «كم عدد السكان؟» فالرقم يجب أن يكون رقم قاعدة البيانات، لا رقمًا معقولًا. في تصميمي كل نيّة تملك استعلامًا كتبه مطوّر ويغطّيه اختبار.
الثالث، الأمان: ما دام المستخدم لا يستطيع كتابة الاستعلام فلا يستطيع توسيعه. مهما كتب، لن يقرأ إلا ما تسمح به النيّة المُعرَّفة مسبقًا وصلاحيات دوره. وهذا يغلق فئة كاملة من الثغرات تُعرف بحقن التعليمات قبل أن تُفتح.
[أداء] إن سألت اللجنة «أليس هذا بدائيًا؟» فالجواب في الشريحة التالية: أرِهم المحرّك.
الزمن: 2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هي آلية المحرّك في أربع مراحل، ثم مثالان يوضحان لماذا صمّمته هكذا.
المرحلة الأولى، تطبيع النص: يُفَّرد السؤال إلى صورته الموحّدة. فتصبح «أين يسكن أحمد؟» و«اين يسكن احمد» السؤال نفسه داخل النظام.
المرحلة الثانية، مطالبة النوايا: لدي عشر نوايا، كل واحدة صنف برمجي مستقل. وكل نيّة تفحص السؤال وتجيب عن سؤال واحد: هل هذا السؤال يخصّني؟
المرحلة الثالثة، الترجيح بالنقاط، وهي ألطف جزئية في التصميم: النيّة لا تجيب بنعم أو لا، بل بدرجة ثقة تساوي عدد الإشارات المستقلة التي التقطتها من السؤال. ثم تفوز صاحبة الدرجة الأعلى، وترتيب السجل يفصل بين متساويتين.
المرحلة الرابعة، التنفيذ: تستخرج النيّة الفائزة الاسم أو الرقم من السؤال بعد حذف كلماتها المفتاحية وكلمات الوقف، ثم تُنفَّذ الاستعلام الجاهز.
والآن المثالان، وهما جوهر الشريحة. انظروا إلى السؤالين: «أين يسكن أحمد الحسن؟» و«كم شخصًا بلا سكن؟». كلاهما يحتوي كلمة «سكن». لكن الأول سؤال عن شخص بعينه، والثاني إحصاء عن المخيم كله.
في السؤال الأول تطالب نيّة حالة السكن بدرجة ثلاثة، وتنسحب نيّة غير المسكّنين لأن عبارتها غير موجودة.
وفي السؤال الثاني تفوز نيّة غير المسكّنين بدرجة ثلاثة، بينما تنسحب نيّة حالة السكن انسحابًا صريحًا: برمجتها أن تعيد لا شيء فور رؤية أدوات العدّ — «كم»، «عدد»، «إحصائية». لأنها لو لم تنسحب لالتقطت كلمة «سكن» وأجابت عن سؤال آخر.
وهذا بالضبط ما لا يستطيعه «أول تطابق»: لو أخذنا أول نيّة تجد كلمتها، لأجاب النظام إجابة خاطئة بثقة تامة. والنقاط هي ما يجعل السؤال يذهب إلى صاحبه.
[أداء] هذه الشريحة هي ردّك على سؤال «أليس هذا بدائيًا؟». الزمن: 2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لقطة حقيقية للمساعد وهو يعمل، وليست رسمًا توضيحيًا.
كتبنا في مربع الحوار سؤالًا عاديًا بالعربية: «كم عدد السكان في مخيم السلام؟» — بلا صيغة محددة ولا أمر ولا اختيار من قائمة.
والإجابة التي عادت: «عدد السكان الفعّالين في مخيم السلام هو 199 شخصًا». ولاحظوا ثلاثة أمور فيها:
الأول أن الإجابة جملة عربية مفهومة أولًا، لا رقمًا مجردًا. لأن الرقم وحده يحتاج من يفسّره، والجملة تحمل معها ما تعنيه: «الفعّالين» تعني أن المؤرشفين غير محسوبين، و«في مخيم السلام» تؤكد أن السؤال فُهم على وجهه.
الثاني أن الرقم من قاعدة البيانات لا تقدير. النيّة التي فازت بالسؤال نفّذت استعلامًا مكتوبًا في صنف برمجي ويغطّيه اختبار، فالرقم هو ما في الجدول.
الثالث أن تحت الجملة أرقامًا مساندة: إجمالي السكان، وكم منهم داخل المخيم، وكم خارجه. وهذا مقصود: من يسأل عن عدد السكان غالبًا سيسأل بعدها عن التوزيع، فنجيبه قبل أن يسأل.
وأعلى المحادثة ترون شرائح أسئلة مقترحة. وهي ليست ثابتة: تُبنى من النوايا التي يسمح بها دور المستخدم، وتذكر اسم مخيم موجود فعلًا في قاعدة البيانات — حتى لا نقترح على الموظف سؤالًا سيُرفض أو لن يجد له إجابة.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هاتان لقطتان حقيقيتان من النظام، لا رسمين توضيحيين. سألنا المساعد سؤالين لا تملك إجابة واحدة صحيحة، وهذه ردوده.
الحالة الأولى على اليمين: الاسم الملتبس. كتبنا «أين يسكن محمد»، وفي قاعدة البيانات أربعة أشخاص يطابقون هذا الاسم.
الخطأ الفادح هنا أن يختار النظام الأول ويجيب بثقة، فيُعطي عنوان شخص آخر. وفي سياق إنساني هذا ليس خطأً تقنيًا فقط، بل قد يكون خطرًا على شخص.
والحل الناقص أن يقول «الاسم ملتبس، اختر السجل». وقد جرّبناه أولًا ثم رفضناه، لأن من كتب «محمد» غالبًا لا يملك سوى هذا الاسم؛ فإخباره بأن الاسم ملتبس لا يعطيه خطوة تالية.
والحل الذي اعتمدناه تروْنه: النظام يعلن العدد، ويشرح كيف يُضيَّق البحث — «اكتب الاسم الثلاثي كاملًا أو رقم الوثيقة» — ثم يعرض المطابقين الأربعة مع مخيماتهم ووحداتهم وأرقام وثائقهم ليُحسم الأمر بنقرة. أي أن النظام لا يخبر المستخدم بأنه فشل، بل يعلّمه كيف ينجح. وهناك اختبار آلي يتحقق أن الاسم الثلاثي الكامل يعيد فعلًا شخصًا واحدًا — لأن النصيحة يجب أن تكون قابلة للتنفيذ لا مجرد كلام مهذّب.
الحالة الثانية على اليسار، وهي عيب حقيقي اكتشفناه وأصلحناه: سألنا عن «مخيم الزعتري» وهو غير مسجّل. الكود القديم كان يعامل هذه الحالة كأن المستخدم لم يذكر مخيمًا أصلًا، فيحسب إجمالي جميع المخيمات ويعرضه. والنتيجة رقم صحيح حسابيًا وخاطئ تمامًا في معناه، والمستخدم يظنه إجابة عن سؤاله.
وجذر المشكلة أننا كنا نمثّل حالتين مختلفتين بقيمة فارغة واحدة: «لم يُذكر مخيم» و«ذُكر مخيم غير موجود». والحل أن أنشأنا صنفًا خاصًا يمثّل ثلاث حالات صراحةً، فأصبح المبرمج مضطرًا لمعالجة الحالة الثالثة ولم تعد تسقط صامتة.
والرد اليوم كما ترون: يصرّح بعدم وجود المخيم، ثم يعرض المخيمات المسجّلة فعلًا — لأن السبب الأغلب اختلاف في التسمية، وعرض الأسماء الحقيقية يحلّ المشكلة في خطوة واحدة. ولاحظوا أنه يعيد الاسم بالإملاء الذي كتبه المستخدم لا بصورته المعالَجة، حتى يتعرّف على سؤاله.
[أداء] هذه أقوى شريحة تملكونها أمام لجنة هندسية: تعترفون بعيب في تصميمكم وتشرحون جذره وحلّه. الزمن: 2.5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ما عرضته في الشريحة السابقة معالجةٌ لأخطاء توقّعتها. لكن ماذا عن الخطأ الذي لم أتوقعه؟ عمودٌ حُذف، أو اتصال بقاعدة البيانات انقطع، أو ثغرة أدخلها تعديل مستقبلي؟
في التطبيق العادي ينتج عن ذلك صفحة خطأ 500. وهي في صندوق حوار كارثة مضاعفة: المستخدم لا يفهم ما جرى، وقد تتسرّب في رسالة الخطأ تفاصيل عن بنية قاعدة البيانات تفيد المهاجم.
لذلك أحطتُ نقطة الدخول كاملة بـ try و catch يلتقط Throwable — أي كل خطأ واستثناء دون استثناء، وليس فئة معينة منها. وترون الشيفرة الفعلية على اليسار.
وعند وقوع أي عطل يحدث أمران معًا، وهذه النقطة جوهرية:
للمستخدم: جملة عربية لبقة تقترح خطوة بديلة — «تعذّر إعداد الإجابة على هذا السؤال. جرّب صياغة أبسط، أو استخدم البحث من الشريط العلوي». بحالة 200 لأن الطلب وصل وعولج، ودون أي تفصيل تقني.
وللمطوّر: يُكتب في سجل الأخطاء الاستثناء كاملًا، ومعه نص السؤال الذي سبّبه ومُعرِّف المستخدم. أي أن الخطأ يُخفى عن المستخدم ولا يُبتلع. فالمشكلة تصل إلى المطوّر بكل ما يلزم لإعادة إنتاجها وإصلاحها، وهذا هو الفرق بين إخفاء الخطأ وابتلاعه.
ولاحظوا الشريط السفلي: هذا السلوك ليس ادّعاءً في عرض تقديمي، بل مُثبَت باختبارين آليين. الأول يفتعل عطلًا داخل المساعد ويتحقق أن الاستجابة 200 لا 500، وأن كلمة الخطأ التقنية لم تظهر في استجابة المتصفح. والثاني يتحقق أن السؤال المتسبّب سُجِّل فعلًا في سجل الأخطاء.
والخلاصة في جملة: المساعد قد يعجز عن الإجابة، لكنه لا ينهار، ولا يخترع إجابة، ولا يفشل بصمت.
الزمن: 2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ليست صورة من الإنترنت — هذه مخرجات تشغيل المجموعة على هذا المشروع، وقد شغّلتها قبل هذا العرض.
284 اختبارًا، 883 تأكيدًا، تعمل كلها في أقل من سبع ثوانٍ، والنتيجة: OK. أي لا فشل ولا اختبار متجاوَز.
ولماذا هذا مهم في مشروع تخرّج؟ لأن أي أحد يستطيع أن يقول في عرض تقديمي «النظام يعالج الأخطاء» أو «الصلاحيات مضبوطة». الاختبار هو ما يحوّل الادّعاء إلى برهان: إن كسرت الصلاحيات غدًا، يسقط اختبار ويخبرني قبل أن يكتشفها مستخدم.
وانظروا أين تتركّز التغطية على اليمين: خمسون اختبارًا للمساعد الذكي وحده — وهو أكثر جزء مُختبَر في النظام كله، لأنه الجزء الذي يتعامل مع نص حر كتبه إنسان، وهو أكثر ما يمكن أن يسوء. ثم ثمانية وعشرون لخدمات المجال، ومثلها للترشيح والقوائم، واثنان وعشرون للبحث العربي والفهرسة، وثلاثة عشر للتحقق من المدخلات، وأحد عشر للصلاحيات والمصادقة.
ونقطة تقنية: الاختبارات تعمل على قاعدة بيانات في الذاكرة تُنشأ من الصفر عند كل تشغيل. أي أنها لا تعتمد على بيانات موجودة مسبقًا، وتعطي النتيجة نفسها على أي جهاز — وهذا شرط أن تكون ذات معنى.
وأخيرًا، هذه المجموعة ليست شيئًا أشغّله يدويًا حين أتذكّر: GitHub Actions يشغّلها آليًا عند كل رفع، ويفحص تنسيق الكود قبلها. فلا يدخل إلى الفرع الرئيسي كودٌ يكسر اختبارًا.
[أداء] إن سألوك «كيف تضمن أن ما تقوله يعمل؟» — أشِر إلى هذه الشريحة.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أختم بثلاث نقاط موجزة.
أولًا، ما أُنجز: نظام متكامل يغطي دورة حياة اللاجئ داخل المخيم — من التسجيل إلى السكن إلى المساعدات إلى حركة الدخول والخروج — بست وحدات مترابطة وسبعة أدوار بصلاحيات دقيقة، مبني على Laravel وMySQL، ومغطّى بـ 284 اختبارًا آليًا تعمل عند كل تعديل.
ثانيًا، ما أعتبره الإسهام الحقيقي للمشروع: ليس عدد الشاشات، بل أمران. الأول هو المساعد الذكي بالعربية الذي يوصل الموظف إلى المعلومة بجملة واحدة، ويعمل داخل الخادم بالكامل دون إرسال بيانات اللاجئين إلى أي جهة خارجية — وهو ما يجعله صالحًا للتشغيل في بيئة إنسانية حقيقية، لا في العرض التجريبي فقط. والثاني هو التدهور الآمن: أن يتعامل النظام مع الاسم الملتبس، والمخيم غير الموجود، والنتيجة الفارغة، والخطأ غير المتوقع — بردود واضحة، دون أن ينهار ودون أن يخترع.
ثالثًا، آفاق التطوير: تطبيق جوّال لضباط البوابات يسجّل الحركة بمسح باركود البطاقة بدل الإدخال اليدوي. ودعم متعدد اللغات، والبنية جاهزة له لأن كل النصوص مركزية. ولوحات تحليلية تكشف المؤشرات مبكرًا — كاكتظاظ متصاعد في وحدة، أو تأخر في متابعة طبية. وواجهات تكامل مع أنظمة المنظمات الإنسانية لتبادل البيانات بأمان.
وفي الختام، أشكر أستاذي المشرف على متابعته وتوجيهه، وأشكر لجنة التحكيم الموقّرة على وقتها واهتمامها. والآن يسعدني أن أستمع إلى أسئلتكم وملاحظاتكم.
[أداء] اختم ثم اصمت وانظر إلى اللجنة. لا تُتبعها باعتذار ولا بجملة زائدة.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slideLayout" Target="../slideLayouts/slideLayout1.xml"/><Relationship Id="rId2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E36"/>
        </a:solidFill>
      </p:bgPr>
    </p:bg>
    <p:spTree>
      <p:nvGrpSpPr>
        <p:cNvPr id="1" name=""/>
        <p:cNvGrpSpPr/>
        <p:nvPr/>
      </p:nvGrpSpPr>
      <p:grpSpPr>
        <a:xfrm>
          <a:off x="0" y="0"/>
          <a:ext cx="0" cy="0"/>
          <a:chOff x="0" y="0"/>
          <a:chExt cx="0" cy="0"/>
        </a:xfrm>
      </p:grpSpPr>
      <p:sp>
        <p:nvSpPr>
          <p:cNvPr id="2" name="Shape 0"/>
          <p:cNvSpPr/>
          <p:nvPr/>
        </p:nvSpPr>
        <p:spPr>
          <a:xfrm>
            <a:off x="-1371600" y="3017520"/>
            <a:ext cx="4754880" cy="4754880"/>
          </a:xfrm>
          <a:prstGeom prst="ellipse">
            <a:avLst/>
          </a:prstGeom>
          <a:solidFill>
            <a:srgbClr val="113E48"/>
          </a:solidFill>
          <a:ln/>
        </p:spPr>
      </p:sp>
      <p:sp>
        <p:nvSpPr>
          <p:cNvPr id="3" name="Shape 1"/>
          <p:cNvSpPr/>
          <p:nvPr/>
        </p:nvSpPr>
        <p:spPr>
          <a:xfrm>
            <a:off x="566928" y="1481328"/>
            <a:ext cx="2286000" cy="2286000"/>
          </a:xfrm>
          <a:prstGeom prst="ellipse">
            <a:avLst/>
          </a:prstGeom>
          <a:solidFill>
            <a:srgbClr val="02717D"/>
          </a:solidFill>
          <a:ln/>
        </p:spPr>
      </p:sp>
      <p:pic>
        <p:nvPicPr>
          <p:cNvPr id="4" name="Image 0" descr="preencoded.png">    </p:cNvPr>
          <p:cNvPicPr>
            <a:picLocks noChangeAspect="1"/>
          </p:cNvPicPr>
          <p:nvPr/>
        </p:nvPicPr>
        <p:blipFill>
          <a:blip r:embed="rId1"/>
          <a:stretch>
            <a:fillRect/>
          </a:stretch>
        </p:blipFill>
        <p:spPr>
          <a:xfrm>
            <a:off x="1316736" y="2231136"/>
            <a:ext cx="786384" cy="786384"/>
          </a:xfrm>
          <a:prstGeom prst="rect">
            <a:avLst/>
          </a:prstGeom>
        </p:spPr>
      </p:pic>
      <p:sp>
        <p:nvSpPr>
          <p:cNvPr id="5" name="Text 2"/>
          <p:cNvSpPr txBox="1"/>
          <p:nvPr/>
        </p:nvSpPr>
        <p:spPr>
          <a:xfrm>
            <a:off x="3931920" y="1234440"/>
            <a:ext cx="7711135" cy="292608"/>
          </a:xfrm>
          <a:prstGeom prst="rect">
            <a:avLst/>
          </a:prstGeom>
          <a:noFill/>
          <a:ln/>
        </p:spPr>
        <p:txBody>
          <a:bodyPr wrap="square" lIns="0" tIns="0" rIns="0" bIns="0" rtlCol="0" anchor="ctr"/>
          <a:lstStyle/>
          <a:p>
            <a:pPr rtl="1" algn="r" indent="0" marL="0">
              <a:buNone/>
            </a:pPr>
            <a:r>
              <a:rPr lang="en-US" sz="1400" b="1" spc="200" kern="0" dirty="0">
                <a:solidFill>
                  <a:srgbClr val="00A896"/>
                </a:solidFill>
                <a:latin typeface="Arial" pitchFamily="34" charset="0"/>
                <a:ea typeface="Arial" pitchFamily="34" charset="-122"/>
                <a:cs typeface="Arial" pitchFamily="34" charset="-120"/>
              </a:rPr>
              <a:t>مشروع فصلي</a:t>
            </a:r>
            <a:endParaRPr lang="en-US" sz="1400" dirty="0"/>
          </a:p>
        </p:txBody>
      </p:sp>
      <p:sp>
        <p:nvSpPr>
          <p:cNvPr id="6" name="Text 3"/>
          <p:cNvSpPr txBox="1"/>
          <p:nvPr/>
        </p:nvSpPr>
        <p:spPr>
          <a:xfrm>
            <a:off x="3931920" y="1600200"/>
            <a:ext cx="7711135" cy="868680"/>
          </a:xfrm>
          <a:prstGeom prst="rect">
            <a:avLst/>
          </a:prstGeom>
          <a:noFill/>
          <a:ln/>
        </p:spPr>
        <p:txBody>
          <a:bodyPr wrap="square" lIns="0" tIns="0" rIns="0" bIns="0" rtlCol="0" anchor="ctr"/>
          <a:lstStyle/>
          <a:p>
            <a:pPr rtl="1" algn="r" indent="0" marL="0">
              <a:buNone/>
            </a:pPr>
            <a:r>
              <a:rPr lang="en-US" sz="4600" b="1" dirty="0">
                <a:solidFill>
                  <a:srgbClr val="FFFFFF"/>
                </a:solidFill>
                <a:latin typeface="Arial" pitchFamily="34" charset="0"/>
                <a:ea typeface="Arial" pitchFamily="34" charset="-122"/>
                <a:cs typeface="Arial" pitchFamily="34" charset="-120"/>
              </a:rPr>
              <a:t>نظام إدارة المخيمات</a:t>
            </a:r>
            <a:endParaRPr lang="en-US" sz="4600" dirty="0"/>
          </a:p>
        </p:txBody>
      </p:sp>
      <p:sp>
        <p:nvSpPr>
          <p:cNvPr id="7" name="Text 4"/>
          <p:cNvSpPr txBox="1"/>
          <p:nvPr/>
        </p:nvSpPr>
        <p:spPr>
          <a:xfrm>
            <a:off x="3931920" y="2487168"/>
            <a:ext cx="7711135" cy="365760"/>
          </a:xfrm>
          <a:prstGeom prst="rect">
            <a:avLst/>
          </a:prstGeom>
          <a:noFill/>
          <a:ln/>
        </p:spPr>
        <p:txBody>
          <a:bodyPr wrap="square" lIns="0" tIns="0" rIns="0" bIns="0" rtlCol="0" anchor="ctr"/>
          <a:lstStyle/>
          <a:p>
            <a:pPr algn="r" indent="0" marL="0">
              <a:buNone/>
            </a:pPr>
            <a:r>
              <a:rPr lang="en-US" sz="1900" dirty="0">
                <a:solidFill>
                  <a:srgbClr val="BFD4D7"/>
                </a:solidFill>
                <a:latin typeface="Arial" pitchFamily="34" charset="0"/>
                <a:ea typeface="Arial" pitchFamily="34" charset="-122"/>
                <a:cs typeface="Arial" pitchFamily="34" charset="-120"/>
              </a:rPr>
              <a:t>Camp Management System</a:t>
            </a:r>
            <a:endParaRPr lang="en-US" sz="1900" dirty="0"/>
          </a:p>
        </p:txBody>
      </p:sp>
      <p:sp>
        <p:nvSpPr>
          <p:cNvPr id="8" name="Text 5"/>
          <p:cNvSpPr txBox="1"/>
          <p:nvPr/>
        </p:nvSpPr>
        <p:spPr>
          <a:xfrm>
            <a:off x="3931920" y="3017520"/>
            <a:ext cx="7711135" cy="365760"/>
          </a:xfrm>
          <a:prstGeom prst="rect">
            <a:avLst/>
          </a:prstGeom>
          <a:noFill/>
          <a:ln/>
        </p:spPr>
        <p:txBody>
          <a:bodyPr wrap="square" lIns="0" tIns="0" rIns="0" bIns="0" rtlCol="0" anchor="ctr"/>
          <a:lstStyle/>
          <a:p>
            <a:pPr rtl="1" algn="r" indent="0" marL="0">
              <a:lnSpc>
                <a:spcPts val="2200"/>
              </a:lnSpc>
              <a:buNone/>
            </a:pPr>
            <a:r>
              <a:rPr lang="en-US" sz="1450" dirty="0">
                <a:solidFill>
                  <a:srgbClr val="BFD4D7"/>
                </a:solidFill>
                <a:latin typeface="Arial" pitchFamily="34" charset="0"/>
                <a:ea typeface="Arial" pitchFamily="34" charset="-122"/>
                <a:cs typeface="Arial" pitchFamily="34" charset="-120"/>
              </a:rPr>
              <a:t>نظام ويب متكامل لإدارة مخيمات اللجوء: التسجيل، السكن، المساعدات، وحركة الدخول والخروج</a:t>
            </a:r>
            <a:endParaRPr lang="en-US" sz="1450" dirty="0"/>
          </a:p>
        </p:txBody>
      </p:sp>
      <p:sp>
        <p:nvSpPr>
          <p:cNvPr id="9" name="Shape 6"/>
          <p:cNvSpPr/>
          <p:nvPr/>
        </p:nvSpPr>
        <p:spPr>
          <a:xfrm>
            <a:off x="10161727" y="3657600"/>
            <a:ext cx="1481328" cy="420624"/>
          </a:xfrm>
          <a:prstGeom prst="roundRect">
            <a:avLst>
              <a:gd name="adj" fmla="val 47826"/>
            </a:avLst>
          </a:prstGeom>
          <a:solidFill>
            <a:srgbClr val="113E48"/>
          </a:solidFill>
          <a:ln w="12700">
            <a:solidFill>
              <a:srgbClr val="02717D"/>
            </a:solidFill>
            <a:prstDash val="solid"/>
          </a:ln>
        </p:spPr>
      </p:sp>
      <p:sp>
        <p:nvSpPr>
          <p:cNvPr id="10" name="Text 7"/>
          <p:cNvSpPr txBox="1"/>
          <p:nvPr/>
        </p:nvSpPr>
        <p:spPr>
          <a:xfrm>
            <a:off x="10161727" y="3657600"/>
            <a:ext cx="1481328" cy="420624"/>
          </a:xfrm>
          <a:prstGeom prst="rect">
            <a:avLst/>
          </a:prstGeom>
          <a:noFill/>
          <a:ln/>
        </p:spPr>
        <p:txBody>
          <a:bodyPr wrap="square" lIns="0" tIns="0" rIns="0" bIns="0" rtlCol="0" anchor="ctr"/>
          <a:lstStyle/>
          <a:p>
            <a:pPr algn="ctr" indent="0" marL="0">
              <a:buNone/>
            </a:pPr>
            <a:r>
              <a:rPr lang="en-US" sz="1250" b="1" dirty="0">
                <a:solidFill>
                  <a:srgbClr val="00A896"/>
                </a:solidFill>
                <a:latin typeface="Arial" pitchFamily="34" charset="0"/>
                <a:ea typeface="Arial" pitchFamily="34" charset="-122"/>
                <a:cs typeface="Arial" pitchFamily="34" charset="-120"/>
              </a:rPr>
              <a:t>Laravel 12</a:t>
            </a:r>
            <a:endParaRPr lang="en-US" sz="1250" dirty="0"/>
          </a:p>
        </p:txBody>
      </p:sp>
      <p:sp>
        <p:nvSpPr>
          <p:cNvPr id="11" name="Shape 8"/>
          <p:cNvSpPr/>
          <p:nvPr/>
        </p:nvSpPr>
        <p:spPr>
          <a:xfrm>
            <a:off x="8515807" y="3657600"/>
            <a:ext cx="1481328" cy="420624"/>
          </a:xfrm>
          <a:prstGeom prst="roundRect">
            <a:avLst>
              <a:gd name="adj" fmla="val 47826"/>
            </a:avLst>
          </a:prstGeom>
          <a:solidFill>
            <a:srgbClr val="113E48"/>
          </a:solidFill>
          <a:ln w="12700">
            <a:solidFill>
              <a:srgbClr val="02717D"/>
            </a:solidFill>
            <a:prstDash val="solid"/>
          </a:ln>
        </p:spPr>
      </p:sp>
      <p:sp>
        <p:nvSpPr>
          <p:cNvPr id="12" name="Text 9"/>
          <p:cNvSpPr txBox="1"/>
          <p:nvPr/>
        </p:nvSpPr>
        <p:spPr>
          <a:xfrm>
            <a:off x="8515807" y="3657600"/>
            <a:ext cx="1481328" cy="420624"/>
          </a:xfrm>
          <a:prstGeom prst="rect">
            <a:avLst/>
          </a:prstGeom>
          <a:noFill/>
          <a:ln/>
        </p:spPr>
        <p:txBody>
          <a:bodyPr wrap="square" lIns="0" tIns="0" rIns="0" bIns="0" rtlCol="0" anchor="ctr"/>
          <a:lstStyle/>
          <a:p>
            <a:pPr algn="ctr" indent="0" marL="0">
              <a:buNone/>
            </a:pPr>
            <a:r>
              <a:rPr lang="en-US" sz="1250" b="1" dirty="0">
                <a:solidFill>
                  <a:srgbClr val="00A896"/>
                </a:solidFill>
                <a:latin typeface="Arial" pitchFamily="34" charset="0"/>
                <a:ea typeface="Arial" pitchFamily="34" charset="-122"/>
                <a:cs typeface="Arial" pitchFamily="34" charset="-120"/>
              </a:rPr>
              <a:t>MySQL 8</a:t>
            </a:r>
            <a:endParaRPr lang="en-US" sz="1250" dirty="0"/>
          </a:p>
        </p:txBody>
      </p:sp>
      <p:sp>
        <p:nvSpPr>
          <p:cNvPr id="13" name="Shape 10"/>
          <p:cNvSpPr/>
          <p:nvPr/>
        </p:nvSpPr>
        <p:spPr>
          <a:xfrm>
            <a:off x="6869887" y="3657600"/>
            <a:ext cx="1481328" cy="420624"/>
          </a:xfrm>
          <a:prstGeom prst="roundRect">
            <a:avLst>
              <a:gd name="adj" fmla="val 47826"/>
            </a:avLst>
          </a:prstGeom>
          <a:solidFill>
            <a:srgbClr val="113E48"/>
          </a:solidFill>
          <a:ln w="12700">
            <a:solidFill>
              <a:srgbClr val="02717D"/>
            </a:solidFill>
            <a:prstDash val="solid"/>
          </a:ln>
        </p:spPr>
      </p:sp>
      <p:sp>
        <p:nvSpPr>
          <p:cNvPr id="14" name="Text 11"/>
          <p:cNvSpPr txBox="1"/>
          <p:nvPr/>
        </p:nvSpPr>
        <p:spPr>
          <a:xfrm>
            <a:off x="6869887" y="3657600"/>
            <a:ext cx="1481328" cy="420624"/>
          </a:xfrm>
          <a:prstGeom prst="rect">
            <a:avLst/>
          </a:prstGeom>
          <a:noFill/>
          <a:ln/>
        </p:spPr>
        <p:txBody>
          <a:bodyPr wrap="square" lIns="0" tIns="0" rIns="0" bIns="0" rtlCol="0" anchor="ctr"/>
          <a:lstStyle/>
          <a:p>
            <a:pPr algn="ctr" indent="0" marL="0">
              <a:buNone/>
            </a:pPr>
            <a:r>
              <a:rPr lang="en-US" sz="1250" b="1" dirty="0">
                <a:solidFill>
                  <a:srgbClr val="00A896"/>
                </a:solidFill>
                <a:latin typeface="Arial" pitchFamily="34" charset="0"/>
                <a:ea typeface="Arial" pitchFamily="34" charset="-122"/>
                <a:cs typeface="Arial" pitchFamily="34" charset="-120"/>
              </a:rPr>
              <a:t>PHP 8.2</a:t>
            </a:r>
            <a:endParaRPr lang="en-US" sz="1250" dirty="0"/>
          </a:p>
        </p:txBody>
      </p:sp>
      <p:sp>
        <p:nvSpPr>
          <p:cNvPr id="15" name="Text 12"/>
          <p:cNvSpPr txBox="1"/>
          <p:nvPr/>
        </p:nvSpPr>
        <p:spPr>
          <a:xfrm>
            <a:off x="3931920" y="4370832"/>
            <a:ext cx="7711135" cy="274320"/>
          </a:xfrm>
          <a:prstGeom prst="rect">
            <a:avLst/>
          </a:prstGeom>
          <a:noFill/>
          <a:ln/>
        </p:spPr>
        <p:txBody>
          <a:bodyPr wrap="square" lIns="0" tIns="0" rIns="0" bIns="0"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إعداد الطلاب</a:t>
            </a:r>
            <a:endParaRPr lang="en-US" sz="1200" dirty="0"/>
          </a:p>
        </p:txBody>
      </p:sp>
      <p:sp>
        <p:nvSpPr>
          <p:cNvPr id="16" name="Text 13"/>
          <p:cNvSpPr txBox="1"/>
          <p:nvPr/>
        </p:nvSpPr>
        <p:spPr>
          <a:xfrm>
            <a:off x="3931920" y="4700016"/>
            <a:ext cx="7711135" cy="960120"/>
          </a:xfrm>
          <a:prstGeom prst="rect">
            <a:avLst/>
          </a:prstGeom>
          <a:noFill/>
          <a:ln/>
        </p:spPr>
        <p:txBody>
          <a:bodyPr wrap="square" lIns="0" tIns="0" rIns="0" bIns="0" rtlCol="0" anchor="ctr"/>
          <a:lstStyle/>
          <a:p>
            <a:pPr rtl="1" algn="r" indent="0" marL="0">
              <a:lnSpc>
                <a:spcPts val="2300"/>
              </a:lnSpc>
              <a:buNone/>
            </a:pPr>
            <a:r>
              <a:rPr lang="en-US" sz="1400" b="1" dirty="0">
                <a:solidFill>
                  <a:srgbClr val="FFFFFF"/>
                </a:solidFill>
                <a:latin typeface="Arial" pitchFamily="34" charset="0"/>
                <a:ea typeface="Arial" pitchFamily="34" charset="-122"/>
                <a:cs typeface="Arial" pitchFamily="34" charset="-120"/>
              </a:rPr>
              <a:t>عبد الله أحمد البكور</a:t>
            </a:r>
            <a:endParaRPr lang="en-US" sz="1400" dirty="0"/>
          </a:p>
          <a:p>
            <a:pPr rtl="1" algn="r" indent="0" marL="0">
              <a:lnSpc>
                <a:spcPts val="2300"/>
              </a:lnSpc>
              <a:buNone/>
            </a:pPr>
            <a:r>
              <a:rPr lang="en-US" sz="1400" b="1" dirty="0">
                <a:solidFill>
                  <a:srgbClr val="FFFFFF"/>
                </a:solidFill>
                <a:latin typeface="Arial" pitchFamily="34" charset="0"/>
                <a:ea typeface="Arial" pitchFamily="34" charset="-122"/>
                <a:cs typeface="Arial" pitchFamily="34" charset="-120"/>
              </a:rPr>
              <a:t>أحمد خالد الفاضل</a:t>
            </a:r>
            <a:endParaRPr lang="en-US" sz="1400" dirty="0"/>
          </a:p>
          <a:p>
            <a:pPr rtl="1" algn="r" indent="0" marL="0">
              <a:lnSpc>
                <a:spcPts val="2300"/>
              </a:lnSpc>
              <a:buNone/>
            </a:pPr>
            <a:r>
              <a:rPr lang="en-US" sz="1400" b="1" dirty="0">
                <a:solidFill>
                  <a:srgbClr val="FFFFFF"/>
                </a:solidFill>
                <a:latin typeface="Arial" pitchFamily="34" charset="0"/>
                <a:ea typeface="Arial" pitchFamily="34" charset="-122"/>
                <a:cs typeface="Arial" pitchFamily="34" charset="-120"/>
              </a:rPr>
              <a:t>محمد أحمد خطيب</a:t>
            </a:r>
            <a:endParaRPr lang="en-US" sz="1400" dirty="0"/>
          </a:p>
        </p:txBody>
      </p:sp>
      <p:sp>
        <p:nvSpPr>
          <p:cNvPr id="17" name="Text 14"/>
          <p:cNvSpPr txBox="1"/>
          <p:nvPr/>
        </p:nvSpPr>
        <p:spPr>
          <a:xfrm>
            <a:off x="3931920" y="5724144"/>
            <a:ext cx="7711135" cy="292608"/>
          </a:xfrm>
          <a:prstGeom prst="rect">
            <a:avLst/>
          </a:prstGeom>
          <a:noFill/>
          <a:ln/>
        </p:spPr>
        <p:txBody>
          <a:bodyPr wrap="square" lIns="0" tIns="0" rIns="0" bIns="0" rtlCol="0" anchor="ctr"/>
          <a:lstStyle/>
          <a:p>
            <a:pPr rtl="1" algn="r" indent="0" marL="0">
              <a:buNone/>
            </a:pPr>
            <a:r>
              <a:rPr lang="en-US" sz="1300" dirty="0">
                <a:solidFill>
                  <a:srgbClr val="BFD4D7"/>
                </a:solidFill>
                <a:latin typeface="Arial" pitchFamily="34" charset="0"/>
                <a:ea typeface="Arial" pitchFamily="34" charset="-122"/>
                <a:cs typeface="Arial" pitchFamily="34" charset="-120"/>
              </a:rPr>
              <a:t>إشراف: المهندسة لبنى الأنيس</a:t>
            </a:r>
            <a:endParaRPr lang="en-US" sz="1300" dirty="0"/>
          </a:p>
        </p:txBody>
      </p:sp>
      <p:sp>
        <p:nvSpPr>
          <p:cNvPr id="18" name="Text 15"/>
          <p:cNvSpPr txBox="1"/>
          <p:nvPr/>
        </p:nvSpPr>
        <p:spPr>
          <a:xfrm>
            <a:off x="3931920" y="6053328"/>
            <a:ext cx="7711135" cy="274320"/>
          </a:xfrm>
          <a:prstGeom prst="rect">
            <a:avLst/>
          </a:prstGeom>
          <a:noFill/>
          <a:ln/>
        </p:spPr>
        <p:txBody>
          <a:bodyPr wrap="square" lIns="0" tIns="0" rIns="0" bIns="0" rtlCol="0" anchor="ctr"/>
          <a:lstStyle/>
          <a:p>
            <a:pPr rtl="1" algn="r" indent="0" marL="0">
              <a:buNone/>
            </a:pPr>
            <a:r>
              <a:rPr lang="en-US" sz="1250" dirty="0">
                <a:solidFill>
                  <a:srgbClr val="5C7378"/>
                </a:solidFill>
                <a:latin typeface="Arial" pitchFamily="34" charset="0"/>
                <a:ea typeface="Arial" pitchFamily="34" charset="-122"/>
                <a:cs typeface="Arial" pitchFamily="34" charset="-120"/>
              </a:rPr>
              <a:t>جامعة الشمال الخاصة</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خريطة الطريق</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محاور العرض</a:t>
            </a:r>
            <a:endParaRPr lang="en-US" sz="3300" dirty="0"/>
          </a:p>
        </p:txBody>
      </p:sp>
      <p:sp>
        <p:nvSpPr>
          <p:cNvPr id="4" name="Shape 2"/>
          <p:cNvSpPr/>
          <p:nvPr/>
        </p:nvSpPr>
        <p:spPr>
          <a:xfrm>
            <a:off x="6278728" y="1627632"/>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682935" y="1975104"/>
            <a:ext cx="603504" cy="603504"/>
          </a:xfrm>
          <a:prstGeom prst="ellipse">
            <a:avLst/>
          </a:prstGeom>
          <a:solidFill>
            <a:srgbClr val="02717D"/>
          </a:solidFill>
          <a:ln/>
        </p:spPr>
      </p:sp>
      <p:sp>
        <p:nvSpPr>
          <p:cNvPr id="6" name="Text 4"/>
          <p:cNvSpPr txBox="1"/>
          <p:nvPr/>
        </p:nvSpPr>
        <p:spPr>
          <a:xfrm>
            <a:off x="10682935" y="1975104"/>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١</a:t>
            </a:r>
            <a:endParaRPr lang="en-US" sz="2200" dirty="0"/>
          </a:p>
        </p:txBody>
      </p:sp>
      <p:sp>
        <p:nvSpPr>
          <p:cNvPr id="7" name="Text 5"/>
          <p:cNvSpPr txBox="1"/>
          <p:nvPr/>
        </p:nvSpPr>
        <p:spPr>
          <a:xfrm>
            <a:off x="6534760" y="1956816"/>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الإطار</a:t>
            </a:r>
            <a:endParaRPr lang="en-US" sz="1600" dirty="0"/>
          </a:p>
        </p:txBody>
      </p:sp>
      <p:sp>
        <p:nvSpPr>
          <p:cNvPr id="8" name="Text 6"/>
          <p:cNvSpPr txBox="1"/>
          <p:nvPr/>
        </p:nvSpPr>
        <p:spPr>
          <a:xfrm>
            <a:off x="6534760" y="2322576"/>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المشكلة، الحل المقترح، وأهداف النظام</a:t>
            </a:r>
            <a:endParaRPr lang="en-US" sz="1150" dirty="0"/>
          </a:p>
        </p:txBody>
      </p:sp>
      <p:sp>
        <p:nvSpPr>
          <p:cNvPr id="9" name="Shape 7"/>
          <p:cNvSpPr/>
          <p:nvPr/>
        </p:nvSpPr>
        <p:spPr>
          <a:xfrm>
            <a:off x="548640" y="1627632"/>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10" name="Shape 8"/>
          <p:cNvSpPr/>
          <p:nvPr/>
        </p:nvSpPr>
        <p:spPr>
          <a:xfrm>
            <a:off x="4952848" y="1975104"/>
            <a:ext cx="603504" cy="603504"/>
          </a:xfrm>
          <a:prstGeom prst="ellipse">
            <a:avLst/>
          </a:prstGeom>
          <a:solidFill>
            <a:srgbClr val="02717D"/>
          </a:solidFill>
          <a:ln/>
        </p:spPr>
      </p:sp>
      <p:sp>
        <p:nvSpPr>
          <p:cNvPr id="11" name="Text 9"/>
          <p:cNvSpPr txBox="1"/>
          <p:nvPr/>
        </p:nvSpPr>
        <p:spPr>
          <a:xfrm>
            <a:off x="4952848" y="1975104"/>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٢</a:t>
            </a:r>
            <a:endParaRPr lang="en-US" sz="2200" dirty="0"/>
          </a:p>
        </p:txBody>
      </p:sp>
      <p:sp>
        <p:nvSpPr>
          <p:cNvPr id="12" name="Text 10"/>
          <p:cNvSpPr txBox="1"/>
          <p:nvPr/>
        </p:nvSpPr>
        <p:spPr>
          <a:xfrm>
            <a:off x="804672" y="1956816"/>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البناء</a:t>
            </a:r>
            <a:endParaRPr lang="en-US" sz="1600" dirty="0"/>
          </a:p>
        </p:txBody>
      </p:sp>
      <p:sp>
        <p:nvSpPr>
          <p:cNvPr id="13" name="Text 11"/>
          <p:cNvSpPr txBox="1"/>
          <p:nvPr/>
        </p:nvSpPr>
        <p:spPr>
          <a:xfrm>
            <a:off x="804672" y="2322576"/>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التقنيات، المعمارية، وتصميم قاعدة البيانات</a:t>
            </a:r>
            <a:endParaRPr lang="en-US" sz="1150" dirty="0"/>
          </a:p>
        </p:txBody>
      </p:sp>
      <p:sp>
        <p:nvSpPr>
          <p:cNvPr id="14" name="Shape 12"/>
          <p:cNvSpPr/>
          <p:nvPr/>
        </p:nvSpPr>
        <p:spPr>
          <a:xfrm>
            <a:off x="6278728" y="3200400"/>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15" name="Shape 13"/>
          <p:cNvSpPr/>
          <p:nvPr/>
        </p:nvSpPr>
        <p:spPr>
          <a:xfrm>
            <a:off x="10682935" y="3547872"/>
            <a:ext cx="603504" cy="603504"/>
          </a:xfrm>
          <a:prstGeom prst="ellipse">
            <a:avLst/>
          </a:prstGeom>
          <a:solidFill>
            <a:srgbClr val="02717D"/>
          </a:solidFill>
          <a:ln/>
        </p:spPr>
      </p:sp>
      <p:sp>
        <p:nvSpPr>
          <p:cNvPr id="16" name="Text 14"/>
          <p:cNvSpPr txBox="1"/>
          <p:nvPr/>
        </p:nvSpPr>
        <p:spPr>
          <a:xfrm>
            <a:off x="10682935" y="3547872"/>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٣</a:t>
            </a:r>
            <a:endParaRPr lang="en-US" sz="2200" dirty="0"/>
          </a:p>
        </p:txBody>
      </p:sp>
      <p:sp>
        <p:nvSpPr>
          <p:cNvPr id="17" name="Text 15"/>
          <p:cNvSpPr txBox="1"/>
          <p:nvPr/>
        </p:nvSpPr>
        <p:spPr>
          <a:xfrm>
            <a:off x="6534760" y="3529584"/>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الوظائف</a:t>
            </a:r>
            <a:endParaRPr lang="en-US" sz="1600" dirty="0"/>
          </a:p>
        </p:txBody>
      </p:sp>
      <p:sp>
        <p:nvSpPr>
          <p:cNvPr id="18" name="Text 16"/>
          <p:cNvSpPr txBox="1"/>
          <p:nvPr/>
        </p:nvSpPr>
        <p:spPr>
          <a:xfrm>
            <a:off x="6534760" y="3895344"/>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الوحدات الست، الصلاحيات، وجولة في الشاشات</a:t>
            </a:r>
            <a:endParaRPr lang="en-US" sz="1150" dirty="0"/>
          </a:p>
        </p:txBody>
      </p:sp>
      <p:sp>
        <p:nvSpPr>
          <p:cNvPr id="19" name="Shape 17"/>
          <p:cNvSpPr/>
          <p:nvPr/>
        </p:nvSpPr>
        <p:spPr>
          <a:xfrm>
            <a:off x="548640" y="3200400"/>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20" name="Shape 18"/>
          <p:cNvSpPr/>
          <p:nvPr/>
        </p:nvSpPr>
        <p:spPr>
          <a:xfrm>
            <a:off x="4952848" y="3547872"/>
            <a:ext cx="603504" cy="603504"/>
          </a:xfrm>
          <a:prstGeom prst="ellipse">
            <a:avLst/>
          </a:prstGeom>
          <a:solidFill>
            <a:srgbClr val="E9A13B"/>
          </a:solidFill>
          <a:ln/>
        </p:spPr>
      </p:sp>
      <p:sp>
        <p:nvSpPr>
          <p:cNvPr id="21" name="Text 19"/>
          <p:cNvSpPr txBox="1"/>
          <p:nvPr/>
        </p:nvSpPr>
        <p:spPr>
          <a:xfrm>
            <a:off x="4952848" y="3547872"/>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٤</a:t>
            </a:r>
            <a:endParaRPr lang="en-US" sz="2200" dirty="0"/>
          </a:p>
        </p:txBody>
      </p:sp>
      <p:sp>
        <p:nvSpPr>
          <p:cNvPr id="22" name="Text 20"/>
          <p:cNvSpPr txBox="1"/>
          <p:nvPr/>
        </p:nvSpPr>
        <p:spPr>
          <a:xfrm>
            <a:off x="804672" y="3529584"/>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الابتكار</a:t>
            </a:r>
            <a:endParaRPr lang="en-US" sz="1600" dirty="0"/>
          </a:p>
        </p:txBody>
      </p:sp>
      <p:sp>
        <p:nvSpPr>
          <p:cNvPr id="23" name="Text 21"/>
          <p:cNvSpPr txBox="1"/>
          <p:nvPr/>
        </p:nvSpPr>
        <p:spPr>
          <a:xfrm>
            <a:off x="804672" y="3895344"/>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المساعد الذكي ومحرّك تحليل النوايا</a:t>
            </a:r>
            <a:endParaRPr lang="en-US" sz="1150" dirty="0"/>
          </a:p>
        </p:txBody>
      </p:sp>
      <p:sp>
        <p:nvSpPr>
          <p:cNvPr id="24" name="Shape 22"/>
          <p:cNvSpPr/>
          <p:nvPr/>
        </p:nvSpPr>
        <p:spPr>
          <a:xfrm>
            <a:off x="6278728" y="4773168"/>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25" name="Shape 23"/>
          <p:cNvSpPr/>
          <p:nvPr/>
        </p:nvSpPr>
        <p:spPr>
          <a:xfrm>
            <a:off x="10682935" y="5120640"/>
            <a:ext cx="603504" cy="603504"/>
          </a:xfrm>
          <a:prstGeom prst="ellipse">
            <a:avLst/>
          </a:prstGeom>
          <a:solidFill>
            <a:srgbClr val="E9A13B"/>
          </a:solidFill>
          <a:ln/>
        </p:spPr>
      </p:sp>
      <p:sp>
        <p:nvSpPr>
          <p:cNvPr id="26" name="Text 24"/>
          <p:cNvSpPr txBox="1"/>
          <p:nvPr/>
        </p:nvSpPr>
        <p:spPr>
          <a:xfrm>
            <a:off x="10682935" y="5120640"/>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٥</a:t>
            </a:r>
            <a:endParaRPr lang="en-US" sz="2200" dirty="0"/>
          </a:p>
        </p:txBody>
      </p:sp>
      <p:sp>
        <p:nvSpPr>
          <p:cNvPr id="27" name="Text 25"/>
          <p:cNvSpPr txBox="1"/>
          <p:nvPr/>
        </p:nvSpPr>
        <p:spPr>
          <a:xfrm>
            <a:off x="6534760" y="5102352"/>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المتانة</a:t>
            </a:r>
            <a:endParaRPr lang="en-US" sz="1600" dirty="0"/>
          </a:p>
        </p:txBody>
      </p:sp>
      <p:sp>
        <p:nvSpPr>
          <p:cNvPr id="28" name="Text 26"/>
          <p:cNvSpPr txBox="1"/>
          <p:nvPr/>
        </p:nvSpPr>
        <p:spPr>
          <a:xfrm>
            <a:off x="6534760" y="5468112"/>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التدهور الآمن ومعالجة الاستثناءات</a:t>
            </a:r>
            <a:endParaRPr lang="en-US" sz="1150" dirty="0"/>
          </a:p>
        </p:txBody>
      </p:sp>
      <p:sp>
        <p:nvSpPr>
          <p:cNvPr id="29" name="Shape 27"/>
          <p:cNvSpPr/>
          <p:nvPr/>
        </p:nvSpPr>
        <p:spPr>
          <a:xfrm>
            <a:off x="548640" y="4773168"/>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30" name="Shape 28"/>
          <p:cNvSpPr/>
          <p:nvPr/>
        </p:nvSpPr>
        <p:spPr>
          <a:xfrm>
            <a:off x="4952848" y="5120640"/>
            <a:ext cx="603504" cy="603504"/>
          </a:xfrm>
          <a:prstGeom prst="ellipse">
            <a:avLst/>
          </a:prstGeom>
          <a:solidFill>
            <a:srgbClr val="E9A13B"/>
          </a:solidFill>
          <a:ln/>
        </p:spPr>
      </p:sp>
      <p:sp>
        <p:nvSpPr>
          <p:cNvPr id="31" name="Text 29"/>
          <p:cNvSpPr txBox="1"/>
          <p:nvPr/>
        </p:nvSpPr>
        <p:spPr>
          <a:xfrm>
            <a:off x="4952848" y="5120640"/>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٦</a:t>
            </a:r>
            <a:endParaRPr lang="en-US" sz="2200" dirty="0"/>
          </a:p>
        </p:txBody>
      </p:sp>
      <p:sp>
        <p:nvSpPr>
          <p:cNvPr id="32" name="Text 30"/>
          <p:cNvSpPr txBox="1"/>
          <p:nvPr/>
        </p:nvSpPr>
        <p:spPr>
          <a:xfrm>
            <a:off x="804672" y="5102352"/>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البرهان</a:t>
            </a:r>
            <a:endParaRPr lang="en-US" sz="1600" dirty="0"/>
          </a:p>
        </p:txBody>
      </p:sp>
      <p:sp>
        <p:nvSpPr>
          <p:cNvPr id="33" name="Text 31"/>
          <p:cNvSpPr txBox="1"/>
          <p:nvPr/>
        </p:nvSpPr>
        <p:spPr>
          <a:xfrm>
            <a:off x="804672" y="5468112"/>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الاختبار الآلي وضمان الجودة</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الأول · المشكلة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أين تكمن المشكلة؟</a:t>
            </a:r>
            <a:endParaRPr lang="en-US" sz="3300" dirty="0"/>
          </a:p>
        </p:txBody>
      </p:sp>
      <p:sp>
        <p:nvSpPr>
          <p:cNvPr id="4" name="Shape 2"/>
          <p:cNvSpPr/>
          <p:nvPr/>
        </p:nvSpPr>
        <p:spPr>
          <a:xfrm>
            <a:off x="6260440" y="1572768"/>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664647" y="1920240"/>
            <a:ext cx="676656" cy="676656"/>
          </a:xfrm>
          <a:prstGeom prst="ellipse">
            <a:avLst/>
          </a:prstGeom>
          <a:solidFill>
            <a:srgbClr val="02717D"/>
          </a:solidFill>
          <a:ln/>
        </p:spPr>
      </p:sp>
      <p:pic>
        <p:nvPicPr>
          <p:cNvPr id="6" name="Image 0" descr="preencoded.png">    </p:cNvPr>
          <p:cNvPicPr>
            <a:picLocks noChangeAspect="1"/>
          </p:cNvPicPr>
          <p:nvPr/>
        </p:nvPicPr>
        <p:blipFill>
          <a:blip r:embed="rId1"/>
          <a:stretch>
            <a:fillRect/>
          </a:stretch>
        </p:blipFill>
        <p:spPr>
          <a:xfrm>
            <a:off x="10829239" y="2084832"/>
            <a:ext cx="347472" cy="347472"/>
          </a:xfrm>
          <a:prstGeom prst="rect">
            <a:avLst/>
          </a:prstGeom>
        </p:spPr>
      </p:pic>
      <p:sp>
        <p:nvSpPr>
          <p:cNvPr id="7" name="Text 4"/>
          <p:cNvSpPr txBox="1"/>
          <p:nvPr/>
        </p:nvSpPr>
        <p:spPr>
          <a:xfrm>
            <a:off x="6516472" y="1911096"/>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سجلات ورقية متفرّقة</a:t>
            </a:r>
            <a:endParaRPr lang="en-US" sz="1500" dirty="0"/>
          </a:p>
        </p:txBody>
      </p:sp>
      <p:sp>
        <p:nvSpPr>
          <p:cNvPr id="8" name="Text 5"/>
          <p:cNvSpPr txBox="1"/>
          <p:nvPr/>
        </p:nvSpPr>
        <p:spPr>
          <a:xfrm>
            <a:off x="6516472" y="2295144"/>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كل قسم لديه نسخته، ولا مصدر واحد للحقيقة</a:t>
            </a:r>
            <a:endParaRPr lang="en-US" sz="1150" dirty="0"/>
          </a:p>
        </p:txBody>
      </p:sp>
      <p:sp>
        <p:nvSpPr>
          <p:cNvPr id="9" name="Shape 6"/>
          <p:cNvSpPr/>
          <p:nvPr/>
        </p:nvSpPr>
        <p:spPr>
          <a:xfrm>
            <a:off x="548640" y="1572768"/>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10" name="Shape 7"/>
          <p:cNvSpPr/>
          <p:nvPr/>
        </p:nvSpPr>
        <p:spPr>
          <a:xfrm>
            <a:off x="4952848" y="1920240"/>
            <a:ext cx="676656" cy="676656"/>
          </a:xfrm>
          <a:prstGeom prst="ellipse">
            <a:avLst/>
          </a:prstGeom>
          <a:solidFill>
            <a:srgbClr val="02717D"/>
          </a:solidFill>
          <a:ln/>
        </p:spPr>
      </p:sp>
      <p:pic>
        <p:nvPicPr>
          <p:cNvPr id="11" name="Image 1" descr="preencoded.png">    </p:cNvPr>
          <p:cNvPicPr>
            <a:picLocks noChangeAspect="1"/>
          </p:cNvPicPr>
          <p:nvPr/>
        </p:nvPicPr>
        <p:blipFill>
          <a:blip r:embed="rId2"/>
          <a:stretch>
            <a:fillRect/>
          </a:stretch>
        </p:blipFill>
        <p:spPr>
          <a:xfrm>
            <a:off x="5117440" y="2084832"/>
            <a:ext cx="347472" cy="347472"/>
          </a:xfrm>
          <a:prstGeom prst="rect">
            <a:avLst/>
          </a:prstGeom>
        </p:spPr>
      </p:pic>
      <p:sp>
        <p:nvSpPr>
          <p:cNvPr id="12" name="Text 8"/>
          <p:cNvSpPr txBox="1"/>
          <p:nvPr/>
        </p:nvSpPr>
        <p:spPr>
          <a:xfrm>
            <a:off x="804672" y="1911096"/>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ازدواجية وتكرار</a:t>
            </a:r>
            <a:endParaRPr lang="en-US" sz="1500" dirty="0"/>
          </a:p>
        </p:txBody>
      </p:sp>
      <p:sp>
        <p:nvSpPr>
          <p:cNvPr id="13" name="Text 9"/>
          <p:cNvSpPr txBox="1"/>
          <p:nvPr/>
        </p:nvSpPr>
        <p:spPr>
          <a:xfrm>
            <a:off x="804672" y="2295144"/>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شخص يستلم المساعدة مرتين، وآخر لا يستلمها</a:t>
            </a:r>
            <a:endParaRPr lang="en-US" sz="1150" dirty="0"/>
          </a:p>
        </p:txBody>
      </p:sp>
      <p:sp>
        <p:nvSpPr>
          <p:cNvPr id="14" name="Shape 10"/>
          <p:cNvSpPr/>
          <p:nvPr/>
        </p:nvSpPr>
        <p:spPr>
          <a:xfrm>
            <a:off x="6260440" y="3200400"/>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15" name="Shape 11"/>
          <p:cNvSpPr/>
          <p:nvPr/>
        </p:nvSpPr>
        <p:spPr>
          <a:xfrm>
            <a:off x="10664647" y="3547872"/>
            <a:ext cx="676656" cy="676656"/>
          </a:xfrm>
          <a:prstGeom prst="ellipse">
            <a:avLst/>
          </a:prstGeom>
          <a:solidFill>
            <a:srgbClr val="02717D"/>
          </a:solidFill>
          <a:ln/>
        </p:spPr>
      </p:sp>
      <p:pic>
        <p:nvPicPr>
          <p:cNvPr id="16" name="Image 2" descr="preencoded.png">    </p:cNvPr>
          <p:cNvPicPr>
            <a:picLocks noChangeAspect="1"/>
          </p:cNvPicPr>
          <p:nvPr/>
        </p:nvPicPr>
        <p:blipFill>
          <a:blip r:embed="rId3"/>
          <a:stretch>
            <a:fillRect/>
          </a:stretch>
        </p:blipFill>
        <p:spPr>
          <a:xfrm>
            <a:off x="10829239" y="3712464"/>
            <a:ext cx="347472" cy="347472"/>
          </a:xfrm>
          <a:prstGeom prst="rect">
            <a:avLst/>
          </a:prstGeom>
        </p:spPr>
      </p:pic>
      <p:sp>
        <p:nvSpPr>
          <p:cNvPr id="17" name="Text 12"/>
          <p:cNvSpPr txBox="1"/>
          <p:nvPr/>
        </p:nvSpPr>
        <p:spPr>
          <a:xfrm>
            <a:off x="6516472" y="3538728"/>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الطاقة الاستيعابية غير مضبوطة</a:t>
            </a:r>
            <a:endParaRPr lang="en-US" sz="1500" dirty="0"/>
          </a:p>
        </p:txBody>
      </p:sp>
      <p:sp>
        <p:nvSpPr>
          <p:cNvPr id="18" name="Text 13"/>
          <p:cNvSpPr txBox="1"/>
          <p:nvPr/>
        </p:nvSpPr>
        <p:spPr>
          <a:xfrm>
            <a:off x="6516472" y="3922776"/>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خيمة سعتها خمسة يسكنها ثمانية</a:t>
            </a:r>
            <a:endParaRPr lang="en-US" sz="1150" dirty="0"/>
          </a:p>
        </p:txBody>
      </p:sp>
      <p:sp>
        <p:nvSpPr>
          <p:cNvPr id="19" name="Shape 14"/>
          <p:cNvSpPr/>
          <p:nvPr/>
        </p:nvSpPr>
        <p:spPr>
          <a:xfrm>
            <a:off x="548640" y="3200400"/>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0" name="Shape 15"/>
          <p:cNvSpPr/>
          <p:nvPr/>
        </p:nvSpPr>
        <p:spPr>
          <a:xfrm>
            <a:off x="4952848" y="3547872"/>
            <a:ext cx="676656" cy="676656"/>
          </a:xfrm>
          <a:prstGeom prst="ellipse">
            <a:avLst/>
          </a:prstGeom>
          <a:solidFill>
            <a:srgbClr val="E9A13B"/>
          </a:solidFill>
          <a:ln/>
        </p:spPr>
      </p:sp>
      <p:pic>
        <p:nvPicPr>
          <p:cNvPr id="21" name="Image 3" descr="preencoded.png">    </p:cNvPr>
          <p:cNvPicPr>
            <a:picLocks noChangeAspect="1"/>
          </p:cNvPicPr>
          <p:nvPr/>
        </p:nvPicPr>
        <p:blipFill>
          <a:blip r:embed="rId4"/>
          <a:stretch>
            <a:fillRect/>
          </a:stretch>
        </p:blipFill>
        <p:spPr>
          <a:xfrm>
            <a:off x="5117440" y="3712464"/>
            <a:ext cx="347472" cy="347472"/>
          </a:xfrm>
          <a:prstGeom prst="rect">
            <a:avLst/>
          </a:prstGeom>
        </p:spPr>
      </p:pic>
      <p:sp>
        <p:nvSpPr>
          <p:cNvPr id="22" name="Text 16"/>
          <p:cNvSpPr txBox="1"/>
          <p:nvPr/>
        </p:nvSpPr>
        <p:spPr>
          <a:xfrm>
            <a:off x="804672" y="3538728"/>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حركة الدخول والخروج</a:t>
            </a:r>
            <a:endParaRPr lang="en-US" sz="1500" dirty="0"/>
          </a:p>
        </p:txBody>
      </p:sp>
      <p:sp>
        <p:nvSpPr>
          <p:cNvPr id="23" name="Text 17"/>
          <p:cNvSpPr txBox="1"/>
          <p:nvPr/>
        </p:nvSpPr>
        <p:spPr>
          <a:xfrm>
            <a:off x="804672" y="3922776"/>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سؤال «من الموجود داخل المخيم الآن؟» بلا إجابة</a:t>
            </a:r>
            <a:endParaRPr lang="en-US" sz="1150" dirty="0"/>
          </a:p>
        </p:txBody>
      </p:sp>
      <p:sp>
        <p:nvSpPr>
          <p:cNvPr id="24" name="Shape 18"/>
          <p:cNvSpPr/>
          <p:nvPr/>
        </p:nvSpPr>
        <p:spPr>
          <a:xfrm>
            <a:off x="6260440" y="4828032"/>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5" name="Shape 19"/>
          <p:cNvSpPr/>
          <p:nvPr/>
        </p:nvSpPr>
        <p:spPr>
          <a:xfrm>
            <a:off x="10664647" y="5175504"/>
            <a:ext cx="676656" cy="676656"/>
          </a:xfrm>
          <a:prstGeom prst="ellipse">
            <a:avLst/>
          </a:prstGeom>
          <a:solidFill>
            <a:srgbClr val="E9A13B"/>
          </a:solidFill>
          <a:ln/>
        </p:spPr>
      </p:sp>
      <p:pic>
        <p:nvPicPr>
          <p:cNvPr id="26" name="Image 4" descr="preencoded.png">    </p:cNvPr>
          <p:cNvPicPr>
            <a:picLocks noChangeAspect="1"/>
          </p:cNvPicPr>
          <p:nvPr/>
        </p:nvPicPr>
        <p:blipFill>
          <a:blip r:embed="rId5"/>
          <a:stretch>
            <a:fillRect/>
          </a:stretch>
        </p:blipFill>
        <p:spPr>
          <a:xfrm>
            <a:off x="10829239" y="5340096"/>
            <a:ext cx="347472" cy="347472"/>
          </a:xfrm>
          <a:prstGeom prst="rect">
            <a:avLst/>
          </a:prstGeom>
        </p:spPr>
      </p:pic>
      <p:sp>
        <p:nvSpPr>
          <p:cNvPr id="27" name="Text 20"/>
          <p:cNvSpPr txBox="1"/>
          <p:nvPr/>
        </p:nvSpPr>
        <p:spPr>
          <a:xfrm>
            <a:off x="6516472" y="5166360"/>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البحث بالاسم العربي يفشل</a:t>
            </a:r>
            <a:endParaRPr lang="en-US" sz="1500" dirty="0"/>
          </a:p>
        </p:txBody>
      </p:sp>
      <p:sp>
        <p:nvSpPr>
          <p:cNvPr id="28" name="Text 21"/>
          <p:cNvSpPr txBox="1"/>
          <p:nvPr/>
        </p:nvSpPr>
        <p:spPr>
          <a:xfrm>
            <a:off x="6516472" y="5550408"/>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«احمد» و«أحمد» سجلّان مختلفان، فتُولد الازدواجية</a:t>
            </a:r>
            <a:endParaRPr lang="en-US" sz="1150" dirty="0"/>
          </a:p>
        </p:txBody>
      </p:sp>
      <p:sp>
        <p:nvSpPr>
          <p:cNvPr id="29" name="Shape 22"/>
          <p:cNvSpPr/>
          <p:nvPr/>
        </p:nvSpPr>
        <p:spPr>
          <a:xfrm>
            <a:off x="548640" y="4828032"/>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30" name="Shape 23"/>
          <p:cNvSpPr/>
          <p:nvPr/>
        </p:nvSpPr>
        <p:spPr>
          <a:xfrm>
            <a:off x="4952848" y="5175504"/>
            <a:ext cx="676656" cy="676656"/>
          </a:xfrm>
          <a:prstGeom prst="ellipse">
            <a:avLst/>
          </a:prstGeom>
          <a:solidFill>
            <a:srgbClr val="02717D"/>
          </a:solidFill>
          <a:ln/>
        </p:spPr>
      </p:sp>
      <p:pic>
        <p:nvPicPr>
          <p:cNvPr id="31" name="Image 5" descr="preencoded.png">    </p:cNvPr>
          <p:cNvPicPr>
            <a:picLocks noChangeAspect="1"/>
          </p:cNvPicPr>
          <p:nvPr/>
        </p:nvPicPr>
        <p:blipFill>
          <a:blip r:embed="rId6"/>
          <a:stretch>
            <a:fillRect/>
          </a:stretch>
        </p:blipFill>
        <p:spPr>
          <a:xfrm>
            <a:off x="5117440" y="5340096"/>
            <a:ext cx="347472" cy="347472"/>
          </a:xfrm>
          <a:prstGeom prst="rect">
            <a:avLst/>
          </a:prstGeom>
        </p:spPr>
      </p:pic>
      <p:sp>
        <p:nvSpPr>
          <p:cNvPr id="32" name="Text 24"/>
          <p:cNvSpPr txBox="1"/>
          <p:nvPr/>
        </p:nvSpPr>
        <p:spPr>
          <a:xfrm>
            <a:off x="804672" y="5166360"/>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الاستعلام يحتاج ساعات</a:t>
            </a:r>
            <a:endParaRPr lang="en-US" sz="1500" dirty="0"/>
          </a:p>
        </p:txBody>
      </p:sp>
      <p:sp>
        <p:nvSpPr>
          <p:cNvPr id="33" name="Text 25"/>
          <p:cNvSpPr txBox="1"/>
          <p:nvPr/>
        </p:nvSpPr>
        <p:spPr>
          <a:xfrm>
            <a:off x="804672" y="5550408"/>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موظف يبحث يدويًا في ملفات متفرقة</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الأول · الحل</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الحل المقترح وأهداف النظام</a:t>
            </a:r>
            <a:endParaRPr lang="en-US" sz="3300" dirty="0"/>
          </a:p>
        </p:txBody>
      </p:sp>
      <p:sp>
        <p:nvSpPr>
          <p:cNvPr id="4" name="Shape 2"/>
          <p:cNvSpPr/>
          <p:nvPr/>
        </p:nvSpPr>
        <p:spPr>
          <a:xfrm>
            <a:off x="4785055" y="1572768"/>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856671" y="1737360"/>
            <a:ext cx="457200" cy="457200"/>
          </a:xfrm>
          <a:prstGeom prst="ellipse">
            <a:avLst/>
          </a:prstGeom>
          <a:solidFill>
            <a:srgbClr val="02717D"/>
          </a:solidFill>
          <a:ln/>
        </p:spPr>
      </p:sp>
      <p:sp>
        <p:nvSpPr>
          <p:cNvPr id="6" name="Text 4"/>
          <p:cNvSpPr txBox="1"/>
          <p:nvPr/>
        </p:nvSpPr>
        <p:spPr>
          <a:xfrm>
            <a:off x="10856671" y="1737360"/>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5013655" y="1700784"/>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مصدر واحد للحقيقة</a:t>
            </a:r>
            <a:endParaRPr lang="en-US" sz="1400" dirty="0"/>
          </a:p>
        </p:txBody>
      </p:sp>
      <p:sp>
        <p:nvSpPr>
          <p:cNvPr id="8" name="Text 6"/>
          <p:cNvSpPr txBox="1"/>
          <p:nvPr/>
        </p:nvSpPr>
        <p:spPr>
          <a:xfrm>
            <a:off x="5013655" y="1993392"/>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قاعدة بيانات علائقية مترابطة تقرأ منها كل الأقسام</a:t>
            </a:r>
            <a:endParaRPr lang="en-US" sz="1150" dirty="0"/>
          </a:p>
        </p:txBody>
      </p:sp>
      <p:sp>
        <p:nvSpPr>
          <p:cNvPr id="9" name="Shape 7"/>
          <p:cNvSpPr/>
          <p:nvPr/>
        </p:nvSpPr>
        <p:spPr>
          <a:xfrm>
            <a:off x="4785055" y="2505456"/>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10" name="Shape 8"/>
          <p:cNvSpPr/>
          <p:nvPr/>
        </p:nvSpPr>
        <p:spPr>
          <a:xfrm>
            <a:off x="10856671" y="2670048"/>
            <a:ext cx="457200" cy="457200"/>
          </a:xfrm>
          <a:prstGeom prst="ellipse">
            <a:avLst/>
          </a:prstGeom>
          <a:solidFill>
            <a:srgbClr val="02717D"/>
          </a:solidFill>
          <a:ln/>
        </p:spPr>
      </p:sp>
      <p:sp>
        <p:nvSpPr>
          <p:cNvPr id="11" name="Text 9"/>
          <p:cNvSpPr txBox="1"/>
          <p:nvPr/>
        </p:nvSpPr>
        <p:spPr>
          <a:xfrm>
            <a:off x="10856671" y="2670048"/>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5013655" y="2633472"/>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منع الخطأ لا تسجيله</a:t>
            </a:r>
            <a:endParaRPr lang="en-US" sz="1400" dirty="0"/>
          </a:p>
        </p:txBody>
      </p:sp>
      <p:sp>
        <p:nvSpPr>
          <p:cNvPr id="13" name="Text 11"/>
          <p:cNvSpPr txBox="1"/>
          <p:nvPr/>
        </p:nvSpPr>
        <p:spPr>
          <a:xfrm>
            <a:off x="5013655" y="2926080"/>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النظام يرفض تجاوز سعة الوحدة السكنية ابتداءً</a:t>
            </a:r>
            <a:endParaRPr lang="en-US" sz="1150" dirty="0"/>
          </a:p>
        </p:txBody>
      </p:sp>
      <p:sp>
        <p:nvSpPr>
          <p:cNvPr id="14" name="Shape 12"/>
          <p:cNvSpPr/>
          <p:nvPr/>
        </p:nvSpPr>
        <p:spPr>
          <a:xfrm>
            <a:off x="4785055" y="3438144"/>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15" name="Shape 13"/>
          <p:cNvSpPr/>
          <p:nvPr/>
        </p:nvSpPr>
        <p:spPr>
          <a:xfrm>
            <a:off x="10856671" y="3602736"/>
            <a:ext cx="457200" cy="457200"/>
          </a:xfrm>
          <a:prstGeom prst="ellipse">
            <a:avLst/>
          </a:prstGeom>
          <a:solidFill>
            <a:srgbClr val="02717D"/>
          </a:solidFill>
          <a:ln/>
        </p:spPr>
      </p:sp>
      <p:sp>
        <p:nvSpPr>
          <p:cNvPr id="16" name="Text 14"/>
          <p:cNvSpPr txBox="1"/>
          <p:nvPr/>
        </p:nvSpPr>
        <p:spPr>
          <a:xfrm>
            <a:off x="10856671" y="3602736"/>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5013655" y="3566160"/>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صلاحيات دقيقة</a:t>
            </a:r>
            <a:endParaRPr lang="en-US" sz="1400" dirty="0"/>
          </a:p>
        </p:txBody>
      </p:sp>
      <p:sp>
        <p:nvSpPr>
          <p:cNvPr id="18" name="Text 16"/>
          <p:cNvSpPr txBox="1"/>
          <p:nvPr/>
        </p:nvSpPr>
        <p:spPr>
          <a:xfrm>
            <a:off x="5013655" y="3858768"/>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سبعة أدوار وظيفية، كل دور يرى ما يخصّه فقط</a:t>
            </a:r>
            <a:endParaRPr lang="en-US" sz="1150" dirty="0"/>
          </a:p>
        </p:txBody>
      </p:sp>
      <p:sp>
        <p:nvSpPr>
          <p:cNvPr id="19" name="Shape 17"/>
          <p:cNvSpPr/>
          <p:nvPr/>
        </p:nvSpPr>
        <p:spPr>
          <a:xfrm>
            <a:off x="4785055" y="4370832"/>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20" name="Shape 18"/>
          <p:cNvSpPr/>
          <p:nvPr/>
        </p:nvSpPr>
        <p:spPr>
          <a:xfrm>
            <a:off x="10856671" y="4535424"/>
            <a:ext cx="457200" cy="457200"/>
          </a:xfrm>
          <a:prstGeom prst="ellipse">
            <a:avLst/>
          </a:prstGeom>
          <a:solidFill>
            <a:srgbClr val="02717D"/>
          </a:solidFill>
          <a:ln/>
        </p:spPr>
      </p:sp>
      <p:sp>
        <p:nvSpPr>
          <p:cNvPr id="21" name="Text 19"/>
          <p:cNvSpPr txBox="1"/>
          <p:nvPr/>
        </p:nvSpPr>
        <p:spPr>
          <a:xfrm>
            <a:off x="10856671" y="4535424"/>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txBox="1"/>
          <p:nvPr/>
        </p:nvSpPr>
        <p:spPr>
          <a:xfrm>
            <a:off x="5013655" y="4498848"/>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تتبّع كامل</a:t>
            </a:r>
            <a:endParaRPr lang="en-US" sz="1400" dirty="0"/>
          </a:p>
        </p:txBody>
      </p:sp>
      <p:sp>
        <p:nvSpPr>
          <p:cNvPr id="23" name="Text 21"/>
          <p:cNvSpPr txBox="1"/>
          <p:nvPr/>
        </p:nvSpPr>
        <p:spPr>
          <a:xfrm>
            <a:off x="5013655" y="4791456"/>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سجل تدقيق يوثّق من فعل وماذا فعل ومتى</a:t>
            </a:r>
            <a:endParaRPr lang="en-US" sz="1150" dirty="0"/>
          </a:p>
        </p:txBody>
      </p:sp>
      <p:sp>
        <p:nvSpPr>
          <p:cNvPr id="24" name="Shape 22"/>
          <p:cNvSpPr/>
          <p:nvPr/>
        </p:nvSpPr>
        <p:spPr>
          <a:xfrm>
            <a:off x="4785055" y="5303520"/>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25" name="Shape 23"/>
          <p:cNvSpPr/>
          <p:nvPr/>
        </p:nvSpPr>
        <p:spPr>
          <a:xfrm>
            <a:off x="10856671" y="5468112"/>
            <a:ext cx="457200" cy="457200"/>
          </a:xfrm>
          <a:prstGeom prst="ellipse">
            <a:avLst/>
          </a:prstGeom>
          <a:solidFill>
            <a:srgbClr val="E9A13B"/>
          </a:solidFill>
          <a:ln/>
        </p:spPr>
      </p:sp>
      <p:sp>
        <p:nvSpPr>
          <p:cNvPr id="26" name="Text 24"/>
          <p:cNvSpPr txBox="1"/>
          <p:nvPr/>
        </p:nvSpPr>
        <p:spPr>
          <a:xfrm>
            <a:off x="10856671" y="5468112"/>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7" name="Text 25"/>
          <p:cNvSpPr txBox="1"/>
          <p:nvPr/>
        </p:nvSpPr>
        <p:spPr>
          <a:xfrm>
            <a:off x="5013655" y="5431536"/>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وصول فوري للمعلومة</a:t>
            </a:r>
            <a:endParaRPr lang="en-US" sz="1400" dirty="0"/>
          </a:p>
        </p:txBody>
      </p:sp>
      <p:sp>
        <p:nvSpPr>
          <p:cNvPr id="28" name="Text 26"/>
          <p:cNvSpPr txBox="1"/>
          <p:nvPr/>
        </p:nvSpPr>
        <p:spPr>
          <a:xfrm>
            <a:off x="5013655" y="5724144"/>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مساعد ذكي يجيب عن السؤال المكتوب بالعربية</a:t>
            </a:r>
            <a:endParaRPr lang="en-US" sz="1150" dirty="0"/>
          </a:p>
        </p:txBody>
      </p:sp>
      <p:sp>
        <p:nvSpPr>
          <p:cNvPr id="29" name="Shape 27"/>
          <p:cNvSpPr/>
          <p:nvPr/>
        </p:nvSpPr>
        <p:spPr>
          <a:xfrm>
            <a:off x="548640" y="1572768"/>
            <a:ext cx="3870655" cy="4517136"/>
          </a:xfrm>
          <a:prstGeom prst="roundRect">
            <a:avLst>
              <a:gd name="adj" fmla="val 2835"/>
            </a:avLst>
          </a:prstGeom>
          <a:solidFill>
            <a:srgbClr val="0A2E36"/>
          </a:solidFill>
          <a:ln/>
        </p:spPr>
      </p:sp>
      <p:sp>
        <p:nvSpPr>
          <p:cNvPr id="30" name="Shape 28"/>
          <p:cNvSpPr/>
          <p:nvPr/>
        </p:nvSpPr>
        <p:spPr>
          <a:xfrm>
            <a:off x="2072488" y="2084832"/>
            <a:ext cx="822960" cy="822960"/>
          </a:xfrm>
          <a:prstGeom prst="ellipse">
            <a:avLst/>
          </a:prstGeom>
          <a:solidFill>
            <a:srgbClr val="02717D"/>
          </a:solidFill>
          <a:ln/>
        </p:spPr>
      </p:sp>
      <p:pic>
        <p:nvPicPr>
          <p:cNvPr id="31" name="Image 0" descr="preencoded.png">    </p:cNvPr>
          <p:cNvPicPr>
            <a:picLocks noChangeAspect="1"/>
          </p:cNvPicPr>
          <p:nvPr/>
        </p:nvPicPr>
        <p:blipFill>
          <a:blip r:embed="rId1"/>
          <a:stretch>
            <a:fillRect/>
          </a:stretch>
        </p:blipFill>
        <p:spPr>
          <a:xfrm>
            <a:off x="2264512" y="2276856"/>
            <a:ext cx="438912" cy="438912"/>
          </a:xfrm>
          <a:prstGeom prst="rect">
            <a:avLst/>
          </a:prstGeom>
        </p:spPr>
      </p:pic>
      <p:sp>
        <p:nvSpPr>
          <p:cNvPr id="32" name="Text 29"/>
          <p:cNvSpPr txBox="1"/>
          <p:nvPr/>
        </p:nvSpPr>
        <p:spPr>
          <a:xfrm>
            <a:off x="822960" y="3127248"/>
            <a:ext cx="3322015" cy="274320"/>
          </a:xfrm>
          <a:prstGeom prst="rect">
            <a:avLst/>
          </a:prstGeom>
          <a:noFill/>
          <a:ln/>
        </p:spPr>
        <p:txBody>
          <a:bodyPr wrap="square" lIns="0" tIns="0" rIns="0" bIns="0" rtlCol="0" anchor="ctr"/>
          <a:lstStyle/>
          <a:p>
            <a:pPr rtl="1" algn="ctr" indent="0" marL="0">
              <a:buNone/>
            </a:pPr>
            <a:r>
              <a:rPr lang="en-US" sz="1250" b="1" dirty="0">
                <a:solidFill>
                  <a:srgbClr val="00A896"/>
                </a:solidFill>
                <a:latin typeface="Arial" pitchFamily="34" charset="0"/>
                <a:ea typeface="Arial" pitchFamily="34" charset="-122"/>
                <a:cs typeface="Arial" pitchFamily="34" charset="-120"/>
              </a:rPr>
              <a:t>فلسفة التصميم</a:t>
            </a:r>
            <a:endParaRPr lang="en-US" sz="1250" dirty="0"/>
          </a:p>
        </p:txBody>
      </p:sp>
      <p:sp>
        <p:nvSpPr>
          <p:cNvPr id="33" name="Text 30"/>
          <p:cNvSpPr txBox="1"/>
          <p:nvPr/>
        </p:nvSpPr>
        <p:spPr>
          <a:xfrm>
            <a:off x="822960" y="3529584"/>
            <a:ext cx="3322015" cy="1371600"/>
          </a:xfrm>
          <a:prstGeom prst="rect">
            <a:avLst/>
          </a:prstGeom>
          <a:noFill/>
          <a:ln/>
        </p:spPr>
        <p:txBody>
          <a:bodyPr wrap="square" lIns="0" tIns="0" rIns="0" bIns="0" rtlCol="0" anchor="ctr"/>
          <a:lstStyle/>
          <a:p>
            <a:pPr rtl="1" algn="ctr" indent="0" marL="0">
              <a:lnSpc>
                <a:spcPts val="3200"/>
              </a:lnSpc>
              <a:buNone/>
            </a:pPr>
            <a:r>
              <a:rPr lang="en-US" sz="2000" b="1" dirty="0">
                <a:solidFill>
                  <a:srgbClr val="FFFFFF"/>
                </a:solidFill>
                <a:latin typeface="Arial" pitchFamily="34" charset="0"/>
                <a:ea typeface="Arial" pitchFamily="34" charset="-122"/>
                <a:cs typeface="Arial" pitchFamily="34" charset="-120"/>
              </a:rPr>
              <a:t>النظام يمنع الخطأ</a:t>
            </a:r>
            <a:endParaRPr lang="en-US" sz="2000" dirty="0"/>
          </a:p>
          <a:p>
            <a:pPr rtl="1" algn="ctr" indent="0" marL="0">
              <a:lnSpc>
                <a:spcPts val="3200"/>
              </a:lnSpc>
              <a:buNone/>
            </a:pPr>
            <a:r>
              <a:rPr lang="en-US" sz="2000" b="1" dirty="0">
                <a:solidFill>
                  <a:srgbClr val="FFFFFF"/>
                </a:solidFill>
                <a:latin typeface="Arial" pitchFamily="34" charset="0"/>
                <a:ea typeface="Arial" pitchFamily="34" charset="-122"/>
                <a:cs typeface="Arial" pitchFamily="34" charset="-120"/>
              </a:rPr>
              <a:t>قبل وقوعه،</a:t>
            </a:r>
            <a:endParaRPr lang="en-US" sz="2000" dirty="0"/>
          </a:p>
          <a:p>
            <a:pPr rtl="1" algn="ctr" indent="0" marL="0">
              <a:lnSpc>
                <a:spcPts val="3200"/>
              </a:lnSpc>
              <a:buNone/>
            </a:pPr>
            <a:r>
              <a:rPr lang="en-US" sz="2000" b="1" dirty="0">
                <a:solidFill>
                  <a:srgbClr val="FFFFFF"/>
                </a:solidFill>
                <a:latin typeface="Arial" pitchFamily="34" charset="0"/>
                <a:ea typeface="Arial" pitchFamily="34" charset="-122"/>
                <a:cs typeface="Arial" pitchFamily="34" charset="-120"/>
              </a:rPr>
              <a:t>ولا يكتفي بتسجيله.</a:t>
            </a:r>
            <a:endParaRPr lang="en-US" sz="2000" dirty="0"/>
          </a:p>
        </p:txBody>
      </p:sp>
      <p:sp>
        <p:nvSpPr>
          <p:cNvPr id="34" name="Text 31"/>
          <p:cNvSpPr txBox="1"/>
          <p:nvPr/>
        </p:nvSpPr>
        <p:spPr>
          <a:xfrm>
            <a:off x="822960" y="5029200"/>
            <a:ext cx="3322015" cy="822960"/>
          </a:xfrm>
          <a:prstGeom prst="rect">
            <a:avLst/>
          </a:prstGeom>
          <a:noFill/>
          <a:ln/>
        </p:spPr>
        <p:txBody>
          <a:bodyPr wrap="square" lIns="0" tIns="0" rIns="0" bIns="0" rtlCol="0" anchor="ctr"/>
          <a:lstStyle/>
          <a:p>
            <a:pPr rtl="1" algn="ctr" indent="0" marL="0">
              <a:lnSpc>
                <a:spcPts val="1700"/>
              </a:lnSpc>
              <a:buNone/>
            </a:pPr>
            <a:r>
              <a:rPr lang="en-US" sz="1150" dirty="0">
                <a:solidFill>
                  <a:srgbClr val="BFD4D7"/>
                </a:solidFill>
                <a:latin typeface="Arial" pitchFamily="34" charset="0"/>
                <a:ea typeface="Arial" pitchFamily="34" charset="-122"/>
                <a:cs typeface="Arial" pitchFamily="34" charset="-120"/>
              </a:rPr>
              <a:t>قواعد العمل في طبقة الخدمات،</a:t>
            </a:r>
            <a:endParaRPr lang="en-US" sz="1150" dirty="0"/>
          </a:p>
          <a:p>
            <a:pPr rtl="1" algn="ctr" indent="0" marL="0">
              <a:lnSpc>
                <a:spcPts val="1700"/>
              </a:lnSpc>
              <a:buNone/>
            </a:pPr>
            <a:r>
              <a:rPr lang="en-US" sz="1150" dirty="0">
                <a:solidFill>
                  <a:srgbClr val="BFD4D7"/>
                </a:solidFill>
                <a:latin typeface="Arial" pitchFamily="34" charset="0"/>
                <a:ea typeface="Arial" pitchFamily="34" charset="-122"/>
                <a:cs typeface="Arial" pitchFamily="34" charset="-120"/>
              </a:rPr>
              <a:t>لا في الواجهة، لأن الواجهة</a:t>
            </a:r>
            <a:endParaRPr lang="en-US" sz="1150" dirty="0"/>
          </a:p>
          <a:p>
            <a:pPr rtl="1" algn="ctr" indent="0" marL="0">
              <a:lnSpc>
                <a:spcPts val="1700"/>
              </a:lnSpc>
              <a:buNone/>
            </a:pPr>
            <a:r>
              <a:rPr lang="en-US" sz="1150" dirty="0">
                <a:solidFill>
                  <a:srgbClr val="BFD4D7"/>
                </a:solidFill>
                <a:latin typeface="Arial" pitchFamily="34" charset="0"/>
                <a:ea typeface="Arial" pitchFamily="34" charset="-122"/>
                <a:cs typeface="Arial" pitchFamily="34" charset="-120"/>
              </a:rPr>
              <a:t>يمكن تجاوزها والخدمة لا.</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الثاني · البناء</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التقنيات وبيئة التطوير</a:t>
            </a:r>
            <a:endParaRPr lang="en-US" sz="3300" dirty="0"/>
          </a:p>
        </p:txBody>
      </p:sp>
      <p:sp>
        <p:nvSpPr>
          <p:cNvPr id="4" name="Shape 2"/>
          <p:cNvSpPr/>
          <p:nvPr/>
        </p:nvSpPr>
        <p:spPr>
          <a:xfrm>
            <a:off x="5333695" y="1572768"/>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5" name="Text 3"/>
          <p:cNvSpPr txBox="1"/>
          <p:nvPr/>
        </p:nvSpPr>
        <p:spPr>
          <a:xfrm>
            <a:off x="9494215" y="1792224"/>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إطار العمل</a:t>
            </a:r>
            <a:endParaRPr lang="en-US" sz="1400" dirty="0"/>
          </a:p>
        </p:txBody>
      </p:sp>
      <p:sp>
        <p:nvSpPr>
          <p:cNvPr id="6" name="Text 4"/>
          <p:cNvSpPr txBox="1"/>
          <p:nvPr/>
        </p:nvSpPr>
        <p:spPr>
          <a:xfrm>
            <a:off x="5608015" y="1810512"/>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Laravel 12  ·  PHP 8.2</a:t>
            </a:r>
            <a:endParaRPr lang="en-US" sz="1300" dirty="0"/>
          </a:p>
        </p:txBody>
      </p:sp>
      <p:sp>
        <p:nvSpPr>
          <p:cNvPr id="7" name="Shape 5"/>
          <p:cNvSpPr/>
          <p:nvPr/>
        </p:nvSpPr>
        <p:spPr>
          <a:xfrm>
            <a:off x="5333695" y="2468880"/>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8" name="Text 6"/>
          <p:cNvSpPr txBox="1"/>
          <p:nvPr/>
        </p:nvSpPr>
        <p:spPr>
          <a:xfrm>
            <a:off x="9494215" y="2688336"/>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قاعدة البيانات</a:t>
            </a:r>
            <a:endParaRPr lang="en-US" sz="1400" dirty="0"/>
          </a:p>
        </p:txBody>
      </p:sp>
      <p:sp>
        <p:nvSpPr>
          <p:cNvPr id="9" name="Text 7"/>
          <p:cNvSpPr txBox="1"/>
          <p:nvPr/>
        </p:nvSpPr>
        <p:spPr>
          <a:xfrm>
            <a:off x="5608015" y="2706624"/>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MySQL 8  ·  Eloquent ORM</a:t>
            </a:r>
            <a:endParaRPr lang="en-US" sz="1300" dirty="0"/>
          </a:p>
        </p:txBody>
      </p:sp>
      <p:sp>
        <p:nvSpPr>
          <p:cNvPr id="10" name="Shape 8"/>
          <p:cNvSpPr/>
          <p:nvPr/>
        </p:nvSpPr>
        <p:spPr>
          <a:xfrm>
            <a:off x="5333695" y="3364992"/>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11" name="Text 9"/>
          <p:cNvSpPr txBox="1"/>
          <p:nvPr/>
        </p:nvSpPr>
        <p:spPr>
          <a:xfrm>
            <a:off x="9494215" y="3584448"/>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الواجهة</a:t>
            </a:r>
            <a:endParaRPr lang="en-US" sz="1400" dirty="0"/>
          </a:p>
        </p:txBody>
      </p:sp>
      <p:sp>
        <p:nvSpPr>
          <p:cNvPr id="12" name="Text 10"/>
          <p:cNvSpPr txBox="1"/>
          <p:nvPr/>
        </p:nvSpPr>
        <p:spPr>
          <a:xfrm>
            <a:off x="5608015" y="3602736"/>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Blade  ·  RTL  ·  no build step</a:t>
            </a:r>
            <a:endParaRPr lang="en-US" sz="1300" dirty="0"/>
          </a:p>
        </p:txBody>
      </p:sp>
      <p:sp>
        <p:nvSpPr>
          <p:cNvPr id="13" name="Shape 11"/>
          <p:cNvSpPr/>
          <p:nvPr/>
        </p:nvSpPr>
        <p:spPr>
          <a:xfrm>
            <a:off x="5333695" y="4261104"/>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14" name="Text 12"/>
          <p:cNvSpPr txBox="1"/>
          <p:nvPr/>
        </p:nvSpPr>
        <p:spPr>
          <a:xfrm>
            <a:off x="9494215" y="4480560"/>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بيئة التطوير</a:t>
            </a:r>
            <a:endParaRPr lang="en-US" sz="1400" dirty="0"/>
          </a:p>
        </p:txBody>
      </p:sp>
      <p:sp>
        <p:nvSpPr>
          <p:cNvPr id="15" name="Text 13"/>
          <p:cNvSpPr txBox="1"/>
          <p:nvPr/>
        </p:nvSpPr>
        <p:spPr>
          <a:xfrm>
            <a:off x="5608015" y="4498848"/>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XAMPP  ·  Apache + MySQL + PHP</a:t>
            </a:r>
            <a:endParaRPr lang="en-US" sz="1300" dirty="0"/>
          </a:p>
        </p:txBody>
      </p:sp>
      <p:sp>
        <p:nvSpPr>
          <p:cNvPr id="16" name="Shape 14"/>
          <p:cNvSpPr/>
          <p:nvPr/>
        </p:nvSpPr>
        <p:spPr>
          <a:xfrm>
            <a:off x="5333695" y="5157216"/>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17" name="Text 15"/>
          <p:cNvSpPr txBox="1"/>
          <p:nvPr/>
        </p:nvSpPr>
        <p:spPr>
          <a:xfrm>
            <a:off x="9494215" y="5376672"/>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إدارة الأكواد</a:t>
            </a:r>
            <a:endParaRPr lang="en-US" sz="1400" dirty="0"/>
          </a:p>
        </p:txBody>
      </p:sp>
      <p:sp>
        <p:nvSpPr>
          <p:cNvPr id="18" name="Text 16"/>
          <p:cNvSpPr txBox="1"/>
          <p:nvPr/>
        </p:nvSpPr>
        <p:spPr>
          <a:xfrm>
            <a:off x="5608015" y="5394960"/>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Git  ·  GitHub  ·  GitHub Actions</a:t>
            </a:r>
            <a:endParaRPr lang="en-US" sz="1300" dirty="0"/>
          </a:p>
        </p:txBody>
      </p:sp>
      <p:sp>
        <p:nvSpPr>
          <p:cNvPr id="19" name="Shape 17"/>
          <p:cNvSpPr/>
          <p:nvPr/>
        </p:nvSpPr>
        <p:spPr>
          <a:xfrm>
            <a:off x="2858872" y="1572768"/>
            <a:ext cx="2109064" cy="1371600"/>
          </a:xfrm>
          <a:prstGeom prst="roundRect">
            <a:avLst>
              <a:gd name="adj" fmla="val 6000"/>
            </a:avLst>
          </a:prstGeom>
          <a:solidFill>
            <a:srgbClr val="0A2E36"/>
          </a:solidFill>
          <a:ln/>
        </p:spPr>
      </p:sp>
      <p:sp>
        <p:nvSpPr>
          <p:cNvPr id="20" name="Text 18"/>
          <p:cNvSpPr txBox="1"/>
          <p:nvPr/>
        </p:nvSpPr>
        <p:spPr>
          <a:xfrm>
            <a:off x="2858872" y="1847088"/>
            <a:ext cx="2109064" cy="566928"/>
          </a:xfrm>
          <a:prstGeom prst="rect">
            <a:avLst/>
          </a:prstGeom>
          <a:noFill/>
          <a:ln/>
        </p:spPr>
        <p:txBody>
          <a:bodyPr wrap="square" lIns="0" tIns="0" rIns="0" bIns="0" rtlCol="0" anchor="ctr"/>
          <a:lstStyle/>
          <a:p>
            <a:pPr algn="ctr" indent="0" marL="0">
              <a:buNone/>
            </a:pPr>
            <a:r>
              <a:rPr lang="en-US" sz="3400" b="1" dirty="0">
                <a:solidFill>
                  <a:srgbClr val="E9A13B"/>
                </a:solidFill>
                <a:latin typeface="Arial" pitchFamily="34" charset="0"/>
                <a:ea typeface="Arial" pitchFamily="34" charset="-122"/>
                <a:cs typeface="Arial" pitchFamily="34" charset="-120"/>
              </a:rPr>
              <a:t>284</a:t>
            </a:r>
            <a:endParaRPr lang="en-US" sz="3400" dirty="0"/>
          </a:p>
        </p:txBody>
      </p:sp>
      <p:sp>
        <p:nvSpPr>
          <p:cNvPr id="21" name="Text 19"/>
          <p:cNvSpPr txBox="1"/>
          <p:nvPr/>
        </p:nvSpPr>
        <p:spPr>
          <a:xfrm>
            <a:off x="2858872" y="2450592"/>
            <a:ext cx="2109064" cy="274320"/>
          </a:xfrm>
          <a:prstGeom prst="rect">
            <a:avLst/>
          </a:prstGeom>
          <a:noFill/>
          <a:ln/>
        </p:spPr>
        <p:txBody>
          <a:bodyPr wrap="square" lIns="0" tIns="0" rIns="0" bIns="0" rtlCol="0" anchor="ctr"/>
          <a:lstStyle/>
          <a:p>
            <a:pPr rtl="1" algn="ctr" indent="0" marL="0">
              <a:buNone/>
            </a:pPr>
            <a:r>
              <a:rPr lang="en-US" sz="1200" dirty="0">
                <a:solidFill>
                  <a:srgbClr val="BFD4D7"/>
                </a:solidFill>
                <a:latin typeface="Arial" pitchFamily="34" charset="0"/>
                <a:ea typeface="Arial" pitchFamily="34" charset="-122"/>
                <a:cs typeface="Arial" pitchFamily="34" charset="-120"/>
              </a:rPr>
              <a:t>اختبارًا آليًا</a:t>
            </a:r>
            <a:endParaRPr lang="en-US" sz="1200" dirty="0"/>
          </a:p>
        </p:txBody>
      </p:sp>
      <p:sp>
        <p:nvSpPr>
          <p:cNvPr id="22" name="Shape 20"/>
          <p:cNvSpPr/>
          <p:nvPr/>
        </p:nvSpPr>
        <p:spPr>
          <a:xfrm>
            <a:off x="548640" y="1572768"/>
            <a:ext cx="2109064"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3" name="Text 21"/>
          <p:cNvSpPr txBox="1"/>
          <p:nvPr/>
        </p:nvSpPr>
        <p:spPr>
          <a:xfrm>
            <a:off x="548640" y="1847088"/>
            <a:ext cx="2109064" cy="566928"/>
          </a:xfrm>
          <a:prstGeom prst="rect">
            <a:avLst/>
          </a:prstGeom>
          <a:noFill/>
          <a:ln/>
        </p:spPr>
        <p:txBody>
          <a:bodyPr wrap="square" lIns="0" tIns="0" rIns="0" bIns="0" rtlCol="0" anchor="ctr"/>
          <a:lstStyle/>
          <a:p>
            <a:pPr algn="ctr" indent="0" marL="0">
              <a:buNone/>
            </a:pPr>
            <a:r>
              <a:rPr lang="en-US" sz="3400" b="1" dirty="0">
                <a:solidFill>
                  <a:srgbClr val="02717D"/>
                </a:solidFill>
                <a:latin typeface="Arial" pitchFamily="34" charset="0"/>
                <a:ea typeface="Arial" pitchFamily="34" charset="-122"/>
                <a:cs typeface="Arial" pitchFamily="34" charset="-120"/>
              </a:rPr>
              <a:t>18</a:t>
            </a:r>
            <a:endParaRPr lang="en-US" sz="3400" dirty="0"/>
          </a:p>
        </p:txBody>
      </p:sp>
      <p:sp>
        <p:nvSpPr>
          <p:cNvPr id="24" name="Text 22"/>
          <p:cNvSpPr txBox="1"/>
          <p:nvPr/>
        </p:nvSpPr>
        <p:spPr>
          <a:xfrm>
            <a:off x="548640" y="2450592"/>
            <a:ext cx="2109064" cy="274320"/>
          </a:xfrm>
          <a:prstGeom prst="rect">
            <a:avLst/>
          </a:prstGeom>
          <a:noFill/>
          <a:ln/>
        </p:spPr>
        <p:txBody>
          <a:bodyPr wrap="square" lIns="0" tIns="0" rIns="0" bIns="0" rtlCol="0" anchor="ctr"/>
          <a:lstStyle/>
          <a:p>
            <a:pPr rtl="1" algn="ctr" indent="0" marL="0">
              <a:buNone/>
            </a:pPr>
            <a:r>
              <a:rPr lang="en-US" sz="1200" dirty="0">
                <a:solidFill>
                  <a:srgbClr val="5C7378"/>
                </a:solidFill>
                <a:latin typeface="Arial" pitchFamily="34" charset="0"/>
                <a:ea typeface="Arial" pitchFamily="34" charset="-122"/>
                <a:cs typeface="Arial" pitchFamily="34" charset="-120"/>
              </a:rPr>
              <a:t>جدولًا مترابطًا</a:t>
            </a:r>
            <a:endParaRPr lang="en-US" sz="1200" dirty="0"/>
          </a:p>
        </p:txBody>
      </p:sp>
      <p:sp>
        <p:nvSpPr>
          <p:cNvPr id="25" name="Shape 23"/>
          <p:cNvSpPr/>
          <p:nvPr/>
        </p:nvSpPr>
        <p:spPr>
          <a:xfrm>
            <a:off x="2858872" y="3172968"/>
            <a:ext cx="2109064"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6" name="Text 24"/>
          <p:cNvSpPr txBox="1"/>
          <p:nvPr/>
        </p:nvSpPr>
        <p:spPr>
          <a:xfrm>
            <a:off x="2858872" y="3447288"/>
            <a:ext cx="2109064" cy="566928"/>
          </a:xfrm>
          <a:prstGeom prst="rect">
            <a:avLst/>
          </a:prstGeom>
          <a:noFill/>
          <a:ln/>
        </p:spPr>
        <p:txBody>
          <a:bodyPr wrap="square" lIns="0" tIns="0" rIns="0" bIns="0" rtlCol="0" anchor="ctr"/>
          <a:lstStyle/>
          <a:p>
            <a:pPr algn="ctr" indent="0" marL="0">
              <a:buNone/>
            </a:pPr>
            <a:r>
              <a:rPr lang="en-US" sz="3400" b="1" dirty="0">
                <a:solidFill>
                  <a:srgbClr val="02717D"/>
                </a:solidFill>
                <a:latin typeface="Arial" pitchFamily="34" charset="0"/>
                <a:ea typeface="Arial" pitchFamily="34" charset="-122"/>
                <a:cs typeface="Arial" pitchFamily="34" charset="-120"/>
              </a:rPr>
              <a:t>12</a:t>
            </a:r>
            <a:endParaRPr lang="en-US" sz="3400" dirty="0"/>
          </a:p>
        </p:txBody>
      </p:sp>
      <p:sp>
        <p:nvSpPr>
          <p:cNvPr id="27" name="Text 25"/>
          <p:cNvSpPr txBox="1"/>
          <p:nvPr/>
        </p:nvSpPr>
        <p:spPr>
          <a:xfrm>
            <a:off x="2858872" y="4050792"/>
            <a:ext cx="2109064" cy="274320"/>
          </a:xfrm>
          <a:prstGeom prst="rect">
            <a:avLst/>
          </a:prstGeom>
          <a:noFill/>
          <a:ln/>
        </p:spPr>
        <p:txBody>
          <a:bodyPr wrap="square" lIns="0" tIns="0" rIns="0" bIns="0" rtlCol="0" anchor="ctr"/>
          <a:lstStyle/>
          <a:p>
            <a:pPr rtl="1" algn="ctr" indent="0" marL="0">
              <a:buNone/>
            </a:pPr>
            <a:r>
              <a:rPr lang="en-US" sz="1200" dirty="0">
                <a:solidFill>
                  <a:srgbClr val="5C7378"/>
                </a:solidFill>
                <a:latin typeface="Arial" pitchFamily="34" charset="0"/>
                <a:ea typeface="Arial" pitchFamily="34" charset="-122"/>
                <a:cs typeface="Arial" pitchFamily="34" charset="-120"/>
              </a:rPr>
              <a:t>خدمة مستقلة</a:t>
            </a:r>
            <a:endParaRPr lang="en-US" sz="1200" dirty="0"/>
          </a:p>
        </p:txBody>
      </p:sp>
      <p:sp>
        <p:nvSpPr>
          <p:cNvPr id="28" name="Shape 26"/>
          <p:cNvSpPr/>
          <p:nvPr/>
        </p:nvSpPr>
        <p:spPr>
          <a:xfrm>
            <a:off x="548640" y="3172968"/>
            <a:ext cx="2109064"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9" name="Text 27"/>
          <p:cNvSpPr txBox="1"/>
          <p:nvPr/>
        </p:nvSpPr>
        <p:spPr>
          <a:xfrm>
            <a:off x="548640" y="3447288"/>
            <a:ext cx="2109064" cy="566928"/>
          </a:xfrm>
          <a:prstGeom prst="rect">
            <a:avLst/>
          </a:prstGeom>
          <a:noFill/>
          <a:ln/>
        </p:spPr>
        <p:txBody>
          <a:bodyPr wrap="square" lIns="0" tIns="0" rIns="0" bIns="0" rtlCol="0" anchor="ctr"/>
          <a:lstStyle/>
          <a:p>
            <a:pPr algn="ctr" indent="0" marL="0">
              <a:buNone/>
            </a:pPr>
            <a:r>
              <a:rPr lang="en-US" sz="3400" b="1" dirty="0">
                <a:solidFill>
                  <a:srgbClr val="02717D"/>
                </a:solidFill>
                <a:latin typeface="Arial" pitchFamily="34" charset="0"/>
                <a:ea typeface="Arial" pitchFamily="34" charset="-122"/>
                <a:cs typeface="Arial" pitchFamily="34" charset="-120"/>
              </a:rPr>
              <a:t>13,500</a:t>
            </a:r>
            <a:endParaRPr lang="en-US" sz="3400" dirty="0"/>
          </a:p>
        </p:txBody>
      </p:sp>
      <p:sp>
        <p:nvSpPr>
          <p:cNvPr id="30" name="Text 28"/>
          <p:cNvSpPr txBox="1"/>
          <p:nvPr/>
        </p:nvSpPr>
        <p:spPr>
          <a:xfrm>
            <a:off x="548640" y="4050792"/>
            <a:ext cx="2109064" cy="274320"/>
          </a:xfrm>
          <a:prstGeom prst="rect">
            <a:avLst/>
          </a:prstGeom>
          <a:noFill/>
          <a:ln/>
        </p:spPr>
        <p:txBody>
          <a:bodyPr wrap="square" lIns="0" tIns="0" rIns="0" bIns="0" rtlCol="0" anchor="ctr"/>
          <a:lstStyle/>
          <a:p>
            <a:pPr rtl="1" algn="ctr" indent="0" marL="0">
              <a:buNone/>
            </a:pPr>
            <a:r>
              <a:rPr lang="en-US" sz="1200" dirty="0">
                <a:solidFill>
                  <a:srgbClr val="5C7378"/>
                </a:solidFill>
                <a:latin typeface="Arial" pitchFamily="34" charset="0"/>
                <a:ea typeface="Arial" pitchFamily="34" charset="-122"/>
                <a:cs typeface="Arial" pitchFamily="34" charset="-120"/>
              </a:rPr>
              <a:t>سطر برمجي</a:t>
            </a:r>
            <a:endParaRPr lang="en-US" sz="1200" dirty="0"/>
          </a:p>
        </p:txBody>
      </p:sp>
      <p:sp>
        <p:nvSpPr>
          <p:cNvPr id="31" name="Shape 29"/>
          <p:cNvSpPr/>
          <p:nvPr/>
        </p:nvSpPr>
        <p:spPr>
          <a:xfrm>
            <a:off x="548640" y="4754880"/>
            <a:ext cx="4419295"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32" name="Shape 30"/>
          <p:cNvSpPr/>
          <p:nvPr/>
        </p:nvSpPr>
        <p:spPr>
          <a:xfrm>
            <a:off x="4254703" y="5138928"/>
            <a:ext cx="475488" cy="475488"/>
          </a:xfrm>
          <a:prstGeom prst="ellipse">
            <a:avLst/>
          </a:prstGeom>
          <a:solidFill>
            <a:srgbClr val="00A896"/>
          </a:solidFill>
          <a:ln/>
        </p:spPr>
      </p:sp>
      <p:pic>
        <p:nvPicPr>
          <p:cNvPr id="33" name="Image 0" descr="preencoded.png">    </p:cNvPr>
          <p:cNvPicPr>
            <a:picLocks noChangeAspect="1"/>
          </p:cNvPicPr>
          <p:nvPr/>
        </p:nvPicPr>
        <p:blipFill>
          <a:blip r:embed="rId1"/>
          <a:stretch>
            <a:fillRect/>
          </a:stretch>
        </p:blipFill>
        <p:spPr>
          <a:xfrm>
            <a:off x="4382719" y="5266944"/>
            <a:ext cx="219456" cy="219456"/>
          </a:xfrm>
          <a:prstGeom prst="rect">
            <a:avLst/>
          </a:prstGeom>
        </p:spPr>
      </p:pic>
      <p:sp>
        <p:nvSpPr>
          <p:cNvPr id="34" name="Text 31"/>
          <p:cNvSpPr txBox="1"/>
          <p:nvPr/>
        </p:nvSpPr>
        <p:spPr>
          <a:xfrm>
            <a:off x="777240" y="5102352"/>
            <a:ext cx="3367735"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تكامل مستمر</a:t>
            </a:r>
            <a:endParaRPr lang="en-US" sz="1300" dirty="0"/>
          </a:p>
        </p:txBody>
      </p:sp>
      <p:sp>
        <p:nvSpPr>
          <p:cNvPr id="35" name="Text 32"/>
          <p:cNvSpPr txBox="1"/>
          <p:nvPr/>
        </p:nvSpPr>
        <p:spPr>
          <a:xfrm>
            <a:off x="777240" y="5431536"/>
            <a:ext cx="3367735" cy="402336"/>
          </a:xfrm>
          <a:prstGeom prst="rect">
            <a:avLst/>
          </a:prstGeom>
          <a:noFill/>
          <a:ln/>
        </p:spPr>
        <p:txBody>
          <a:bodyPr wrap="square" lIns="0" tIns="0" rIns="0" bIns="0" rtlCol="0" anchor="ctr"/>
          <a:lstStyle/>
          <a:p>
            <a:pPr rtl="1" algn="r" indent="0" marL="0">
              <a:lnSpc>
                <a:spcPts val="1500"/>
              </a:lnSpc>
              <a:buNone/>
            </a:pPr>
            <a:r>
              <a:rPr lang="en-US" sz="1100" dirty="0">
                <a:solidFill>
                  <a:srgbClr val="5C7378"/>
                </a:solidFill>
                <a:latin typeface="Arial" pitchFamily="34" charset="0"/>
                <a:ea typeface="Arial" pitchFamily="34" charset="-122"/>
                <a:cs typeface="Arial" pitchFamily="34" charset="-120"/>
              </a:rPr>
              <a:t>الاختبارات تعمل آليًا على ⁦GitHub Actions⁩ عند كل رفع</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الثاني · البناء</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معمارية النظام</a:t>
            </a:r>
            <a:endParaRPr lang="en-US" sz="3300" dirty="0"/>
          </a:p>
        </p:txBody>
      </p:sp>
      <p:sp>
        <p:nvSpPr>
          <p:cNvPr id="4" name="Shape 2"/>
          <p:cNvSpPr/>
          <p:nvPr/>
        </p:nvSpPr>
        <p:spPr>
          <a:xfrm>
            <a:off x="5059375" y="157276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1076127" y="1746504"/>
            <a:ext cx="310896" cy="310896"/>
          </a:xfrm>
          <a:prstGeom prst="ellipse">
            <a:avLst/>
          </a:prstGeom>
          <a:solidFill>
            <a:srgbClr val="5C7378"/>
          </a:solidFill>
          <a:ln/>
        </p:spPr>
      </p:sp>
      <p:sp>
        <p:nvSpPr>
          <p:cNvPr id="6" name="Text 4"/>
          <p:cNvSpPr txBox="1"/>
          <p:nvPr/>
        </p:nvSpPr>
        <p:spPr>
          <a:xfrm>
            <a:off x="11076127" y="174650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7" name="Text 5"/>
          <p:cNvSpPr txBox="1"/>
          <p:nvPr/>
        </p:nvSpPr>
        <p:spPr>
          <a:xfrm>
            <a:off x="5287975" y="166420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المتصفح</a:t>
            </a:r>
            <a:endParaRPr lang="en-US" sz="1350" dirty="0"/>
          </a:p>
        </p:txBody>
      </p:sp>
      <p:sp>
        <p:nvSpPr>
          <p:cNvPr id="8" name="Text 6"/>
          <p:cNvSpPr txBox="1"/>
          <p:nvPr/>
        </p:nvSpPr>
        <p:spPr>
          <a:xfrm>
            <a:off x="5287975" y="193852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طلب من موظف مسجَّل الدخول</a:t>
            </a:r>
            <a:endParaRPr lang="en-US" sz="1100" dirty="0"/>
          </a:p>
        </p:txBody>
      </p:sp>
      <p:pic>
        <p:nvPicPr>
          <p:cNvPr id="9" name="Image 0" descr="preencoded.png">    </p:cNvPr>
          <p:cNvPicPr>
            <a:picLocks noChangeAspect="1"/>
          </p:cNvPicPr>
          <p:nvPr/>
        </p:nvPicPr>
        <p:blipFill>
          <a:blip r:embed="rId1"/>
          <a:stretch>
            <a:fillRect/>
          </a:stretch>
        </p:blipFill>
        <p:spPr>
          <a:xfrm rot="16200000">
            <a:off x="8351215" y="2235708"/>
            <a:ext cx="109728" cy="109728"/>
          </a:xfrm>
          <a:prstGeom prst="rect">
            <a:avLst/>
          </a:prstGeom>
        </p:spPr>
      </p:pic>
      <p:sp>
        <p:nvSpPr>
          <p:cNvPr id="10" name="Shape 7"/>
          <p:cNvSpPr/>
          <p:nvPr/>
        </p:nvSpPr>
        <p:spPr>
          <a:xfrm>
            <a:off x="5059375" y="235000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11" name="Shape 8"/>
          <p:cNvSpPr/>
          <p:nvPr/>
        </p:nvSpPr>
        <p:spPr>
          <a:xfrm>
            <a:off x="11076127" y="2523744"/>
            <a:ext cx="310896" cy="310896"/>
          </a:xfrm>
          <a:prstGeom prst="ellipse">
            <a:avLst/>
          </a:prstGeom>
          <a:solidFill>
            <a:srgbClr val="02717D"/>
          </a:solidFill>
          <a:ln/>
        </p:spPr>
      </p:sp>
      <p:sp>
        <p:nvSpPr>
          <p:cNvPr id="12" name="Text 9"/>
          <p:cNvSpPr txBox="1"/>
          <p:nvPr/>
        </p:nvSpPr>
        <p:spPr>
          <a:xfrm>
            <a:off x="11076127" y="252374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0"/>
          <p:cNvSpPr txBox="1"/>
          <p:nvPr/>
        </p:nvSpPr>
        <p:spPr>
          <a:xfrm>
            <a:off x="5287975" y="244144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المسارات والوسائط</a:t>
            </a:r>
            <a:endParaRPr lang="en-US" sz="1350" dirty="0"/>
          </a:p>
        </p:txBody>
      </p:sp>
      <p:sp>
        <p:nvSpPr>
          <p:cNvPr id="14" name="Text 11"/>
          <p:cNvSpPr txBox="1"/>
          <p:nvPr/>
        </p:nvSpPr>
        <p:spPr>
          <a:xfrm>
            <a:off x="5287975" y="271576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التحقق من الجلسة ومن دور المستخدم</a:t>
            </a:r>
            <a:endParaRPr lang="en-US" sz="1100" dirty="0"/>
          </a:p>
        </p:txBody>
      </p:sp>
      <p:pic>
        <p:nvPicPr>
          <p:cNvPr id="15" name="Image 1" descr="preencoded.png">    </p:cNvPr>
          <p:cNvPicPr>
            <a:picLocks noChangeAspect="1"/>
          </p:cNvPicPr>
          <p:nvPr/>
        </p:nvPicPr>
        <p:blipFill>
          <a:blip r:embed="rId2"/>
          <a:stretch>
            <a:fillRect/>
          </a:stretch>
        </p:blipFill>
        <p:spPr>
          <a:xfrm rot="16200000">
            <a:off x="8351215" y="3012948"/>
            <a:ext cx="109728" cy="109728"/>
          </a:xfrm>
          <a:prstGeom prst="rect">
            <a:avLst/>
          </a:prstGeom>
        </p:spPr>
      </p:pic>
      <p:sp>
        <p:nvSpPr>
          <p:cNvPr id="16" name="Shape 12"/>
          <p:cNvSpPr/>
          <p:nvPr/>
        </p:nvSpPr>
        <p:spPr>
          <a:xfrm>
            <a:off x="5059375" y="312724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17" name="Shape 13"/>
          <p:cNvSpPr/>
          <p:nvPr/>
        </p:nvSpPr>
        <p:spPr>
          <a:xfrm>
            <a:off x="11076127" y="3300984"/>
            <a:ext cx="310896" cy="310896"/>
          </a:xfrm>
          <a:prstGeom prst="ellipse">
            <a:avLst/>
          </a:prstGeom>
          <a:solidFill>
            <a:srgbClr val="02717D"/>
          </a:solidFill>
          <a:ln/>
        </p:spPr>
      </p:sp>
      <p:sp>
        <p:nvSpPr>
          <p:cNvPr id="18" name="Text 14"/>
          <p:cNvSpPr txBox="1"/>
          <p:nvPr/>
        </p:nvSpPr>
        <p:spPr>
          <a:xfrm>
            <a:off x="11076127" y="330098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9" name="Text 15"/>
          <p:cNvSpPr txBox="1"/>
          <p:nvPr/>
        </p:nvSpPr>
        <p:spPr>
          <a:xfrm>
            <a:off x="5287975" y="321868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طلبات التحقق</a:t>
            </a:r>
            <a:endParaRPr lang="en-US" sz="1350" dirty="0"/>
          </a:p>
        </p:txBody>
      </p:sp>
      <p:sp>
        <p:nvSpPr>
          <p:cNvPr id="20" name="Text 16"/>
          <p:cNvSpPr txBox="1"/>
          <p:nvPr/>
        </p:nvSpPr>
        <p:spPr>
          <a:xfrm>
            <a:off x="5287975" y="349300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خمسة عشر صنفًا تتحقق من صحة المدخلات</a:t>
            </a:r>
            <a:endParaRPr lang="en-US" sz="1100" dirty="0"/>
          </a:p>
        </p:txBody>
      </p:sp>
      <p:pic>
        <p:nvPicPr>
          <p:cNvPr id="21" name="Image 2" descr="preencoded.png">    </p:cNvPr>
          <p:cNvPicPr>
            <a:picLocks noChangeAspect="1"/>
          </p:cNvPicPr>
          <p:nvPr/>
        </p:nvPicPr>
        <p:blipFill>
          <a:blip r:embed="rId3"/>
          <a:stretch>
            <a:fillRect/>
          </a:stretch>
        </p:blipFill>
        <p:spPr>
          <a:xfrm rot="16200000">
            <a:off x="8351215" y="3790188"/>
            <a:ext cx="109728" cy="109728"/>
          </a:xfrm>
          <a:prstGeom prst="rect">
            <a:avLst/>
          </a:prstGeom>
        </p:spPr>
      </p:pic>
      <p:sp>
        <p:nvSpPr>
          <p:cNvPr id="22" name="Shape 17"/>
          <p:cNvSpPr/>
          <p:nvPr/>
        </p:nvSpPr>
        <p:spPr>
          <a:xfrm>
            <a:off x="5059375" y="390448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23" name="Shape 18"/>
          <p:cNvSpPr/>
          <p:nvPr/>
        </p:nvSpPr>
        <p:spPr>
          <a:xfrm>
            <a:off x="11076127" y="4078224"/>
            <a:ext cx="310896" cy="310896"/>
          </a:xfrm>
          <a:prstGeom prst="ellipse">
            <a:avLst/>
          </a:prstGeom>
          <a:solidFill>
            <a:srgbClr val="02717D"/>
          </a:solidFill>
          <a:ln/>
        </p:spPr>
      </p:sp>
      <p:sp>
        <p:nvSpPr>
          <p:cNvPr id="24" name="Text 19"/>
          <p:cNvSpPr txBox="1"/>
          <p:nvPr/>
        </p:nvSpPr>
        <p:spPr>
          <a:xfrm>
            <a:off x="11076127" y="407822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5" name="Text 20"/>
          <p:cNvSpPr txBox="1"/>
          <p:nvPr/>
        </p:nvSpPr>
        <p:spPr>
          <a:xfrm>
            <a:off x="5287975" y="399592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المتحكّمات</a:t>
            </a:r>
            <a:endParaRPr lang="en-US" sz="1350" dirty="0"/>
          </a:p>
        </p:txBody>
      </p:sp>
      <p:sp>
        <p:nvSpPr>
          <p:cNvPr id="26" name="Text 21"/>
          <p:cNvSpPr txBox="1"/>
          <p:nvPr/>
        </p:nvSpPr>
        <p:spPr>
          <a:xfrm>
            <a:off x="5287975" y="427024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ثلاثة وعشرون متحكّمًا تنسّق الطلب فقط</a:t>
            </a:r>
            <a:endParaRPr lang="en-US" sz="1100" dirty="0"/>
          </a:p>
        </p:txBody>
      </p:sp>
      <p:pic>
        <p:nvPicPr>
          <p:cNvPr id="27" name="Image 3" descr="preencoded.png">    </p:cNvPr>
          <p:cNvPicPr>
            <a:picLocks noChangeAspect="1"/>
          </p:cNvPicPr>
          <p:nvPr/>
        </p:nvPicPr>
        <p:blipFill>
          <a:blip r:embed="rId4"/>
          <a:stretch>
            <a:fillRect/>
          </a:stretch>
        </p:blipFill>
        <p:spPr>
          <a:xfrm rot="16200000">
            <a:off x="8351215" y="4567428"/>
            <a:ext cx="109728" cy="109728"/>
          </a:xfrm>
          <a:prstGeom prst="rect">
            <a:avLst/>
          </a:prstGeom>
        </p:spPr>
      </p:pic>
      <p:sp>
        <p:nvSpPr>
          <p:cNvPr id="28" name="Shape 22"/>
          <p:cNvSpPr/>
          <p:nvPr/>
        </p:nvSpPr>
        <p:spPr>
          <a:xfrm>
            <a:off x="5059375" y="4681728"/>
            <a:ext cx="6583680" cy="658368"/>
          </a:xfrm>
          <a:prstGeom prst="roundRect">
            <a:avLst>
              <a:gd name="adj" fmla="val 12500"/>
            </a:avLst>
          </a:prstGeom>
          <a:solidFill>
            <a:srgbClr val="FDF3E3"/>
          </a:solidFill>
          <a:ln/>
        </p:spPr>
      </p:sp>
      <p:sp>
        <p:nvSpPr>
          <p:cNvPr id="29" name="Shape 23"/>
          <p:cNvSpPr/>
          <p:nvPr/>
        </p:nvSpPr>
        <p:spPr>
          <a:xfrm>
            <a:off x="11076127" y="4855464"/>
            <a:ext cx="310896" cy="310896"/>
          </a:xfrm>
          <a:prstGeom prst="ellipse">
            <a:avLst/>
          </a:prstGeom>
          <a:solidFill>
            <a:srgbClr val="E9A13B"/>
          </a:solidFill>
          <a:ln/>
        </p:spPr>
      </p:sp>
      <p:sp>
        <p:nvSpPr>
          <p:cNvPr id="30" name="Text 24"/>
          <p:cNvSpPr txBox="1"/>
          <p:nvPr/>
        </p:nvSpPr>
        <p:spPr>
          <a:xfrm>
            <a:off x="11076127" y="485546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1" name="Text 25"/>
          <p:cNvSpPr txBox="1"/>
          <p:nvPr/>
        </p:nvSpPr>
        <p:spPr>
          <a:xfrm>
            <a:off x="5287975" y="477316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الخدمات</a:t>
            </a:r>
            <a:endParaRPr lang="en-US" sz="1350" dirty="0"/>
          </a:p>
        </p:txBody>
      </p:sp>
      <p:sp>
        <p:nvSpPr>
          <p:cNvPr id="32" name="Text 26"/>
          <p:cNvSpPr txBox="1"/>
          <p:nvPr/>
        </p:nvSpPr>
        <p:spPr>
          <a:xfrm>
            <a:off x="5287975" y="504748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اثنتا عشرة خدمة فيها منطق العمل والمعاملات</a:t>
            </a:r>
            <a:endParaRPr lang="en-US" sz="1100" dirty="0"/>
          </a:p>
        </p:txBody>
      </p:sp>
      <p:pic>
        <p:nvPicPr>
          <p:cNvPr id="33" name="Image 4" descr="preencoded.png">    </p:cNvPr>
          <p:cNvPicPr>
            <a:picLocks noChangeAspect="1"/>
          </p:cNvPicPr>
          <p:nvPr/>
        </p:nvPicPr>
        <p:blipFill>
          <a:blip r:embed="rId5"/>
          <a:stretch>
            <a:fillRect/>
          </a:stretch>
        </p:blipFill>
        <p:spPr>
          <a:xfrm rot="16200000">
            <a:off x="8351215" y="5344668"/>
            <a:ext cx="109728" cy="109728"/>
          </a:xfrm>
          <a:prstGeom prst="rect">
            <a:avLst/>
          </a:prstGeom>
        </p:spPr>
      </p:pic>
      <p:sp>
        <p:nvSpPr>
          <p:cNvPr id="34" name="Shape 27"/>
          <p:cNvSpPr/>
          <p:nvPr/>
        </p:nvSpPr>
        <p:spPr>
          <a:xfrm>
            <a:off x="5059375" y="545896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35" name="Shape 28"/>
          <p:cNvSpPr/>
          <p:nvPr/>
        </p:nvSpPr>
        <p:spPr>
          <a:xfrm>
            <a:off x="11076127" y="5632704"/>
            <a:ext cx="310896" cy="310896"/>
          </a:xfrm>
          <a:prstGeom prst="ellipse">
            <a:avLst/>
          </a:prstGeom>
          <a:solidFill>
            <a:srgbClr val="02717D"/>
          </a:solidFill>
          <a:ln/>
        </p:spPr>
      </p:sp>
      <p:sp>
        <p:nvSpPr>
          <p:cNvPr id="36" name="Text 29"/>
          <p:cNvSpPr txBox="1"/>
          <p:nvPr/>
        </p:nvSpPr>
        <p:spPr>
          <a:xfrm>
            <a:off x="11076127" y="563270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7" name="Text 30"/>
          <p:cNvSpPr txBox="1"/>
          <p:nvPr/>
        </p:nvSpPr>
        <p:spPr>
          <a:xfrm>
            <a:off x="5287975" y="555040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النماذج وقاعدة البيانات</a:t>
            </a:r>
            <a:endParaRPr lang="en-US" sz="1350" dirty="0"/>
          </a:p>
        </p:txBody>
      </p:sp>
      <p:sp>
        <p:nvSpPr>
          <p:cNvPr id="38" name="Text 31"/>
          <p:cNvSpPr txBox="1"/>
          <p:nvPr/>
        </p:nvSpPr>
        <p:spPr>
          <a:xfrm>
            <a:off x="5287975" y="582472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ثمانية عشر نموذجًا فوق ⁦MySQL⁩</a:t>
            </a:r>
            <a:endParaRPr lang="en-US" sz="1100" dirty="0"/>
          </a:p>
        </p:txBody>
      </p:sp>
      <p:sp>
        <p:nvSpPr>
          <p:cNvPr id="39" name="Shape 32"/>
          <p:cNvSpPr/>
          <p:nvPr/>
        </p:nvSpPr>
        <p:spPr>
          <a:xfrm>
            <a:off x="548640" y="1572768"/>
            <a:ext cx="4144975" cy="2148840"/>
          </a:xfrm>
          <a:prstGeom prst="roundRect">
            <a:avLst>
              <a:gd name="adj" fmla="val 4255"/>
            </a:avLst>
          </a:prstGeom>
          <a:solidFill>
            <a:srgbClr val="0A2E36"/>
          </a:solidFill>
          <a:ln/>
        </p:spPr>
      </p:sp>
      <p:sp>
        <p:nvSpPr>
          <p:cNvPr id="40" name="Text 33"/>
          <p:cNvSpPr txBox="1"/>
          <p:nvPr/>
        </p:nvSpPr>
        <p:spPr>
          <a:xfrm>
            <a:off x="804672" y="1783080"/>
            <a:ext cx="3632911" cy="274320"/>
          </a:xfrm>
          <a:prstGeom prst="rect">
            <a:avLst/>
          </a:prstGeom>
          <a:noFill/>
          <a:ln/>
        </p:spPr>
        <p:txBody>
          <a:bodyPr wrap="square" lIns="0" tIns="0" rIns="0" bIns="0" rtlCol="0" anchor="ctr"/>
          <a:lstStyle/>
          <a:p>
            <a:pPr rtl="1" algn="r" indent="0" marL="0">
              <a:buNone/>
            </a:pPr>
            <a:r>
              <a:rPr lang="en-US" sz="1400" b="1" dirty="0">
                <a:solidFill>
                  <a:srgbClr val="00A896"/>
                </a:solidFill>
                <a:latin typeface="Arial" pitchFamily="34" charset="0"/>
                <a:ea typeface="Arial" pitchFamily="34" charset="-122"/>
                <a:cs typeface="Arial" pitchFamily="34" charset="-120"/>
              </a:rPr>
              <a:t>لماذا طبقة خدمات؟</a:t>
            </a:r>
            <a:endParaRPr lang="en-US" sz="1400" dirty="0"/>
          </a:p>
        </p:txBody>
      </p:sp>
      <p:sp>
        <p:nvSpPr>
          <p:cNvPr id="41" name="Text 34"/>
          <p:cNvSpPr txBox="1"/>
          <p:nvPr/>
        </p:nvSpPr>
        <p:spPr>
          <a:xfrm>
            <a:off x="804672" y="2148840"/>
            <a:ext cx="3632911" cy="1371600"/>
          </a:xfrm>
          <a:prstGeom prst="rect">
            <a:avLst/>
          </a:prstGeom>
          <a:noFill/>
          <a:ln/>
        </p:spPr>
        <p:txBody>
          <a:bodyPr wrap="square" lIns="0" tIns="0" rIns="0" bIns="0" rtlCol="0" anchor="ctr"/>
          <a:lstStyle/>
          <a:p>
            <a:pPr rtl="1" algn="r" indent="0" marL="0">
              <a:lnSpc>
                <a:spcPts val="1800"/>
              </a:lnSpc>
              <a:buNone/>
            </a:pPr>
            <a:r>
              <a:rPr lang="en-US" sz="1150" dirty="0">
                <a:solidFill>
                  <a:srgbClr val="BFD4D7"/>
                </a:solidFill>
                <a:latin typeface="Arial" pitchFamily="34" charset="0"/>
                <a:ea typeface="Arial" pitchFamily="34" charset="-122"/>
                <a:cs typeface="Arial" pitchFamily="34" charset="-120"/>
              </a:rPr>
              <a:t>المتحكّم ينسّق الطلب ولا يقرّر. القاعدة التي تمنع تجاوز سعة الوحدة تعيش في الخدمة، فتسري على كل نقطة دخول: الشاشة، والنقل الجماعي للأسرة، والاختبار.</a:t>
            </a:r>
            <a:endParaRPr lang="en-US" sz="1150" dirty="0"/>
          </a:p>
        </p:txBody>
      </p:sp>
      <p:sp>
        <p:nvSpPr>
          <p:cNvPr id="42" name="Shape 35"/>
          <p:cNvSpPr/>
          <p:nvPr/>
        </p:nvSpPr>
        <p:spPr>
          <a:xfrm>
            <a:off x="548640" y="3886200"/>
            <a:ext cx="4144975" cy="2203704"/>
          </a:xfrm>
          <a:prstGeom prst="roundRect">
            <a:avLst>
              <a:gd name="adj" fmla="val 3734"/>
            </a:avLst>
          </a:prstGeom>
          <a:solidFill>
            <a:srgbClr val="FFFFFF"/>
          </a:solidFill>
          <a:ln/>
          <a:effectLst>
            <a:outerShdw sx="100000" sy="100000" kx="0" ky="0" algn="bl" rotWithShape="0" blurRad="127000" dist="25400" dir="5400000">
              <a:srgbClr val="0A2E36">
                <a:alpha val="10000"/>
              </a:srgbClr>
            </a:outerShdw>
          </a:effectLst>
        </p:spPr>
      </p:sp>
      <p:sp>
        <p:nvSpPr>
          <p:cNvPr id="43" name="Text 36"/>
          <p:cNvSpPr txBox="1"/>
          <p:nvPr/>
        </p:nvSpPr>
        <p:spPr>
          <a:xfrm>
            <a:off x="804672" y="4096512"/>
            <a:ext cx="3632911"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ضمانات عابرة للطبقات</a:t>
            </a:r>
            <a:endParaRPr lang="en-US" sz="1300" dirty="0"/>
          </a:p>
        </p:txBody>
      </p:sp>
      <p:sp>
        <p:nvSpPr>
          <p:cNvPr id="44" name="Shape 37"/>
          <p:cNvSpPr/>
          <p:nvPr/>
        </p:nvSpPr>
        <p:spPr>
          <a:xfrm>
            <a:off x="4218127" y="4526280"/>
            <a:ext cx="146304" cy="146304"/>
          </a:xfrm>
          <a:prstGeom prst="ellipse">
            <a:avLst/>
          </a:prstGeom>
          <a:solidFill>
            <a:srgbClr val="00A896"/>
          </a:solidFill>
          <a:ln/>
        </p:spPr>
      </p:sp>
      <p:sp>
        <p:nvSpPr>
          <p:cNvPr id="45" name="Text 38"/>
          <p:cNvSpPr txBox="1"/>
          <p:nvPr/>
        </p:nvSpPr>
        <p:spPr>
          <a:xfrm>
            <a:off x="804672" y="4462272"/>
            <a:ext cx="3322015" cy="274320"/>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معاملة قاعدة بيانات لكل عملية مركّبة</a:t>
            </a:r>
            <a:endParaRPr lang="en-US" sz="1100" dirty="0"/>
          </a:p>
        </p:txBody>
      </p:sp>
      <p:sp>
        <p:nvSpPr>
          <p:cNvPr id="46" name="Shape 39"/>
          <p:cNvSpPr/>
          <p:nvPr/>
        </p:nvSpPr>
        <p:spPr>
          <a:xfrm>
            <a:off x="4218127" y="4910328"/>
            <a:ext cx="146304" cy="146304"/>
          </a:xfrm>
          <a:prstGeom prst="ellipse">
            <a:avLst/>
          </a:prstGeom>
          <a:solidFill>
            <a:srgbClr val="00A896"/>
          </a:solidFill>
          <a:ln/>
        </p:spPr>
      </p:sp>
      <p:sp>
        <p:nvSpPr>
          <p:cNvPr id="47" name="Text 40"/>
          <p:cNvSpPr txBox="1"/>
          <p:nvPr/>
        </p:nvSpPr>
        <p:spPr>
          <a:xfrm>
            <a:off x="804672" y="4846320"/>
            <a:ext cx="3322015" cy="274320"/>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قفل على مستوى الصف يمنع التسابق</a:t>
            </a:r>
            <a:endParaRPr lang="en-US" sz="1100" dirty="0"/>
          </a:p>
        </p:txBody>
      </p:sp>
      <p:sp>
        <p:nvSpPr>
          <p:cNvPr id="48" name="Shape 41"/>
          <p:cNvSpPr/>
          <p:nvPr/>
        </p:nvSpPr>
        <p:spPr>
          <a:xfrm>
            <a:off x="4218127" y="5294376"/>
            <a:ext cx="146304" cy="146304"/>
          </a:xfrm>
          <a:prstGeom prst="ellipse">
            <a:avLst/>
          </a:prstGeom>
          <a:solidFill>
            <a:srgbClr val="00A896"/>
          </a:solidFill>
          <a:ln/>
        </p:spPr>
      </p:sp>
      <p:sp>
        <p:nvSpPr>
          <p:cNvPr id="49" name="Text 42"/>
          <p:cNvSpPr txBox="1"/>
          <p:nvPr/>
        </p:nvSpPr>
        <p:spPr>
          <a:xfrm>
            <a:off x="804672" y="5230368"/>
            <a:ext cx="3322015" cy="274320"/>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سجل تدقيق يُكتب داخل المعاملة</a:t>
            </a:r>
            <a:endParaRPr lang="en-US" sz="1100" dirty="0"/>
          </a:p>
        </p:txBody>
      </p:sp>
      <p:sp>
        <p:nvSpPr>
          <p:cNvPr id="50" name="Shape 43"/>
          <p:cNvSpPr/>
          <p:nvPr/>
        </p:nvSpPr>
        <p:spPr>
          <a:xfrm>
            <a:off x="4218127" y="5678424"/>
            <a:ext cx="146304" cy="146304"/>
          </a:xfrm>
          <a:prstGeom prst="ellipse">
            <a:avLst/>
          </a:prstGeom>
          <a:solidFill>
            <a:srgbClr val="00A896"/>
          </a:solidFill>
          <a:ln/>
        </p:spPr>
      </p:sp>
      <p:sp>
        <p:nvSpPr>
          <p:cNvPr id="51" name="Text 44"/>
          <p:cNvSpPr txBox="1"/>
          <p:nvPr/>
        </p:nvSpPr>
        <p:spPr>
          <a:xfrm>
            <a:off x="804672" y="5614416"/>
            <a:ext cx="3322015" cy="274320"/>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حذف ناعم في تسعة نماذج</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الثاني · البناء</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تصميم قاعدة البيانات</a:t>
            </a:r>
            <a:endParaRPr lang="en-US" sz="3300" dirty="0"/>
          </a:p>
        </p:txBody>
      </p:sp>
      <p:sp>
        <p:nvSpPr>
          <p:cNvPr id="4" name="Shape 2"/>
          <p:cNvSpPr/>
          <p:nvPr/>
        </p:nvSpPr>
        <p:spPr>
          <a:xfrm>
            <a:off x="6233008" y="1572768"/>
            <a:ext cx="541004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1185855" y="1792224"/>
            <a:ext cx="237744" cy="237744"/>
          </a:xfrm>
          <a:prstGeom prst="ellipse">
            <a:avLst/>
          </a:prstGeom>
          <a:solidFill>
            <a:srgbClr val="02717D"/>
          </a:solidFill>
          <a:ln/>
        </p:spPr>
      </p:sp>
      <p:sp>
        <p:nvSpPr>
          <p:cNvPr id="6" name="Text 4"/>
          <p:cNvSpPr txBox="1"/>
          <p:nvPr/>
        </p:nvSpPr>
        <p:spPr>
          <a:xfrm>
            <a:off x="6461608" y="1719072"/>
            <a:ext cx="4587088"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النواة</a:t>
            </a:r>
            <a:endParaRPr lang="en-US" sz="1350" dirty="0"/>
          </a:p>
        </p:txBody>
      </p:sp>
      <p:sp>
        <p:nvSpPr>
          <p:cNvPr id="7" name="Text 5"/>
          <p:cNvSpPr txBox="1"/>
          <p:nvPr/>
        </p:nvSpPr>
        <p:spPr>
          <a:xfrm>
            <a:off x="6461608" y="2084832"/>
            <a:ext cx="4952848"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camps   ·   shelters   ·   refugees   ·   households</a:t>
            </a:r>
            <a:endParaRPr lang="en-US" sz="1100" dirty="0"/>
          </a:p>
        </p:txBody>
      </p:sp>
      <p:sp>
        <p:nvSpPr>
          <p:cNvPr id="8" name="Text 6"/>
          <p:cNvSpPr txBox="1"/>
          <p:nvPr/>
        </p:nvSpPr>
        <p:spPr>
          <a:xfrm>
            <a:off x="6461608" y="2432304"/>
            <a:ext cx="4952848"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المخيم يحوي وحدات، والوحدة تُسكن لاجئين، واللاجئ ينتمي لأسرة</a:t>
            </a:r>
            <a:endParaRPr lang="en-US" sz="1050" dirty="0"/>
          </a:p>
        </p:txBody>
      </p:sp>
      <p:sp>
        <p:nvSpPr>
          <p:cNvPr id="9" name="Shape 7"/>
          <p:cNvSpPr/>
          <p:nvPr/>
        </p:nvSpPr>
        <p:spPr>
          <a:xfrm>
            <a:off x="548640" y="1572768"/>
            <a:ext cx="541004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10" name="Shape 8"/>
          <p:cNvSpPr/>
          <p:nvPr/>
        </p:nvSpPr>
        <p:spPr>
          <a:xfrm>
            <a:off x="5501488" y="1792224"/>
            <a:ext cx="237744" cy="237744"/>
          </a:xfrm>
          <a:prstGeom prst="ellipse">
            <a:avLst/>
          </a:prstGeom>
          <a:solidFill>
            <a:srgbClr val="E9A13B"/>
          </a:solidFill>
          <a:ln/>
        </p:spPr>
      </p:sp>
      <p:sp>
        <p:nvSpPr>
          <p:cNvPr id="11" name="Text 9"/>
          <p:cNvSpPr txBox="1"/>
          <p:nvPr/>
        </p:nvSpPr>
        <p:spPr>
          <a:xfrm>
            <a:off x="777240" y="1719072"/>
            <a:ext cx="4587088"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الحركة والأمن</a:t>
            </a:r>
            <a:endParaRPr lang="en-US" sz="1350" dirty="0"/>
          </a:p>
        </p:txBody>
      </p:sp>
      <p:sp>
        <p:nvSpPr>
          <p:cNvPr id="12" name="Text 10"/>
          <p:cNvSpPr txBox="1"/>
          <p:nvPr/>
        </p:nvSpPr>
        <p:spPr>
          <a:xfrm>
            <a:off x="777240" y="2084832"/>
            <a:ext cx="4952848"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checkpoints   ·   entry_exit_logs   ·   security_reports</a:t>
            </a:r>
            <a:endParaRPr lang="en-US" sz="1100" dirty="0"/>
          </a:p>
        </p:txBody>
      </p:sp>
      <p:sp>
        <p:nvSpPr>
          <p:cNvPr id="13" name="Text 11"/>
          <p:cNvSpPr txBox="1"/>
          <p:nvPr/>
        </p:nvSpPr>
        <p:spPr>
          <a:xfrm>
            <a:off x="777240" y="2432304"/>
            <a:ext cx="4952848"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كل مرور مربوط ببوابة ووقت ومن سجّله</a:t>
            </a:r>
            <a:endParaRPr lang="en-US" sz="1050" dirty="0"/>
          </a:p>
        </p:txBody>
      </p:sp>
      <p:sp>
        <p:nvSpPr>
          <p:cNvPr id="14" name="Shape 12"/>
          <p:cNvSpPr/>
          <p:nvPr/>
        </p:nvSpPr>
        <p:spPr>
          <a:xfrm>
            <a:off x="6233008" y="3035808"/>
            <a:ext cx="541004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15" name="Shape 13"/>
          <p:cNvSpPr/>
          <p:nvPr/>
        </p:nvSpPr>
        <p:spPr>
          <a:xfrm>
            <a:off x="11185855" y="3255264"/>
            <a:ext cx="237744" cy="237744"/>
          </a:xfrm>
          <a:prstGeom prst="ellipse">
            <a:avLst/>
          </a:prstGeom>
          <a:solidFill>
            <a:srgbClr val="02717D"/>
          </a:solidFill>
          <a:ln/>
        </p:spPr>
      </p:sp>
      <p:sp>
        <p:nvSpPr>
          <p:cNvPr id="16" name="Text 14"/>
          <p:cNvSpPr txBox="1"/>
          <p:nvPr/>
        </p:nvSpPr>
        <p:spPr>
          <a:xfrm>
            <a:off x="6461608" y="3182112"/>
            <a:ext cx="4587088"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المساعدات</a:t>
            </a:r>
            <a:endParaRPr lang="en-US" sz="1350" dirty="0"/>
          </a:p>
        </p:txBody>
      </p:sp>
      <p:sp>
        <p:nvSpPr>
          <p:cNvPr id="17" name="Text 15"/>
          <p:cNvSpPr txBox="1"/>
          <p:nvPr/>
        </p:nvSpPr>
        <p:spPr>
          <a:xfrm>
            <a:off x="6461608" y="3547872"/>
            <a:ext cx="4952848"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organizations   ·   aid_types   ·   aid_distributions</a:t>
            </a:r>
            <a:endParaRPr lang="en-US" sz="1100" dirty="0"/>
          </a:p>
        </p:txBody>
      </p:sp>
      <p:sp>
        <p:nvSpPr>
          <p:cNvPr id="18" name="Text 16"/>
          <p:cNvSpPr txBox="1"/>
          <p:nvPr/>
        </p:nvSpPr>
        <p:spPr>
          <a:xfrm>
            <a:off x="6461608" y="3895344"/>
            <a:ext cx="4952848"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التوزيع إمّا لفرد أو لأسرة، ويُجمع الاثنان عند الاستعلام</a:t>
            </a:r>
            <a:endParaRPr lang="en-US" sz="1050" dirty="0"/>
          </a:p>
        </p:txBody>
      </p:sp>
      <p:sp>
        <p:nvSpPr>
          <p:cNvPr id="19" name="Shape 17"/>
          <p:cNvSpPr/>
          <p:nvPr/>
        </p:nvSpPr>
        <p:spPr>
          <a:xfrm>
            <a:off x="548640" y="3035808"/>
            <a:ext cx="541004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20" name="Shape 18"/>
          <p:cNvSpPr/>
          <p:nvPr/>
        </p:nvSpPr>
        <p:spPr>
          <a:xfrm>
            <a:off x="5501488" y="3255264"/>
            <a:ext cx="237744" cy="237744"/>
          </a:xfrm>
          <a:prstGeom prst="ellipse">
            <a:avLst/>
          </a:prstGeom>
          <a:solidFill>
            <a:srgbClr val="02717D"/>
          </a:solidFill>
          <a:ln/>
        </p:spPr>
      </p:sp>
      <p:sp>
        <p:nvSpPr>
          <p:cNvPr id="21" name="Text 19"/>
          <p:cNvSpPr txBox="1"/>
          <p:nvPr/>
        </p:nvSpPr>
        <p:spPr>
          <a:xfrm>
            <a:off x="777240" y="3182112"/>
            <a:ext cx="4587088"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الطبي والسكن</a:t>
            </a:r>
            <a:endParaRPr lang="en-US" sz="1350" dirty="0"/>
          </a:p>
        </p:txBody>
      </p:sp>
      <p:sp>
        <p:nvSpPr>
          <p:cNvPr id="22" name="Text 20"/>
          <p:cNvSpPr txBox="1"/>
          <p:nvPr/>
        </p:nvSpPr>
        <p:spPr>
          <a:xfrm>
            <a:off x="777240" y="3547872"/>
            <a:ext cx="4952848"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medical_services   ·   medical_records   ·   residency_transfers</a:t>
            </a:r>
            <a:endParaRPr lang="en-US" sz="1100" dirty="0"/>
          </a:p>
        </p:txBody>
      </p:sp>
      <p:sp>
        <p:nvSpPr>
          <p:cNvPr id="23" name="Text 21"/>
          <p:cNvSpPr txBox="1"/>
          <p:nvPr/>
        </p:nvSpPr>
        <p:spPr>
          <a:xfrm>
            <a:off x="777240" y="3895344"/>
            <a:ext cx="4952848"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كل نقل سكني يُحفظ فيبقى تاريخ الإقامة كاملًا</a:t>
            </a:r>
            <a:endParaRPr lang="en-US" sz="1050" dirty="0"/>
          </a:p>
        </p:txBody>
      </p:sp>
      <p:sp>
        <p:nvSpPr>
          <p:cNvPr id="24" name="Shape 22"/>
          <p:cNvSpPr/>
          <p:nvPr/>
        </p:nvSpPr>
        <p:spPr>
          <a:xfrm>
            <a:off x="548640" y="4498848"/>
            <a:ext cx="11094415"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25" name="Shape 23"/>
          <p:cNvSpPr/>
          <p:nvPr/>
        </p:nvSpPr>
        <p:spPr>
          <a:xfrm>
            <a:off x="11185855" y="4718304"/>
            <a:ext cx="237744" cy="237744"/>
          </a:xfrm>
          <a:prstGeom prst="ellipse">
            <a:avLst/>
          </a:prstGeom>
          <a:solidFill>
            <a:srgbClr val="02717D"/>
          </a:solidFill>
          <a:ln/>
        </p:spPr>
      </p:sp>
      <p:sp>
        <p:nvSpPr>
          <p:cNvPr id="26" name="Text 24"/>
          <p:cNvSpPr txBox="1"/>
          <p:nvPr/>
        </p:nvSpPr>
        <p:spPr>
          <a:xfrm>
            <a:off x="777240" y="4645152"/>
            <a:ext cx="10271455"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الحوكمة</a:t>
            </a:r>
            <a:endParaRPr lang="en-US" sz="1350" dirty="0"/>
          </a:p>
        </p:txBody>
      </p:sp>
      <p:sp>
        <p:nvSpPr>
          <p:cNvPr id="27" name="Text 25"/>
          <p:cNvSpPr txBox="1"/>
          <p:nvPr/>
        </p:nvSpPr>
        <p:spPr>
          <a:xfrm>
            <a:off x="777240" y="5010912"/>
            <a:ext cx="10637215"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users   ·   roles   ·   audit_logs   ·   notifications   ·   attachments</a:t>
            </a:r>
            <a:endParaRPr lang="en-US" sz="1100" dirty="0"/>
          </a:p>
        </p:txBody>
      </p:sp>
      <p:sp>
        <p:nvSpPr>
          <p:cNvPr id="28" name="Text 26"/>
          <p:cNvSpPr txBox="1"/>
          <p:nvPr/>
        </p:nvSpPr>
        <p:spPr>
          <a:xfrm>
            <a:off x="777240" y="5358384"/>
            <a:ext cx="10637215"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من فعل، وماذا فعل، ومتى</a:t>
            </a:r>
            <a:endParaRPr lang="en-US" sz="1050" dirty="0"/>
          </a:p>
        </p:txBody>
      </p:sp>
      <p:sp>
        <p:nvSpPr>
          <p:cNvPr id="29" name="Shape 27"/>
          <p:cNvSpPr/>
          <p:nvPr/>
        </p:nvSpPr>
        <p:spPr>
          <a:xfrm>
            <a:off x="548640" y="5961888"/>
            <a:ext cx="11094415" cy="640080"/>
          </a:xfrm>
          <a:prstGeom prst="roundRect">
            <a:avLst>
              <a:gd name="adj" fmla="val 12857"/>
            </a:avLst>
          </a:prstGeom>
          <a:solidFill>
            <a:srgbClr val="0A2E36"/>
          </a:solidFill>
          <a:ln/>
        </p:spPr>
      </p:sp>
      <p:sp>
        <p:nvSpPr>
          <p:cNvPr id="30" name="Text 28"/>
          <p:cNvSpPr txBox="1"/>
          <p:nvPr/>
        </p:nvSpPr>
        <p:spPr>
          <a:xfrm>
            <a:off x="822960" y="5961888"/>
            <a:ext cx="10545775" cy="640080"/>
          </a:xfrm>
          <a:prstGeom prst="rect">
            <a:avLst/>
          </a:prstGeom>
          <a:noFill/>
          <a:ln/>
        </p:spPr>
        <p:txBody>
          <a:bodyPr wrap="square" lIns="0" tIns="0" rIns="0" bIns="0" rtlCol="0" anchor="ctr"/>
          <a:lstStyle/>
          <a:p>
            <a:pPr rtl="1" algn="ctr" indent="0" marL="0">
              <a:buNone/>
            </a:pPr>
            <a:r>
              <a:rPr lang="en-US" sz="1150" dirty="0">
                <a:solidFill>
                  <a:srgbClr val="BFD4D7"/>
                </a:solidFill>
                <a:latin typeface="Arial" pitchFamily="34" charset="0"/>
                <a:ea typeface="Arial" pitchFamily="34" charset="-122"/>
                <a:cs typeface="Arial" pitchFamily="34" charset="-120"/>
              </a:rPr>
              <a:t>ثمانية عشر جدولًا · مفاتيح أجنبية تمنع السجل اليتيم · قيود فريدة · فهارس مركّبة على أعمدة البحث المتكرر · حذف ناعم يبقي التاريخ</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الثالث · الوظائف</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الوحدات الأساسية للنظام</a:t>
            </a:r>
            <a:endParaRPr lang="en-US" sz="3300" dirty="0"/>
          </a:p>
        </p:txBody>
      </p:sp>
      <p:sp>
        <p:nvSpPr>
          <p:cNvPr id="4" name="Shape 2"/>
          <p:cNvSpPr/>
          <p:nvPr/>
        </p:nvSpPr>
        <p:spPr>
          <a:xfrm>
            <a:off x="8158277" y="1572768"/>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746943" y="1810512"/>
            <a:ext cx="603504" cy="603504"/>
          </a:xfrm>
          <a:prstGeom prst="ellipse">
            <a:avLst/>
          </a:prstGeom>
          <a:solidFill>
            <a:srgbClr val="02717D"/>
          </a:solidFill>
          <a:ln/>
        </p:spPr>
      </p:sp>
      <p:pic>
        <p:nvPicPr>
          <p:cNvPr id="6" name="Image 0" descr="preencoded.png">    </p:cNvPr>
          <p:cNvPicPr>
            <a:picLocks noChangeAspect="1"/>
          </p:cNvPicPr>
          <p:nvPr/>
        </p:nvPicPr>
        <p:blipFill>
          <a:blip r:embed="rId1"/>
          <a:stretch>
            <a:fillRect/>
          </a:stretch>
        </p:blipFill>
        <p:spPr>
          <a:xfrm>
            <a:off x="10893247" y="1956816"/>
            <a:ext cx="310896" cy="310896"/>
          </a:xfrm>
          <a:prstGeom prst="rect">
            <a:avLst/>
          </a:prstGeom>
        </p:spPr>
      </p:pic>
      <p:sp>
        <p:nvSpPr>
          <p:cNvPr id="7" name="Text 4"/>
          <p:cNvSpPr txBox="1"/>
          <p:nvPr/>
        </p:nvSpPr>
        <p:spPr>
          <a:xfrm>
            <a:off x="8396021" y="1847088"/>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1</a:t>
            </a:r>
            <a:endParaRPr lang="en-US" sz="2000" dirty="0"/>
          </a:p>
        </p:txBody>
      </p:sp>
      <p:sp>
        <p:nvSpPr>
          <p:cNvPr id="8" name="Text 5"/>
          <p:cNvSpPr txBox="1"/>
          <p:nvPr/>
        </p:nvSpPr>
        <p:spPr>
          <a:xfrm>
            <a:off x="8396021" y="2487168"/>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سجلات اللاجئين</a:t>
            </a:r>
            <a:endParaRPr lang="en-US" sz="1450" dirty="0"/>
          </a:p>
        </p:txBody>
      </p:sp>
      <p:sp>
        <p:nvSpPr>
          <p:cNvPr id="9" name="Text 6"/>
          <p:cNvSpPr txBox="1"/>
          <p:nvPr/>
        </p:nvSpPr>
        <p:spPr>
          <a:xfrm>
            <a:off x="8396021" y="2816352"/>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تسجيل، أسر، وثائق،</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وبطاقة تعريف بباركود</a:t>
            </a:r>
            <a:endParaRPr lang="en-US" sz="1100" dirty="0"/>
          </a:p>
        </p:txBody>
      </p:sp>
      <p:sp>
        <p:nvSpPr>
          <p:cNvPr id="10" name="Shape 7"/>
          <p:cNvSpPr/>
          <p:nvPr/>
        </p:nvSpPr>
        <p:spPr>
          <a:xfrm>
            <a:off x="4353458" y="1572768"/>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11" name="Shape 8"/>
          <p:cNvSpPr/>
          <p:nvPr/>
        </p:nvSpPr>
        <p:spPr>
          <a:xfrm>
            <a:off x="6942125" y="1810512"/>
            <a:ext cx="603504" cy="603504"/>
          </a:xfrm>
          <a:prstGeom prst="ellipse">
            <a:avLst/>
          </a:prstGeom>
          <a:solidFill>
            <a:srgbClr val="02717D"/>
          </a:solidFill>
          <a:ln/>
        </p:spPr>
      </p:sp>
      <p:pic>
        <p:nvPicPr>
          <p:cNvPr id="12" name="Image 1" descr="preencoded.png">    </p:cNvPr>
          <p:cNvPicPr>
            <a:picLocks noChangeAspect="1"/>
          </p:cNvPicPr>
          <p:nvPr/>
        </p:nvPicPr>
        <p:blipFill>
          <a:blip r:embed="rId2"/>
          <a:stretch>
            <a:fillRect/>
          </a:stretch>
        </p:blipFill>
        <p:spPr>
          <a:xfrm>
            <a:off x="7088429" y="1956816"/>
            <a:ext cx="310896" cy="310896"/>
          </a:xfrm>
          <a:prstGeom prst="rect">
            <a:avLst/>
          </a:prstGeom>
        </p:spPr>
      </p:pic>
      <p:sp>
        <p:nvSpPr>
          <p:cNvPr id="13" name="Text 9"/>
          <p:cNvSpPr txBox="1"/>
          <p:nvPr/>
        </p:nvSpPr>
        <p:spPr>
          <a:xfrm>
            <a:off x="4591202" y="1847088"/>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2</a:t>
            </a:r>
            <a:endParaRPr lang="en-US" sz="2000" dirty="0"/>
          </a:p>
        </p:txBody>
      </p:sp>
      <p:sp>
        <p:nvSpPr>
          <p:cNvPr id="14" name="Text 10"/>
          <p:cNvSpPr txBox="1"/>
          <p:nvPr/>
        </p:nvSpPr>
        <p:spPr>
          <a:xfrm>
            <a:off x="4591202" y="2487168"/>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الوحدات السكنية</a:t>
            </a:r>
            <a:endParaRPr lang="en-US" sz="1450" dirty="0"/>
          </a:p>
        </p:txBody>
      </p:sp>
      <p:sp>
        <p:nvSpPr>
          <p:cNvPr id="15" name="Text 11"/>
          <p:cNvSpPr txBox="1"/>
          <p:nvPr/>
        </p:nvSpPr>
        <p:spPr>
          <a:xfrm>
            <a:off x="4591202" y="2816352"/>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خيام وكرفانات بسعة محدّدة،</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ونقل بسجل كامل</a:t>
            </a:r>
            <a:endParaRPr lang="en-US" sz="1100" dirty="0"/>
          </a:p>
        </p:txBody>
      </p:sp>
      <p:sp>
        <p:nvSpPr>
          <p:cNvPr id="16" name="Shape 12"/>
          <p:cNvSpPr/>
          <p:nvPr/>
        </p:nvSpPr>
        <p:spPr>
          <a:xfrm>
            <a:off x="548640" y="1572768"/>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17" name="Shape 13"/>
          <p:cNvSpPr/>
          <p:nvPr/>
        </p:nvSpPr>
        <p:spPr>
          <a:xfrm>
            <a:off x="3137306" y="1810512"/>
            <a:ext cx="603504" cy="603504"/>
          </a:xfrm>
          <a:prstGeom prst="ellipse">
            <a:avLst/>
          </a:prstGeom>
          <a:solidFill>
            <a:srgbClr val="02717D"/>
          </a:solidFill>
          <a:ln/>
        </p:spPr>
      </p:sp>
      <p:pic>
        <p:nvPicPr>
          <p:cNvPr id="18" name="Image 2" descr="preencoded.png">    </p:cNvPr>
          <p:cNvPicPr>
            <a:picLocks noChangeAspect="1"/>
          </p:cNvPicPr>
          <p:nvPr/>
        </p:nvPicPr>
        <p:blipFill>
          <a:blip r:embed="rId3"/>
          <a:stretch>
            <a:fillRect/>
          </a:stretch>
        </p:blipFill>
        <p:spPr>
          <a:xfrm>
            <a:off x="3283610" y="1956816"/>
            <a:ext cx="310896" cy="310896"/>
          </a:xfrm>
          <a:prstGeom prst="rect">
            <a:avLst/>
          </a:prstGeom>
        </p:spPr>
      </p:pic>
      <p:sp>
        <p:nvSpPr>
          <p:cNvPr id="19" name="Text 14"/>
          <p:cNvSpPr txBox="1"/>
          <p:nvPr/>
        </p:nvSpPr>
        <p:spPr>
          <a:xfrm>
            <a:off x="786384" y="1847088"/>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3</a:t>
            </a:r>
            <a:endParaRPr lang="en-US" sz="2000" dirty="0"/>
          </a:p>
        </p:txBody>
      </p:sp>
      <p:sp>
        <p:nvSpPr>
          <p:cNvPr id="20" name="Text 15"/>
          <p:cNvSpPr txBox="1"/>
          <p:nvPr/>
        </p:nvSpPr>
        <p:spPr>
          <a:xfrm>
            <a:off x="786384" y="2487168"/>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توزيع المساعدات</a:t>
            </a:r>
            <a:endParaRPr lang="en-US" sz="1450" dirty="0"/>
          </a:p>
        </p:txBody>
      </p:sp>
      <p:sp>
        <p:nvSpPr>
          <p:cNvPr id="21" name="Text 16"/>
          <p:cNvSpPr txBox="1"/>
          <p:nvPr/>
        </p:nvSpPr>
        <p:spPr>
          <a:xfrm>
            <a:off x="786384" y="2816352"/>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منظمات وأنواع، وتوزيع</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للفرد أو للأسرة</a:t>
            </a:r>
            <a:endParaRPr lang="en-US" sz="1100" dirty="0"/>
          </a:p>
        </p:txBody>
      </p:sp>
      <p:sp>
        <p:nvSpPr>
          <p:cNvPr id="22" name="Shape 17"/>
          <p:cNvSpPr/>
          <p:nvPr/>
        </p:nvSpPr>
        <p:spPr>
          <a:xfrm>
            <a:off x="8158277" y="3511296"/>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23" name="Shape 18"/>
          <p:cNvSpPr/>
          <p:nvPr/>
        </p:nvSpPr>
        <p:spPr>
          <a:xfrm>
            <a:off x="10746943" y="3749040"/>
            <a:ext cx="603504" cy="603504"/>
          </a:xfrm>
          <a:prstGeom prst="ellipse">
            <a:avLst/>
          </a:prstGeom>
          <a:solidFill>
            <a:srgbClr val="E9A13B"/>
          </a:solidFill>
          <a:ln/>
        </p:spPr>
      </p:sp>
      <p:pic>
        <p:nvPicPr>
          <p:cNvPr id="24" name="Image 3" descr="preencoded.png">    </p:cNvPr>
          <p:cNvPicPr>
            <a:picLocks noChangeAspect="1"/>
          </p:cNvPicPr>
          <p:nvPr/>
        </p:nvPicPr>
        <p:blipFill>
          <a:blip r:embed="rId4"/>
          <a:stretch>
            <a:fillRect/>
          </a:stretch>
        </p:blipFill>
        <p:spPr>
          <a:xfrm>
            <a:off x="10893247" y="3895344"/>
            <a:ext cx="310896" cy="310896"/>
          </a:xfrm>
          <a:prstGeom prst="rect">
            <a:avLst/>
          </a:prstGeom>
        </p:spPr>
      </p:pic>
      <p:sp>
        <p:nvSpPr>
          <p:cNvPr id="25" name="Text 19"/>
          <p:cNvSpPr txBox="1"/>
          <p:nvPr/>
        </p:nvSpPr>
        <p:spPr>
          <a:xfrm>
            <a:off x="8396021" y="3785616"/>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4</a:t>
            </a:r>
            <a:endParaRPr lang="en-US" sz="2000" dirty="0"/>
          </a:p>
        </p:txBody>
      </p:sp>
      <p:sp>
        <p:nvSpPr>
          <p:cNvPr id="26" name="Text 20"/>
          <p:cNvSpPr txBox="1"/>
          <p:nvPr/>
        </p:nvSpPr>
        <p:spPr>
          <a:xfrm>
            <a:off x="8396021" y="4425696"/>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الدخول والخروج</a:t>
            </a:r>
            <a:endParaRPr lang="en-US" sz="1450" dirty="0"/>
          </a:p>
        </p:txBody>
      </p:sp>
      <p:sp>
        <p:nvSpPr>
          <p:cNvPr id="27" name="Text 21"/>
          <p:cNvSpPr txBox="1"/>
          <p:nvPr/>
        </p:nvSpPr>
        <p:spPr>
          <a:xfrm>
            <a:off x="8396021" y="4754880"/>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بوابات ونقاط تفتيش،</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وحالة تواجد لحظية</a:t>
            </a:r>
            <a:endParaRPr lang="en-US" sz="1100" dirty="0"/>
          </a:p>
        </p:txBody>
      </p:sp>
      <p:sp>
        <p:nvSpPr>
          <p:cNvPr id="28" name="Shape 22"/>
          <p:cNvSpPr/>
          <p:nvPr/>
        </p:nvSpPr>
        <p:spPr>
          <a:xfrm>
            <a:off x="4353458" y="3511296"/>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29" name="Shape 23"/>
          <p:cNvSpPr/>
          <p:nvPr/>
        </p:nvSpPr>
        <p:spPr>
          <a:xfrm>
            <a:off x="6942125" y="3749040"/>
            <a:ext cx="603504" cy="603504"/>
          </a:xfrm>
          <a:prstGeom prst="ellipse">
            <a:avLst/>
          </a:prstGeom>
          <a:solidFill>
            <a:srgbClr val="02717D"/>
          </a:solidFill>
          <a:ln/>
        </p:spPr>
      </p:sp>
      <p:pic>
        <p:nvPicPr>
          <p:cNvPr id="30" name="Image 4" descr="preencoded.png">    </p:cNvPr>
          <p:cNvPicPr>
            <a:picLocks noChangeAspect="1"/>
          </p:cNvPicPr>
          <p:nvPr/>
        </p:nvPicPr>
        <p:blipFill>
          <a:blip r:embed="rId5"/>
          <a:stretch>
            <a:fillRect/>
          </a:stretch>
        </p:blipFill>
        <p:spPr>
          <a:xfrm>
            <a:off x="7088429" y="3895344"/>
            <a:ext cx="310896" cy="310896"/>
          </a:xfrm>
          <a:prstGeom prst="rect">
            <a:avLst/>
          </a:prstGeom>
        </p:spPr>
      </p:pic>
      <p:sp>
        <p:nvSpPr>
          <p:cNvPr id="31" name="Text 24"/>
          <p:cNvSpPr txBox="1"/>
          <p:nvPr/>
        </p:nvSpPr>
        <p:spPr>
          <a:xfrm>
            <a:off x="4591202" y="3785616"/>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5</a:t>
            </a:r>
            <a:endParaRPr lang="en-US" sz="2000" dirty="0"/>
          </a:p>
        </p:txBody>
      </p:sp>
      <p:sp>
        <p:nvSpPr>
          <p:cNvPr id="32" name="Text 25"/>
          <p:cNvSpPr txBox="1"/>
          <p:nvPr/>
        </p:nvSpPr>
        <p:spPr>
          <a:xfrm>
            <a:off x="4591202" y="4425696"/>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السجلات الطبية</a:t>
            </a:r>
            <a:endParaRPr lang="en-US" sz="1450" dirty="0"/>
          </a:p>
        </p:txBody>
      </p:sp>
      <p:sp>
        <p:nvSpPr>
          <p:cNvPr id="33" name="Text 26"/>
          <p:cNvSpPr txBox="1"/>
          <p:nvPr/>
        </p:nvSpPr>
        <p:spPr>
          <a:xfrm>
            <a:off x="4591202" y="4754880"/>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خدمات وتشخيصات</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ومواعيد متابعة</a:t>
            </a:r>
            <a:endParaRPr lang="en-US" sz="1100" dirty="0"/>
          </a:p>
        </p:txBody>
      </p:sp>
      <p:sp>
        <p:nvSpPr>
          <p:cNvPr id="34" name="Shape 27"/>
          <p:cNvSpPr/>
          <p:nvPr/>
        </p:nvSpPr>
        <p:spPr>
          <a:xfrm>
            <a:off x="548640" y="3511296"/>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35" name="Shape 28"/>
          <p:cNvSpPr/>
          <p:nvPr/>
        </p:nvSpPr>
        <p:spPr>
          <a:xfrm>
            <a:off x="3137306" y="3749040"/>
            <a:ext cx="603504" cy="603504"/>
          </a:xfrm>
          <a:prstGeom prst="ellipse">
            <a:avLst/>
          </a:prstGeom>
          <a:solidFill>
            <a:srgbClr val="02717D"/>
          </a:solidFill>
          <a:ln/>
        </p:spPr>
      </p:sp>
      <p:pic>
        <p:nvPicPr>
          <p:cNvPr id="36" name="Image 5" descr="preencoded.png">    </p:cNvPr>
          <p:cNvPicPr>
            <a:picLocks noChangeAspect="1"/>
          </p:cNvPicPr>
          <p:nvPr/>
        </p:nvPicPr>
        <p:blipFill>
          <a:blip r:embed="rId6"/>
          <a:stretch>
            <a:fillRect/>
          </a:stretch>
        </p:blipFill>
        <p:spPr>
          <a:xfrm>
            <a:off x="3283610" y="3895344"/>
            <a:ext cx="310896" cy="310896"/>
          </a:xfrm>
          <a:prstGeom prst="rect">
            <a:avLst/>
          </a:prstGeom>
        </p:spPr>
      </p:pic>
      <p:sp>
        <p:nvSpPr>
          <p:cNvPr id="37" name="Text 29"/>
          <p:cNvSpPr txBox="1"/>
          <p:nvPr/>
        </p:nvSpPr>
        <p:spPr>
          <a:xfrm>
            <a:off x="786384" y="3785616"/>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6</a:t>
            </a:r>
            <a:endParaRPr lang="en-US" sz="2000" dirty="0"/>
          </a:p>
        </p:txBody>
      </p:sp>
      <p:sp>
        <p:nvSpPr>
          <p:cNvPr id="38" name="Text 30"/>
          <p:cNvSpPr txBox="1"/>
          <p:nvPr/>
        </p:nvSpPr>
        <p:spPr>
          <a:xfrm>
            <a:off x="786384" y="4425696"/>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التقارير والتدقيق</a:t>
            </a:r>
            <a:endParaRPr lang="en-US" sz="1450" dirty="0"/>
          </a:p>
        </p:txBody>
      </p:sp>
      <p:sp>
        <p:nvSpPr>
          <p:cNvPr id="39" name="Text 31"/>
          <p:cNvSpPr txBox="1"/>
          <p:nvPr/>
        </p:nvSpPr>
        <p:spPr>
          <a:xfrm>
            <a:off x="786384" y="4754880"/>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تصدير ⁦Excel⁩ وطباعة،</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وسجل تدقيق كامل</a:t>
            </a:r>
            <a:endParaRPr lang="en-US" sz="1100" dirty="0"/>
          </a:p>
        </p:txBody>
      </p:sp>
      <p:sp>
        <p:nvSpPr>
          <p:cNvPr id="40" name="Shape 32"/>
          <p:cNvSpPr/>
          <p:nvPr/>
        </p:nvSpPr>
        <p:spPr>
          <a:xfrm>
            <a:off x="548640" y="5431536"/>
            <a:ext cx="11094415" cy="914400"/>
          </a:xfrm>
          <a:prstGeom prst="roundRect">
            <a:avLst>
              <a:gd name="adj" fmla="val 10000"/>
            </a:avLst>
          </a:prstGeom>
          <a:solidFill>
            <a:srgbClr val="0A2E36"/>
          </a:solidFill>
          <a:ln/>
        </p:spPr>
      </p:sp>
      <p:sp>
        <p:nvSpPr>
          <p:cNvPr id="41" name="Shape 33"/>
          <p:cNvSpPr/>
          <p:nvPr/>
        </p:nvSpPr>
        <p:spPr>
          <a:xfrm>
            <a:off x="10865815" y="5669280"/>
            <a:ext cx="457200" cy="457200"/>
          </a:xfrm>
          <a:prstGeom prst="ellipse">
            <a:avLst/>
          </a:prstGeom>
          <a:solidFill>
            <a:srgbClr val="E9A13B"/>
          </a:solidFill>
          <a:ln/>
        </p:spPr>
      </p:sp>
      <p:pic>
        <p:nvPicPr>
          <p:cNvPr id="42" name="Image 6" descr="preencoded.png">    </p:cNvPr>
          <p:cNvPicPr>
            <a:picLocks noChangeAspect="1"/>
          </p:cNvPicPr>
          <p:nvPr/>
        </p:nvPicPr>
        <p:blipFill>
          <a:blip r:embed="rId7"/>
          <a:stretch>
            <a:fillRect/>
          </a:stretch>
        </p:blipFill>
        <p:spPr>
          <a:xfrm>
            <a:off x="10984687" y="5788152"/>
            <a:ext cx="219456" cy="219456"/>
          </a:xfrm>
          <a:prstGeom prst="rect">
            <a:avLst/>
          </a:prstGeom>
        </p:spPr>
      </p:pic>
      <p:sp>
        <p:nvSpPr>
          <p:cNvPr id="43" name="Text 34"/>
          <p:cNvSpPr txBox="1"/>
          <p:nvPr/>
        </p:nvSpPr>
        <p:spPr>
          <a:xfrm>
            <a:off x="822960" y="5614416"/>
            <a:ext cx="9951415" cy="274320"/>
          </a:xfrm>
          <a:prstGeom prst="rect">
            <a:avLst/>
          </a:prstGeom>
          <a:noFill/>
          <a:ln/>
        </p:spPr>
        <p:txBody>
          <a:bodyPr wrap="square" lIns="0" tIns="0" rIns="0" bIns="0"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بحث عربي ذكي يخدم الوحدات كلها</a:t>
            </a:r>
            <a:endParaRPr lang="en-US" sz="1350" dirty="0"/>
          </a:p>
        </p:txBody>
      </p:sp>
      <p:sp>
        <p:nvSpPr>
          <p:cNvPr id="44" name="Text 35"/>
          <p:cNvSpPr txBox="1"/>
          <p:nvPr/>
        </p:nvSpPr>
        <p:spPr>
          <a:xfrm>
            <a:off x="822960" y="5943600"/>
            <a:ext cx="9951415" cy="274320"/>
          </a:xfrm>
          <a:prstGeom prst="rect">
            <a:avLst/>
          </a:prstGeom>
          <a:noFill/>
          <a:ln/>
        </p:spPr>
        <p:txBody>
          <a:bodyPr wrap="square" lIns="0" tIns="0" rIns="0" bIns="0" rtlCol="0" anchor="ctr"/>
          <a:lstStyle/>
          <a:p>
            <a:pPr rtl="1" algn="r" indent="0" marL="0">
              <a:buNone/>
            </a:pPr>
            <a:r>
              <a:rPr lang="en-US" sz="1100" dirty="0">
                <a:solidFill>
                  <a:srgbClr val="BFD4D7"/>
                </a:solidFill>
                <a:latin typeface="Arial" pitchFamily="34" charset="0"/>
                <a:ea typeface="Arial" pitchFamily="34" charset="-122"/>
                <a:cs typeface="Arial" pitchFamily="34" charset="-120"/>
              </a:rPr>
              <a:t>توحيد الهمزات والتاء المربوطة والألف المقصورة، وحذف التشكيل، وتحويل الأرقام الهندية، وتُطبَّق على طرفَي المقارنة معًا</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الثالث · الوظائف</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الصلاحيات والأدوار</a:t>
            </a:r>
            <a:endParaRPr lang="en-US" sz="3300" dirty="0"/>
          </a:p>
        </p:txBody>
      </p:sp>
      <p:sp>
        <p:nvSpPr>
          <p:cNvPr id="4" name="Text 2"/>
          <p:cNvSpPr txBox="1"/>
          <p:nvPr/>
        </p:nvSpPr>
        <p:spPr>
          <a:xfrm>
            <a:off x="7812786"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التسجيل</a:t>
            </a:r>
            <a:endParaRPr lang="en-US" sz="1150" dirty="0"/>
          </a:p>
        </p:txBody>
      </p:sp>
      <p:sp>
        <p:nvSpPr>
          <p:cNvPr id="5" name="Text 3"/>
          <p:cNvSpPr txBox="1"/>
          <p:nvPr/>
        </p:nvSpPr>
        <p:spPr>
          <a:xfrm>
            <a:off x="6359957"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السكن</a:t>
            </a:r>
            <a:endParaRPr lang="en-US" sz="1150" dirty="0"/>
          </a:p>
        </p:txBody>
      </p:sp>
      <p:sp>
        <p:nvSpPr>
          <p:cNvPr id="6" name="Text 4"/>
          <p:cNvSpPr txBox="1"/>
          <p:nvPr/>
        </p:nvSpPr>
        <p:spPr>
          <a:xfrm>
            <a:off x="4907128"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المساعدات</a:t>
            </a:r>
            <a:endParaRPr lang="en-US" sz="1150" dirty="0"/>
          </a:p>
        </p:txBody>
      </p:sp>
      <p:sp>
        <p:nvSpPr>
          <p:cNvPr id="7" name="Text 5"/>
          <p:cNvSpPr txBox="1"/>
          <p:nvPr/>
        </p:nvSpPr>
        <p:spPr>
          <a:xfrm>
            <a:off x="3454298"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الطبي</a:t>
            </a:r>
            <a:endParaRPr lang="en-US" sz="1150" dirty="0"/>
          </a:p>
        </p:txBody>
      </p:sp>
      <p:sp>
        <p:nvSpPr>
          <p:cNvPr id="8" name="Text 6"/>
          <p:cNvSpPr txBox="1"/>
          <p:nvPr/>
        </p:nvSpPr>
        <p:spPr>
          <a:xfrm>
            <a:off x="2001469"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الأمن</a:t>
            </a:r>
            <a:endParaRPr lang="en-US" sz="1150" dirty="0"/>
          </a:p>
        </p:txBody>
      </p:sp>
      <p:sp>
        <p:nvSpPr>
          <p:cNvPr id="9" name="Text 7"/>
          <p:cNvSpPr txBox="1"/>
          <p:nvPr/>
        </p:nvSpPr>
        <p:spPr>
          <a:xfrm>
            <a:off x="548640"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الإدارة</a:t>
            </a:r>
            <a:endParaRPr lang="en-US" sz="1150" dirty="0"/>
          </a:p>
        </p:txBody>
      </p:sp>
      <p:sp>
        <p:nvSpPr>
          <p:cNvPr id="10" name="Shape 8"/>
          <p:cNvSpPr/>
          <p:nvPr/>
        </p:nvSpPr>
        <p:spPr>
          <a:xfrm>
            <a:off x="548640" y="2084832"/>
            <a:ext cx="11094415" cy="429768"/>
          </a:xfrm>
          <a:prstGeom prst="roundRect">
            <a:avLst>
              <a:gd name="adj" fmla="val 19149"/>
            </a:avLst>
          </a:prstGeom>
          <a:solidFill>
            <a:srgbClr val="ECF4F4"/>
          </a:solidFill>
          <a:ln/>
        </p:spPr>
      </p:sp>
      <p:sp>
        <p:nvSpPr>
          <p:cNvPr id="11" name="Text 9"/>
          <p:cNvSpPr txBox="1"/>
          <p:nvPr/>
        </p:nvSpPr>
        <p:spPr>
          <a:xfrm>
            <a:off x="9357055" y="208483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مدير النظام</a:t>
            </a:r>
            <a:endParaRPr lang="en-US" sz="1250" dirty="0"/>
          </a:p>
        </p:txBody>
      </p:sp>
      <p:sp>
        <p:nvSpPr>
          <p:cNvPr id="12" name="Shape 10"/>
          <p:cNvSpPr/>
          <p:nvPr/>
        </p:nvSpPr>
        <p:spPr>
          <a:xfrm>
            <a:off x="8420329" y="2180844"/>
            <a:ext cx="237744" cy="237744"/>
          </a:xfrm>
          <a:prstGeom prst="ellipse">
            <a:avLst/>
          </a:prstGeom>
          <a:solidFill>
            <a:srgbClr val="02717D"/>
          </a:solidFill>
          <a:ln/>
        </p:spPr>
      </p:sp>
      <p:pic>
        <p:nvPicPr>
          <p:cNvPr id="13" name="Image 0" descr="preencoded.png">    </p:cNvPr>
          <p:cNvPicPr>
            <a:picLocks noChangeAspect="1"/>
          </p:cNvPicPr>
          <p:nvPr/>
        </p:nvPicPr>
        <p:blipFill>
          <a:blip r:embed="rId1"/>
          <a:stretch>
            <a:fillRect/>
          </a:stretch>
        </p:blipFill>
        <p:spPr>
          <a:xfrm>
            <a:off x="8479765" y="2240280"/>
            <a:ext cx="118872" cy="118872"/>
          </a:xfrm>
          <a:prstGeom prst="rect">
            <a:avLst/>
          </a:prstGeom>
        </p:spPr>
      </p:pic>
      <p:sp>
        <p:nvSpPr>
          <p:cNvPr id="14" name="Shape 11"/>
          <p:cNvSpPr/>
          <p:nvPr/>
        </p:nvSpPr>
        <p:spPr>
          <a:xfrm>
            <a:off x="6967499" y="2180844"/>
            <a:ext cx="237744" cy="237744"/>
          </a:xfrm>
          <a:prstGeom prst="ellipse">
            <a:avLst/>
          </a:prstGeom>
          <a:solidFill>
            <a:srgbClr val="02717D"/>
          </a:solidFill>
          <a:ln/>
        </p:spPr>
      </p:sp>
      <p:pic>
        <p:nvPicPr>
          <p:cNvPr id="15" name="Image 1" descr="preencoded.png">    </p:cNvPr>
          <p:cNvPicPr>
            <a:picLocks noChangeAspect="1"/>
          </p:cNvPicPr>
          <p:nvPr/>
        </p:nvPicPr>
        <p:blipFill>
          <a:blip r:embed="rId2"/>
          <a:stretch>
            <a:fillRect/>
          </a:stretch>
        </p:blipFill>
        <p:spPr>
          <a:xfrm>
            <a:off x="7026935" y="2240280"/>
            <a:ext cx="118872" cy="118872"/>
          </a:xfrm>
          <a:prstGeom prst="rect">
            <a:avLst/>
          </a:prstGeom>
        </p:spPr>
      </p:pic>
      <p:sp>
        <p:nvSpPr>
          <p:cNvPr id="16" name="Shape 12"/>
          <p:cNvSpPr/>
          <p:nvPr/>
        </p:nvSpPr>
        <p:spPr>
          <a:xfrm>
            <a:off x="5514670" y="2180844"/>
            <a:ext cx="237744" cy="237744"/>
          </a:xfrm>
          <a:prstGeom prst="ellipse">
            <a:avLst/>
          </a:prstGeom>
          <a:solidFill>
            <a:srgbClr val="02717D"/>
          </a:solidFill>
          <a:ln/>
        </p:spPr>
      </p:sp>
      <p:pic>
        <p:nvPicPr>
          <p:cNvPr id="17" name="Image 2" descr="preencoded.png">    </p:cNvPr>
          <p:cNvPicPr>
            <a:picLocks noChangeAspect="1"/>
          </p:cNvPicPr>
          <p:nvPr/>
        </p:nvPicPr>
        <p:blipFill>
          <a:blip r:embed="rId3"/>
          <a:stretch>
            <a:fillRect/>
          </a:stretch>
        </p:blipFill>
        <p:spPr>
          <a:xfrm>
            <a:off x="5574106" y="2240280"/>
            <a:ext cx="118872" cy="118872"/>
          </a:xfrm>
          <a:prstGeom prst="rect">
            <a:avLst/>
          </a:prstGeom>
        </p:spPr>
      </p:pic>
      <p:sp>
        <p:nvSpPr>
          <p:cNvPr id="18" name="Shape 13"/>
          <p:cNvSpPr/>
          <p:nvPr/>
        </p:nvSpPr>
        <p:spPr>
          <a:xfrm>
            <a:off x="4061841" y="2180844"/>
            <a:ext cx="237744" cy="237744"/>
          </a:xfrm>
          <a:prstGeom prst="ellipse">
            <a:avLst/>
          </a:prstGeom>
          <a:solidFill>
            <a:srgbClr val="02717D"/>
          </a:solidFill>
          <a:ln/>
        </p:spPr>
      </p:sp>
      <p:pic>
        <p:nvPicPr>
          <p:cNvPr id="19" name="Image 3" descr="preencoded.png">    </p:cNvPr>
          <p:cNvPicPr>
            <a:picLocks noChangeAspect="1"/>
          </p:cNvPicPr>
          <p:nvPr/>
        </p:nvPicPr>
        <p:blipFill>
          <a:blip r:embed="rId4"/>
          <a:stretch>
            <a:fillRect/>
          </a:stretch>
        </p:blipFill>
        <p:spPr>
          <a:xfrm>
            <a:off x="4121277" y="2240280"/>
            <a:ext cx="118872" cy="118872"/>
          </a:xfrm>
          <a:prstGeom prst="rect">
            <a:avLst/>
          </a:prstGeom>
        </p:spPr>
      </p:pic>
      <p:sp>
        <p:nvSpPr>
          <p:cNvPr id="20" name="Shape 14"/>
          <p:cNvSpPr/>
          <p:nvPr/>
        </p:nvSpPr>
        <p:spPr>
          <a:xfrm>
            <a:off x="2609012" y="2180844"/>
            <a:ext cx="237744" cy="237744"/>
          </a:xfrm>
          <a:prstGeom prst="ellipse">
            <a:avLst/>
          </a:prstGeom>
          <a:solidFill>
            <a:srgbClr val="02717D"/>
          </a:solidFill>
          <a:ln/>
        </p:spPr>
      </p:sp>
      <p:pic>
        <p:nvPicPr>
          <p:cNvPr id="21" name="Image 4" descr="preencoded.png">    </p:cNvPr>
          <p:cNvPicPr>
            <a:picLocks noChangeAspect="1"/>
          </p:cNvPicPr>
          <p:nvPr/>
        </p:nvPicPr>
        <p:blipFill>
          <a:blip r:embed="rId5"/>
          <a:stretch>
            <a:fillRect/>
          </a:stretch>
        </p:blipFill>
        <p:spPr>
          <a:xfrm>
            <a:off x="2668448" y="2240280"/>
            <a:ext cx="118872" cy="118872"/>
          </a:xfrm>
          <a:prstGeom prst="rect">
            <a:avLst/>
          </a:prstGeom>
        </p:spPr>
      </p:pic>
      <p:sp>
        <p:nvSpPr>
          <p:cNvPr id="22" name="Shape 15"/>
          <p:cNvSpPr/>
          <p:nvPr/>
        </p:nvSpPr>
        <p:spPr>
          <a:xfrm>
            <a:off x="1156183" y="2180844"/>
            <a:ext cx="237744" cy="237744"/>
          </a:xfrm>
          <a:prstGeom prst="ellipse">
            <a:avLst/>
          </a:prstGeom>
          <a:solidFill>
            <a:srgbClr val="00A896"/>
          </a:solidFill>
          <a:ln/>
        </p:spPr>
      </p:sp>
      <p:pic>
        <p:nvPicPr>
          <p:cNvPr id="23" name="Image 5" descr="preencoded.png">    </p:cNvPr>
          <p:cNvPicPr>
            <a:picLocks noChangeAspect="1"/>
          </p:cNvPicPr>
          <p:nvPr/>
        </p:nvPicPr>
        <p:blipFill>
          <a:blip r:embed="rId6"/>
          <a:stretch>
            <a:fillRect/>
          </a:stretch>
        </p:blipFill>
        <p:spPr>
          <a:xfrm>
            <a:off x="1215619" y="2240280"/>
            <a:ext cx="118872" cy="118872"/>
          </a:xfrm>
          <a:prstGeom prst="rect">
            <a:avLst/>
          </a:prstGeom>
        </p:spPr>
      </p:pic>
      <p:sp>
        <p:nvSpPr>
          <p:cNvPr id="24" name="Shape 16"/>
          <p:cNvSpPr/>
          <p:nvPr/>
        </p:nvSpPr>
        <p:spPr>
          <a:xfrm>
            <a:off x="548640" y="2587752"/>
            <a:ext cx="11094415" cy="429768"/>
          </a:xfrm>
          <a:prstGeom prst="roundRect">
            <a:avLst>
              <a:gd name="adj" fmla="val 19149"/>
            </a:avLst>
          </a:prstGeom>
          <a:solidFill>
            <a:srgbClr val="ECF4F4"/>
          </a:solidFill>
          <a:ln/>
        </p:spPr>
      </p:sp>
      <p:sp>
        <p:nvSpPr>
          <p:cNvPr id="25" name="Text 17"/>
          <p:cNvSpPr txBox="1"/>
          <p:nvPr/>
        </p:nvSpPr>
        <p:spPr>
          <a:xfrm>
            <a:off x="9357055" y="258775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المدير</a:t>
            </a:r>
            <a:endParaRPr lang="en-US" sz="1250" dirty="0"/>
          </a:p>
        </p:txBody>
      </p:sp>
      <p:sp>
        <p:nvSpPr>
          <p:cNvPr id="26" name="Shape 18"/>
          <p:cNvSpPr/>
          <p:nvPr/>
        </p:nvSpPr>
        <p:spPr>
          <a:xfrm>
            <a:off x="8420329" y="2683764"/>
            <a:ext cx="237744" cy="237744"/>
          </a:xfrm>
          <a:prstGeom prst="ellipse">
            <a:avLst/>
          </a:prstGeom>
          <a:solidFill>
            <a:srgbClr val="02717D"/>
          </a:solidFill>
          <a:ln/>
        </p:spPr>
      </p:sp>
      <p:pic>
        <p:nvPicPr>
          <p:cNvPr id="27" name="Image 6" descr="preencoded.png">    </p:cNvPr>
          <p:cNvPicPr>
            <a:picLocks noChangeAspect="1"/>
          </p:cNvPicPr>
          <p:nvPr/>
        </p:nvPicPr>
        <p:blipFill>
          <a:blip r:embed="rId7"/>
          <a:stretch>
            <a:fillRect/>
          </a:stretch>
        </p:blipFill>
        <p:spPr>
          <a:xfrm>
            <a:off x="8479765" y="2743200"/>
            <a:ext cx="118872" cy="118872"/>
          </a:xfrm>
          <a:prstGeom prst="rect">
            <a:avLst/>
          </a:prstGeom>
        </p:spPr>
      </p:pic>
      <p:sp>
        <p:nvSpPr>
          <p:cNvPr id="28" name="Shape 19"/>
          <p:cNvSpPr/>
          <p:nvPr/>
        </p:nvSpPr>
        <p:spPr>
          <a:xfrm>
            <a:off x="6967499" y="2683764"/>
            <a:ext cx="237744" cy="237744"/>
          </a:xfrm>
          <a:prstGeom prst="ellipse">
            <a:avLst/>
          </a:prstGeom>
          <a:solidFill>
            <a:srgbClr val="02717D"/>
          </a:solidFill>
          <a:ln/>
        </p:spPr>
      </p:sp>
      <p:pic>
        <p:nvPicPr>
          <p:cNvPr id="29" name="Image 7" descr="preencoded.png">    </p:cNvPr>
          <p:cNvPicPr>
            <a:picLocks noChangeAspect="1"/>
          </p:cNvPicPr>
          <p:nvPr/>
        </p:nvPicPr>
        <p:blipFill>
          <a:blip r:embed="rId8"/>
          <a:stretch>
            <a:fillRect/>
          </a:stretch>
        </p:blipFill>
        <p:spPr>
          <a:xfrm>
            <a:off x="7026935" y="2743200"/>
            <a:ext cx="118872" cy="118872"/>
          </a:xfrm>
          <a:prstGeom prst="rect">
            <a:avLst/>
          </a:prstGeom>
        </p:spPr>
      </p:pic>
      <p:sp>
        <p:nvSpPr>
          <p:cNvPr id="30" name="Shape 20"/>
          <p:cNvSpPr/>
          <p:nvPr/>
        </p:nvSpPr>
        <p:spPr>
          <a:xfrm>
            <a:off x="5514670" y="2683764"/>
            <a:ext cx="237744" cy="237744"/>
          </a:xfrm>
          <a:prstGeom prst="ellipse">
            <a:avLst/>
          </a:prstGeom>
          <a:solidFill>
            <a:srgbClr val="02717D"/>
          </a:solidFill>
          <a:ln/>
        </p:spPr>
      </p:sp>
      <p:pic>
        <p:nvPicPr>
          <p:cNvPr id="31" name="Image 8" descr="preencoded.png">    </p:cNvPr>
          <p:cNvPicPr>
            <a:picLocks noChangeAspect="1"/>
          </p:cNvPicPr>
          <p:nvPr/>
        </p:nvPicPr>
        <p:blipFill>
          <a:blip r:embed="rId9"/>
          <a:stretch>
            <a:fillRect/>
          </a:stretch>
        </p:blipFill>
        <p:spPr>
          <a:xfrm>
            <a:off x="5574106" y="2743200"/>
            <a:ext cx="118872" cy="118872"/>
          </a:xfrm>
          <a:prstGeom prst="rect">
            <a:avLst/>
          </a:prstGeom>
        </p:spPr>
      </p:pic>
      <p:sp>
        <p:nvSpPr>
          <p:cNvPr id="32" name="Shape 21"/>
          <p:cNvSpPr/>
          <p:nvPr/>
        </p:nvSpPr>
        <p:spPr>
          <a:xfrm>
            <a:off x="4061841" y="2683764"/>
            <a:ext cx="237744" cy="237744"/>
          </a:xfrm>
          <a:prstGeom prst="ellipse">
            <a:avLst/>
          </a:prstGeom>
          <a:solidFill>
            <a:srgbClr val="02717D"/>
          </a:solidFill>
          <a:ln/>
        </p:spPr>
      </p:sp>
      <p:pic>
        <p:nvPicPr>
          <p:cNvPr id="33" name="Image 9" descr="preencoded.png">    </p:cNvPr>
          <p:cNvPicPr>
            <a:picLocks noChangeAspect="1"/>
          </p:cNvPicPr>
          <p:nvPr/>
        </p:nvPicPr>
        <p:blipFill>
          <a:blip r:embed="rId10"/>
          <a:stretch>
            <a:fillRect/>
          </a:stretch>
        </p:blipFill>
        <p:spPr>
          <a:xfrm>
            <a:off x="4121277" y="2743200"/>
            <a:ext cx="118872" cy="118872"/>
          </a:xfrm>
          <a:prstGeom prst="rect">
            <a:avLst/>
          </a:prstGeom>
        </p:spPr>
      </p:pic>
      <p:sp>
        <p:nvSpPr>
          <p:cNvPr id="34" name="Shape 22"/>
          <p:cNvSpPr/>
          <p:nvPr/>
        </p:nvSpPr>
        <p:spPr>
          <a:xfrm>
            <a:off x="2609012" y="2683764"/>
            <a:ext cx="237744" cy="237744"/>
          </a:xfrm>
          <a:prstGeom prst="ellipse">
            <a:avLst/>
          </a:prstGeom>
          <a:solidFill>
            <a:srgbClr val="02717D"/>
          </a:solidFill>
          <a:ln/>
        </p:spPr>
      </p:sp>
      <p:pic>
        <p:nvPicPr>
          <p:cNvPr id="35" name="Image 10" descr="preencoded.png">    </p:cNvPr>
          <p:cNvPicPr>
            <a:picLocks noChangeAspect="1"/>
          </p:cNvPicPr>
          <p:nvPr/>
        </p:nvPicPr>
        <p:blipFill>
          <a:blip r:embed="rId11"/>
          <a:stretch>
            <a:fillRect/>
          </a:stretch>
        </p:blipFill>
        <p:spPr>
          <a:xfrm>
            <a:off x="2668448" y="2743200"/>
            <a:ext cx="118872" cy="118872"/>
          </a:xfrm>
          <a:prstGeom prst="rect">
            <a:avLst/>
          </a:prstGeom>
        </p:spPr>
      </p:pic>
      <p:sp>
        <p:nvSpPr>
          <p:cNvPr id="36" name="Shape 23"/>
          <p:cNvSpPr/>
          <p:nvPr/>
        </p:nvSpPr>
        <p:spPr>
          <a:xfrm>
            <a:off x="1156183" y="2683764"/>
            <a:ext cx="237744" cy="237744"/>
          </a:xfrm>
          <a:prstGeom prst="ellipse">
            <a:avLst/>
          </a:prstGeom>
          <a:solidFill>
            <a:srgbClr val="00A896"/>
          </a:solidFill>
          <a:ln/>
        </p:spPr>
      </p:sp>
      <p:pic>
        <p:nvPicPr>
          <p:cNvPr id="37" name="Image 11" descr="preencoded.png">    </p:cNvPr>
          <p:cNvPicPr>
            <a:picLocks noChangeAspect="1"/>
          </p:cNvPicPr>
          <p:nvPr/>
        </p:nvPicPr>
        <p:blipFill>
          <a:blip r:embed="rId12"/>
          <a:stretch>
            <a:fillRect/>
          </a:stretch>
        </p:blipFill>
        <p:spPr>
          <a:xfrm>
            <a:off x="1215619" y="2743200"/>
            <a:ext cx="118872" cy="118872"/>
          </a:xfrm>
          <a:prstGeom prst="rect">
            <a:avLst/>
          </a:prstGeom>
        </p:spPr>
      </p:pic>
      <p:sp>
        <p:nvSpPr>
          <p:cNvPr id="38" name="Shape 24"/>
          <p:cNvSpPr/>
          <p:nvPr/>
        </p:nvSpPr>
        <p:spPr>
          <a:xfrm>
            <a:off x="548640" y="309067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39" name="Text 25"/>
          <p:cNvSpPr txBox="1"/>
          <p:nvPr/>
        </p:nvSpPr>
        <p:spPr>
          <a:xfrm>
            <a:off x="9357055" y="309067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موظف التسجيل</a:t>
            </a:r>
            <a:endParaRPr lang="en-US" sz="1250" dirty="0"/>
          </a:p>
        </p:txBody>
      </p:sp>
      <p:sp>
        <p:nvSpPr>
          <p:cNvPr id="40" name="Shape 26"/>
          <p:cNvSpPr/>
          <p:nvPr/>
        </p:nvSpPr>
        <p:spPr>
          <a:xfrm>
            <a:off x="8420329" y="3186684"/>
            <a:ext cx="237744" cy="237744"/>
          </a:xfrm>
          <a:prstGeom prst="ellipse">
            <a:avLst/>
          </a:prstGeom>
          <a:solidFill>
            <a:srgbClr val="02717D"/>
          </a:solidFill>
          <a:ln/>
        </p:spPr>
      </p:sp>
      <p:pic>
        <p:nvPicPr>
          <p:cNvPr id="41" name="Image 12" descr="preencoded.png">    </p:cNvPr>
          <p:cNvPicPr>
            <a:picLocks noChangeAspect="1"/>
          </p:cNvPicPr>
          <p:nvPr/>
        </p:nvPicPr>
        <p:blipFill>
          <a:blip r:embed="rId13"/>
          <a:stretch>
            <a:fillRect/>
          </a:stretch>
        </p:blipFill>
        <p:spPr>
          <a:xfrm>
            <a:off x="8479765" y="3246120"/>
            <a:ext cx="118872" cy="118872"/>
          </a:xfrm>
          <a:prstGeom prst="rect">
            <a:avLst/>
          </a:prstGeom>
        </p:spPr>
      </p:pic>
      <p:sp>
        <p:nvSpPr>
          <p:cNvPr id="42" name="Shape 27"/>
          <p:cNvSpPr/>
          <p:nvPr/>
        </p:nvSpPr>
        <p:spPr>
          <a:xfrm>
            <a:off x="7004075" y="3287268"/>
            <a:ext cx="164592" cy="45720"/>
          </a:xfrm>
          <a:prstGeom prst="roundRect">
            <a:avLst>
              <a:gd name="adj" fmla="val 40000"/>
            </a:avLst>
          </a:prstGeom>
          <a:solidFill>
            <a:srgbClr val="DCE6E7"/>
          </a:solidFill>
          <a:ln/>
        </p:spPr>
      </p:sp>
      <p:sp>
        <p:nvSpPr>
          <p:cNvPr id="43" name="Shape 28"/>
          <p:cNvSpPr/>
          <p:nvPr/>
        </p:nvSpPr>
        <p:spPr>
          <a:xfrm>
            <a:off x="5551246" y="3287268"/>
            <a:ext cx="164592" cy="45720"/>
          </a:xfrm>
          <a:prstGeom prst="roundRect">
            <a:avLst>
              <a:gd name="adj" fmla="val 40000"/>
            </a:avLst>
          </a:prstGeom>
          <a:solidFill>
            <a:srgbClr val="DCE6E7"/>
          </a:solidFill>
          <a:ln/>
        </p:spPr>
      </p:sp>
      <p:sp>
        <p:nvSpPr>
          <p:cNvPr id="44" name="Shape 29"/>
          <p:cNvSpPr/>
          <p:nvPr/>
        </p:nvSpPr>
        <p:spPr>
          <a:xfrm>
            <a:off x="4098417" y="3287268"/>
            <a:ext cx="164592" cy="45720"/>
          </a:xfrm>
          <a:prstGeom prst="roundRect">
            <a:avLst>
              <a:gd name="adj" fmla="val 40000"/>
            </a:avLst>
          </a:prstGeom>
          <a:solidFill>
            <a:srgbClr val="DCE6E7"/>
          </a:solidFill>
          <a:ln/>
        </p:spPr>
      </p:sp>
      <p:sp>
        <p:nvSpPr>
          <p:cNvPr id="45" name="Shape 30"/>
          <p:cNvSpPr/>
          <p:nvPr/>
        </p:nvSpPr>
        <p:spPr>
          <a:xfrm>
            <a:off x="2645588" y="3287268"/>
            <a:ext cx="164592" cy="45720"/>
          </a:xfrm>
          <a:prstGeom prst="roundRect">
            <a:avLst>
              <a:gd name="adj" fmla="val 40000"/>
            </a:avLst>
          </a:prstGeom>
          <a:solidFill>
            <a:srgbClr val="DCE6E7"/>
          </a:solidFill>
          <a:ln/>
        </p:spPr>
      </p:sp>
      <p:sp>
        <p:nvSpPr>
          <p:cNvPr id="46" name="Shape 31"/>
          <p:cNvSpPr/>
          <p:nvPr/>
        </p:nvSpPr>
        <p:spPr>
          <a:xfrm>
            <a:off x="1156183" y="3186684"/>
            <a:ext cx="237744" cy="237744"/>
          </a:xfrm>
          <a:prstGeom prst="ellipse">
            <a:avLst/>
          </a:prstGeom>
          <a:solidFill>
            <a:srgbClr val="00A896"/>
          </a:solidFill>
          <a:ln/>
        </p:spPr>
      </p:sp>
      <p:pic>
        <p:nvPicPr>
          <p:cNvPr id="47" name="Image 13" descr="preencoded.png">    </p:cNvPr>
          <p:cNvPicPr>
            <a:picLocks noChangeAspect="1"/>
          </p:cNvPicPr>
          <p:nvPr/>
        </p:nvPicPr>
        <p:blipFill>
          <a:blip r:embed="rId14"/>
          <a:stretch>
            <a:fillRect/>
          </a:stretch>
        </p:blipFill>
        <p:spPr>
          <a:xfrm>
            <a:off x="1215619" y="3246120"/>
            <a:ext cx="118872" cy="118872"/>
          </a:xfrm>
          <a:prstGeom prst="rect">
            <a:avLst/>
          </a:prstGeom>
        </p:spPr>
      </p:pic>
      <p:sp>
        <p:nvSpPr>
          <p:cNvPr id="48" name="Shape 32"/>
          <p:cNvSpPr/>
          <p:nvPr/>
        </p:nvSpPr>
        <p:spPr>
          <a:xfrm>
            <a:off x="548640" y="359359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49" name="Text 33"/>
          <p:cNvSpPr txBox="1"/>
          <p:nvPr/>
        </p:nvSpPr>
        <p:spPr>
          <a:xfrm>
            <a:off x="9357055" y="359359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موظف السكن</a:t>
            </a:r>
            <a:endParaRPr lang="en-US" sz="1250" dirty="0"/>
          </a:p>
        </p:txBody>
      </p:sp>
      <p:sp>
        <p:nvSpPr>
          <p:cNvPr id="50" name="Shape 34"/>
          <p:cNvSpPr/>
          <p:nvPr/>
        </p:nvSpPr>
        <p:spPr>
          <a:xfrm>
            <a:off x="8456905" y="3790188"/>
            <a:ext cx="164592" cy="45720"/>
          </a:xfrm>
          <a:prstGeom prst="roundRect">
            <a:avLst>
              <a:gd name="adj" fmla="val 40000"/>
            </a:avLst>
          </a:prstGeom>
          <a:solidFill>
            <a:srgbClr val="DCE6E7"/>
          </a:solidFill>
          <a:ln/>
        </p:spPr>
      </p:sp>
      <p:sp>
        <p:nvSpPr>
          <p:cNvPr id="51" name="Shape 35"/>
          <p:cNvSpPr/>
          <p:nvPr/>
        </p:nvSpPr>
        <p:spPr>
          <a:xfrm>
            <a:off x="6967499" y="3689604"/>
            <a:ext cx="237744" cy="237744"/>
          </a:xfrm>
          <a:prstGeom prst="ellipse">
            <a:avLst/>
          </a:prstGeom>
          <a:solidFill>
            <a:srgbClr val="02717D"/>
          </a:solidFill>
          <a:ln/>
        </p:spPr>
      </p:sp>
      <p:pic>
        <p:nvPicPr>
          <p:cNvPr id="52" name="Image 14" descr="preencoded.png">    </p:cNvPr>
          <p:cNvPicPr>
            <a:picLocks noChangeAspect="1"/>
          </p:cNvPicPr>
          <p:nvPr/>
        </p:nvPicPr>
        <p:blipFill>
          <a:blip r:embed="rId15"/>
          <a:stretch>
            <a:fillRect/>
          </a:stretch>
        </p:blipFill>
        <p:spPr>
          <a:xfrm>
            <a:off x="7026935" y="3749040"/>
            <a:ext cx="118872" cy="118872"/>
          </a:xfrm>
          <a:prstGeom prst="rect">
            <a:avLst/>
          </a:prstGeom>
        </p:spPr>
      </p:pic>
      <p:sp>
        <p:nvSpPr>
          <p:cNvPr id="53" name="Shape 36"/>
          <p:cNvSpPr/>
          <p:nvPr/>
        </p:nvSpPr>
        <p:spPr>
          <a:xfrm>
            <a:off x="5551246" y="3790188"/>
            <a:ext cx="164592" cy="45720"/>
          </a:xfrm>
          <a:prstGeom prst="roundRect">
            <a:avLst>
              <a:gd name="adj" fmla="val 40000"/>
            </a:avLst>
          </a:prstGeom>
          <a:solidFill>
            <a:srgbClr val="DCE6E7"/>
          </a:solidFill>
          <a:ln/>
        </p:spPr>
      </p:sp>
      <p:sp>
        <p:nvSpPr>
          <p:cNvPr id="54" name="Shape 37"/>
          <p:cNvSpPr/>
          <p:nvPr/>
        </p:nvSpPr>
        <p:spPr>
          <a:xfrm>
            <a:off x="4098417" y="3790188"/>
            <a:ext cx="164592" cy="45720"/>
          </a:xfrm>
          <a:prstGeom prst="roundRect">
            <a:avLst>
              <a:gd name="adj" fmla="val 40000"/>
            </a:avLst>
          </a:prstGeom>
          <a:solidFill>
            <a:srgbClr val="DCE6E7"/>
          </a:solidFill>
          <a:ln/>
        </p:spPr>
      </p:sp>
      <p:sp>
        <p:nvSpPr>
          <p:cNvPr id="55" name="Shape 38"/>
          <p:cNvSpPr/>
          <p:nvPr/>
        </p:nvSpPr>
        <p:spPr>
          <a:xfrm>
            <a:off x="2645588" y="3790188"/>
            <a:ext cx="164592" cy="45720"/>
          </a:xfrm>
          <a:prstGeom prst="roundRect">
            <a:avLst>
              <a:gd name="adj" fmla="val 40000"/>
            </a:avLst>
          </a:prstGeom>
          <a:solidFill>
            <a:srgbClr val="DCE6E7"/>
          </a:solidFill>
          <a:ln/>
        </p:spPr>
      </p:sp>
      <p:sp>
        <p:nvSpPr>
          <p:cNvPr id="56" name="Shape 39"/>
          <p:cNvSpPr/>
          <p:nvPr/>
        </p:nvSpPr>
        <p:spPr>
          <a:xfrm>
            <a:off x="1156183" y="3689604"/>
            <a:ext cx="237744" cy="237744"/>
          </a:xfrm>
          <a:prstGeom prst="ellipse">
            <a:avLst/>
          </a:prstGeom>
          <a:solidFill>
            <a:srgbClr val="00A896"/>
          </a:solidFill>
          <a:ln/>
        </p:spPr>
      </p:sp>
      <p:pic>
        <p:nvPicPr>
          <p:cNvPr id="57" name="Image 15" descr="preencoded.png">    </p:cNvPr>
          <p:cNvPicPr>
            <a:picLocks noChangeAspect="1"/>
          </p:cNvPicPr>
          <p:nvPr/>
        </p:nvPicPr>
        <p:blipFill>
          <a:blip r:embed="rId16"/>
          <a:stretch>
            <a:fillRect/>
          </a:stretch>
        </p:blipFill>
        <p:spPr>
          <a:xfrm>
            <a:off x="1215619" y="3749040"/>
            <a:ext cx="118872" cy="118872"/>
          </a:xfrm>
          <a:prstGeom prst="rect">
            <a:avLst/>
          </a:prstGeom>
        </p:spPr>
      </p:pic>
      <p:sp>
        <p:nvSpPr>
          <p:cNvPr id="58" name="Shape 40"/>
          <p:cNvSpPr/>
          <p:nvPr/>
        </p:nvSpPr>
        <p:spPr>
          <a:xfrm>
            <a:off x="548640" y="409651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59" name="Text 41"/>
          <p:cNvSpPr txBox="1"/>
          <p:nvPr/>
        </p:nvSpPr>
        <p:spPr>
          <a:xfrm>
            <a:off x="9357055" y="409651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موظف المساعدات</a:t>
            </a:r>
            <a:endParaRPr lang="en-US" sz="1250" dirty="0"/>
          </a:p>
        </p:txBody>
      </p:sp>
      <p:sp>
        <p:nvSpPr>
          <p:cNvPr id="60" name="Shape 42"/>
          <p:cNvSpPr/>
          <p:nvPr/>
        </p:nvSpPr>
        <p:spPr>
          <a:xfrm>
            <a:off x="8456905" y="4293108"/>
            <a:ext cx="164592" cy="45720"/>
          </a:xfrm>
          <a:prstGeom prst="roundRect">
            <a:avLst>
              <a:gd name="adj" fmla="val 40000"/>
            </a:avLst>
          </a:prstGeom>
          <a:solidFill>
            <a:srgbClr val="DCE6E7"/>
          </a:solidFill>
          <a:ln/>
        </p:spPr>
      </p:sp>
      <p:sp>
        <p:nvSpPr>
          <p:cNvPr id="61" name="Shape 43"/>
          <p:cNvSpPr/>
          <p:nvPr/>
        </p:nvSpPr>
        <p:spPr>
          <a:xfrm>
            <a:off x="7004075" y="4293108"/>
            <a:ext cx="164592" cy="45720"/>
          </a:xfrm>
          <a:prstGeom prst="roundRect">
            <a:avLst>
              <a:gd name="adj" fmla="val 40000"/>
            </a:avLst>
          </a:prstGeom>
          <a:solidFill>
            <a:srgbClr val="DCE6E7"/>
          </a:solidFill>
          <a:ln/>
        </p:spPr>
      </p:sp>
      <p:sp>
        <p:nvSpPr>
          <p:cNvPr id="62" name="Shape 44"/>
          <p:cNvSpPr/>
          <p:nvPr/>
        </p:nvSpPr>
        <p:spPr>
          <a:xfrm>
            <a:off x="5514670" y="4192524"/>
            <a:ext cx="237744" cy="237744"/>
          </a:xfrm>
          <a:prstGeom prst="ellipse">
            <a:avLst/>
          </a:prstGeom>
          <a:solidFill>
            <a:srgbClr val="02717D"/>
          </a:solidFill>
          <a:ln/>
        </p:spPr>
      </p:sp>
      <p:pic>
        <p:nvPicPr>
          <p:cNvPr id="63" name="Image 16" descr="preencoded.png">    </p:cNvPr>
          <p:cNvPicPr>
            <a:picLocks noChangeAspect="1"/>
          </p:cNvPicPr>
          <p:nvPr/>
        </p:nvPicPr>
        <p:blipFill>
          <a:blip r:embed="rId17"/>
          <a:stretch>
            <a:fillRect/>
          </a:stretch>
        </p:blipFill>
        <p:spPr>
          <a:xfrm>
            <a:off x="5574106" y="4251960"/>
            <a:ext cx="118872" cy="118872"/>
          </a:xfrm>
          <a:prstGeom prst="rect">
            <a:avLst/>
          </a:prstGeom>
        </p:spPr>
      </p:pic>
      <p:sp>
        <p:nvSpPr>
          <p:cNvPr id="64" name="Shape 45"/>
          <p:cNvSpPr/>
          <p:nvPr/>
        </p:nvSpPr>
        <p:spPr>
          <a:xfrm>
            <a:off x="4098417" y="4293108"/>
            <a:ext cx="164592" cy="45720"/>
          </a:xfrm>
          <a:prstGeom prst="roundRect">
            <a:avLst>
              <a:gd name="adj" fmla="val 40000"/>
            </a:avLst>
          </a:prstGeom>
          <a:solidFill>
            <a:srgbClr val="DCE6E7"/>
          </a:solidFill>
          <a:ln/>
        </p:spPr>
      </p:sp>
      <p:sp>
        <p:nvSpPr>
          <p:cNvPr id="65" name="Shape 46"/>
          <p:cNvSpPr/>
          <p:nvPr/>
        </p:nvSpPr>
        <p:spPr>
          <a:xfrm>
            <a:off x="2645588" y="4293108"/>
            <a:ext cx="164592" cy="45720"/>
          </a:xfrm>
          <a:prstGeom prst="roundRect">
            <a:avLst>
              <a:gd name="adj" fmla="val 40000"/>
            </a:avLst>
          </a:prstGeom>
          <a:solidFill>
            <a:srgbClr val="DCE6E7"/>
          </a:solidFill>
          <a:ln/>
        </p:spPr>
      </p:sp>
      <p:sp>
        <p:nvSpPr>
          <p:cNvPr id="66" name="Shape 47"/>
          <p:cNvSpPr/>
          <p:nvPr/>
        </p:nvSpPr>
        <p:spPr>
          <a:xfrm>
            <a:off x="1156183" y="4192524"/>
            <a:ext cx="237744" cy="237744"/>
          </a:xfrm>
          <a:prstGeom prst="ellipse">
            <a:avLst/>
          </a:prstGeom>
          <a:solidFill>
            <a:srgbClr val="00A896"/>
          </a:solidFill>
          <a:ln/>
        </p:spPr>
      </p:sp>
      <p:pic>
        <p:nvPicPr>
          <p:cNvPr id="67" name="Image 17" descr="preencoded.png">    </p:cNvPr>
          <p:cNvPicPr>
            <a:picLocks noChangeAspect="1"/>
          </p:cNvPicPr>
          <p:nvPr/>
        </p:nvPicPr>
        <p:blipFill>
          <a:blip r:embed="rId18"/>
          <a:stretch>
            <a:fillRect/>
          </a:stretch>
        </p:blipFill>
        <p:spPr>
          <a:xfrm>
            <a:off x="1215619" y="4251960"/>
            <a:ext cx="118872" cy="118872"/>
          </a:xfrm>
          <a:prstGeom prst="rect">
            <a:avLst/>
          </a:prstGeom>
        </p:spPr>
      </p:pic>
      <p:sp>
        <p:nvSpPr>
          <p:cNvPr id="68" name="Shape 48"/>
          <p:cNvSpPr/>
          <p:nvPr/>
        </p:nvSpPr>
        <p:spPr>
          <a:xfrm>
            <a:off x="548640" y="459943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69" name="Text 49"/>
          <p:cNvSpPr txBox="1"/>
          <p:nvPr/>
        </p:nvSpPr>
        <p:spPr>
          <a:xfrm>
            <a:off x="9357055" y="459943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الموظف الطبي</a:t>
            </a:r>
            <a:endParaRPr lang="en-US" sz="1250" dirty="0"/>
          </a:p>
        </p:txBody>
      </p:sp>
      <p:sp>
        <p:nvSpPr>
          <p:cNvPr id="70" name="Shape 50"/>
          <p:cNvSpPr/>
          <p:nvPr/>
        </p:nvSpPr>
        <p:spPr>
          <a:xfrm>
            <a:off x="8456905" y="4796028"/>
            <a:ext cx="164592" cy="45720"/>
          </a:xfrm>
          <a:prstGeom prst="roundRect">
            <a:avLst>
              <a:gd name="adj" fmla="val 40000"/>
            </a:avLst>
          </a:prstGeom>
          <a:solidFill>
            <a:srgbClr val="DCE6E7"/>
          </a:solidFill>
          <a:ln/>
        </p:spPr>
      </p:sp>
      <p:sp>
        <p:nvSpPr>
          <p:cNvPr id="71" name="Shape 51"/>
          <p:cNvSpPr/>
          <p:nvPr/>
        </p:nvSpPr>
        <p:spPr>
          <a:xfrm>
            <a:off x="7004075" y="4796028"/>
            <a:ext cx="164592" cy="45720"/>
          </a:xfrm>
          <a:prstGeom prst="roundRect">
            <a:avLst>
              <a:gd name="adj" fmla="val 40000"/>
            </a:avLst>
          </a:prstGeom>
          <a:solidFill>
            <a:srgbClr val="DCE6E7"/>
          </a:solidFill>
          <a:ln/>
        </p:spPr>
      </p:sp>
      <p:sp>
        <p:nvSpPr>
          <p:cNvPr id="72" name="Shape 52"/>
          <p:cNvSpPr/>
          <p:nvPr/>
        </p:nvSpPr>
        <p:spPr>
          <a:xfrm>
            <a:off x="5551246" y="4796028"/>
            <a:ext cx="164592" cy="45720"/>
          </a:xfrm>
          <a:prstGeom prst="roundRect">
            <a:avLst>
              <a:gd name="adj" fmla="val 40000"/>
            </a:avLst>
          </a:prstGeom>
          <a:solidFill>
            <a:srgbClr val="DCE6E7"/>
          </a:solidFill>
          <a:ln/>
        </p:spPr>
      </p:sp>
      <p:sp>
        <p:nvSpPr>
          <p:cNvPr id="73" name="Shape 53"/>
          <p:cNvSpPr/>
          <p:nvPr/>
        </p:nvSpPr>
        <p:spPr>
          <a:xfrm>
            <a:off x="4061841" y="4695444"/>
            <a:ext cx="237744" cy="237744"/>
          </a:xfrm>
          <a:prstGeom prst="ellipse">
            <a:avLst/>
          </a:prstGeom>
          <a:solidFill>
            <a:srgbClr val="02717D"/>
          </a:solidFill>
          <a:ln/>
        </p:spPr>
      </p:sp>
      <p:pic>
        <p:nvPicPr>
          <p:cNvPr id="74" name="Image 18" descr="preencoded.png">    </p:cNvPr>
          <p:cNvPicPr>
            <a:picLocks noChangeAspect="1"/>
          </p:cNvPicPr>
          <p:nvPr/>
        </p:nvPicPr>
        <p:blipFill>
          <a:blip r:embed="rId19"/>
          <a:stretch>
            <a:fillRect/>
          </a:stretch>
        </p:blipFill>
        <p:spPr>
          <a:xfrm>
            <a:off x="4121277" y="4754880"/>
            <a:ext cx="118872" cy="118872"/>
          </a:xfrm>
          <a:prstGeom prst="rect">
            <a:avLst/>
          </a:prstGeom>
        </p:spPr>
      </p:pic>
      <p:sp>
        <p:nvSpPr>
          <p:cNvPr id="75" name="Shape 54"/>
          <p:cNvSpPr/>
          <p:nvPr/>
        </p:nvSpPr>
        <p:spPr>
          <a:xfrm>
            <a:off x="2645588" y="4796028"/>
            <a:ext cx="164592" cy="45720"/>
          </a:xfrm>
          <a:prstGeom prst="roundRect">
            <a:avLst>
              <a:gd name="adj" fmla="val 40000"/>
            </a:avLst>
          </a:prstGeom>
          <a:solidFill>
            <a:srgbClr val="DCE6E7"/>
          </a:solidFill>
          <a:ln/>
        </p:spPr>
      </p:sp>
      <p:sp>
        <p:nvSpPr>
          <p:cNvPr id="76" name="Shape 55"/>
          <p:cNvSpPr/>
          <p:nvPr/>
        </p:nvSpPr>
        <p:spPr>
          <a:xfrm>
            <a:off x="1156183" y="4695444"/>
            <a:ext cx="237744" cy="237744"/>
          </a:xfrm>
          <a:prstGeom prst="ellipse">
            <a:avLst/>
          </a:prstGeom>
          <a:solidFill>
            <a:srgbClr val="00A896"/>
          </a:solidFill>
          <a:ln/>
        </p:spPr>
      </p:sp>
      <p:pic>
        <p:nvPicPr>
          <p:cNvPr id="77" name="Image 19" descr="preencoded.png">    </p:cNvPr>
          <p:cNvPicPr>
            <a:picLocks noChangeAspect="1"/>
          </p:cNvPicPr>
          <p:nvPr/>
        </p:nvPicPr>
        <p:blipFill>
          <a:blip r:embed="rId20"/>
          <a:stretch>
            <a:fillRect/>
          </a:stretch>
        </p:blipFill>
        <p:spPr>
          <a:xfrm>
            <a:off x="1215619" y="4754880"/>
            <a:ext cx="118872" cy="118872"/>
          </a:xfrm>
          <a:prstGeom prst="rect">
            <a:avLst/>
          </a:prstGeom>
        </p:spPr>
      </p:pic>
      <p:sp>
        <p:nvSpPr>
          <p:cNvPr id="78" name="Shape 56"/>
          <p:cNvSpPr/>
          <p:nvPr/>
        </p:nvSpPr>
        <p:spPr>
          <a:xfrm>
            <a:off x="548640" y="510235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79" name="Text 57"/>
          <p:cNvSpPr txBox="1"/>
          <p:nvPr/>
        </p:nvSpPr>
        <p:spPr>
          <a:xfrm>
            <a:off x="9357055" y="510235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ضابط الأمن</a:t>
            </a:r>
            <a:endParaRPr lang="en-US" sz="1250" dirty="0"/>
          </a:p>
        </p:txBody>
      </p:sp>
      <p:sp>
        <p:nvSpPr>
          <p:cNvPr id="80" name="Shape 58"/>
          <p:cNvSpPr/>
          <p:nvPr/>
        </p:nvSpPr>
        <p:spPr>
          <a:xfrm>
            <a:off x="8456905" y="5298948"/>
            <a:ext cx="164592" cy="45720"/>
          </a:xfrm>
          <a:prstGeom prst="roundRect">
            <a:avLst>
              <a:gd name="adj" fmla="val 40000"/>
            </a:avLst>
          </a:prstGeom>
          <a:solidFill>
            <a:srgbClr val="DCE6E7"/>
          </a:solidFill>
          <a:ln/>
        </p:spPr>
      </p:sp>
      <p:sp>
        <p:nvSpPr>
          <p:cNvPr id="81" name="Shape 59"/>
          <p:cNvSpPr/>
          <p:nvPr/>
        </p:nvSpPr>
        <p:spPr>
          <a:xfrm>
            <a:off x="7004075" y="5298948"/>
            <a:ext cx="164592" cy="45720"/>
          </a:xfrm>
          <a:prstGeom prst="roundRect">
            <a:avLst>
              <a:gd name="adj" fmla="val 40000"/>
            </a:avLst>
          </a:prstGeom>
          <a:solidFill>
            <a:srgbClr val="DCE6E7"/>
          </a:solidFill>
          <a:ln/>
        </p:spPr>
      </p:sp>
      <p:sp>
        <p:nvSpPr>
          <p:cNvPr id="82" name="Shape 60"/>
          <p:cNvSpPr/>
          <p:nvPr/>
        </p:nvSpPr>
        <p:spPr>
          <a:xfrm>
            <a:off x="5551246" y="5298948"/>
            <a:ext cx="164592" cy="45720"/>
          </a:xfrm>
          <a:prstGeom prst="roundRect">
            <a:avLst>
              <a:gd name="adj" fmla="val 40000"/>
            </a:avLst>
          </a:prstGeom>
          <a:solidFill>
            <a:srgbClr val="DCE6E7"/>
          </a:solidFill>
          <a:ln/>
        </p:spPr>
      </p:sp>
      <p:sp>
        <p:nvSpPr>
          <p:cNvPr id="83" name="Shape 61"/>
          <p:cNvSpPr/>
          <p:nvPr/>
        </p:nvSpPr>
        <p:spPr>
          <a:xfrm>
            <a:off x="4098417" y="5298948"/>
            <a:ext cx="164592" cy="45720"/>
          </a:xfrm>
          <a:prstGeom prst="roundRect">
            <a:avLst>
              <a:gd name="adj" fmla="val 40000"/>
            </a:avLst>
          </a:prstGeom>
          <a:solidFill>
            <a:srgbClr val="DCE6E7"/>
          </a:solidFill>
          <a:ln/>
        </p:spPr>
      </p:sp>
      <p:sp>
        <p:nvSpPr>
          <p:cNvPr id="84" name="Shape 62"/>
          <p:cNvSpPr/>
          <p:nvPr/>
        </p:nvSpPr>
        <p:spPr>
          <a:xfrm>
            <a:off x="2609012" y="5198364"/>
            <a:ext cx="237744" cy="237744"/>
          </a:xfrm>
          <a:prstGeom prst="ellipse">
            <a:avLst/>
          </a:prstGeom>
          <a:solidFill>
            <a:srgbClr val="02717D"/>
          </a:solidFill>
          <a:ln/>
        </p:spPr>
      </p:sp>
      <p:pic>
        <p:nvPicPr>
          <p:cNvPr id="85" name="Image 20" descr="preencoded.png">    </p:cNvPr>
          <p:cNvPicPr>
            <a:picLocks noChangeAspect="1"/>
          </p:cNvPicPr>
          <p:nvPr/>
        </p:nvPicPr>
        <p:blipFill>
          <a:blip r:embed="rId21"/>
          <a:stretch>
            <a:fillRect/>
          </a:stretch>
        </p:blipFill>
        <p:spPr>
          <a:xfrm>
            <a:off x="2668448" y="5257800"/>
            <a:ext cx="118872" cy="118872"/>
          </a:xfrm>
          <a:prstGeom prst="rect">
            <a:avLst/>
          </a:prstGeom>
        </p:spPr>
      </p:pic>
      <p:sp>
        <p:nvSpPr>
          <p:cNvPr id="86" name="Shape 63"/>
          <p:cNvSpPr/>
          <p:nvPr/>
        </p:nvSpPr>
        <p:spPr>
          <a:xfrm>
            <a:off x="1156183" y="5198364"/>
            <a:ext cx="237744" cy="237744"/>
          </a:xfrm>
          <a:prstGeom prst="ellipse">
            <a:avLst/>
          </a:prstGeom>
          <a:solidFill>
            <a:srgbClr val="00A896"/>
          </a:solidFill>
          <a:ln/>
        </p:spPr>
      </p:sp>
      <p:pic>
        <p:nvPicPr>
          <p:cNvPr id="87" name="Image 21" descr="preencoded.png">    </p:cNvPr>
          <p:cNvPicPr>
            <a:picLocks noChangeAspect="1"/>
          </p:cNvPicPr>
          <p:nvPr/>
        </p:nvPicPr>
        <p:blipFill>
          <a:blip r:embed="rId22"/>
          <a:stretch>
            <a:fillRect/>
          </a:stretch>
        </p:blipFill>
        <p:spPr>
          <a:xfrm>
            <a:off x="1215619" y="5257800"/>
            <a:ext cx="118872" cy="118872"/>
          </a:xfrm>
          <a:prstGeom prst="rect">
            <a:avLst/>
          </a:prstGeom>
        </p:spPr>
      </p:pic>
      <p:sp>
        <p:nvSpPr>
          <p:cNvPr id="88" name="Shape 64"/>
          <p:cNvSpPr/>
          <p:nvPr/>
        </p:nvSpPr>
        <p:spPr>
          <a:xfrm>
            <a:off x="548640" y="5751576"/>
            <a:ext cx="11094415" cy="713232"/>
          </a:xfrm>
          <a:prstGeom prst="roundRect">
            <a:avLst>
              <a:gd name="adj" fmla="val 11538"/>
            </a:avLst>
          </a:prstGeom>
          <a:solidFill>
            <a:srgbClr val="0A2E36"/>
          </a:solidFill>
          <a:ln/>
        </p:spPr>
      </p:sp>
      <p:sp>
        <p:nvSpPr>
          <p:cNvPr id="89" name="Text 65"/>
          <p:cNvSpPr txBox="1"/>
          <p:nvPr/>
        </p:nvSpPr>
        <p:spPr>
          <a:xfrm>
            <a:off x="822960" y="5751576"/>
            <a:ext cx="10545775" cy="713232"/>
          </a:xfrm>
          <a:prstGeom prst="rect">
            <a:avLst/>
          </a:prstGeom>
          <a:noFill/>
          <a:ln/>
        </p:spPr>
        <p:txBody>
          <a:bodyPr wrap="square" lIns="0" tIns="0" rIns="0" bIns="0" rtlCol="0" anchor="ctr"/>
          <a:lstStyle/>
          <a:p>
            <a:pPr rtl="1" algn="ctr" indent="0" marL="0">
              <a:buNone/>
            </a:pPr>
            <a:r>
              <a:rPr lang="en-US" sz="1200" dirty="0">
                <a:solidFill>
                  <a:srgbClr val="BFD4D7"/>
                </a:solidFill>
                <a:latin typeface="Arial" pitchFamily="34" charset="0"/>
                <a:ea typeface="Arial" pitchFamily="34" charset="-122"/>
                <a:cs typeface="Arial" pitchFamily="34" charset="-120"/>
              </a:rPr>
              <a:t>الخريطة نفسها تحكم الشاشات والمساعد الذكي معًا — نسخة واحدة في الكود، فلا يصبح المساعد بابًا خلفيًا للبيانات</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لوحة التحكم</a:t>
            </a:r>
            <a:endParaRPr lang="en-US" sz="3300" dirty="0"/>
          </a:p>
        </p:txBody>
      </p:sp>
      <p:sp>
        <p:nvSpPr>
          <p:cNvPr id="4" name="Shape 2"/>
          <p:cNvSpPr/>
          <p:nvPr/>
        </p:nvSpPr>
        <p:spPr>
          <a:xfrm>
            <a:off x="493776" y="1517904"/>
            <a:ext cx="7180783" cy="4655406"/>
          </a:xfrm>
          <a:prstGeom prst="roundRect">
            <a:avLst>
              <a:gd name="adj" fmla="val 1768"/>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dashboard.png">    </p:cNvPr>
          <p:cNvPicPr>
            <a:picLocks noChangeAspect="1"/>
          </p:cNvPicPr>
          <p:nvPr/>
        </p:nvPicPr>
        <p:blipFill>
          <a:blip r:embed="rId1"/>
          <a:stretch>
            <a:fillRect/>
          </a:stretch>
        </p:blipFill>
        <p:spPr>
          <a:xfrm>
            <a:off x="548640" y="1572768"/>
            <a:ext cx="7071055" cy="4545678"/>
          </a:xfrm>
          <a:prstGeom prst="rect">
            <a:avLst/>
          </a:prstGeom>
        </p:spPr>
      </p:pic>
      <p:sp>
        <p:nvSpPr>
          <p:cNvPr id="6" name="Text 3"/>
          <p:cNvSpPr txBox="1"/>
          <p:nvPr/>
        </p:nvSpPr>
        <p:spPr>
          <a:xfrm>
            <a:off x="8031175" y="1572768"/>
            <a:ext cx="3611880" cy="640080"/>
          </a:xfrm>
          <a:prstGeom prst="rect">
            <a:avLst/>
          </a:prstGeom>
          <a:noFill/>
          <a:ln/>
        </p:spPr>
        <p:txBody>
          <a:bodyPr wrap="square" lIns="0" tIns="0" rIns="0" bIns="0" rtlCol="0" anchor="ctr"/>
          <a:lstStyle/>
          <a:p>
            <a:pPr rtl="1" algn="r" indent="0" marL="0">
              <a:lnSpc>
                <a:spcPts val="1700"/>
              </a:lnSpc>
              <a:buNone/>
            </a:pPr>
            <a:r>
              <a:rPr lang="en-US" sz="1250" b="1" dirty="0">
                <a:solidFill>
                  <a:srgbClr val="02717D"/>
                </a:solidFill>
                <a:latin typeface="Arial" pitchFamily="34" charset="0"/>
                <a:ea typeface="Arial" pitchFamily="34" charset="-122"/>
                <a:cs typeface="Arial" pitchFamily="34" charset="-120"/>
              </a:rPr>
              <a:t>أول ما يراه الموظف بعد الدخول: حالة المخيمات في شاشة واحدة.</a:t>
            </a:r>
            <a:endParaRPr lang="en-US" sz="1250" dirty="0"/>
          </a:p>
        </p:txBody>
      </p:sp>
      <p:sp>
        <p:nvSpPr>
          <p:cNvPr id="7" name="Shape 4"/>
          <p:cNvSpPr/>
          <p:nvPr/>
        </p:nvSpPr>
        <p:spPr>
          <a:xfrm>
            <a:off x="8031175" y="2331720"/>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11185855" y="2478024"/>
            <a:ext cx="237744" cy="237744"/>
          </a:xfrm>
          <a:prstGeom prst="ellipse">
            <a:avLst/>
          </a:prstGeom>
          <a:solidFill>
            <a:srgbClr val="02717D"/>
          </a:solidFill>
          <a:ln/>
        </p:spPr>
      </p:sp>
      <p:sp>
        <p:nvSpPr>
          <p:cNvPr id="9" name="Text 6"/>
          <p:cNvSpPr txBox="1"/>
          <p:nvPr/>
        </p:nvSpPr>
        <p:spPr>
          <a:xfrm>
            <a:off x="8232343" y="2441448"/>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بطاقات المؤشرات</a:t>
            </a:r>
            <a:endParaRPr lang="en-US" sz="1250" dirty="0"/>
          </a:p>
        </p:txBody>
      </p:sp>
      <p:sp>
        <p:nvSpPr>
          <p:cNvPr id="10" name="Text 7"/>
          <p:cNvSpPr txBox="1"/>
          <p:nvPr/>
        </p:nvSpPr>
        <p:spPr>
          <a:xfrm>
            <a:off x="8232343" y="2715768"/>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السكان، الأسر، الإشغال، الوحدات الفارغة، بدون سكن، المساعدات، والحالات الأمنية</a:t>
            </a:r>
            <a:endParaRPr lang="en-US" sz="1050" dirty="0"/>
          </a:p>
        </p:txBody>
      </p:sp>
      <p:sp>
        <p:nvSpPr>
          <p:cNvPr id="11" name="Shape 8"/>
          <p:cNvSpPr/>
          <p:nvPr/>
        </p:nvSpPr>
        <p:spPr>
          <a:xfrm>
            <a:off x="8031175" y="3355848"/>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11185855" y="3502152"/>
            <a:ext cx="237744" cy="237744"/>
          </a:xfrm>
          <a:prstGeom prst="ellipse">
            <a:avLst/>
          </a:prstGeom>
          <a:solidFill>
            <a:srgbClr val="02717D"/>
          </a:solidFill>
          <a:ln/>
        </p:spPr>
      </p:sp>
      <p:sp>
        <p:nvSpPr>
          <p:cNvPr id="13" name="Text 10"/>
          <p:cNvSpPr txBox="1"/>
          <p:nvPr/>
        </p:nvSpPr>
        <p:spPr>
          <a:xfrm>
            <a:off x="8232343" y="3465576"/>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مخطط الإشغال</a:t>
            </a:r>
            <a:endParaRPr lang="en-US" sz="1250" dirty="0"/>
          </a:p>
        </p:txBody>
      </p:sp>
      <p:sp>
        <p:nvSpPr>
          <p:cNvPr id="14" name="Text 11"/>
          <p:cNvSpPr txBox="1"/>
          <p:nvPr/>
        </p:nvSpPr>
        <p:spPr>
          <a:xfrm>
            <a:off x="8232343" y="3739896"/>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نسبة الإشغال في كل مخيم، مع تبويبات للسكان والحركة والطبي والأمن</a:t>
            </a:r>
            <a:endParaRPr lang="en-US" sz="1050" dirty="0"/>
          </a:p>
        </p:txBody>
      </p:sp>
      <p:sp>
        <p:nvSpPr>
          <p:cNvPr id="15" name="Shape 12"/>
          <p:cNvSpPr/>
          <p:nvPr/>
        </p:nvSpPr>
        <p:spPr>
          <a:xfrm>
            <a:off x="8031175" y="4379976"/>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6" name="Shape 13"/>
          <p:cNvSpPr/>
          <p:nvPr/>
        </p:nvSpPr>
        <p:spPr>
          <a:xfrm>
            <a:off x="11185855" y="4526280"/>
            <a:ext cx="237744" cy="237744"/>
          </a:xfrm>
          <a:prstGeom prst="ellipse">
            <a:avLst/>
          </a:prstGeom>
          <a:solidFill>
            <a:srgbClr val="E9A13B"/>
          </a:solidFill>
          <a:ln/>
        </p:spPr>
      </p:sp>
      <p:sp>
        <p:nvSpPr>
          <p:cNvPr id="17" name="Text 14"/>
          <p:cNvSpPr txBox="1"/>
          <p:nvPr/>
        </p:nvSpPr>
        <p:spPr>
          <a:xfrm>
            <a:off x="8232343" y="4489704"/>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إجراءات سريعة</a:t>
            </a:r>
            <a:endParaRPr lang="en-US" sz="1250" dirty="0"/>
          </a:p>
        </p:txBody>
      </p:sp>
      <p:sp>
        <p:nvSpPr>
          <p:cNvPr id="18" name="Text 15"/>
          <p:cNvSpPr txBox="1"/>
          <p:nvPr/>
        </p:nvSpPr>
        <p:spPr>
          <a:xfrm>
            <a:off x="8232343" y="4764024"/>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أكثر ما يُستخدم يوميًا في مكان واحد: إضافة لاجئ، تخصيص سكن، سجل طبي</a:t>
            </a:r>
            <a:endParaRPr lang="en-US" sz="1050" dirty="0"/>
          </a:p>
        </p:txBody>
      </p:sp>
      <p:sp>
        <p:nvSpPr>
          <p:cNvPr id="19" name="Shape 16"/>
          <p:cNvSpPr/>
          <p:nvPr/>
        </p:nvSpPr>
        <p:spPr>
          <a:xfrm>
            <a:off x="8031175" y="5541264"/>
            <a:ext cx="3611880" cy="749808"/>
          </a:xfrm>
          <a:prstGeom prst="roundRect">
            <a:avLst>
              <a:gd name="adj" fmla="val 10976"/>
            </a:avLst>
          </a:prstGeom>
          <a:solidFill>
            <a:srgbClr val="0A2E36"/>
          </a:solidFill>
          <a:ln/>
        </p:spPr>
      </p:sp>
      <p:sp>
        <p:nvSpPr>
          <p:cNvPr id="20" name="Text 17"/>
          <p:cNvSpPr txBox="1"/>
          <p:nvPr/>
        </p:nvSpPr>
        <p:spPr>
          <a:xfrm>
            <a:off x="8232343" y="5541264"/>
            <a:ext cx="3209544" cy="749808"/>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كل بطاقة مُفلترة بدور المستخدم: ما لا يخصّه لا يُعرض له أصلًا.</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قائمة اللاجئين والبحث</a:t>
            </a:r>
            <a:endParaRPr lang="en-US" sz="3300" dirty="0"/>
          </a:p>
        </p:txBody>
      </p:sp>
      <p:sp>
        <p:nvSpPr>
          <p:cNvPr id="4" name="Shape 2"/>
          <p:cNvSpPr/>
          <p:nvPr/>
        </p:nvSpPr>
        <p:spPr>
          <a:xfrm>
            <a:off x="493776" y="1517904"/>
            <a:ext cx="7180783" cy="4655406"/>
          </a:xfrm>
          <a:prstGeom prst="roundRect">
            <a:avLst>
              <a:gd name="adj" fmla="val 1768"/>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refugees_index.png">    </p:cNvPr>
          <p:cNvPicPr>
            <a:picLocks noChangeAspect="1"/>
          </p:cNvPicPr>
          <p:nvPr/>
        </p:nvPicPr>
        <p:blipFill>
          <a:blip r:embed="rId1"/>
          <a:stretch>
            <a:fillRect/>
          </a:stretch>
        </p:blipFill>
        <p:spPr>
          <a:xfrm>
            <a:off x="548640" y="1572768"/>
            <a:ext cx="7071055" cy="4545678"/>
          </a:xfrm>
          <a:prstGeom prst="rect">
            <a:avLst/>
          </a:prstGeom>
        </p:spPr>
      </p:pic>
      <p:sp>
        <p:nvSpPr>
          <p:cNvPr id="6" name="Text 3"/>
          <p:cNvSpPr txBox="1"/>
          <p:nvPr/>
        </p:nvSpPr>
        <p:spPr>
          <a:xfrm>
            <a:off x="8031175" y="1572768"/>
            <a:ext cx="3611880" cy="640080"/>
          </a:xfrm>
          <a:prstGeom prst="rect">
            <a:avLst/>
          </a:prstGeom>
          <a:noFill/>
          <a:ln/>
        </p:spPr>
        <p:txBody>
          <a:bodyPr wrap="square" lIns="0" tIns="0" rIns="0" bIns="0" rtlCol="0" anchor="ctr"/>
          <a:lstStyle/>
          <a:p>
            <a:pPr rtl="1" algn="r" indent="0" marL="0">
              <a:lnSpc>
                <a:spcPts val="1700"/>
              </a:lnSpc>
              <a:buNone/>
            </a:pPr>
            <a:r>
              <a:rPr lang="en-US" sz="1250" b="1" dirty="0">
                <a:solidFill>
                  <a:srgbClr val="02717D"/>
                </a:solidFill>
                <a:latin typeface="Arial" pitchFamily="34" charset="0"/>
                <a:ea typeface="Arial" pitchFamily="34" charset="-122"/>
                <a:cs typeface="Arial" pitchFamily="34" charset="-120"/>
              </a:rPr>
              <a:t>ألفا سجل، والوصول إلى أي واحد منها في ثوانٍ.</a:t>
            </a:r>
            <a:endParaRPr lang="en-US" sz="1250" dirty="0"/>
          </a:p>
        </p:txBody>
      </p:sp>
      <p:sp>
        <p:nvSpPr>
          <p:cNvPr id="7" name="Shape 4"/>
          <p:cNvSpPr/>
          <p:nvPr/>
        </p:nvSpPr>
        <p:spPr>
          <a:xfrm>
            <a:off x="8031175" y="2331720"/>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11185855" y="2478024"/>
            <a:ext cx="237744" cy="237744"/>
          </a:xfrm>
          <a:prstGeom prst="ellipse">
            <a:avLst/>
          </a:prstGeom>
          <a:solidFill>
            <a:srgbClr val="02717D"/>
          </a:solidFill>
          <a:ln/>
        </p:spPr>
      </p:sp>
      <p:sp>
        <p:nvSpPr>
          <p:cNvPr id="9" name="Text 6"/>
          <p:cNvSpPr txBox="1"/>
          <p:nvPr/>
        </p:nvSpPr>
        <p:spPr>
          <a:xfrm>
            <a:off x="8232343" y="2441448"/>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بحث واحد لعدة حقول</a:t>
            </a:r>
            <a:endParaRPr lang="en-US" sz="1250" dirty="0"/>
          </a:p>
        </p:txBody>
      </p:sp>
      <p:sp>
        <p:nvSpPr>
          <p:cNvPr id="10" name="Text 7"/>
          <p:cNvSpPr txBox="1"/>
          <p:nvPr/>
        </p:nvSpPr>
        <p:spPr>
          <a:xfrm>
            <a:off x="8232343" y="2715768"/>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الاسم أو رقم الوثيقة أو الهاتف أو رمز البطاقة في خانة واحدة</a:t>
            </a:r>
            <a:endParaRPr lang="en-US" sz="1050" dirty="0"/>
          </a:p>
        </p:txBody>
      </p:sp>
      <p:sp>
        <p:nvSpPr>
          <p:cNvPr id="11" name="Shape 8"/>
          <p:cNvSpPr/>
          <p:nvPr/>
        </p:nvSpPr>
        <p:spPr>
          <a:xfrm>
            <a:off x="8031175" y="3355848"/>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11185855" y="3502152"/>
            <a:ext cx="237744" cy="237744"/>
          </a:xfrm>
          <a:prstGeom prst="ellipse">
            <a:avLst/>
          </a:prstGeom>
          <a:solidFill>
            <a:srgbClr val="02717D"/>
          </a:solidFill>
          <a:ln/>
        </p:spPr>
      </p:sp>
      <p:sp>
        <p:nvSpPr>
          <p:cNvPr id="13" name="Text 10"/>
          <p:cNvSpPr txBox="1"/>
          <p:nvPr/>
        </p:nvSpPr>
        <p:spPr>
          <a:xfrm>
            <a:off x="8232343" y="3465576"/>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فلترة متقدمة</a:t>
            </a:r>
            <a:endParaRPr lang="en-US" sz="1250" dirty="0"/>
          </a:p>
        </p:txBody>
      </p:sp>
      <p:sp>
        <p:nvSpPr>
          <p:cNvPr id="14" name="Text 11"/>
          <p:cNvSpPr txBox="1"/>
          <p:nvPr/>
        </p:nvSpPr>
        <p:spPr>
          <a:xfrm>
            <a:off x="8232343" y="3739896"/>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حسب المخيم وحالة السكن والوجود والفئة العمرية والجنس</a:t>
            </a:r>
            <a:endParaRPr lang="en-US" sz="1050" dirty="0"/>
          </a:p>
        </p:txBody>
      </p:sp>
      <p:sp>
        <p:nvSpPr>
          <p:cNvPr id="15" name="Shape 12"/>
          <p:cNvSpPr/>
          <p:nvPr/>
        </p:nvSpPr>
        <p:spPr>
          <a:xfrm>
            <a:off x="8031175" y="4379976"/>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6" name="Shape 13"/>
          <p:cNvSpPr/>
          <p:nvPr/>
        </p:nvSpPr>
        <p:spPr>
          <a:xfrm>
            <a:off x="11185855" y="4526280"/>
            <a:ext cx="237744" cy="237744"/>
          </a:xfrm>
          <a:prstGeom prst="ellipse">
            <a:avLst/>
          </a:prstGeom>
          <a:solidFill>
            <a:srgbClr val="E9A13B"/>
          </a:solidFill>
          <a:ln/>
        </p:spPr>
      </p:sp>
      <p:sp>
        <p:nvSpPr>
          <p:cNvPr id="17" name="Text 14"/>
          <p:cNvSpPr txBox="1"/>
          <p:nvPr/>
        </p:nvSpPr>
        <p:spPr>
          <a:xfrm>
            <a:off x="8232343" y="4489704"/>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البحث العربي متسامح</a:t>
            </a:r>
            <a:endParaRPr lang="en-US" sz="1250" dirty="0"/>
          </a:p>
        </p:txBody>
      </p:sp>
      <p:sp>
        <p:nvSpPr>
          <p:cNvPr id="18" name="Text 15"/>
          <p:cNvSpPr txBox="1"/>
          <p:nvPr/>
        </p:nvSpPr>
        <p:spPr>
          <a:xfrm>
            <a:off x="8232343" y="4764024"/>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«احمد» تجد «أحمد»، لأن الطرفين يمرّان بالتطبيع نفسه</a:t>
            </a:r>
            <a:endParaRPr lang="en-US" sz="1050" dirty="0"/>
          </a:p>
        </p:txBody>
      </p:sp>
      <p:sp>
        <p:nvSpPr>
          <p:cNvPr id="19" name="Shape 16"/>
          <p:cNvSpPr/>
          <p:nvPr/>
        </p:nvSpPr>
        <p:spPr>
          <a:xfrm>
            <a:off x="8031175" y="5541264"/>
            <a:ext cx="3611880" cy="749808"/>
          </a:xfrm>
          <a:prstGeom prst="roundRect">
            <a:avLst>
              <a:gd name="adj" fmla="val 10976"/>
            </a:avLst>
          </a:prstGeom>
          <a:solidFill>
            <a:srgbClr val="0A2E36"/>
          </a:solidFill>
          <a:ln/>
        </p:spPr>
      </p:sp>
      <p:sp>
        <p:nvSpPr>
          <p:cNvPr id="20" name="Text 17"/>
          <p:cNvSpPr txBox="1"/>
          <p:nvPr/>
        </p:nvSpPr>
        <p:spPr>
          <a:xfrm>
            <a:off x="8232343" y="5541264"/>
            <a:ext cx="3209544" cy="749808"/>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الجدول يقرأ من عمود بحث مُعالَج مسبقًا، فالمطابقة عملية واحدة لا معالجة نص عند كل استعلام.</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تسجيل لاجئ جديد</a:t>
            </a:r>
            <a:endParaRPr lang="en-US" sz="3300" dirty="0"/>
          </a:p>
        </p:txBody>
      </p:sp>
      <p:sp>
        <p:nvSpPr>
          <p:cNvPr id="4" name="Shape 2"/>
          <p:cNvSpPr/>
          <p:nvPr/>
        </p:nvSpPr>
        <p:spPr>
          <a:xfrm>
            <a:off x="493776" y="1517904"/>
            <a:ext cx="7180783" cy="4655406"/>
          </a:xfrm>
          <a:prstGeom prst="roundRect">
            <a:avLst>
              <a:gd name="adj" fmla="val 1768"/>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refugee_create.png">    </p:cNvPr>
          <p:cNvPicPr>
            <a:picLocks noChangeAspect="1"/>
          </p:cNvPicPr>
          <p:nvPr/>
        </p:nvPicPr>
        <p:blipFill>
          <a:blip r:embed="rId1"/>
          <a:stretch>
            <a:fillRect/>
          </a:stretch>
        </p:blipFill>
        <p:spPr>
          <a:xfrm>
            <a:off x="548640" y="1572768"/>
            <a:ext cx="7071055" cy="4545678"/>
          </a:xfrm>
          <a:prstGeom prst="rect">
            <a:avLst/>
          </a:prstGeom>
        </p:spPr>
      </p:pic>
      <p:sp>
        <p:nvSpPr>
          <p:cNvPr id="6" name="Text 3"/>
          <p:cNvSpPr txBox="1"/>
          <p:nvPr/>
        </p:nvSpPr>
        <p:spPr>
          <a:xfrm>
            <a:off x="8031175" y="1572768"/>
            <a:ext cx="3611880" cy="640080"/>
          </a:xfrm>
          <a:prstGeom prst="rect">
            <a:avLst/>
          </a:prstGeom>
          <a:noFill/>
          <a:ln/>
        </p:spPr>
        <p:txBody>
          <a:bodyPr wrap="square" lIns="0" tIns="0" rIns="0" bIns="0" rtlCol="0" anchor="ctr"/>
          <a:lstStyle/>
          <a:p>
            <a:pPr rtl="1" algn="r" indent="0" marL="0">
              <a:lnSpc>
                <a:spcPts val="1700"/>
              </a:lnSpc>
              <a:buNone/>
            </a:pPr>
            <a:r>
              <a:rPr lang="en-US" sz="1250" b="1" dirty="0">
                <a:solidFill>
                  <a:srgbClr val="02717D"/>
                </a:solidFill>
                <a:latin typeface="Arial" pitchFamily="34" charset="0"/>
                <a:ea typeface="Arial" pitchFamily="34" charset="-122"/>
                <a:cs typeface="Arial" pitchFamily="34" charset="-120"/>
              </a:rPr>
              <a:t>الشاشة الأكثر استخدامًا، ومنها تبدأ كل بيانات النظام.</a:t>
            </a:r>
            <a:endParaRPr lang="en-US" sz="1250" dirty="0"/>
          </a:p>
        </p:txBody>
      </p:sp>
      <p:sp>
        <p:nvSpPr>
          <p:cNvPr id="7" name="Shape 4"/>
          <p:cNvSpPr/>
          <p:nvPr/>
        </p:nvSpPr>
        <p:spPr>
          <a:xfrm>
            <a:off x="8031175" y="2331720"/>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11185855" y="2478024"/>
            <a:ext cx="237744" cy="237744"/>
          </a:xfrm>
          <a:prstGeom prst="ellipse">
            <a:avLst/>
          </a:prstGeom>
          <a:solidFill>
            <a:srgbClr val="02717D"/>
          </a:solidFill>
          <a:ln/>
        </p:spPr>
      </p:sp>
      <p:sp>
        <p:nvSpPr>
          <p:cNvPr id="9" name="Text 6"/>
          <p:cNvSpPr txBox="1"/>
          <p:nvPr/>
        </p:nvSpPr>
        <p:spPr>
          <a:xfrm>
            <a:off x="8232343" y="2441448"/>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ثلاثة أقسام واضحة</a:t>
            </a:r>
            <a:endParaRPr lang="en-US" sz="1250" dirty="0"/>
          </a:p>
        </p:txBody>
      </p:sp>
      <p:sp>
        <p:nvSpPr>
          <p:cNvPr id="10" name="Text 7"/>
          <p:cNvSpPr txBox="1"/>
          <p:nvPr/>
        </p:nvSpPr>
        <p:spPr>
          <a:xfrm>
            <a:off x="8232343" y="2715768"/>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البيانات الشخصية، ثم السكن والإقامة، ثم الملاحظات والمراجعة</a:t>
            </a:r>
            <a:endParaRPr lang="en-US" sz="1050" dirty="0"/>
          </a:p>
        </p:txBody>
      </p:sp>
      <p:sp>
        <p:nvSpPr>
          <p:cNvPr id="11" name="Shape 8"/>
          <p:cNvSpPr/>
          <p:nvPr/>
        </p:nvSpPr>
        <p:spPr>
          <a:xfrm>
            <a:off x="8031175" y="3355848"/>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11185855" y="3502152"/>
            <a:ext cx="237744" cy="237744"/>
          </a:xfrm>
          <a:prstGeom prst="ellipse">
            <a:avLst/>
          </a:prstGeom>
          <a:solidFill>
            <a:srgbClr val="02717D"/>
          </a:solidFill>
          <a:ln/>
        </p:spPr>
      </p:sp>
      <p:sp>
        <p:nvSpPr>
          <p:cNvPr id="13" name="Text 10"/>
          <p:cNvSpPr txBox="1"/>
          <p:nvPr/>
        </p:nvSpPr>
        <p:spPr>
          <a:xfrm>
            <a:off x="8232343" y="3465576"/>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الوحدات تتبع المخيم</a:t>
            </a:r>
            <a:endParaRPr lang="en-US" sz="1250" dirty="0"/>
          </a:p>
        </p:txBody>
      </p:sp>
      <p:sp>
        <p:nvSpPr>
          <p:cNvPr id="14" name="Text 11"/>
          <p:cNvSpPr txBox="1"/>
          <p:nvPr/>
        </p:nvSpPr>
        <p:spPr>
          <a:xfrm>
            <a:off x="8232343" y="3739896"/>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اختيار المخيم يعيد تحميل قائمة الوحدات المتاحة فيه وحدها</a:t>
            </a:r>
            <a:endParaRPr lang="en-US" sz="1050" dirty="0"/>
          </a:p>
        </p:txBody>
      </p:sp>
      <p:sp>
        <p:nvSpPr>
          <p:cNvPr id="15" name="Shape 12"/>
          <p:cNvSpPr/>
          <p:nvPr/>
        </p:nvSpPr>
        <p:spPr>
          <a:xfrm>
            <a:off x="8031175" y="4379976"/>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6" name="Shape 13"/>
          <p:cNvSpPr/>
          <p:nvPr/>
        </p:nvSpPr>
        <p:spPr>
          <a:xfrm>
            <a:off x="11185855" y="4526280"/>
            <a:ext cx="237744" cy="237744"/>
          </a:xfrm>
          <a:prstGeom prst="ellipse">
            <a:avLst/>
          </a:prstGeom>
          <a:solidFill>
            <a:srgbClr val="E9A13B"/>
          </a:solidFill>
          <a:ln/>
        </p:spPr>
      </p:sp>
      <p:sp>
        <p:nvSpPr>
          <p:cNvPr id="17" name="Text 14"/>
          <p:cNvSpPr txBox="1"/>
          <p:nvPr/>
        </p:nvSpPr>
        <p:spPr>
          <a:xfrm>
            <a:off x="8232343" y="4489704"/>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التحقق قبل الحفظ</a:t>
            </a:r>
            <a:endParaRPr lang="en-US" sz="1250" dirty="0"/>
          </a:p>
        </p:txBody>
      </p:sp>
      <p:sp>
        <p:nvSpPr>
          <p:cNvPr id="18" name="Text 15"/>
          <p:cNvSpPr txBox="1"/>
          <p:nvPr/>
        </p:nvSpPr>
        <p:spPr>
          <a:xfrm>
            <a:off x="8232343" y="4764024"/>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رقم الوثيقة فريد، وتاريخ الميلاد لا يقبل تاريخًا مستقبليًا</a:t>
            </a:r>
            <a:endParaRPr lang="en-US" sz="1050" dirty="0"/>
          </a:p>
        </p:txBody>
      </p:sp>
      <p:sp>
        <p:nvSpPr>
          <p:cNvPr id="19" name="Shape 16"/>
          <p:cNvSpPr/>
          <p:nvPr/>
        </p:nvSpPr>
        <p:spPr>
          <a:xfrm>
            <a:off x="8031175" y="5541264"/>
            <a:ext cx="3611880" cy="749808"/>
          </a:xfrm>
          <a:prstGeom prst="roundRect">
            <a:avLst>
              <a:gd name="adj" fmla="val 10976"/>
            </a:avLst>
          </a:prstGeom>
          <a:solidFill>
            <a:srgbClr val="0A2E36"/>
          </a:solidFill>
          <a:ln/>
        </p:spPr>
      </p:sp>
      <p:sp>
        <p:nvSpPr>
          <p:cNvPr id="20" name="Text 17"/>
          <p:cNvSpPr txBox="1"/>
          <p:nvPr/>
        </p:nvSpPr>
        <p:spPr>
          <a:xfrm>
            <a:off x="8232343" y="5541264"/>
            <a:ext cx="3209544" cy="749808"/>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المخيم مطلوب والسكن اختياري: يُسجَّل الشخص فورًا، ويُخصَّص له سكن حين يتوفر.</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ملف اللاجئ وبطاقة التعريف</a:t>
            </a:r>
            <a:endParaRPr lang="en-US" sz="3300" dirty="0"/>
          </a:p>
        </p:txBody>
      </p:sp>
      <p:sp>
        <p:nvSpPr>
          <p:cNvPr id="4" name="Shape 2"/>
          <p:cNvSpPr/>
          <p:nvPr/>
        </p:nvSpPr>
        <p:spPr>
          <a:xfrm>
            <a:off x="1575511" y="1517904"/>
            <a:ext cx="6144768" cy="3989397"/>
          </a:xfrm>
          <a:prstGeom prst="roundRect">
            <a:avLst>
              <a:gd name="adj" fmla="val 2063"/>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refugee_show.png">    </p:cNvPr>
          <p:cNvPicPr>
            <a:picLocks noChangeAspect="1"/>
          </p:cNvPicPr>
          <p:nvPr/>
        </p:nvPicPr>
        <p:blipFill>
          <a:blip r:embed="rId1"/>
          <a:stretch>
            <a:fillRect/>
          </a:stretch>
        </p:blipFill>
        <p:spPr>
          <a:xfrm>
            <a:off x="1630375" y="1572768"/>
            <a:ext cx="6035040" cy="3879669"/>
          </a:xfrm>
          <a:prstGeom prst="rect">
            <a:avLst/>
          </a:prstGeom>
        </p:spPr>
      </p:pic>
      <p:sp>
        <p:nvSpPr>
          <p:cNvPr id="6" name="Shape 3"/>
          <p:cNvSpPr/>
          <p:nvPr/>
        </p:nvSpPr>
        <p:spPr>
          <a:xfrm>
            <a:off x="8067751" y="1517904"/>
            <a:ext cx="3127248" cy="4080149"/>
          </a:xfrm>
          <a:prstGeom prst="roundRect">
            <a:avLst>
              <a:gd name="adj" fmla="val 2632"/>
            </a:avLst>
          </a:prstGeom>
          <a:solidFill>
            <a:srgbClr val="FFFFFF"/>
          </a:solidFill>
          <a:ln/>
          <a:effectLst>
            <a:outerShdw sx="100000" sy="100000" kx="0" ky="0" algn="bl" rotWithShape="0" blurRad="127000" dist="25400" dir="5400000">
              <a:srgbClr val="0A2E36">
                <a:alpha val="10000"/>
              </a:srgbClr>
            </a:outerShdw>
          </a:effectLst>
        </p:spPr>
      </p:sp>
      <p:pic>
        <p:nvPicPr>
          <p:cNvPr id="7" name="Image 1" descr="/home/user/Camp_management/docs/screenshots/refugee_card_crop.png">    </p:cNvPr>
          <p:cNvPicPr>
            <a:picLocks noChangeAspect="1"/>
          </p:cNvPicPr>
          <p:nvPr/>
        </p:nvPicPr>
        <p:blipFill>
          <a:blip r:embed="rId2"/>
          <a:stretch>
            <a:fillRect/>
          </a:stretch>
        </p:blipFill>
        <p:spPr>
          <a:xfrm>
            <a:off x="8122615" y="1572768"/>
            <a:ext cx="3017520" cy="3970421"/>
          </a:xfrm>
          <a:prstGeom prst="rect">
            <a:avLst/>
          </a:prstGeom>
        </p:spPr>
      </p:pic>
      <p:sp>
        <p:nvSpPr>
          <p:cNvPr id="8" name="Text 4"/>
          <p:cNvSpPr txBox="1"/>
          <p:nvPr/>
        </p:nvSpPr>
        <p:spPr>
          <a:xfrm>
            <a:off x="1630375" y="5559552"/>
            <a:ext cx="6035040" cy="274320"/>
          </a:xfrm>
          <a:prstGeom prst="rect">
            <a:avLst/>
          </a:prstGeom>
          <a:noFill/>
          <a:ln/>
        </p:spPr>
        <p:txBody>
          <a:bodyPr wrap="square" lIns="0" tIns="0" rIns="0" bIns="0" rtlCol="0" anchor="ctr"/>
          <a:lstStyle/>
          <a:p>
            <a:pPr rtl="1" algn="r" indent="0" marL="0">
              <a:buNone/>
            </a:pPr>
            <a:r>
              <a:rPr lang="en-US" sz="1200" b="1" dirty="0">
                <a:solidFill>
                  <a:srgbClr val="02717D"/>
                </a:solidFill>
                <a:latin typeface="Arial" pitchFamily="34" charset="0"/>
                <a:ea typeface="Arial" pitchFamily="34" charset="-122"/>
                <a:cs typeface="Arial" pitchFamily="34" charset="-120"/>
              </a:rPr>
              <a:t>ملف واحد يجمع كل ما يخص الشخص</a:t>
            </a:r>
            <a:endParaRPr lang="en-US" sz="1200" dirty="0"/>
          </a:p>
        </p:txBody>
      </p:sp>
      <p:sp>
        <p:nvSpPr>
          <p:cNvPr id="9" name="Text 5"/>
          <p:cNvSpPr txBox="1"/>
          <p:nvPr/>
        </p:nvSpPr>
        <p:spPr>
          <a:xfrm>
            <a:off x="1630375" y="5852160"/>
            <a:ext cx="6035040" cy="274320"/>
          </a:xfrm>
          <a:prstGeom prst="rect">
            <a:avLst/>
          </a:prstGeom>
          <a:noFill/>
          <a:ln/>
        </p:spPr>
        <p:txBody>
          <a:bodyPr wrap="square" lIns="0" tIns="0" rIns="0" bIns="0" rtlCol="0" anchor="ctr"/>
          <a:lstStyle/>
          <a:p>
            <a:pPr rtl="1" algn="r" indent="0" marL="0">
              <a:buNone/>
            </a:pPr>
            <a:r>
              <a:rPr lang="en-US" sz="1050" dirty="0">
                <a:solidFill>
                  <a:srgbClr val="5C7378"/>
                </a:solidFill>
                <a:latin typeface="Arial" pitchFamily="34" charset="0"/>
                <a:ea typeface="Arial" pitchFamily="34" charset="-122"/>
                <a:cs typeface="Arial" pitchFamily="34" charset="-120"/>
              </a:rPr>
              <a:t>البيانات الأساسية، السكن الحالي، الأسرة، المرفقات، والسجل الطبي والأمني</a:t>
            </a:r>
            <a:endParaRPr lang="en-US" sz="1050" dirty="0"/>
          </a:p>
        </p:txBody>
      </p:sp>
      <p:sp>
        <p:nvSpPr>
          <p:cNvPr id="10" name="Text 6"/>
          <p:cNvSpPr txBox="1"/>
          <p:nvPr/>
        </p:nvSpPr>
        <p:spPr>
          <a:xfrm>
            <a:off x="8122615" y="5559552"/>
            <a:ext cx="3474720" cy="274320"/>
          </a:xfrm>
          <a:prstGeom prst="rect">
            <a:avLst/>
          </a:prstGeom>
          <a:noFill/>
          <a:ln/>
        </p:spPr>
        <p:txBody>
          <a:bodyPr wrap="square" lIns="0" tIns="0" rIns="0" bIns="0" rtlCol="0" anchor="ctr"/>
          <a:lstStyle/>
          <a:p>
            <a:pPr rtl="1" algn="r" indent="0" marL="0">
              <a:buNone/>
            </a:pPr>
            <a:r>
              <a:rPr lang="en-US" sz="1200" b="1" dirty="0">
                <a:solidFill>
                  <a:srgbClr val="E9A13B"/>
                </a:solidFill>
                <a:latin typeface="Arial" pitchFamily="34" charset="0"/>
                <a:ea typeface="Arial" pitchFamily="34" charset="-122"/>
                <a:cs typeface="Arial" pitchFamily="34" charset="-120"/>
              </a:rPr>
              <a:t>بطاقة تعريف بباركود</a:t>
            </a:r>
            <a:endParaRPr lang="en-US" sz="1200" dirty="0"/>
          </a:p>
        </p:txBody>
      </p:sp>
      <p:sp>
        <p:nvSpPr>
          <p:cNvPr id="11" name="Text 7"/>
          <p:cNvSpPr txBox="1"/>
          <p:nvPr/>
        </p:nvSpPr>
        <p:spPr>
          <a:xfrm>
            <a:off x="8122615" y="5852160"/>
            <a:ext cx="3474720" cy="274320"/>
          </a:xfrm>
          <a:prstGeom prst="rect">
            <a:avLst/>
          </a:prstGeom>
          <a:noFill/>
          <a:ln/>
        </p:spPr>
        <p:txBody>
          <a:bodyPr wrap="square" lIns="0" tIns="0" rIns="0" bIns="0" rtlCol="0" anchor="ctr"/>
          <a:lstStyle/>
          <a:p>
            <a:pPr rtl="1" algn="r" indent="0" marL="0">
              <a:buNone/>
            </a:pPr>
            <a:r>
              <a:rPr lang="en-US" sz="1050" dirty="0">
                <a:solidFill>
                  <a:srgbClr val="5C7378"/>
                </a:solidFill>
                <a:latin typeface="Arial" pitchFamily="34" charset="0"/>
                <a:ea typeface="Arial" pitchFamily="34" charset="-122"/>
                <a:cs typeface="Arial" pitchFamily="34" charset="-120"/>
              </a:rPr>
              <a:t>مولّد ⁦Code128⁩ مكتوب داخل المشروع دون مكتبة خارجية</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الأسر والروابط العائلية</a:t>
            </a:r>
            <a:endParaRPr lang="en-US" sz="3300" dirty="0"/>
          </a:p>
        </p:txBody>
      </p:sp>
      <p:sp>
        <p:nvSpPr>
          <p:cNvPr id="4" name="Shape 2"/>
          <p:cNvSpPr/>
          <p:nvPr/>
        </p:nvSpPr>
        <p:spPr>
          <a:xfrm>
            <a:off x="493776" y="1517904"/>
            <a:ext cx="7180783" cy="4655406"/>
          </a:xfrm>
          <a:prstGeom prst="roundRect">
            <a:avLst>
              <a:gd name="adj" fmla="val 1768"/>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households.png">    </p:cNvPr>
          <p:cNvPicPr>
            <a:picLocks noChangeAspect="1"/>
          </p:cNvPicPr>
          <p:nvPr/>
        </p:nvPicPr>
        <p:blipFill>
          <a:blip r:embed="rId1"/>
          <a:stretch>
            <a:fillRect/>
          </a:stretch>
        </p:blipFill>
        <p:spPr>
          <a:xfrm>
            <a:off x="548640" y="1572768"/>
            <a:ext cx="7071055" cy="4545678"/>
          </a:xfrm>
          <a:prstGeom prst="rect">
            <a:avLst/>
          </a:prstGeom>
        </p:spPr>
      </p:pic>
      <p:sp>
        <p:nvSpPr>
          <p:cNvPr id="6" name="Text 3"/>
          <p:cNvSpPr txBox="1"/>
          <p:nvPr/>
        </p:nvSpPr>
        <p:spPr>
          <a:xfrm>
            <a:off x="8031175" y="1572768"/>
            <a:ext cx="3611880" cy="640080"/>
          </a:xfrm>
          <a:prstGeom prst="rect">
            <a:avLst/>
          </a:prstGeom>
          <a:noFill/>
          <a:ln/>
        </p:spPr>
        <p:txBody>
          <a:bodyPr wrap="square" lIns="0" tIns="0" rIns="0" bIns="0" rtlCol="0" anchor="ctr"/>
          <a:lstStyle/>
          <a:p>
            <a:pPr rtl="1" algn="r" indent="0" marL="0">
              <a:lnSpc>
                <a:spcPts val="1700"/>
              </a:lnSpc>
              <a:buNone/>
            </a:pPr>
            <a:r>
              <a:rPr lang="en-US" sz="1250" b="1" dirty="0">
                <a:solidFill>
                  <a:srgbClr val="02717D"/>
                </a:solidFill>
                <a:latin typeface="Arial" pitchFamily="34" charset="0"/>
                <a:ea typeface="Arial" pitchFamily="34" charset="-122"/>
                <a:cs typeface="Arial" pitchFamily="34" charset="-120"/>
              </a:rPr>
              <a:t>الأسرة وحدة قائمة بذاتها، لا مجرد حقل في ملف الفرد.</a:t>
            </a:r>
            <a:endParaRPr lang="en-US" sz="1250" dirty="0"/>
          </a:p>
        </p:txBody>
      </p:sp>
      <p:sp>
        <p:nvSpPr>
          <p:cNvPr id="7" name="Shape 4"/>
          <p:cNvSpPr/>
          <p:nvPr/>
        </p:nvSpPr>
        <p:spPr>
          <a:xfrm>
            <a:off x="8031175" y="2331720"/>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11185855" y="2478024"/>
            <a:ext cx="237744" cy="237744"/>
          </a:xfrm>
          <a:prstGeom prst="ellipse">
            <a:avLst/>
          </a:prstGeom>
          <a:solidFill>
            <a:srgbClr val="02717D"/>
          </a:solidFill>
          <a:ln/>
        </p:spPr>
      </p:sp>
      <p:sp>
        <p:nvSpPr>
          <p:cNvPr id="9" name="Text 6"/>
          <p:cNvSpPr txBox="1"/>
          <p:nvPr/>
        </p:nvSpPr>
        <p:spPr>
          <a:xfrm>
            <a:off x="8232343" y="2441448"/>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رمز أسرة فريد</a:t>
            </a:r>
            <a:endParaRPr lang="en-US" sz="1250" dirty="0"/>
          </a:p>
        </p:txBody>
      </p:sp>
      <p:sp>
        <p:nvSpPr>
          <p:cNvPr id="10" name="Text 7"/>
          <p:cNvSpPr txBox="1"/>
          <p:nvPr/>
        </p:nvSpPr>
        <p:spPr>
          <a:xfrm>
            <a:off x="8232343" y="2715768"/>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لكل أسرة رمز ورب أسرة، ولكل فرد صلة قرابة به</a:t>
            </a:r>
            <a:endParaRPr lang="en-US" sz="1050" dirty="0"/>
          </a:p>
        </p:txBody>
      </p:sp>
      <p:sp>
        <p:nvSpPr>
          <p:cNvPr id="11" name="Shape 8"/>
          <p:cNvSpPr/>
          <p:nvPr/>
        </p:nvSpPr>
        <p:spPr>
          <a:xfrm>
            <a:off x="8031175" y="3355848"/>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11185855" y="3502152"/>
            <a:ext cx="237744" cy="237744"/>
          </a:xfrm>
          <a:prstGeom prst="ellipse">
            <a:avLst/>
          </a:prstGeom>
          <a:solidFill>
            <a:srgbClr val="02717D"/>
          </a:solidFill>
          <a:ln/>
        </p:spPr>
      </p:sp>
      <p:sp>
        <p:nvSpPr>
          <p:cNvPr id="13" name="Text 10"/>
          <p:cNvSpPr txBox="1"/>
          <p:nvPr/>
        </p:nvSpPr>
        <p:spPr>
          <a:xfrm>
            <a:off x="8232343" y="3465576"/>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نقل الأسرة دفعة واحدة</a:t>
            </a:r>
            <a:endParaRPr lang="en-US" sz="1250" dirty="0"/>
          </a:p>
        </p:txBody>
      </p:sp>
      <p:sp>
        <p:nvSpPr>
          <p:cNvPr id="14" name="Text 11"/>
          <p:cNvSpPr txBox="1"/>
          <p:nvPr/>
        </p:nvSpPr>
        <p:spPr>
          <a:xfrm>
            <a:off x="8232343" y="3739896"/>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تُنقل الأسرة كاملة إلى وحدة أخرى بعملية واحدة تحترم السعة</a:t>
            </a:r>
            <a:endParaRPr lang="en-US" sz="1050" dirty="0"/>
          </a:p>
        </p:txBody>
      </p:sp>
      <p:sp>
        <p:nvSpPr>
          <p:cNvPr id="15" name="Shape 12"/>
          <p:cNvSpPr/>
          <p:nvPr/>
        </p:nvSpPr>
        <p:spPr>
          <a:xfrm>
            <a:off x="8031175" y="4379976"/>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6" name="Shape 13"/>
          <p:cNvSpPr/>
          <p:nvPr/>
        </p:nvSpPr>
        <p:spPr>
          <a:xfrm>
            <a:off x="11185855" y="4526280"/>
            <a:ext cx="237744" cy="237744"/>
          </a:xfrm>
          <a:prstGeom prst="ellipse">
            <a:avLst/>
          </a:prstGeom>
          <a:solidFill>
            <a:srgbClr val="E9A13B"/>
          </a:solidFill>
          <a:ln/>
        </p:spPr>
      </p:sp>
      <p:sp>
        <p:nvSpPr>
          <p:cNvPr id="17" name="Text 14"/>
          <p:cNvSpPr txBox="1"/>
          <p:nvPr/>
        </p:nvSpPr>
        <p:spPr>
          <a:xfrm>
            <a:off x="8232343" y="4489704"/>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المساعدات على مستوى الأسرة</a:t>
            </a:r>
            <a:endParaRPr lang="en-US" sz="1250" dirty="0"/>
          </a:p>
        </p:txBody>
      </p:sp>
      <p:sp>
        <p:nvSpPr>
          <p:cNvPr id="18" name="Text 15"/>
          <p:cNvSpPr txBox="1"/>
          <p:nvPr/>
        </p:nvSpPr>
        <p:spPr>
          <a:xfrm>
            <a:off x="8232343" y="4764024"/>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ما يصل الأسرة يُحسب لأفرادها عند السؤال عن أي منهم</a:t>
            </a:r>
            <a:endParaRPr lang="en-US" sz="1050" dirty="0"/>
          </a:p>
        </p:txBody>
      </p:sp>
      <p:sp>
        <p:nvSpPr>
          <p:cNvPr id="19" name="Shape 16"/>
          <p:cNvSpPr/>
          <p:nvPr/>
        </p:nvSpPr>
        <p:spPr>
          <a:xfrm>
            <a:off x="8031175" y="5541264"/>
            <a:ext cx="3611880" cy="749808"/>
          </a:xfrm>
          <a:prstGeom prst="roundRect">
            <a:avLst>
              <a:gd name="adj" fmla="val 10976"/>
            </a:avLst>
          </a:prstGeom>
          <a:solidFill>
            <a:srgbClr val="0A2E36"/>
          </a:solidFill>
          <a:ln/>
        </p:spPr>
      </p:sp>
      <p:sp>
        <p:nvSpPr>
          <p:cNvPr id="20" name="Text 17"/>
          <p:cNvSpPr txBox="1"/>
          <p:nvPr/>
        </p:nvSpPr>
        <p:spPr>
          <a:xfrm>
            <a:off x="8232343" y="5541264"/>
            <a:ext cx="3209544" cy="749808"/>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فصل الأسرة عن الفرد هو ما يجعل سؤال «ماذا استلمت هذه الأسرة؟» قابلًا للإجابة.</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تسجيل حالة طبية</a:t>
            </a:r>
            <a:endParaRPr lang="en-US" sz="3300" dirty="0"/>
          </a:p>
        </p:txBody>
      </p:sp>
      <p:sp>
        <p:nvSpPr>
          <p:cNvPr id="4" name="Shape 2"/>
          <p:cNvSpPr/>
          <p:nvPr/>
        </p:nvSpPr>
        <p:spPr>
          <a:xfrm>
            <a:off x="493776" y="2013280"/>
            <a:ext cx="7180783" cy="3645256"/>
          </a:xfrm>
          <a:prstGeom prst="roundRect">
            <a:avLst>
              <a:gd name="adj" fmla="val 2258"/>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medical_create.png">    </p:cNvPr>
          <p:cNvPicPr>
            <a:picLocks noChangeAspect="1"/>
          </p:cNvPicPr>
          <p:nvPr/>
        </p:nvPicPr>
        <p:blipFill>
          <a:blip r:embed="rId1"/>
          <a:stretch>
            <a:fillRect/>
          </a:stretch>
        </p:blipFill>
        <p:spPr>
          <a:xfrm>
            <a:off x="548640" y="2068144"/>
            <a:ext cx="7071055" cy="3535528"/>
          </a:xfrm>
          <a:prstGeom prst="rect">
            <a:avLst/>
          </a:prstGeom>
        </p:spPr>
      </p:pic>
      <p:sp>
        <p:nvSpPr>
          <p:cNvPr id="6" name="Text 3"/>
          <p:cNvSpPr txBox="1"/>
          <p:nvPr/>
        </p:nvSpPr>
        <p:spPr>
          <a:xfrm>
            <a:off x="8031175" y="1572768"/>
            <a:ext cx="3611880" cy="640080"/>
          </a:xfrm>
          <a:prstGeom prst="rect">
            <a:avLst/>
          </a:prstGeom>
          <a:noFill/>
          <a:ln/>
        </p:spPr>
        <p:txBody>
          <a:bodyPr wrap="square" lIns="0" tIns="0" rIns="0" bIns="0" rtlCol="0" anchor="ctr"/>
          <a:lstStyle/>
          <a:p>
            <a:pPr rtl="1" algn="r" indent="0" marL="0">
              <a:lnSpc>
                <a:spcPts val="1700"/>
              </a:lnSpc>
              <a:buNone/>
            </a:pPr>
            <a:r>
              <a:rPr lang="en-US" sz="1250" b="1" dirty="0">
                <a:solidFill>
                  <a:srgbClr val="02717D"/>
                </a:solidFill>
                <a:latin typeface="Arial" pitchFamily="34" charset="0"/>
                <a:ea typeface="Arial" pitchFamily="34" charset="-122"/>
                <a:cs typeface="Arial" pitchFamily="34" charset="-120"/>
              </a:rPr>
              <a:t>السجل الطبي مربوط بالشخص لا بالاسم المكتوب.</a:t>
            </a:r>
            <a:endParaRPr lang="en-US" sz="1250" dirty="0"/>
          </a:p>
        </p:txBody>
      </p:sp>
      <p:sp>
        <p:nvSpPr>
          <p:cNvPr id="7" name="Shape 4"/>
          <p:cNvSpPr/>
          <p:nvPr/>
        </p:nvSpPr>
        <p:spPr>
          <a:xfrm>
            <a:off x="8031175" y="2331720"/>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11185855" y="2478024"/>
            <a:ext cx="237744" cy="237744"/>
          </a:xfrm>
          <a:prstGeom prst="ellipse">
            <a:avLst/>
          </a:prstGeom>
          <a:solidFill>
            <a:srgbClr val="02717D"/>
          </a:solidFill>
          <a:ln/>
        </p:spPr>
      </p:sp>
      <p:sp>
        <p:nvSpPr>
          <p:cNvPr id="9" name="Text 6"/>
          <p:cNvSpPr txBox="1"/>
          <p:nvPr/>
        </p:nvSpPr>
        <p:spPr>
          <a:xfrm>
            <a:off x="8232343" y="2441448"/>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اختيار اللاجئ بالبحث</a:t>
            </a:r>
            <a:endParaRPr lang="en-US" sz="1250" dirty="0"/>
          </a:p>
        </p:txBody>
      </p:sp>
      <p:sp>
        <p:nvSpPr>
          <p:cNvPr id="10" name="Text 7"/>
          <p:cNvSpPr txBox="1"/>
          <p:nvPr/>
        </p:nvSpPr>
        <p:spPr>
          <a:xfrm>
            <a:off x="8232343" y="2715768"/>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يبحث بالاسم أو رقم الوثيقة أو الهاتف، ويعرض المخيم والوحدة لتمييز المتشابهين</a:t>
            </a:r>
            <a:endParaRPr lang="en-US" sz="1050" dirty="0"/>
          </a:p>
        </p:txBody>
      </p:sp>
      <p:sp>
        <p:nvSpPr>
          <p:cNvPr id="11" name="Shape 8"/>
          <p:cNvSpPr/>
          <p:nvPr/>
        </p:nvSpPr>
        <p:spPr>
          <a:xfrm>
            <a:off x="8031175" y="3355848"/>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11185855" y="3502152"/>
            <a:ext cx="237744" cy="237744"/>
          </a:xfrm>
          <a:prstGeom prst="ellipse">
            <a:avLst/>
          </a:prstGeom>
          <a:solidFill>
            <a:srgbClr val="02717D"/>
          </a:solidFill>
          <a:ln/>
        </p:spPr>
      </p:sp>
      <p:sp>
        <p:nvSpPr>
          <p:cNvPr id="13" name="Text 10"/>
          <p:cNvSpPr txBox="1"/>
          <p:nvPr/>
        </p:nvSpPr>
        <p:spPr>
          <a:xfrm>
            <a:off x="8232343" y="3465576"/>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خدمة طبية من قائمة</a:t>
            </a:r>
            <a:endParaRPr lang="en-US" sz="1250" dirty="0"/>
          </a:p>
        </p:txBody>
      </p:sp>
      <p:sp>
        <p:nvSpPr>
          <p:cNvPr id="14" name="Text 11"/>
          <p:cNvSpPr txBox="1"/>
          <p:nvPr/>
        </p:nvSpPr>
        <p:spPr>
          <a:xfrm>
            <a:off x="8232343" y="3739896"/>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التشخيص نص حر، أما الخدمة فمن قائمة مضبوطة حتى تصلح للإحصاء</a:t>
            </a:r>
            <a:endParaRPr lang="en-US" sz="1050" dirty="0"/>
          </a:p>
        </p:txBody>
      </p:sp>
      <p:sp>
        <p:nvSpPr>
          <p:cNvPr id="15" name="Shape 12"/>
          <p:cNvSpPr/>
          <p:nvPr/>
        </p:nvSpPr>
        <p:spPr>
          <a:xfrm>
            <a:off x="8031175" y="4379976"/>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6" name="Shape 13"/>
          <p:cNvSpPr/>
          <p:nvPr/>
        </p:nvSpPr>
        <p:spPr>
          <a:xfrm>
            <a:off x="11185855" y="4526280"/>
            <a:ext cx="237744" cy="237744"/>
          </a:xfrm>
          <a:prstGeom prst="ellipse">
            <a:avLst/>
          </a:prstGeom>
          <a:solidFill>
            <a:srgbClr val="E9A13B"/>
          </a:solidFill>
          <a:ln/>
        </p:spPr>
      </p:sp>
      <p:sp>
        <p:nvSpPr>
          <p:cNvPr id="17" name="Text 14"/>
          <p:cNvSpPr txBox="1"/>
          <p:nvPr/>
        </p:nvSpPr>
        <p:spPr>
          <a:xfrm>
            <a:off x="8232343" y="4489704"/>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متابعة مجدولة</a:t>
            </a:r>
            <a:endParaRPr lang="en-US" sz="1250" dirty="0"/>
          </a:p>
        </p:txBody>
      </p:sp>
      <p:sp>
        <p:nvSpPr>
          <p:cNvPr id="18" name="Text 15"/>
          <p:cNvSpPr txBox="1"/>
          <p:nvPr/>
        </p:nvSpPr>
        <p:spPr>
          <a:xfrm>
            <a:off x="8232343" y="4764024"/>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عند تحديد «تحتاج متابعة» يظهر البند في لوحة التحكم عند استحقاقه</a:t>
            </a:r>
            <a:endParaRPr lang="en-US" sz="1050" dirty="0"/>
          </a:p>
        </p:txBody>
      </p:sp>
      <p:sp>
        <p:nvSpPr>
          <p:cNvPr id="19" name="Shape 16"/>
          <p:cNvSpPr/>
          <p:nvPr/>
        </p:nvSpPr>
        <p:spPr>
          <a:xfrm>
            <a:off x="8031175" y="5541264"/>
            <a:ext cx="3611880" cy="749808"/>
          </a:xfrm>
          <a:prstGeom prst="roundRect">
            <a:avLst>
              <a:gd name="adj" fmla="val 10976"/>
            </a:avLst>
          </a:prstGeom>
          <a:solidFill>
            <a:srgbClr val="0A2E36"/>
          </a:solidFill>
          <a:ln/>
        </p:spPr>
      </p:sp>
      <p:sp>
        <p:nvSpPr>
          <p:cNvPr id="20" name="Text 17"/>
          <p:cNvSpPr txBox="1"/>
          <p:nvPr/>
        </p:nvSpPr>
        <p:spPr>
          <a:xfrm>
            <a:off x="8232343" y="5541264"/>
            <a:ext cx="3209544" cy="749808"/>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الموظف الطبي وحده ومدير النظام يصلان إلى هذه الشاشة وإلى بياناتها.</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تسجيل حركة دخول وخروج</a:t>
            </a:r>
            <a:endParaRPr lang="en-US" sz="3300" dirty="0"/>
          </a:p>
        </p:txBody>
      </p:sp>
      <p:sp>
        <p:nvSpPr>
          <p:cNvPr id="4" name="Shape 2"/>
          <p:cNvSpPr/>
          <p:nvPr/>
        </p:nvSpPr>
        <p:spPr>
          <a:xfrm>
            <a:off x="493776" y="2013280"/>
            <a:ext cx="7180783" cy="3645256"/>
          </a:xfrm>
          <a:prstGeom prst="roundRect">
            <a:avLst>
              <a:gd name="adj" fmla="val 2258"/>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movement_create.png">    </p:cNvPr>
          <p:cNvPicPr>
            <a:picLocks noChangeAspect="1"/>
          </p:cNvPicPr>
          <p:nvPr/>
        </p:nvPicPr>
        <p:blipFill>
          <a:blip r:embed="rId1"/>
          <a:stretch>
            <a:fillRect/>
          </a:stretch>
        </p:blipFill>
        <p:spPr>
          <a:xfrm>
            <a:off x="548640" y="2068144"/>
            <a:ext cx="7071055" cy="3535528"/>
          </a:xfrm>
          <a:prstGeom prst="rect">
            <a:avLst/>
          </a:prstGeom>
        </p:spPr>
      </p:pic>
      <p:sp>
        <p:nvSpPr>
          <p:cNvPr id="6" name="Text 3"/>
          <p:cNvSpPr txBox="1"/>
          <p:nvPr/>
        </p:nvSpPr>
        <p:spPr>
          <a:xfrm>
            <a:off x="8031175" y="1572768"/>
            <a:ext cx="3611880" cy="640080"/>
          </a:xfrm>
          <a:prstGeom prst="rect">
            <a:avLst/>
          </a:prstGeom>
          <a:noFill/>
          <a:ln/>
        </p:spPr>
        <p:txBody>
          <a:bodyPr wrap="square" lIns="0" tIns="0" rIns="0" bIns="0" rtlCol="0" anchor="ctr"/>
          <a:lstStyle/>
          <a:p>
            <a:pPr rtl="1" algn="r" indent="0" marL="0">
              <a:lnSpc>
                <a:spcPts val="1700"/>
              </a:lnSpc>
              <a:buNone/>
            </a:pPr>
            <a:r>
              <a:rPr lang="en-US" sz="1250" b="1" dirty="0">
                <a:solidFill>
                  <a:srgbClr val="02717D"/>
                </a:solidFill>
                <a:latin typeface="Arial" pitchFamily="34" charset="0"/>
                <a:ea typeface="Arial" pitchFamily="34" charset="-122"/>
                <a:cs typeface="Arial" pitchFamily="34" charset="-120"/>
              </a:rPr>
              <a:t>كل مرور من بوابة يُصبح سطرًا في السجل، بالدقيقة.</a:t>
            </a:r>
            <a:endParaRPr lang="en-US" sz="1250" dirty="0"/>
          </a:p>
        </p:txBody>
      </p:sp>
      <p:sp>
        <p:nvSpPr>
          <p:cNvPr id="7" name="Shape 4"/>
          <p:cNvSpPr/>
          <p:nvPr/>
        </p:nvSpPr>
        <p:spPr>
          <a:xfrm>
            <a:off x="8031175" y="2331720"/>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11185855" y="2478024"/>
            <a:ext cx="237744" cy="237744"/>
          </a:xfrm>
          <a:prstGeom prst="ellipse">
            <a:avLst/>
          </a:prstGeom>
          <a:solidFill>
            <a:srgbClr val="02717D"/>
          </a:solidFill>
          <a:ln/>
        </p:spPr>
      </p:sp>
      <p:sp>
        <p:nvSpPr>
          <p:cNvPr id="9" name="Text 6"/>
          <p:cNvSpPr txBox="1"/>
          <p:nvPr/>
        </p:nvSpPr>
        <p:spPr>
          <a:xfrm>
            <a:off x="8232343" y="2441448"/>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البوابة والوقت</a:t>
            </a:r>
            <a:endParaRPr lang="en-US" sz="1250" dirty="0"/>
          </a:p>
        </p:txBody>
      </p:sp>
      <p:sp>
        <p:nvSpPr>
          <p:cNvPr id="10" name="Text 7"/>
          <p:cNvSpPr txBox="1"/>
          <p:nvPr/>
        </p:nvSpPr>
        <p:spPr>
          <a:xfrm>
            <a:off x="8232343" y="2715768"/>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تُسجَّل نقطة التفتيش والوقت بالدقيقة ومن سجّل العملية</a:t>
            </a:r>
            <a:endParaRPr lang="en-US" sz="1050" dirty="0"/>
          </a:p>
        </p:txBody>
      </p:sp>
      <p:sp>
        <p:nvSpPr>
          <p:cNvPr id="11" name="Shape 8"/>
          <p:cNvSpPr/>
          <p:nvPr/>
        </p:nvSpPr>
        <p:spPr>
          <a:xfrm>
            <a:off x="8031175" y="3355848"/>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11185855" y="3502152"/>
            <a:ext cx="237744" cy="237744"/>
          </a:xfrm>
          <a:prstGeom prst="ellipse">
            <a:avLst/>
          </a:prstGeom>
          <a:solidFill>
            <a:srgbClr val="02717D"/>
          </a:solidFill>
          <a:ln/>
        </p:spPr>
      </p:sp>
      <p:sp>
        <p:nvSpPr>
          <p:cNvPr id="13" name="Text 10"/>
          <p:cNvSpPr txBox="1"/>
          <p:nvPr/>
        </p:nvSpPr>
        <p:spPr>
          <a:xfrm>
            <a:off x="8232343" y="3465576"/>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حالة التواجد تتغيّر فورًا</a:t>
            </a:r>
            <a:endParaRPr lang="en-US" sz="1250" dirty="0"/>
          </a:p>
        </p:txBody>
      </p:sp>
      <p:sp>
        <p:nvSpPr>
          <p:cNvPr id="14" name="Text 11"/>
          <p:cNvSpPr txBox="1"/>
          <p:nvPr/>
        </p:nvSpPr>
        <p:spPr>
          <a:xfrm>
            <a:off x="8232343" y="3739896"/>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خروج يجعله «خارج المخيم»، فيصير سؤال «من الموجود الآن؟» استعلامًا لحظيًا</a:t>
            </a:r>
            <a:endParaRPr lang="en-US" sz="1050" dirty="0"/>
          </a:p>
        </p:txBody>
      </p:sp>
      <p:sp>
        <p:nvSpPr>
          <p:cNvPr id="15" name="Shape 12"/>
          <p:cNvSpPr/>
          <p:nvPr/>
        </p:nvSpPr>
        <p:spPr>
          <a:xfrm>
            <a:off x="8031175" y="4379976"/>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6" name="Shape 13"/>
          <p:cNvSpPr/>
          <p:nvPr/>
        </p:nvSpPr>
        <p:spPr>
          <a:xfrm>
            <a:off x="11185855" y="4526280"/>
            <a:ext cx="237744" cy="237744"/>
          </a:xfrm>
          <a:prstGeom prst="ellipse">
            <a:avLst/>
          </a:prstGeom>
          <a:solidFill>
            <a:srgbClr val="E9A13B"/>
          </a:solidFill>
          <a:ln/>
        </p:spPr>
      </p:sp>
      <p:sp>
        <p:nvSpPr>
          <p:cNvPr id="17" name="Text 14"/>
          <p:cNvSpPr txBox="1"/>
          <p:nvPr/>
        </p:nvSpPr>
        <p:spPr>
          <a:xfrm>
            <a:off x="8232343" y="4489704"/>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المرور لا ينقل الإقامة</a:t>
            </a:r>
            <a:endParaRPr lang="en-US" sz="1250" dirty="0"/>
          </a:p>
        </p:txBody>
      </p:sp>
      <p:sp>
        <p:nvSpPr>
          <p:cNvPr id="18" name="Text 15"/>
          <p:cNvSpPr txBox="1"/>
          <p:nvPr/>
        </p:nvSpPr>
        <p:spPr>
          <a:xfrm>
            <a:off x="8232343" y="4764024"/>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المرور من بوابة مخيم آخر يُسجَّل ويُعلَّم، ولا يغيّر مكان السكن</a:t>
            </a:r>
            <a:endParaRPr lang="en-US" sz="1050" dirty="0"/>
          </a:p>
        </p:txBody>
      </p:sp>
      <p:sp>
        <p:nvSpPr>
          <p:cNvPr id="19" name="Shape 16"/>
          <p:cNvSpPr/>
          <p:nvPr/>
        </p:nvSpPr>
        <p:spPr>
          <a:xfrm>
            <a:off x="8031175" y="5541264"/>
            <a:ext cx="3611880" cy="749808"/>
          </a:xfrm>
          <a:prstGeom prst="roundRect">
            <a:avLst>
              <a:gd name="adj" fmla="val 10976"/>
            </a:avLst>
          </a:prstGeom>
          <a:solidFill>
            <a:srgbClr val="0A2E36"/>
          </a:solidFill>
          <a:ln/>
        </p:spPr>
      </p:sp>
      <p:sp>
        <p:nvSpPr>
          <p:cNvPr id="20" name="Text 17"/>
          <p:cNvSpPr txBox="1"/>
          <p:nvPr/>
        </p:nvSpPr>
        <p:spPr>
          <a:xfrm>
            <a:off x="8232343" y="5541264"/>
            <a:ext cx="3209544" cy="749808"/>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العملية كلها داخل معاملة قاعدة بيانات، ومعها سطر في سجل التدقيق.</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الجهات الداعمة وأنواع المساعدات</a:t>
            </a:r>
            <a:endParaRPr lang="en-US" sz="3300" dirty="0"/>
          </a:p>
        </p:txBody>
      </p:sp>
      <p:sp>
        <p:nvSpPr>
          <p:cNvPr id="4" name="Text 2"/>
          <p:cNvSpPr txBox="1"/>
          <p:nvPr/>
        </p:nvSpPr>
        <p:spPr>
          <a:xfrm>
            <a:off x="6385255" y="1554480"/>
            <a:ext cx="5257800" cy="274320"/>
          </a:xfrm>
          <a:prstGeom prst="rect">
            <a:avLst/>
          </a:prstGeom>
          <a:noFill/>
          <a:ln/>
        </p:spPr>
        <p:txBody>
          <a:bodyPr wrap="square" lIns="0" tIns="0" rIns="0" bIns="0" rtlCol="0" anchor="ctr"/>
          <a:lstStyle/>
          <a:p>
            <a:pPr rtl="1" algn="r" indent="0" marL="0">
              <a:buNone/>
            </a:pPr>
            <a:r>
              <a:rPr lang="en-US" sz="1250" b="1" dirty="0">
                <a:solidFill>
                  <a:srgbClr val="02717D"/>
                </a:solidFill>
                <a:latin typeface="Arial" pitchFamily="34" charset="0"/>
                <a:ea typeface="Arial" pitchFamily="34" charset="-122"/>
                <a:cs typeface="Arial" pitchFamily="34" charset="-120"/>
              </a:rPr>
              <a:t>الجهات الداعمة</a:t>
            </a:r>
            <a:endParaRPr lang="en-US" sz="1250" dirty="0"/>
          </a:p>
        </p:txBody>
      </p:sp>
      <p:sp>
        <p:nvSpPr>
          <p:cNvPr id="5" name="Shape 3"/>
          <p:cNvSpPr/>
          <p:nvPr/>
        </p:nvSpPr>
        <p:spPr>
          <a:xfrm>
            <a:off x="6330391" y="1828800"/>
            <a:ext cx="5367528" cy="2963962"/>
          </a:xfrm>
          <a:prstGeom prst="roundRect">
            <a:avLst>
              <a:gd name="adj" fmla="val 2777"/>
            </a:avLst>
          </a:prstGeom>
          <a:solidFill>
            <a:srgbClr val="FFFFFF"/>
          </a:solidFill>
          <a:ln/>
          <a:effectLst>
            <a:outerShdw sx="100000" sy="100000" kx="0" ky="0" algn="bl" rotWithShape="0" blurRad="127000" dist="25400" dir="5400000">
              <a:srgbClr val="0A2E36">
                <a:alpha val="10000"/>
              </a:srgbClr>
            </a:outerShdw>
          </a:effectLst>
        </p:spPr>
      </p:sp>
      <p:pic>
        <p:nvPicPr>
          <p:cNvPr id="6" name="Image 0" descr="/home/user/Camp_management/docs/screenshots/organizations.png">    </p:cNvPr>
          <p:cNvPicPr>
            <a:picLocks noChangeAspect="1"/>
          </p:cNvPicPr>
          <p:nvPr/>
        </p:nvPicPr>
        <p:blipFill>
          <a:blip r:embed="rId1"/>
          <a:stretch>
            <a:fillRect/>
          </a:stretch>
        </p:blipFill>
        <p:spPr>
          <a:xfrm>
            <a:off x="6385255" y="1883664"/>
            <a:ext cx="5257800" cy="2854234"/>
          </a:xfrm>
          <a:prstGeom prst="rect">
            <a:avLst/>
          </a:prstGeom>
        </p:spPr>
      </p:pic>
      <p:sp>
        <p:nvSpPr>
          <p:cNvPr id="7" name="Text 4"/>
          <p:cNvSpPr txBox="1"/>
          <p:nvPr/>
        </p:nvSpPr>
        <p:spPr>
          <a:xfrm>
            <a:off x="807415" y="1554480"/>
            <a:ext cx="5257800" cy="274320"/>
          </a:xfrm>
          <a:prstGeom prst="rect">
            <a:avLst/>
          </a:prstGeom>
          <a:noFill/>
          <a:ln/>
        </p:spPr>
        <p:txBody>
          <a:bodyPr wrap="square" lIns="0" tIns="0" rIns="0" bIns="0" rtlCol="0" anchor="ctr"/>
          <a:lstStyle/>
          <a:p>
            <a:pPr rtl="1" algn="r" indent="0" marL="0">
              <a:buNone/>
            </a:pPr>
            <a:r>
              <a:rPr lang="en-US" sz="1250" b="1" dirty="0">
                <a:solidFill>
                  <a:srgbClr val="E9A13B"/>
                </a:solidFill>
                <a:latin typeface="Arial" pitchFamily="34" charset="0"/>
                <a:ea typeface="Arial" pitchFamily="34" charset="-122"/>
                <a:cs typeface="Arial" pitchFamily="34" charset="-120"/>
              </a:rPr>
              <a:t>أنواع المساعدات</a:t>
            </a:r>
            <a:endParaRPr lang="en-US" sz="1250" dirty="0"/>
          </a:p>
        </p:txBody>
      </p:sp>
      <p:sp>
        <p:nvSpPr>
          <p:cNvPr id="8" name="Shape 5"/>
          <p:cNvSpPr/>
          <p:nvPr/>
        </p:nvSpPr>
        <p:spPr>
          <a:xfrm>
            <a:off x="752551" y="1828800"/>
            <a:ext cx="5367528" cy="2963962"/>
          </a:xfrm>
          <a:prstGeom prst="roundRect">
            <a:avLst>
              <a:gd name="adj" fmla="val 2777"/>
            </a:avLst>
          </a:prstGeom>
          <a:solidFill>
            <a:srgbClr val="FFFFFF"/>
          </a:solidFill>
          <a:ln/>
          <a:effectLst>
            <a:outerShdw sx="100000" sy="100000" kx="0" ky="0" algn="bl" rotWithShape="0" blurRad="127000" dist="25400" dir="5400000">
              <a:srgbClr val="0A2E36">
                <a:alpha val="10000"/>
              </a:srgbClr>
            </a:outerShdw>
          </a:effectLst>
        </p:spPr>
      </p:sp>
      <p:pic>
        <p:nvPicPr>
          <p:cNvPr id="9" name="Image 1" descr="/home/user/Camp_management/docs/screenshots/aid_types.png">    </p:cNvPr>
          <p:cNvPicPr>
            <a:picLocks noChangeAspect="1"/>
          </p:cNvPicPr>
          <p:nvPr/>
        </p:nvPicPr>
        <p:blipFill>
          <a:blip r:embed="rId2"/>
          <a:stretch>
            <a:fillRect/>
          </a:stretch>
        </p:blipFill>
        <p:spPr>
          <a:xfrm>
            <a:off x="807415" y="1883664"/>
            <a:ext cx="5257800" cy="2854234"/>
          </a:xfrm>
          <a:prstGeom prst="rect">
            <a:avLst/>
          </a:prstGeom>
        </p:spPr>
      </p:pic>
      <p:sp>
        <p:nvSpPr>
          <p:cNvPr id="10" name="Shape 6"/>
          <p:cNvSpPr/>
          <p:nvPr/>
        </p:nvSpPr>
        <p:spPr>
          <a:xfrm>
            <a:off x="548640" y="4993930"/>
            <a:ext cx="11094415" cy="1280160"/>
          </a:xfrm>
          <a:prstGeom prst="roundRect">
            <a:avLst>
              <a:gd name="adj" fmla="val 7143"/>
            </a:avLst>
          </a:prstGeom>
          <a:solidFill>
            <a:srgbClr val="0A2E36"/>
          </a:solidFill>
          <a:ln/>
        </p:spPr>
      </p:sp>
      <p:sp>
        <p:nvSpPr>
          <p:cNvPr id="11" name="Text 7"/>
          <p:cNvSpPr txBox="1"/>
          <p:nvPr/>
        </p:nvSpPr>
        <p:spPr>
          <a:xfrm>
            <a:off x="822960" y="5140234"/>
            <a:ext cx="10545775" cy="274320"/>
          </a:xfrm>
          <a:prstGeom prst="rect">
            <a:avLst/>
          </a:prstGeom>
          <a:noFill/>
          <a:ln/>
        </p:spPr>
        <p:txBody>
          <a:bodyPr wrap="square" lIns="0" tIns="0" rIns="0" bIns="0" rtlCol="0" anchor="ctr"/>
          <a:lstStyle/>
          <a:p>
            <a:pPr rtl="1" algn="r" indent="0" marL="0">
              <a:buNone/>
            </a:pPr>
            <a:r>
              <a:rPr lang="en-US" sz="1300" b="1" dirty="0">
                <a:solidFill>
                  <a:srgbClr val="00A896"/>
                </a:solidFill>
                <a:latin typeface="Arial" pitchFamily="34" charset="0"/>
                <a:ea typeface="Arial" pitchFamily="34" charset="-122"/>
                <a:cs typeface="Arial" pitchFamily="34" charset="-120"/>
              </a:rPr>
              <a:t>لماذا ثلاثة جداول بدل واحد؟</a:t>
            </a:r>
            <a:endParaRPr lang="en-US" sz="1300" dirty="0"/>
          </a:p>
        </p:txBody>
      </p:sp>
      <p:sp>
        <p:nvSpPr>
          <p:cNvPr id="12" name="Text 8"/>
          <p:cNvSpPr txBox="1"/>
          <p:nvPr/>
        </p:nvSpPr>
        <p:spPr>
          <a:xfrm>
            <a:off x="822960" y="5469418"/>
            <a:ext cx="10545775" cy="685800"/>
          </a:xfrm>
          <a:prstGeom prst="rect">
            <a:avLst/>
          </a:prstGeom>
          <a:noFill/>
          <a:ln/>
        </p:spPr>
        <p:txBody>
          <a:bodyPr wrap="square" lIns="0" tIns="0" rIns="0" bIns="0" rtlCol="0" anchor="ctr"/>
          <a:lstStyle/>
          <a:p>
            <a:pPr rtl="1" algn="r" indent="0" marL="0">
              <a:lnSpc>
                <a:spcPts val="1700"/>
              </a:lnSpc>
              <a:buNone/>
            </a:pPr>
            <a:r>
              <a:rPr lang="en-US" sz="1150" dirty="0">
                <a:solidFill>
                  <a:srgbClr val="BFD4D7"/>
                </a:solidFill>
                <a:latin typeface="Arial" pitchFamily="34" charset="0"/>
                <a:ea typeface="Arial" pitchFamily="34" charset="-122"/>
                <a:cs typeface="Arial" pitchFamily="34" charset="-120"/>
              </a:rPr>
              <a:t>الجهة المانحة تُسجَّل مرة، ويرتبط بها أنواع المساعدات التي تقدّمها، ثم تُسجَّل عمليات التوزيع تحت النوع. فيصبح السؤال «كم سلة غذائية وزّعها الهلال المحلي هذا الشهر؟» استعلامًا واحدًا، بدل أن يكون جردًا يدويًا لنصوص كتبها موظفون بطرق مختلفة.</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E36"/>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E9A13B"/>
                </a:solidFill>
                <a:latin typeface="Arial" pitchFamily="34" charset="0"/>
                <a:ea typeface="Arial" pitchFamily="34" charset="-122"/>
                <a:cs typeface="Arial" pitchFamily="34" charset="-120"/>
              </a:rPr>
              <a:t>المحور الرابع · الابتكار البرمجي</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FFFFFF"/>
                </a:solidFill>
                <a:latin typeface="Arial" pitchFamily="34" charset="0"/>
                <a:ea typeface="Arial" pitchFamily="34" charset="-122"/>
                <a:cs typeface="Arial" pitchFamily="34" charset="-120"/>
              </a:rPr>
              <a:t>المساعد الذكي — الفكرة والقرار</a:t>
            </a:r>
            <a:endParaRPr lang="en-US" sz="3300" dirty="0"/>
          </a:p>
        </p:txBody>
      </p:sp>
      <p:sp>
        <p:nvSpPr>
          <p:cNvPr id="4" name="Text 2"/>
          <p:cNvSpPr txBox="1"/>
          <p:nvPr/>
        </p:nvSpPr>
        <p:spPr>
          <a:xfrm>
            <a:off x="6430975" y="1463040"/>
            <a:ext cx="5212080" cy="274320"/>
          </a:xfrm>
          <a:prstGeom prst="rect">
            <a:avLst/>
          </a:prstGeom>
          <a:noFill/>
          <a:ln/>
        </p:spPr>
        <p:txBody>
          <a:bodyPr wrap="square" lIns="0" tIns="0" rIns="0" bIns="0" rtlCol="0" anchor="ctr"/>
          <a:lstStyle/>
          <a:p>
            <a:pPr rtl="1" algn="r" indent="0" marL="0">
              <a:buNone/>
            </a:pPr>
            <a:r>
              <a:rPr lang="en-US" sz="1250" b="1" dirty="0">
                <a:solidFill>
                  <a:srgbClr val="00A896"/>
                </a:solidFill>
                <a:latin typeface="Arial" pitchFamily="34" charset="0"/>
                <a:ea typeface="Arial" pitchFamily="34" charset="-122"/>
                <a:cs typeface="Arial" pitchFamily="34" charset="-120"/>
              </a:rPr>
              <a:t>اسأل بالعربية، واحصل على رقم من قاعدة البيانات</a:t>
            </a:r>
            <a:endParaRPr lang="en-US" sz="1250" dirty="0"/>
          </a:p>
        </p:txBody>
      </p:sp>
      <p:sp>
        <p:nvSpPr>
          <p:cNvPr id="5" name="Shape 3"/>
          <p:cNvSpPr/>
          <p:nvPr/>
        </p:nvSpPr>
        <p:spPr>
          <a:xfrm>
            <a:off x="6430975" y="1847088"/>
            <a:ext cx="5212080" cy="566928"/>
          </a:xfrm>
          <a:prstGeom prst="roundRect">
            <a:avLst>
              <a:gd name="adj" fmla="val 25806"/>
            </a:avLst>
          </a:prstGeom>
          <a:solidFill>
            <a:srgbClr val="113E48"/>
          </a:solidFill>
          <a:ln/>
        </p:spPr>
      </p:sp>
      <p:sp>
        <p:nvSpPr>
          <p:cNvPr id="6" name="Text 4"/>
          <p:cNvSpPr txBox="1"/>
          <p:nvPr/>
        </p:nvSpPr>
        <p:spPr>
          <a:xfrm>
            <a:off x="6687007" y="1847088"/>
            <a:ext cx="4700016" cy="566928"/>
          </a:xfrm>
          <a:prstGeom prst="rect">
            <a:avLst/>
          </a:prstGeom>
          <a:noFill/>
          <a:ln/>
        </p:spPr>
        <p:txBody>
          <a:bodyPr wrap="square" lIns="0" tIns="0" rIns="0" bIns="0"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أين يسكن أحمد الحسن؟</a:t>
            </a:r>
            <a:endParaRPr lang="en-US" sz="1350" dirty="0"/>
          </a:p>
        </p:txBody>
      </p:sp>
      <p:sp>
        <p:nvSpPr>
          <p:cNvPr id="7" name="Shape 5"/>
          <p:cNvSpPr/>
          <p:nvPr/>
        </p:nvSpPr>
        <p:spPr>
          <a:xfrm>
            <a:off x="6430975" y="2560320"/>
            <a:ext cx="5212080" cy="566928"/>
          </a:xfrm>
          <a:prstGeom prst="roundRect">
            <a:avLst>
              <a:gd name="adj" fmla="val 25806"/>
            </a:avLst>
          </a:prstGeom>
          <a:solidFill>
            <a:srgbClr val="113E48"/>
          </a:solidFill>
          <a:ln/>
        </p:spPr>
      </p:sp>
      <p:sp>
        <p:nvSpPr>
          <p:cNvPr id="8" name="Text 6"/>
          <p:cNvSpPr txBox="1"/>
          <p:nvPr/>
        </p:nvSpPr>
        <p:spPr>
          <a:xfrm>
            <a:off x="6687007" y="2560320"/>
            <a:ext cx="4700016" cy="566928"/>
          </a:xfrm>
          <a:prstGeom prst="rect">
            <a:avLst/>
          </a:prstGeom>
          <a:noFill/>
          <a:ln/>
        </p:spPr>
        <p:txBody>
          <a:bodyPr wrap="square" lIns="0" tIns="0" rIns="0" bIns="0"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كم عدد السكان في مخيم السلام؟</a:t>
            </a:r>
            <a:endParaRPr lang="en-US" sz="1350" dirty="0"/>
          </a:p>
        </p:txBody>
      </p:sp>
      <p:sp>
        <p:nvSpPr>
          <p:cNvPr id="9" name="Shape 7"/>
          <p:cNvSpPr/>
          <p:nvPr/>
        </p:nvSpPr>
        <p:spPr>
          <a:xfrm>
            <a:off x="6430975" y="3273552"/>
            <a:ext cx="5212080" cy="566928"/>
          </a:xfrm>
          <a:prstGeom prst="roundRect">
            <a:avLst>
              <a:gd name="adj" fmla="val 25806"/>
            </a:avLst>
          </a:prstGeom>
          <a:solidFill>
            <a:srgbClr val="113E48"/>
          </a:solidFill>
          <a:ln/>
        </p:spPr>
      </p:sp>
      <p:sp>
        <p:nvSpPr>
          <p:cNvPr id="10" name="Text 8"/>
          <p:cNvSpPr txBox="1"/>
          <p:nvPr/>
        </p:nvSpPr>
        <p:spPr>
          <a:xfrm>
            <a:off x="6687007" y="3273552"/>
            <a:ext cx="4700016" cy="566928"/>
          </a:xfrm>
          <a:prstGeom prst="rect">
            <a:avLst/>
          </a:prstGeom>
          <a:noFill/>
          <a:ln/>
        </p:spPr>
        <p:txBody>
          <a:bodyPr wrap="square" lIns="0" tIns="0" rIns="0" bIns="0"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كم وحدة سكنية فارغة؟</a:t>
            </a:r>
            <a:endParaRPr lang="en-US" sz="1350" dirty="0"/>
          </a:p>
        </p:txBody>
      </p:sp>
      <p:sp>
        <p:nvSpPr>
          <p:cNvPr id="11" name="Shape 9"/>
          <p:cNvSpPr/>
          <p:nvPr/>
        </p:nvSpPr>
        <p:spPr>
          <a:xfrm>
            <a:off x="6430975" y="3986784"/>
            <a:ext cx="5212080" cy="566928"/>
          </a:xfrm>
          <a:prstGeom prst="roundRect">
            <a:avLst>
              <a:gd name="adj" fmla="val 25806"/>
            </a:avLst>
          </a:prstGeom>
          <a:solidFill>
            <a:srgbClr val="113E48"/>
          </a:solidFill>
          <a:ln/>
        </p:spPr>
      </p:sp>
      <p:sp>
        <p:nvSpPr>
          <p:cNvPr id="12" name="Text 10"/>
          <p:cNvSpPr txBox="1"/>
          <p:nvPr/>
        </p:nvSpPr>
        <p:spPr>
          <a:xfrm>
            <a:off x="6687007" y="3986784"/>
            <a:ext cx="4700016" cy="566928"/>
          </a:xfrm>
          <a:prstGeom prst="rect">
            <a:avLst/>
          </a:prstGeom>
          <a:noFill/>
          <a:ln/>
        </p:spPr>
        <p:txBody>
          <a:bodyPr wrap="square" lIns="0" tIns="0" rIns="0" bIns="0"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ماذا استلم محمد من مساعدات الشهر الماضي؟</a:t>
            </a:r>
            <a:endParaRPr lang="en-US" sz="1350" dirty="0"/>
          </a:p>
        </p:txBody>
      </p:sp>
      <p:sp>
        <p:nvSpPr>
          <p:cNvPr id="13" name="Text 11"/>
          <p:cNvSpPr txBox="1"/>
          <p:nvPr/>
        </p:nvSpPr>
        <p:spPr>
          <a:xfrm>
            <a:off x="548640" y="1463040"/>
            <a:ext cx="5425135" cy="274320"/>
          </a:xfrm>
          <a:prstGeom prst="rect">
            <a:avLst/>
          </a:prstGeom>
          <a:noFill/>
          <a:ln/>
        </p:spPr>
        <p:txBody>
          <a:bodyPr wrap="square" lIns="0" tIns="0" rIns="0" bIns="0" rtlCol="0" anchor="ctr"/>
          <a:lstStyle/>
          <a:p>
            <a:pPr rtl="1" algn="r" indent="0" marL="0">
              <a:buNone/>
            </a:pPr>
            <a:r>
              <a:rPr lang="en-US" sz="1250" b="1" dirty="0">
                <a:solidFill>
                  <a:srgbClr val="E9A13B"/>
                </a:solidFill>
                <a:latin typeface="Arial" pitchFamily="34" charset="0"/>
                <a:ea typeface="Arial" pitchFamily="34" charset="-122"/>
                <a:cs typeface="Arial" pitchFamily="34" charset="-120"/>
              </a:rPr>
              <a:t>بلا نموذج لغوي — ولماذا هذا قرار لا قصور</a:t>
            </a:r>
            <a:endParaRPr lang="en-US" sz="1250" dirty="0"/>
          </a:p>
        </p:txBody>
      </p:sp>
      <p:sp>
        <p:nvSpPr>
          <p:cNvPr id="14" name="Shape 12"/>
          <p:cNvSpPr/>
          <p:nvPr/>
        </p:nvSpPr>
        <p:spPr>
          <a:xfrm>
            <a:off x="548640" y="1847088"/>
            <a:ext cx="5425135" cy="822960"/>
          </a:xfrm>
          <a:prstGeom prst="roundRect">
            <a:avLst>
              <a:gd name="adj" fmla="val 10000"/>
            </a:avLst>
          </a:prstGeom>
          <a:solidFill>
            <a:srgbClr val="113E48"/>
          </a:solidFill>
          <a:ln/>
        </p:spPr>
      </p:sp>
      <p:sp>
        <p:nvSpPr>
          <p:cNvPr id="15" name="Shape 13"/>
          <p:cNvSpPr/>
          <p:nvPr/>
        </p:nvSpPr>
        <p:spPr>
          <a:xfrm>
            <a:off x="5425135" y="1975104"/>
            <a:ext cx="310896" cy="310896"/>
          </a:xfrm>
          <a:prstGeom prst="ellipse">
            <a:avLst/>
          </a:prstGeom>
          <a:solidFill>
            <a:srgbClr val="E9A13B"/>
          </a:solidFill>
          <a:ln/>
        </p:spPr>
      </p:sp>
      <p:sp>
        <p:nvSpPr>
          <p:cNvPr id="16" name="Text 14"/>
          <p:cNvSpPr txBox="1"/>
          <p:nvPr/>
        </p:nvSpPr>
        <p:spPr>
          <a:xfrm>
            <a:off x="5425135" y="197510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7" name="Text 15"/>
          <p:cNvSpPr txBox="1"/>
          <p:nvPr/>
        </p:nvSpPr>
        <p:spPr>
          <a:xfrm>
            <a:off x="749808" y="1956816"/>
            <a:ext cx="4556455" cy="256032"/>
          </a:xfrm>
          <a:prstGeom prst="rect">
            <a:avLst/>
          </a:prstGeom>
          <a:noFill/>
          <a:ln/>
        </p:spPr>
        <p:txBody>
          <a:bodyPr wrap="square" lIns="0" tIns="0" rIns="0" bIns="0"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الخصوصية</a:t>
            </a:r>
            <a:endParaRPr lang="en-US" sz="1350" dirty="0"/>
          </a:p>
        </p:txBody>
      </p:sp>
      <p:sp>
        <p:nvSpPr>
          <p:cNvPr id="18" name="Text 16"/>
          <p:cNvSpPr txBox="1"/>
          <p:nvPr/>
        </p:nvSpPr>
        <p:spPr>
          <a:xfrm>
            <a:off x="749808" y="2231136"/>
            <a:ext cx="4967935" cy="402336"/>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أسماء ولاجئون وتشخيصات طبية لا تغادر الخادم، والنظام يعمل دون إنترنت</a:t>
            </a:r>
            <a:endParaRPr lang="en-US" sz="1050" dirty="0"/>
          </a:p>
        </p:txBody>
      </p:sp>
      <p:sp>
        <p:nvSpPr>
          <p:cNvPr id="19" name="Shape 17"/>
          <p:cNvSpPr/>
          <p:nvPr/>
        </p:nvSpPr>
        <p:spPr>
          <a:xfrm>
            <a:off x="548640" y="2807208"/>
            <a:ext cx="5425135" cy="822960"/>
          </a:xfrm>
          <a:prstGeom prst="roundRect">
            <a:avLst>
              <a:gd name="adj" fmla="val 10000"/>
            </a:avLst>
          </a:prstGeom>
          <a:solidFill>
            <a:srgbClr val="113E48"/>
          </a:solidFill>
          <a:ln/>
        </p:spPr>
      </p:sp>
      <p:sp>
        <p:nvSpPr>
          <p:cNvPr id="20" name="Shape 18"/>
          <p:cNvSpPr/>
          <p:nvPr/>
        </p:nvSpPr>
        <p:spPr>
          <a:xfrm>
            <a:off x="5425135" y="2935224"/>
            <a:ext cx="310896" cy="310896"/>
          </a:xfrm>
          <a:prstGeom prst="ellipse">
            <a:avLst/>
          </a:prstGeom>
          <a:solidFill>
            <a:srgbClr val="E9A13B"/>
          </a:solidFill>
          <a:ln/>
        </p:spPr>
      </p:sp>
      <p:sp>
        <p:nvSpPr>
          <p:cNvPr id="21" name="Text 19"/>
          <p:cNvSpPr txBox="1"/>
          <p:nvPr/>
        </p:nvSpPr>
        <p:spPr>
          <a:xfrm>
            <a:off x="5425135" y="293522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Text 20"/>
          <p:cNvSpPr txBox="1"/>
          <p:nvPr/>
        </p:nvSpPr>
        <p:spPr>
          <a:xfrm>
            <a:off x="749808" y="2916936"/>
            <a:ext cx="4556455" cy="256032"/>
          </a:xfrm>
          <a:prstGeom prst="rect">
            <a:avLst/>
          </a:prstGeom>
          <a:noFill/>
          <a:ln/>
        </p:spPr>
        <p:txBody>
          <a:bodyPr wrap="square" lIns="0" tIns="0" rIns="0" bIns="0"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الدقة</a:t>
            </a:r>
            <a:endParaRPr lang="en-US" sz="1350" dirty="0"/>
          </a:p>
        </p:txBody>
      </p:sp>
      <p:sp>
        <p:nvSpPr>
          <p:cNvPr id="23" name="Text 21"/>
          <p:cNvSpPr txBox="1"/>
          <p:nvPr/>
        </p:nvSpPr>
        <p:spPr>
          <a:xfrm>
            <a:off x="749808" y="3191256"/>
            <a:ext cx="4967935" cy="402336"/>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النموذج ينتج إجابة محتملة، ونحن نحتاج إجابة صحيحة من قاعدة البيانات</a:t>
            </a:r>
            <a:endParaRPr lang="en-US" sz="1050" dirty="0"/>
          </a:p>
        </p:txBody>
      </p:sp>
      <p:sp>
        <p:nvSpPr>
          <p:cNvPr id="24" name="Shape 22"/>
          <p:cNvSpPr/>
          <p:nvPr/>
        </p:nvSpPr>
        <p:spPr>
          <a:xfrm>
            <a:off x="548640" y="3767328"/>
            <a:ext cx="5425135" cy="822960"/>
          </a:xfrm>
          <a:prstGeom prst="roundRect">
            <a:avLst>
              <a:gd name="adj" fmla="val 10000"/>
            </a:avLst>
          </a:prstGeom>
          <a:solidFill>
            <a:srgbClr val="113E48"/>
          </a:solidFill>
          <a:ln/>
        </p:spPr>
      </p:sp>
      <p:sp>
        <p:nvSpPr>
          <p:cNvPr id="25" name="Shape 23"/>
          <p:cNvSpPr/>
          <p:nvPr/>
        </p:nvSpPr>
        <p:spPr>
          <a:xfrm>
            <a:off x="5425135" y="3895344"/>
            <a:ext cx="310896" cy="310896"/>
          </a:xfrm>
          <a:prstGeom prst="ellipse">
            <a:avLst/>
          </a:prstGeom>
          <a:solidFill>
            <a:srgbClr val="E9A13B"/>
          </a:solidFill>
          <a:ln/>
        </p:spPr>
      </p:sp>
      <p:sp>
        <p:nvSpPr>
          <p:cNvPr id="26" name="Text 24"/>
          <p:cNvSpPr txBox="1"/>
          <p:nvPr/>
        </p:nvSpPr>
        <p:spPr>
          <a:xfrm>
            <a:off x="5425135" y="389534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7" name="Text 25"/>
          <p:cNvSpPr txBox="1"/>
          <p:nvPr/>
        </p:nvSpPr>
        <p:spPr>
          <a:xfrm>
            <a:off x="749808" y="3877056"/>
            <a:ext cx="4556455" cy="256032"/>
          </a:xfrm>
          <a:prstGeom prst="rect">
            <a:avLst/>
          </a:prstGeom>
          <a:noFill/>
          <a:ln/>
        </p:spPr>
        <p:txBody>
          <a:bodyPr wrap="square" lIns="0" tIns="0" rIns="0" bIns="0"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الأمان</a:t>
            </a:r>
            <a:endParaRPr lang="en-US" sz="1350" dirty="0"/>
          </a:p>
        </p:txBody>
      </p:sp>
      <p:sp>
        <p:nvSpPr>
          <p:cNvPr id="28" name="Text 26"/>
          <p:cNvSpPr txBox="1"/>
          <p:nvPr/>
        </p:nvSpPr>
        <p:spPr>
          <a:xfrm>
            <a:off x="749808" y="4151376"/>
            <a:ext cx="4967935" cy="402336"/>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ما دام المستخدم لا يكتب الاستعلام فلا يستطيع توسيعه مهما كتب</a:t>
            </a:r>
            <a:endParaRPr lang="en-US" sz="1050" dirty="0"/>
          </a:p>
        </p:txBody>
      </p:sp>
      <p:sp>
        <p:nvSpPr>
          <p:cNvPr id="29" name="Shape 27"/>
          <p:cNvSpPr/>
          <p:nvPr/>
        </p:nvSpPr>
        <p:spPr>
          <a:xfrm>
            <a:off x="8076895" y="5138928"/>
            <a:ext cx="3566160" cy="658368"/>
          </a:xfrm>
          <a:prstGeom prst="roundRect">
            <a:avLst>
              <a:gd name="adj" fmla="val 13889"/>
            </a:avLst>
          </a:prstGeom>
          <a:solidFill>
            <a:srgbClr val="113E48"/>
          </a:solidFill>
          <a:ln w="12700">
            <a:solidFill>
              <a:srgbClr val="E9A13B"/>
            </a:solidFill>
            <a:prstDash val="solid"/>
          </a:ln>
        </p:spPr>
      </p:sp>
      <p:sp>
        <p:nvSpPr>
          <p:cNvPr id="30" name="Text 28"/>
          <p:cNvSpPr txBox="1"/>
          <p:nvPr/>
        </p:nvSpPr>
        <p:spPr>
          <a:xfrm>
            <a:off x="8214055" y="5138928"/>
            <a:ext cx="3291840" cy="658368"/>
          </a:xfrm>
          <a:prstGeom prst="rect">
            <a:avLst/>
          </a:prstGeom>
          <a:noFill/>
          <a:ln/>
        </p:spPr>
        <p:txBody>
          <a:bodyPr wrap="square" lIns="0" tIns="0" rIns="0" bIns="0" rtlCol="0" anchor="ctr"/>
          <a:lstStyle/>
          <a:p>
            <a:pPr rtl="1" algn="ctr" indent="0" marL="0">
              <a:buNone/>
            </a:pPr>
            <a:r>
              <a:rPr lang="en-US" sz="1250" b="1" dirty="0">
                <a:solidFill>
                  <a:srgbClr val="E9A13B"/>
                </a:solidFill>
                <a:latin typeface="Arial" pitchFamily="34" charset="0"/>
                <a:ea typeface="Arial" pitchFamily="34" charset="-122"/>
                <a:cs typeface="Arial" pitchFamily="34" charset="-120"/>
              </a:rPr>
              <a:t>بلا نموذج لغوي</a:t>
            </a:r>
            <a:endParaRPr lang="en-US" sz="1250" dirty="0"/>
          </a:p>
        </p:txBody>
      </p:sp>
      <p:sp>
        <p:nvSpPr>
          <p:cNvPr id="31" name="Shape 29"/>
          <p:cNvSpPr/>
          <p:nvPr/>
        </p:nvSpPr>
        <p:spPr>
          <a:xfrm>
            <a:off x="4309567" y="5138928"/>
            <a:ext cx="3566160" cy="658368"/>
          </a:xfrm>
          <a:prstGeom prst="roundRect">
            <a:avLst>
              <a:gd name="adj" fmla="val 13889"/>
            </a:avLst>
          </a:prstGeom>
          <a:solidFill>
            <a:srgbClr val="113E48"/>
          </a:solidFill>
          <a:ln w="12700">
            <a:solidFill>
              <a:srgbClr val="E9A13B"/>
            </a:solidFill>
            <a:prstDash val="solid"/>
          </a:ln>
        </p:spPr>
      </p:sp>
      <p:sp>
        <p:nvSpPr>
          <p:cNvPr id="32" name="Text 30"/>
          <p:cNvSpPr txBox="1"/>
          <p:nvPr/>
        </p:nvSpPr>
        <p:spPr>
          <a:xfrm>
            <a:off x="4446727" y="5138928"/>
            <a:ext cx="3291840" cy="658368"/>
          </a:xfrm>
          <a:prstGeom prst="rect">
            <a:avLst/>
          </a:prstGeom>
          <a:noFill/>
          <a:ln/>
        </p:spPr>
        <p:txBody>
          <a:bodyPr wrap="square" lIns="0" tIns="0" rIns="0" bIns="0" rtlCol="0" anchor="ctr"/>
          <a:lstStyle/>
          <a:p>
            <a:pPr rtl="1" algn="ctr" indent="0" marL="0">
              <a:buNone/>
            </a:pPr>
            <a:r>
              <a:rPr lang="en-US" sz="1250" b="1" dirty="0">
                <a:solidFill>
                  <a:srgbClr val="E9A13B"/>
                </a:solidFill>
                <a:latin typeface="Arial" pitchFamily="34" charset="0"/>
                <a:ea typeface="Arial" pitchFamily="34" charset="-122"/>
                <a:cs typeface="Arial" pitchFamily="34" charset="-120"/>
              </a:rPr>
              <a:t>بلا ⁦SQL⁩ مُولَّد من كلام المستخدم</a:t>
            </a:r>
            <a:endParaRPr lang="en-US" sz="1250" dirty="0"/>
          </a:p>
        </p:txBody>
      </p:sp>
      <p:sp>
        <p:nvSpPr>
          <p:cNvPr id="33" name="Shape 31"/>
          <p:cNvSpPr/>
          <p:nvPr/>
        </p:nvSpPr>
        <p:spPr>
          <a:xfrm>
            <a:off x="542239" y="5138928"/>
            <a:ext cx="3566160" cy="658368"/>
          </a:xfrm>
          <a:prstGeom prst="roundRect">
            <a:avLst>
              <a:gd name="adj" fmla="val 13889"/>
            </a:avLst>
          </a:prstGeom>
          <a:solidFill>
            <a:srgbClr val="113E48"/>
          </a:solidFill>
          <a:ln w="12700">
            <a:solidFill>
              <a:srgbClr val="E9A13B"/>
            </a:solidFill>
            <a:prstDash val="solid"/>
          </a:ln>
        </p:spPr>
      </p:sp>
      <p:sp>
        <p:nvSpPr>
          <p:cNvPr id="34" name="Text 32"/>
          <p:cNvSpPr txBox="1"/>
          <p:nvPr/>
        </p:nvSpPr>
        <p:spPr>
          <a:xfrm>
            <a:off x="679399" y="5138928"/>
            <a:ext cx="3291840" cy="658368"/>
          </a:xfrm>
          <a:prstGeom prst="rect">
            <a:avLst/>
          </a:prstGeom>
          <a:noFill/>
          <a:ln/>
        </p:spPr>
        <p:txBody>
          <a:bodyPr wrap="square" lIns="0" tIns="0" rIns="0" bIns="0" rtlCol="0" anchor="ctr"/>
          <a:lstStyle/>
          <a:p>
            <a:pPr rtl="1" algn="ctr" indent="0" marL="0">
              <a:buNone/>
            </a:pPr>
            <a:r>
              <a:rPr lang="en-US" sz="1250" b="1" dirty="0">
                <a:solidFill>
                  <a:srgbClr val="E9A13B"/>
                </a:solidFill>
                <a:latin typeface="Arial" pitchFamily="34" charset="0"/>
                <a:ea typeface="Arial" pitchFamily="34" charset="-122"/>
                <a:cs typeface="Arial" pitchFamily="34" charset="-120"/>
              </a:rPr>
              <a:t>البيانات لا تغادر الخادم</a:t>
            </a:r>
            <a:endParaRPr lang="en-US" sz="1250" dirty="0"/>
          </a:p>
        </p:txBody>
      </p:sp>
      <p:sp>
        <p:nvSpPr>
          <p:cNvPr id="35" name="Text 33"/>
          <p:cNvSpPr txBox="1"/>
          <p:nvPr/>
        </p:nvSpPr>
        <p:spPr>
          <a:xfrm>
            <a:off x="548640" y="5989320"/>
            <a:ext cx="11094415" cy="320040"/>
          </a:xfrm>
          <a:prstGeom prst="rect">
            <a:avLst/>
          </a:prstGeom>
          <a:noFill/>
          <a:ln/>
        </p:spPr>
        <p:txBody>
          <a:bodyPr wrap="square" lIns="0" tIns="0" rIns="0" bIns="0" rtlCol="0" anchor="ctr"/>
          <a:lstStyle/>
          <a:p>
            <a:pPr rtl="1" algn="ctr" indent="0" marL="0">
              <a:buNone/>
            </a:pPr>
            <a:r>
              <a:rPr lang="en-US" sz="1200" dirty="0">
                <a:solidFill>
                  <a:srgbClr val="BFD4D7"/>
                </a:solidFill>
                <a:latin typeface="Arial" pitchFamily="34" charset="0"/>
                <a:ea typeface="Arial" pitchFamily="34" charset="-122"/>
                <a:cs typeface="Arial" pitchFamily="34" charset="-120"/>
              </a:rPr>
              <a:t>كل نيّة تملك استعلامًا كتبه مطوّر ويغطّيه اختبار — الجملة تختار أي استعلام يُنفَّذ، ولا تكتبه</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الرابع · الابتكار البرمجي</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محرّك تحليل النوايا — كيف يختار</a:t>
            </a:r>
            <a:endParaRPr lang="en-US" sz="3300" dirty="0"/>
          </a:p>
        </p:txBody>
      </p:sp>
      <p:sp>
        <p:nvSpPr>
          <p:cNvPr id="4" name="Shape 2"/>
          <p:cNvSpPr/>
          <p:nvPr/>
        </p:nvSpPr>
        <p:spPr>
          <a:xfrm>
            <a:off x="9034043" y="1554480"/>
            <a:ext cx="2609012" cy="960120"/>
          </a:xfrm>
          <a:prstGeom prst="roundRect">
            <a:avLst>
              <a:gd name="adj" fmla="val 8571"/>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1185855" y="1700784"/>
            <a:ext cx="292608" cy="292608"/>
          </a:xfrm>
          <a:prstGeom prst="ellipse">
            <a:avLst/>
          </a:prstGeom>
          <a:solidFill>
            <a:srgbClr val="02717D"/>
          </a:solidFill>
          <a:ln/>
        </p:spPr>
      </p:sp>
      <p:sp>
        <p:nvSpPr>
          <p:cNvPr id="6" name="Text 4"/>
          <p:cNvSpPr txBox="1"/>
          <p:nvPr/>
        </p:nvSpPr>
        <p:spPr>
          <a:xfrm>
            <a:off x="11185855" y="1700784"/>
            <a:ext cx="292608" cy="292608"/>
          </a:xfrm>
          <a:prstGeom prst="rect">
            <a:avLst/>
          </a:prstGeom>
          <a:noFill/>
          <a:ln/>
        </p:spPr>
        <p:txBody>
          <a:bodyPr wrap="square" lIns="0" tIns="0" rIns="0" bIns="0" rtlCol="0" anchor="ctr"/>
          <a:lstStyle/>
          <a:p>
            <a:pPr rtl="1"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7" name="Text 5"/>
          <p:cNvSpPr txBox="1"/>
          <p:nvPr/>
        </p:nvSpPr>
        <p:spPr>
          <a:xfrm>
            <a:off x="9216923" y="1682496"/>
            <a:ext cx="1895780"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تطبيع النص</a:t>
            </a:r>
            <a:endParaRPr lang="en-US" sz="1300" dirty="0"/>
          </a:p>
        </p:txBody>
      </p:sp>
      <p:sp>
        <p:nvSpPr>
          <p:cNvPr id="8" name="Text 6"/>
          <p:cNvSpPr txBox="1"/>
          <p:nvPr/>
        </p:nvSpPr>
        <p:spPr>
          <a:xfrm>
            <a:off x="9216923" y="2011680"/>
            <a:ext cx="2243252" cy="402336"/>
          </a:xfrm>
          <a:prstGeom prst="rect">
            <a:avLst/>
          </a:prstGeom>
          <a:noFill/>
          <a:ln/>
        </p:spPr>
        <p:txBody>
          <a:bodyPr wrap="square" lIns="0" tIns="0" rIns="0" bIns="0" rtlCol="0" anchor="ctr"/>
          <a:lstStyle/>
          <a:p>
            <a:pPr rtl="1" algn="r" indent="0" marL="0">
              <a:lnSpc>
                <a:spcPts val="1300"/>
              </a:lnSpc>
              <a:buNone/>
            </a:pPr>
            <a:r>
              <a:rPr lang="en-US" sz="1000" dirty="0">
                <a:solidFill>
                  <a:srgbClr val="5C7378"/>
                </a:solidFill>
                <a:latin typeface="Arial" pitchFamily="34" charset="0"/>
                <a:ea typeface="Arial" pitchFamily="34" charset="-122"/>
                <a:cs typeface="Arial" pitchFamily="34" charset="-120"/>
              </a:rPr>
              <a:t>توحيد الهمزات والتشكيل والأرقام</a:t>
            </a:r>
            <a:endParaRPr lang="en-US" sz="1000" dirty="0"/>
          </a:p>
        </p:txBody>
      </p:sp>
      <p:sp>
        <p:nvSpPr>
          <p:cNvPr id="9" name="Shape 7"/>
          <p:cNvSpPr/>
          <p:nvPr/>
        </p:nvSpPr>
        <p:spPr>
          <a:xfrm>
            <a:off x="6205576" y="1554480"/>
            <a:ext cx="2609012" cy="960120"/>
          </a:xfrm>
          <a:prstGeom prst="roundRect">
            <a:avLst>
              <a:gd name="adj" fmla="val 8571"/>
            </a:avLst>
          </a:prstGeom>
          <a:solidFill>
            <a:srgbClr val="FFFFFF"/>
          </a:solidFill>
          <a:ln/>
          <a:effectLst>
            <a:outerShdw sx="100000" sy="100000" kx="0" ky="0" algn="bl" rotWithShape="0" blurRad="127000" dist="25400" dir="5400000">
              <a:srgbClr val="0A2E36">
                <a:alpha val="10000"/>
              </a:srgbClr>
            </a:outerShdw>
          </a:effectLst>
        </p:spPr>
      </p:sp>
      <p:sp>
        <p:nvSpPr>
          <p:cNvPr id="10" name="Shape 8"/>
          <p:cNvSpPr/>
          <p:nvPr/>
        </p:nvSpPr>
        <p:spPr>
          <a:xfrm>
            <a:off x="8357387" y="1700784"/>
            <a:ext cx="292608" cy="292608"/>
          </a:xfrm>
          <a:prstGeom prst="ellipse">
            <a:avLst/>
          </a:prstGeom>
          <a:solidFill>
            <a:srgbClr val="02717D"/>
          </a:solidFill>
          <a:ln/>
        </p:spPr>
      </p:sp>
      <p:sp>
        <p:nvSpPr>
          <p:cNvPr id="11" name="Text 9"/>
          <p:cNvSpPr txBox="1"/>
          <p:nvPr/>
        </p:nvSpPr>
        <p:spPr>
          <a:xfrm>
            <a:off x="8357387" y="1700784"/>
            <a:ext cx="292608" cy="292608"/>
          </a:xfrm>
          <a:prstGeom prst="rect">
            <a:avLst/>
          </a:prstGeom>
          <a:noFill/>
          <a:ln/>
        </p:spPr>
        <p:txBody>
          <a:bodyPr wrap="square" lIns="0" tIns="0" rIns="0" bIns="0" rtlCol="0" anchor="ctr"/>
          <a:lstStyle/>
          <a:p>
            <a:pPr rtl="1"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12" name="Text 10"/>
          <p:cNvSpPr txBox="1"/>
          <p:nvPr/>
        </p:nvSpPr>
        <p:spPr>
          <a:xfrm>
            <a:off x="6388456" y="1682496"/>
            <a:ext cx="1895780"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مطالبة النوايا</a:t>
            </a:r>
            <a:endParaRPr lang="en-US" sz="1300" dirty="0"/>
          </a:p>
        </p:txBody>
      </p:sp>
      <p:sp>
        <p:nvSpPr>
          <p:cNvPr id="13" name="Text 11"/>
          <p:cNvSpPr txBox="1"/>
          <p:nvPr/>
        </p:nvSpPr>
        <p:spPr>
          <a:xfrm>
            <a:off x="6388456" y="2011680"/>
            <a:ext cx="2243252" cy="402336"/>
          </a:xfrm>
          <a:prstGeom prst="rect">
            <a:avLst/>
          </a:prstGeom>
          <a:noFill/>
          <a:ln/>
        </p:spPr>
        <p:txBody>
          <a:bodyPr wrap="square" lIns="0" tIns="0" rIns="0" bIns="0" rtlCol="0" anchor="ctr"/>
          <a:lstStyle/>
          <a:p>
            <a:pPr rtl="1" algn="r" indent="0" marL="0">
              <a:lnSpc>
                <a:spcPts val="1300"/>
              </a:lnSpc>
              <a:buNone/>
            </a:pPr>
            <a:r>
              <a:rPr lang="en-US" sz="1000" dirty="0">
                <a:solidFill>
                  <a:srgbClr val="5C7378"/>
                </a:solidFill>
                <a:latin typeface="Arial" pitchFamily="34" charset="0"/>
                <a:ea typeface="Arial" pitchFamily="34" charset="-122"/>
                <a:cs typeface="Arial" pitchFamily="34" charset="-120"/>
              </a:rPr>
              <a:t>عشر نوايا، كل واحدة صنف مستقل</a:t>
            </a:r>
            <a:endParaRPr lang="en-US" sz="1000" dirty="0"/>
          </a:p>
        </p:txBody>
      </p:sp>
      <p:sp>
        <p:nvSpPr>
          <p:cNvPr id="14" name="Shape 12"/>
          <p:cNvSpPr/>
          <p:nvPr/>
        </p:nvSpPr>
        <p:spPr>
          <a:xfrm>
            <a:off x="3377108" y="1554480"/>
            <a:ext cx="2609012" cy="960120"/>
          </a:xfrm>
          <a:prstGeom prst="roundRect">
            <a:avLst>
              <a:gd name="adj" fmla="val 8571"/>
            </a:avLst>
          </a:prstGeom>
          <a:solidFill>
            <a:srgbClr val="FFFFFF"/>
          </a:solidFill>
          <a:ln/>
          <a:effectLst>
            <a:outerShdw sx="100000" sy="100000" kx="0" ky="0" algn="bl" rotWithShape="0" blurRad="127000" dist="25400" dir="5400000">
              <a:srgbClr val="0A2E36">
                <a:alpha val="10000"/>
              </a:srgbClr>
            </a:outerShdw>
          </a:effectLst>
        </p:spPr>
      </p:sp>
      <p:sp>
        <p:nvSpPr>
          <p:cNvPr id="15" name="Shape 13"/>
          <p:cNvSpPr/>
          <p:nvPr/>
        </p:nvSpPr>
        <p:spPr>
          <a:xfrm>
            <a:off x="5528920" y="1700784"/>
            <a:ext cx="292608" cy="292608"/>
          </a:xfrm>
          <a:prstGeom prst="ellipse">
            <a:avLst/>
          </a:prstGeom>
          <a:solidFill>
            <a:srgbClr val="E9A13B"/>
          </a:solidFill>
          <a:ln/>
        </p:spPr>
      </p:sp>
      <p:sp>
        <p:nvSpPr>
          <p:cNvPr id="16" name="Text 14"/>
          <p:cNvSpPr txBox="1"/>
          <p:nvPr/>
        </p:nvSpPr>
        <p:spPr>
          <a:xfrm>
            <a:off x="5528920" y="1700784"/>
            <a:ext cx="292608" cy="292608"/>
          </a:xfrm>
          <a:prstGeom prst="rect">
            <a:avLst/>
          </a:prstGeom>
          <a:noFill/>
          <a:ln/>
        </p:spPr>
        <p:txBody>
          <a:bodyPr wrap="square" lIns="0" tIns="0" rIns="0" bIns="0" rtlCol="0" anchor="ctr"/>
          <a:lstStyle/>
          <a:p>
            <a:pPr rtl="1"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17" name="Text 15"/>
          <p:cNvSpPr txBox="1"/>
          <p:nvPr/>
        </p:nvSpPr>
        <p:spPr>
          <a:xfrm>
            <a:off x="3559988" y="1682496"/>
            <a:ext cx="1895780"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الترجيح بالنقاط</a:t>
            </a:r>
            <a:endParaRPr lang="en-US" sz="1300" dirty="0"/>
          </a:p>
        </p:txBody>
      </p:sp>
      <p:sp>
        <p:nvSpPr>
          <p:cNvPr id="18" name="Text 16"/>
          <p:cNvSpPr txBox="1"/>
          <p:nvPr/>
        </p:nvSpPr>
        <p:spPr>
          <a:xfrm>
            <a:off x="3559988" y="2011680"/>
            <a:ext cx="2243252" cy="402336"/>
          </a:xfrm>
          <a:prstGeom prst="rect">
            <a:avLst/>
          </a:prstGeom>
          <a:noFill/>
          <a:ln/>
        </p:spPr>
        <p:txBody>
          <a:bodyPr wrap="square" lIns="0" tIns="0" rIns="0" bIns="0" rtlCol="0" anchor="ctr"/>
          <a:lstStyle/>
          <a:p>
            <a:pPr rtl="1" algn="r" indent="0" marL="0">
              <a:lnSpc>
                <a:spcPts val="1300"/>
              </a:lnSpc>
              <a:buNone/>
            </a:pPr>
            <a:r>
              <a:rPr lang="en-US" sz="1000" dirty="0">
                <a:solidFill>
                  <a:srgbClr val="5C7378"/>
                </a:solidFill>
                <a:latin typeface="Arial" pitchFamily="34" charset="0"/>
                <a:ea typeface="Arial" pitchFamily="34" charset="-122"/>
                <a:cs typeface="Arial" pitchFamily="34" charset="-120"/>
              </a:rPr>
              <a:t>درجة الثقة = عدد الإشارات</a:t>
            </a:r>
            <a:endParaRPr lang="en-US" sz="1000" dirty="0"/>
          </a:p>
        </p:txBody>
      </p:sp>
      <p:sp>
        <p:nvSpPr>
          <p:cNvPr id="19" name="Shape 17"/>
          <p:cNvSpPr/>
          <p:nvPr/>
        </p:nvSpPr>
        <p:spPr>
          <a:xfrm>
            <a:off x="548640" y="1554480"/>
            <a:ext cx="2609012" cy="960120"/>
          </a:xfrm>
          <a:prstGeom prst="roundRect">
            <a:avLst>
              <a:gd name="adj" fmla="val 8571"/>
            </a:avLst>
          </a:prstGeom>
          <a:solidFill>
            <a:srgbClr val="FFFFFF"/>
          </a:solidFill>
          <a:ln/>
          <a:effectLst>
            <a:outerShdw sx="100000" sy="100000" kx="0" ky="0" algn="bl" rotWithShape="0" blurRad="127000" dist="25400" dir="5400000">
              <a:srgbClr val="0A2E36">
                <a:alpha val="10000"/>
              </a:srgbClr>
            </a:outerShdw>
          </a:effectLst>
        </p:spPr>
      </p:sp>
      <p:sp>
        <p:nvSpPr>
          <p:cNvPr id="20" name="Shape 18"/>
          <p:cNvSpPr/>
          <p:nvPr/>
        </p:nvSpPr>
        <p:spPr>
          <a:xfrm>
            <a:off x="2700452" y="1700784"/>
            <a:ext cx="292608" cy="292608"/>
          </a:xfrm>
          <a:prstGeom prst="ellipse">
            <a:avLst/>
          </a:prstGeom>
          <a:solidFill>
            <a:srgbClr val="02717D"/>
          </a:solidFill>
          <a:ln/>
        </p:spPr>
      </p:sp>
      <p:sp>
        <p:nvSpPr>
          <p:cNvPr id="21" name="Text 19"/>
          <p:cNvSpPr txBox="1"/>
          <p:nvPr/>
        </p:nvSpPr>
        <p:spPr>
          <a:xfrm>
            <a:off x="2700452" y="1700784"/>
            <a:ext cx="292608" cy="292608"/>
          </a:xfrm>
          <a:prstGeom prst="rect">
            <a:avLst/>
          </a:prstGeom>
          <a:noFill/>
          <a:ln/>
        </p:spPr>
        <p:txBody>
          <a:bodyPr wrap="square" lIns="0" tIns="0" rIns="0" bIns="0" rtlCol="0" anchor="ctr"/>
          <a:lstStyle/>
          <a:p>
            <a:pPr rtl="1"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22" name="Text 20"/>
          <p:cNvSpPr txBox="1"/>
          <p:nvPr/>
        </p:nvSpPr>
        <p:spPr>
          <a:xfrm>
            <a:off x="731520" y="1682496"/>
            <a:ext cx="1895780"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تنفيذ استعلام جاهز</a:t>
            </a:r>
            <a:endParaRPr lang="en-US" sz="1300" dirty="0"/>
          </a:p>
        </p:txBody>
      </p:sp>
      <p:sp>
        <p:nvSpPr>
          <p:cNvPr id="23" name="Text 21"/>
          <p:cNvSpPr txBox="1"/>
          <p:nvPr/>
        </p:nvSpPr>
        <p:spPr>
          <a:xfrm>
            <a:off x="731520" y="2011680"/>
            <a:ext cx="2243252" cy="402336"/>
          </a:xfrm>
          <a:prstGeom prst="rect">
            <a:avLst/>
          </a:prstGeom>
          <a:noFill/>
          <a:ln/>
        </p:spPr>
        <p:txBody>
          <a:bodyPr wrap="square" lIns="0" tIns="0" rIns="0" bIns="0" rtlCol="0" anchor="ctr"/>
          <a:lstStyle/>
          <a:p>
            <a:pPr rtl="1" algn="r" indent="0" marL="0">
              <a:lnSpc>
                <a:spcPts val="1300"/>
              </a:lnSpc>
              <a:buNone/>
            </a:pPr>
            <a:r>
              <a:rPr lang="en-US" sz="1000" dirty="0">
                <a:solidFill>
                  <a:srgbClr val="5C7378"/>
                </a:solidFill>
                <a:latin typeface="Arial" pitchFamily="34" charset="0"/>
                <a:ea typeface="Arial" pitchFamily="34" charset="-122"/>
                <a:cs typeface="Arial" pitchFamily="34" charset="-120"/>
              </a:rPr>
              <a:t>كتبه مطوّر ويغطّيه اختبار</a:t>
            </a:r>
            <a:endParaRPr lang="en-US" sz="1000" dirty="0"/>
          </a:p>
        </p:txBody>
      </p:sp>
      <p:sp>
        <p:nvSpPr>
          <p:cNvPr id="24" name="Text 22"/>
          <p:cNvSpPr txBox="1"/>
          <p:nvPr/>
        </p:nvSpPr>
        <p:spPr>
          <a:xfrm>
            <a:off x="548640" y="2697480"/>
            <a:ext cx="11094415" cy="274320"/>
          </a:xfrm>
          <a:prstGeom prst="rect">
            <a:avLst/>
          </a:prstGeom>
          <a:noFill/>
          <a:ln/>
        </p:spPr>
        <p:txBody>
          <a:bodyPr wrap="square" lIns="0" tIns="0" rIns="0" bIns="0" rtlCol="0" anchor="ctr"/>
          <a:lstStyle/>
          <a:p>
            <a:pPr rtl="1" algn="ctr" indent="0" marL="0">
              <a:buNone/>
            </a:pPr>
            <a:r>
              <a:rPr lang="en-US" sz="1300" b="1" dirty="0">
                <a:solidFill>
                  <a:srgbClr val="02717D"/>
                </a:solidFill>
                <a:latin typeface="Arial" pitchFamily="34" charset="0"/>
                <a:ea typeface="Arial" pitchFamily="34" charset="-122"/>
                <a:cs typeface="Arial" pitchFamily="34" charset="-120"/>
              </a:rPr>
              <a:t>مثالان يوضحان لماذا النقاط، لا أول تطابق</a:t>
            </a:r>
            <a:endParaRPr lang="en-US" sz="1300" dirty="0"/>
          </a:p>
        </p:txBody>
      </p:sp>
      <p:sp>
        <p:nvSpPr>
          <p:cNvPr id="25" name="Shape 23"/>
          <p:cNvSpPr/>
          <p:nvPr/>
        </p:nvSpPr>
        <p:spPr>
          <a:xfrm>
            <a:off x="6255868" y="3063240"/>
            <a:ext cx="5387188" cy="2788920"/>
          </a:xfrm>
          <a:prstGeom prst="roundRect">
            <a:avLst>
              <a:gd name="adj" fmla="val 2951"/>
            </a:avLst>
          </a:prstGeom>
          <a:solidFill>
            <a:srgbClr val="FFFFFF"/>
          </a:solidFill>
          <a:ln/>
          <a:effectLst>
            <a:outerShdw sx="100000" sy="100000" kx="0" ky="0" algn="bl" rotWithShape="0" blurRad="127000" dist="25400" dir="5400000">
              <a:srgbClr val="0A2E36">
                <a:alpha val="10000"/>
              </a:srgbClr>
            </a:outerShdw>
          </a:effectLst>
        </p:spPr>
      </p:sp>
      <p:sp>
        <p:nvSpPr>
          <p:cNvPr id="26" name="Shape 24"/>
          <p:cNvSpPr/>
          <p:nvPr/>
        </p:nvSpPr>
        <p:spPr>
          <a:xfrm>
            <a:off x="6457036" y="3246120"/>
            <a:ext cx="4984852" cy="502920"/>
          </a:xfrm>
          <a:prstGeom prst="roundRect">
            <a:avLst>
              <a:gd name="adj" fmla="val 25455"/>
            </a:avLst>
          </a:prstGeom>
          <a:solidFill>
            <a:srgbClr val="0A2E36"/>
          </a:solidFill>
          <a:ln/>
        </p:spPr>
      </p:sp>
      <p:sp>
        <p:nvSpPr>
          <p:cNvPr id="27" name="Text 25"/>
          <p:cNvSpPr txBox="1"/>
          <p:nvPr/>
        </p:nvSpPr>
        <p:spPr>
          <a:xfrm>
            <a:off x="6621628" y="3246120"/>
            <a:ext cx="4655668" cy="502920"/>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أين يسكن أحمد الحسن؟</a:t>
            </a:r>
            <a:endParaRPr lang="en-US" sz="1250" dirty="0"/>
          </a:p>
        </p:txBody>
      </p:sp>
      <p:sp>
        <p:nvSpPr>
          <p:cNvPr id="28" name="Shape 26"/>
          <p:cNvSpPr/>
          <p:nvPr/>
        </p:nvSpPr>
        <p:spPr>
          <a:xfrm>
            <a:off x="6457036" y="3913632"/>
            <a:ext cx="4984852" cy="402336"/>
          </a:xfrm>
          <a:prstGeom prst="roundRect">
            <a:avLst>
              <a:gd name="adj" fmla="val 13636"/>
            </a:avLst>
          </a:prstGeom>
          <a:solidFill>
            <a:srgbClr val="FDF3E3"/>
          </a:solidFill>
          <a:ln/>
        </p:spPr>
      </p:sp>
      <p:sp>
        <p:nvSpPr>
          <p:cNvPr id="29" name="Text 27"/>
          <p:cNvSpPr txBox="1"/>
          <p:nvPr/>
        </p:nvSpPr>
        <p:spPr>
          <a:xfrm>
            <a:off x="6603340" y="3913632"/>
            <a:ext cx="3466948" cy="402336"/>
          </a:xfrm>
          <a:prstGeom prst="rect">
            <a:avLst/>
          </a:prstGeom>
          <a:noFill/>
          <a:ln/>
        </p:spPr>
        <p:txBody>
          <a:bodyPr wrap="square" lIns="0" tIns="0" rIns="0" bIns="0" rtlCol="0" anchor="ctr"/>
          <a:lstStyle/>
          <a:p>
            <a:pPr algn="r" indent="0" marL="0">
              <a:buNone/>
            </a:pPr>
            <a:r>
              <a:rPr lang="en-US" sz="1150" b="1" dirty="0">
                <a:solidFill>
                  <a:srgbClr val="B4761C"/>
                </a:solidFill>
                <a:latin typeface="Arial" pitchFamily="34" charset="0"/>
                <a:ea typeface="Arial" pitchFamily="34" charset="-122"/>
                <a:cs typeface="Arial" pitchFamily="34" charset="-120"/>
              </a:rPr>
              <a:t>housing_status</a:t>
            </a:r>
            <a:endParaRPr lang="en-US" sz="1150" dirty="0"/>
          </a:p>
        </p:txBody>
      </p:sp>
      <p:sp>
        <p:nvSpPr>
          <p:cNvPr id="30" name="Text 28"/>
          <p:cNvSpPr txBox="1"/>
          <p:nvPr/>
        </p:nvSpPr>
        <p:spPr>
          <a:xfrm>
            <a:off x="6603340" y="3913632"/>
            <a:ext cx="4655668" cy="402336"/>
          </a:xfrm>
          <a:prstGeom prst="rect">
            <a:avLst/>
          </a:prstGeom>
          <a:noFill/>
          <a:ln/>
        </p:spPr>
        <p:txBody>
          <a:bodyPr wrap="square" lIns="0" tIns="0" rIns="0" bIns="0" rtlCol="0" anchor="ctr"/>
          <a:lstStyle/>
          <a:p>
            <a:pPr rtl="1" algn="l" indent="0" marL="0">
              <a:buNone/>
            </a:pPr>
            <a:r>
              <a:rPr lang="en-US" sz="1150" b="1" dirty="0">
                <a:solidFill>
                  <a:srgbClr val="B4761C"/>
                </a:solidFill>
                <a:latin typeface="Arial" pitchFamily="34" charset="0"/>
                <a:ea typeface="Arial" pitchFamily="34" charset="-122"/>
                <a:cs typeface="Arial" pitchFamily="34" charset="-120"/>
              </a:rPr>
              <a:t>٣  ✓</a:t>
            </a:r>
            <a:endParaRPr lang="en-US" sz="1150" dirty="0"/>
          </a:p>
        </p:txBody>
      </p:sp>
      <p:sp>
        <p:nvSpPr>
          <p:cNvPr id="31" name="Shape 29"/>
          <p:cNvSpPr/>
          <p:nvPr/>
        </p:nvSpPr>
        <p:spPr>
          <a:xfrm>
            <a:off x="6457036" y="4389120"/>
            <a:ext cx="4984852" cy="402336"/>
          </a:xfrm>
          <a:prstGeom prst="roundRect">
            <a:avLst>
              <a:gd name="adj" fmla="val 13636"/>
            </a:avLst>
          </a:prstGeom>
          <a:solidFill>
            <a:srgbClr val="ECF4F4"/>
          </a:solidFill>
          <a:ln/>
        </p:spPr>
      </p:sp>
      <p:sp>
        <p:nvSpPr>
          <p:cNvPr id="32" name="Text 30"/>
          <p:cNvSpPr txBox="1"/>
          <p:nvPr/>
        </p:nvSpPr>
        <p:spPr>
          <a:xfrm>
            <a:off x="6603340" y="4389120"/>
            <a:ext cx="3466948" cy="402336"/>
          </a:xfrm>
          <a:prstGeom prst="rect">
            <a:avLst/>
          </a:prstGeom>
          <a:noFill/>
          <a:ln/>
        </p:spPr>
        <p:txBody>
          <a:bodyPr wrap="square" lIns="0" tIns="0" rIns="0" bIns="0" rtlCol="0" anchor="ctr"/>
          <a:lstStyle/>
          <a:p>
            <a:pPr algn="r" indent="0" marL="0">
              <a:buNone/>
            </a:pPr>
            <a:r>
              <a:rPr lang="en-US" sz="1150" dirty="0">
                <a:solidFill>
                  <a:srgbClr val="5C7378"/>
                </a:solidFill>
                <a:latin typeface="Arial" pitchFamily="34" charset="0"/>
                <a:ea typeface="Arial" pitchFamily="34" charset="-122"/>
                <a:cs typeface="Arial" pitchFamily="34" charset="-120"/>
              </a:rPr>
              <a:t>unhoused</a:t>
            </a:r>
            <a:endParaRPr lang="en-US" sz="1150" dirty="0"/>
          </a:p>
        </p:txBody>
      </p:sp>
      <p:sp>
        <p:nvSpPr>
          <p:cNvPr id="33" name="Text 31"/>
          <p:cNvSpPr txBox="1"/>
          <p:nvPr/>
        </p:nvSpPr>
        <p:spPr>
          <a:xfrm>
            <a:off x="6603340" y="4389120"/>
            <a:ext cx="4655668" cy="402336"/>
          </a:xfrm>
          <a:prstGeom prst="rect">
            <a:avLst/>
          </a:prstGeom>
          <a:noFill/>
          <a:ln/>
        </p:spPr>
        <p:txBody>
          <a:bodyPr wrap="square" lIns="0" tIns="0" rIns="0" bIns="0" rtlCol="0" anchor="ctr"/>
          <a:lstStyle/>
          <a:p>
            <a:pPr rtl="1" algn="l" indent="0" marL="0">
              <a:buNone/>
            </a:pPr>
            <a:r>
              <a:rPr lang="en-US" sz="1150" dirty="0">
                <a:solidFill>
                  <a:srgbClr val="5C7378"/>
                </a:solidFill>
                <a:latin typeface="Arial" pitchFamily="34" charset="0"/>
                <a:ea typeface="Arial" pitchFamily="34" charset="-122"/>
                <a:cs typeface="Arial" pitchFamily="34" charset="-120"/>
              </a:rPr>
              <a:t>لا يطالب</a:t>
            </a:r>
            <a:endParaRPr lang="en-US" sz="1150" dirty="0"/>
          </a:p>
        </p:txBody>
      </p:sp>
      <p:sp>
        <p:nvSpPr>
          <p:cNvPr id="34" name="Shape 32"/>
          <p:cNvSpPr/>
          <p:nvPr/>
        </p:nvSpPr>
        <p:spPr>
          <a:xfrm>
            <a:off x="6457036" y="4864608"/>
            <a:ext cx="4984852" cy="402336"/>
          </a:xfrm>
          <a:prstGeom prst="roundRect">
            <a:avLst>
              <a:gd name="adj" fmla="val 13636"/>
            </a:avLst>
          </a:prstGeom>
          <a:solidFill>
            <a:srgbClr val="ECF4F4"/>
          </a:solidFill>
          <a:ln/>
        </p:spPr>
      </p:sp>
      <p:sp>
        <p:nvSpPr>
          <p:cNvPr id="35" name="Text 33"/>
          <p:cNvSpPr txBox="1"/>
          <p:nvPr/>
        </p:nvSpPr>
        <p:spPr>
          <a:xfrm>
            <a:off x="6603340" y="4864608"/>
            <a:ext cx="3466948" cy="402336"/>
          </a:xfrm>
          <a:prstGeom prst="rect">
            <a:avLst/>
          </a:prstGeom>
          <a:noFill/>
          <a:ln/>
        </p:spPr>
        <p:txBody>
          <a:bodyPr wrap="square" lIns="0" tIns="0" rIns="0" bIns="0" rtlCol="0" anchor="ctr"/>
          <a:lstStyle/>
          <a:p>
            <a:pPr algn="r" indent="0" marL="0">
              <a:buNone/>
            </a:pPr>
            <a:r>
              <a:rPr lang="en-US" sz="1150" dirty="0">
                <a:solidFill>
                  <a:srgbClr val="5C7378"/>
                </a:solidFill>
                <a:latin typeface="Arial" pitchFamily="34" charset="0"/>
                <a:ea typeface="Arial" pitchFamily="34" charset="-122"/>
                <a:cs typeface="Arial" pitchFamily="34" charset="-120"/>
              </a:rPr>
              <a:t>النوايا الأخرى</a:t>
            </a:r>
            <a:endParaRPr lang="en-US" sz="1150" dirty="0"/>
          </a:p>
        </p:txBody>
      </p:sp>
      <p:sp>
        <p:nvSpPr>
          <p:cNvPr id="36" name="Text 34"/>
          <p:cNvSpPr txBox="1"/>
          <p:nvPr/>
        </p:nvSpPr>
        <p:spPr>
          <a:xfrm>
            <a:off x="6603340" y="4864608"/>
            <a:ext cx="4655668" cy="402336"/>
          </a:xfrm>
          <a:prstGeom prst="rect">
            <a:avLst/>
          </a:prstGeom>
          <a:noFill/>
          <a:ln/>
        </p:spPr>
        <p:txBody>
          <a:bodyPr wrap="square" lIns="0" tIns="0" rIns="0" bIns="0" rtlCol="0" anchor="ctr"/>
          <a:lstStyle/>
          <a:p>
            <a:pPr rtl="1" algn="l" indent="0" marL="0">
              <a:buNone/>
            </a:pPr>
            <a:r>
              <a:rPr lang="en-US" sz="1150" dirty="0">
                <a:solidFill>
                  <a:srgbClr val="5C7378"/>
                </a:solidFill>
                <a:latin typeface="Arial" pitchFamily="34" charset="0"/>
                <a:ea typeface="Arial" pitchFamily="34" charset="-122"/>
                <a:cs typeface="Arial" pitchFamily="34" charset="-120"/>
              </a:rPr>
              <a:t>درجة أدنى</a:t>
            </a:r>
            <a:endParaRPr lang="en-US" sz="1150" dirty="0"/>
          </a:p>
        </p:txBody>
      </p:sp>
      <p:sp>
        <p:nvSpPr>
          <p:cNvPr id="37" name="Text 35"/>
          <p:cNvSpPr txBox="1"/>
          <p:nvPr/>
        </p:nvSpPr>
        <p:spPr>
          <a:xfrm>
            <a:off x="6457036" y="5440680"/>
            <a:ext cx="4984852" cy="274320"/>
          </a:xfrm>
          <a:prstGeom prst="rect">
            <a:avLst/>
          </a:prstGeom>
          <a:noFill/>
          <a:ln/>
        </p:spPr>
        <p:txBody>
          <a:bodyPr wrap="square" lIns="0" tIns="0" rIns="0" bIns="0" rtlCol="0" anchor="ctr"/>
          <a:lstStyle/>
          <a:p>
            <a:pPr rtl="1" algn="ctr" indent="0" marL="0">
              <a:buNone/>
            </a:pPr>
            <a:r>
              <a:rPr lang="en-US" sz="1100" dirty="0">
                <a:solidFill>
                  <a:srgbClr val="5C7378"/>
                </a:solidFill>
                <a:latin typeface="Arial" pitchFamily="34" charset="0"/>
                <a:ea typeface="Arial" pitchFamily="34" charset="-122"/>
                <a:cs typeface="Arial" pitchFamily="34" charset="-120"/>
              </a:rPr>
              <a:t>سؤال عن شخص</a:t>
            </a:r>
            <a:endParaRPr lang="en-US" sz="1100" dirty="0"/>
          </a:p>
        </p:txBody>
      </p:sp>
      <p:sp>
        <p:nvSpPr>
          <p:cNvPr id="38" name="Shape 36"/>
          <p:cNvSpPr/>
          <p:nvPr/>
        </p:nvSpPr>
        <p:spPr>
          <a:xfrm>
            <a:off x="548640" y="3063240"/>
            <a:ext cx="5387188" cy="2788920"/>
          </a:xfrm>
          <a:prstGeom prst="roundRect">
            <a:avLst>
              <a:gd name="adj" fmla="val 2951"/>
            </a:avLst>
          </a:prstGeom>
          <a:solidFill>
            <a:srgbClr val="FFFFFF"/>
          </a:solidFill>
          <a:ln/>
          <a:effectLst>
            <a:outerShdw sx="100000" sy="100000" kx="0" ky="0" algn="bl" rotWithShape="0" blurRad="127000" dist="25400" dir="5400000">
              <a:srgbClr val="0A2E36">
                <a:alpha val="10000"/>
              </a:srgbClr>
            </a:outerShdw>
          </a:effectLst>
        </p:spPr>
      </p:sp>
      <p:sp>
        <p:nvSpPr>
          <p:cNvPr id="39" name="Shape 37"/>
          <p:cNvSpPr/>
          <p:nvPr/>
        </p:nvSpPr>
        <p:spPr>
          <a:xfrm>
            <a:off x="749808" y="3246120"/>
            <a:ext cx="4984852" cy="502920"/>
          </a:xfrm>
          <a:prstGeom prst="roundRect">
            <a:avLst>
              <a:gd name="adj" fmla="val 25455"/>
            </a:avLst>
          </a:prstGeom>
          <a:solidFill>
            <a:srgbClr val="0A2E36"/>
          </a:solidFill>
          <a:ln/>
        </p:spPr>
      </p:sp>
      <p:sp>
        <p:nvSpPr>
          <p:cNvPr id="40" name="Text 38"/>
          <p:cNvSpPr txBox="1"/>
          <p:nvPr/>
        </p:nvSpPr>
        <p:spPr>
          <a:xfrm>
            <a:off x="914400" y="3246120"/>
            <a:ext cx="4655668" cy="502920"/>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كم شخصًا بلا سكن؟</a:t>
            </a:r>
            <a:endParaRPr lang="en-US" sz="1250" dirty="0"/>
          </a:p>
        </p:txBody>
      </p:sp>
      <p:sp>
        <p:nvSpPr>
          <p:cNvPr id="41" name="Shape 39"/>
          <p:cNvSpPr/>
          <p:nvPr/>
        </p:nvSpPr>
        <p:spPr>
          <a:xfrm>
            <a:off x="749808" y="3913632"/>
            <a:ext cx="4984852" cy="402336"/>
          </a:xfrm>
          <a:prstGeom prst="roundRect">
            <a:avLst>
              <a:gd name="adj" fmla="val 13636"/>
            </a:avLst>
          </a:prstGeom>
          <a:solidFill>
            <a:srgbClr val="FDF3E3"/>
          </a:solidFill>
          <a:ln/>
        </p:spPr>
      </p:sp>
      <p:sp>
        <p:nvSpPr>
          <p:cNvPr id="42" name="Text 40"/>
          <p:cNvSpPr txBox="1"/>
          <p:nvPr/>
        </p:nvSpPr>
        <p:spPr>
          <a:xfrm>
            <a:off x="896112" y="3913632"/>
            <a:ext cx="3466948" cy="402336"/>
          </a:xfrm>
          <a:prstGeom prst="rect">
            <a:avLst/>
          </a:prstGeom>
          <a:noFill/>
          <a:ln/>
        </p:spPr>
        <p:txBody>
          <a:bodyPr wrap="square" lIns="0" tIns="0" rIns="0" bIns="0" rtlCol="0" anchor="ctr"/>
          <a:lstStyle/>
          <a:p>
            <a:pPr algn="r" indent="0" marL="0">
              <a:buNone/>
            </a:pPr>
            <a:r>
              <a:rPr lang="en-US" sz="1150" b="1" dirty="0">
                <a:solidFill>
                  <a:srgbClr val="B4761C"/>
                </a:solidFill>
                <a:latin typeface="Arial" pitchFamily="34" charset="0"/>
                <a:ea typeface="Arial" pitchFamily="34" charset="-122"/>
                <a:cs typeface="Arial" pitchFamily="34" charset="-120"/>
              </a:rPr>
              <a:t>unhoused</a:t>
            </a:r>
            <a:endParaRPr lang="en-US" sz="1150" dirty="0"/>
          </a:p>
        </p:txBody>
      </p:sp>
      <p:sp>
        <p:nvSpPr>
          <p:cNvPr id="43" name="Text 41"/>
          <p:cNvSpPr txBox="1"/>
          <p:nvPr/>
        </p:nvSpPr>
        <p:spPr>
          <a:xfrm>
            <a:off x="896112" y="3913632"/>
            <a:ext cx="4655668" cy="402336"/>
          </a:xfrm>
          <a:prstGeom prst="rect">
            <a:avLst/>
          </a:prstGeom>
          <a:noFill/>
          <a:ln/>
        </p:spPr>
        <p:txBody>
          <a:bodyPr wrap="square" lIns="0" tIns="0" rIns="0" bIns="0" rtlCol="0" anchor="ctr"/>
          <a:lstStyle/>
          <a:p>
            <a:pPr rtl="1" algn="l" indent="0" marL="0">
              <a:buNone/>
            </a:pPr>
            <a:r>
              <a:rPr lang="en-US" sz="1150" b="1" dirty="0">
                <a:solidFill>
                  <a:srgbClr val="B4761C"/>
                </a:solidFill>
                <a:latin typeface="Arial" pitchFamily="34" charset="0"/>
                <a:ea typeface="Arial" pitchFamily="34" charset="-122"/>
                <a:cs typeface="Arial" pitchFamily="34" charset="-120"/>
              </a:rPr>
              <a:t>٣  ✓</a:t>
            </a:r>
            <a:endParaRPr lang="en-US" sz="1150" dirty="0"/>
          </a:p>
        </p:txBody>
      </p:sp>
      <p:sp>
        <p:nvSpPr>
          <p:cNvPr id="44" name="Shape 42"/>
          <p:cNvSpPr/>
          <p:nvPr/>
        </p:nvSpPr>
        <p:spPr>
          <a:xfrm>
            <a:off x="749808" y="4389120"/>
            <a:ext cx="4984852" cy="402336"/>
          </a:xfrm>
          <a:prstGeom prst="roundRect">
            <a:avLst>
              <a:gd name="adj" fmla="val 13636"/>
            </a:avLst>
          </a:prstGeom>
          <a:solidFill>
            <a:srgbClr val="ECF4F4"/>
          </a:solidFill>
          <a:ln/>
        </p:spPr>
      </p:sp>
      <p:sp>
        <p:nvSpPr>
          <p:cNvPr id="45" name="Text 43"/>
          <p:cNvSpPr txBox="1"/>
          <p:nvPr/>
        </p:nvSpPr>
        <p:spPr>
          <a:xfrm>
            <a:off x="896112" y="4389120"/>
            <a:ext cx="3466948" cy="402336"/>
          </a:xfrm>
          <a:prstGeom prst="rect">
            <a:avLst/>
          </a:prstGeom>
          <a:noFill/>
          <a:ln/>
        </p:spPr>
        <p:txBody>
          <a:bodyPr wrap="square" lIns="0" tIns="0" rIns="0" bIns="0" rtlCol="0" anchor="ctr"/>
          <a:lstStyle/>
          <a:p>
            <a:pPr algn="r" indent="0" marL="0">
              <a:buNone/>
            </a:pPr>
            <a:r>
              <a:rPr lang="en-US" sz="1150" dirty="0">
                <a:solidFill>
                  <a:srgbClr val="5C7378"/>
                </a:solidFill>
                <a:latin typeface="Arial" pitchFamily="34" charset="0"/>
                <a:ea typeface="Arial" pitchFamily="34" charset="-122"/>
                <a:cs typeface="Arial" pitchFamily="34" charset="-120"/>
              </a:rPr>
              <a:t>housing_status</a:t>
            </a:r>
            <a:endParaRPr lang="en-US" sz="1150" dirty="0"/>
          </a:p>
        </p:txBody>
      </p:sp>
      <p:sp>
        <p:nvSpPr>
          <p:cNvPr id="46" name="Text 44"/>
          <p:cNvSpPr txBox="1"/>
          <p:nvPr/>
        </p:nvSpPr>
        <p:spPr>
          <a:xfrm>
            <a:off x="896112" y="4389120"/>
            <a:ext cx="4655668" cy="402336"/>
          </a:xfrm>
          <a:prstGeom prst="rect">
            <a:avLst/>
          </a:prstGeom>
          <a:noFill/>
          <a:ln/>
        </p:spPr>
        <p:txBody>
          <a:bodyPr wrap="square" lIns="0" tIns="0" rIns="0" bIns="0" rtlCol="0" anchor="ctr"/>
          <a:lstStyle/>
          <a:p>
            <a:pPr rtl="1" algn="l" indent="0" marL="0">
              <a:buNone/>
            </a:pPr>
            <a:r>
              <a:rPr lang="en-US" sz="1150" dirty="0">
                <a:solidFill>
                  <a:srgbClr val="5C7378"/>
                </a:solidFill>
                <a:latin typeface="Arial" pitchFamily="34" charset="0"/>
                <a:ea typeface="Arial" pitchFamily="34" charset="-122"/>
                <a:cs typeface="Arial" pitchFamily="34" charset="-120"/>
              </a:rPr>
              <a:t>ينسحب</a:t>
            </a:r>
            <a:endParaRPr lang="en-US" sz="1150" dirty="0"/>
          </a:p>
        </p:txBody>
      </p:sp>
      <p:sp>
        <p:nvSpPr>
          <p:cNvPr id="47" name="Shape 45"/>
          <p:cNvSpPr/>
          <p:nvPr/>
        </p:nvSpPr>
        <p:spPr>
          <a:xfrm>
            <a:off x="749808" y="4864608"/>
            <a:ext cx="4984852" cy="402336"/>
          </a:xfrm>
          <a:prstGeom prst="roundRect">
            <a:avLst>
              <a:gd name="adj" fmla="val 13636"/>
            </a:avLst>
          </a:prstGeom>
          <a:solidFill>
            <a:srgbClr val="ECF4F4"/>
          </a:solidFill>
          <a:ln/>
        </p:spPr>
      </p:sp>
      <p:sp>
        <p:nvSpPr>
          <p:cNvPr id="48" name="Text 46"/>
          <p:cNvSpPr txBox="1"/>
          <p:nvPr/>
        </p:nvSpPr>
        <p:spPr>
          <a:xfrm>
            <a:off x="896112" y="4864608"/>
            <a:ext cx="3466948" cy="402336"/>
          </a:xfrm>
          <a:prstGeom prst="rect">
            <a:avLst/>
          </a:prstGeom>
          <a:noFill/>
          <a:ln/>
        </p:spPr>
        <p:txBody>
          <a:bodyPr wrap="square" lIns="0" tIns="0" rIns="0" bIns="0" rtlCol="0" anchor="ctr"/>
          <a:lstStyle/>
          <a:p>
            <a:pPr algn="r" indent="0" marL="0">
              <a:buNone/>
            </a:pPr>
            <a:r>
              <a:rPr lang="en-US" sz="1150" dirty="0">
                <a:solidFill>
                  <a:srgbClr val="5C7378"/>
                </a:solidFill>
                <a:latin typeface="Arial" pitchFamily="34" charset="0"/>
                <a:ea typeface="Arial" pitchFamily="34" charset="-122"/>
                <a:cs typeface="Arial" pitchFamily="34" charset="-120"/>
              </a:rPr>
              <a:t>النوايا الأخرى</a:t>
            </a:r>
            <a:endParaRPr lang="en-US" sz="1150" dirty="0"/>
          </a:p>
        </p:txBody>
      </p:sp>
      <p:sp>
        <p:nvSpPr>
          <p:cNvPr id="49" name="Text 47"/>
          <p:cNvSpPr txBox="1"/>
          <p:nvPr/>
        </p:nvSpPr>
        <p:spPr>
          <a:xfrm>
            <a:off x="896112" y="4864608"/>
            <a:ext cx="4655668" cy="402336"/>
          </a:xfrm>
          <a:prstGeom prst="rect">
            <a:avLst/>
          </a:prstGeom>
          <a:noFill/>
          <a:ln/>
        </p:spPr>
        <p:txBody>
          <a:bodyPr wrap="square" lIns="0" tIns="0" rIns="0" bIns="0" rtlCol="0" anchor="ctr"/>
          <a:lstStyle/>
          <a:p>
            <a:pPr rtl="1" algn="l" indent="0" marL="0">
              <a:buNone/>
            </a:pPr>
            <a:r>
              <a:rPr lang="en-US" sz="1150" dirty="0">
                <a:solidFill>
                  <a:srgbClr val="5C7378"/>
                </a:solidFill>
                <a:latin typeface="Arial" pitchFamily="34" charset="0"/>
                <a:ea typeface="Arial" pitchFamily="34" charset="-122"/>
                <a:cs typeface="Arial" pitchFamily="34" charset="-120"/>
              </a:rPr>
              <a:t>لا تطالب</a:t>
            </a:r>
            <a:endParaRPr lang="en-US" sz="1150" dirty="0"/>
          </a:p>
        </p:txBody>
      </p:sp>
      <p:sp>
        <p:nvSpPr>
          <p:cNvPr id="50" name="Text 48"/>
          <p:cNvSpPr txBox="1"/>
          <p:nvPr/>
        </p:nvSpPr>
        <p:spPr>
          <a:xfrm>
            <a:off x="749808" y="5440680"/>
            <a:ext cx="4984852" cy="274320"/>
          </a:xfrm>
          <a:prstGeom prst="rect">
            <a:avLst/>
          </a:prstGeom>
          <a:noFill/>
          <a:ln/>
        </p:spPr>
        <p:txBody>
          <a:bodyPr wrap="square" lIns="0" tIns="0" rIns="0" bIns="0" rtlCol="0" anchor="ctr"/>
          <a:lstStyle/>
          <a:p>
            <a:pPr rtl="1" algn="ctr" indent="0" marL="0">
              <a:buNone/>
            </a:pPr>
            <a:r>
              <a:rPr lang="en-US" sz="1100" dirty="0">
                <a:solidFill>
                  <a:srgbClr val="5C7378"/>
                </a:solidFill>
                <a:latin typeface="Arial" pitchFamily="34" charset="0"/>
                <a:ea typeface="Arial" pitchFamily="34" charset="-122"/>
                <a:cs typeface="Arial" pitchFamily="34" charset="-120"/>
              </a:rPr>
              <a:t>إحصاء عن المخيم</a:t>
            </a:r>
            <a:endParaRPr lang="en-US" sz="1100" dirty="0"/>
          </a:p>
        </p:txBody>
      </p:sp>
      <p:sp>
        <p:nvSpPr>
          <p:cNvPr id="51" name="Text 49"/>
          <p:cNvSpPr txBox="1"/>
          <p:nvPr/>
        </p:nvSpPr>
        <p:spPr>
          <a:xfrm>
            <a:off x="548640" y="5989320"/>
            <a:ext cx="11094415" cy="274320"/>
          </a:xfrm>
          <a:prstGeom prst="rect">
            <a:avLst/>
          </a:prstGeom>
          <a:noFill/>
          <a:ln/>
        </p:spPr>
        <p:txBody>
          <a:bodyPr wrap="square" lIns="0" tIns="0" rIns="0" bIns="0" rtlCol="0" anchor="ctr"/>
          <a:lstStyle/>
          <a:p>
            <a:pPr rtl="1" algn="ctr" indent="0" marL="0">
              <a:buNone/>
            </a:pPr>
            <a:r>
              <a:rPr lang="en-US" sz="1150" dirty="0">
                <a:solidFill>
                  <a:srgbClr val="16292E"/>
                </a:solidFill>
                <a:latin typeface="Arial" pitchFamily="34" charset="0"/>
                <a:ea typeface="Arial" pitchFamily="34" charset="-122"/>
                <a:cs typeface="Arial" pitchFamily="34" charset="-120"/>
              </a:rPr>
              <a:t>الكلمتان تشتركان في «سكن» — ولو أخذنا أول تطابق لأجاب النظام إجابة خاطئة بثقة تامة</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الرابع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المساعد داخل النظام</a:t>
            </a:r>
            <a:endParaRPr lang="en-US" sz="3300" dirty="0"/>
          </a:p>
        </p:txBody>
      </p:sp>
      <p:sp>
        <p:nvSpPr>
          <p:cNvPr id="4" name="Shape 2"/>
          <p:cNvSpPr/>
          <p:nvPr/>
        </p:nvSpPr>
        <p:spPr>
          <a:xfrm>
            <a:off x="7701991" y="1517904"/>
            <a:ext cx="3172968" cy="4673956"/>
          </a:xfrm>
          <a:prstGeom prst="roundRect">
            <a:avLst>
              <a:gd name="adj" fmla="val 2594"/>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assistant_ok.png">    </p:cNvPr>
          <p:cNvPicPr>
            <a:picLocks noChangeAspect="1"/>
          </p:cNvPicPr>
          <p:nvPr/>
        </p:nvPicPr>
        <p:blipFill>
          <a:blip r:embed="rId1"/>
          <a:stretch>
            <a:fillRect/>
          </a:stretch>
        </p:blipFill>
        <p:spPr>
          <a:xfrm>
            <a:off x="7756855" y="1572768"/>
            <a:ext cx="3063240" cy="4564228"/>
          </a:xfrm>
          <a:prstGeom prst="rect">
            <a:avLst/>
          </a:prstGeom>
        </p:spPr>
      </p:pic>
      <p:sp>
        <p:nvSpPr>
          <p:cNvPr id="6" name="Text 3"/>
          <p:cNvSpPr txBox="1"/>
          <p:nvPr/>
        </p:nvSpPr>
        <p:spPr>
          <a:xfrm>
            <a:off x="548640" y="1627632"/>
            <a:ext cx="6705295" cy="310896"/>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سؤال واحد بالعربية، وإجابة من قاعدة البيانات</a:t>
            </a:r>
            <a:endParaRPr lang="en-US" sz="1400" dirty="0"/>
          </a:p>
        </p:txBody>
      </p:sp>
      <p:sp>
        <p:nvSpPr>
          <p:cNvPr id="7" name="Shape 4"/>
          <p:cNvSpPr/>
          <p:nvPr/>
        </p:nvSpPr>
        <p:spPr>
          <a:xfrm>
            <a:off x="548640" y="2084832"/>
            <a:ext cx="6705295"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6778447" y="2212848"/>
            <a:ext cx="256032" cy="256032"/>
          </a:xfrm>
          <a:prstGeom prst="ellipse">
            <a:avLst/>
          </a:prstGeom>
          <a:solidFill>
            <a:srgbClr val="02717D"/>
          </a:solidFill>
          <a:ln/>
        </p:spPr>
      </p:sp>
      <p:sp>
        <p:nvSpPr>
          <p:cNvPr id="9" name="Text 6"/>
          <p:cNvSpPr txBox="1"/>
          <p:nvPr/>
        </p:nvSpPr>
        <p:spPr>
          <a:xfrm>
            <a:off x="6778447" y="221284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749808" y="2194560"/>
            <a:ext cx="5928055"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السؤال كما كُتب</a:t>
            </a:r>
            <a:endParaRPr lang="en-US" sz="1300" dirty="0"/>
          </a:p>
        </p:txBody>
      </p:sp>
      <p:sp>
        <p:nvSpPr>
          <p:cNvPr id="11" name="Text 8"/>
          <p:cNvSpPr txBox="1"/>
          <p:nvPr/>
        </p:nvSpPr>
        <p:spPr>
          <a:xfrm>
            <a:off x="749808" y="2468880"/>
            <a:ext cx="6302959"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«كم عدد السكان في مخيم السلام؟»: جملة عادية، لا صيغة ولا أمر</a:t>
            </a:r>
            <a:endParaRPr lang="en-US" sz="1050" dirty="0"/>
          </a:p>
        </p:txBody>
      </p:sp>
      <p:sp>
        <p:nvSpPr>
          <p:cNvPr id="12" name="Shape 9"/>
          <p:cNvSpPr/>
          <p:nvPr/>
        </p:nvSpPr>
        <p:spPr>
          <a:xfrm>
            <a:off x="548640" y="3044952"/>
            <a:ext cx="6705295"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13" name="Shape 10"/>
          <p:cNvSpPr/>
          <p:nvPr/>
        </p:nvSpPr>
        <p:spPr>
          <a:xfrm>
            <a:off x="6778447" y="3172968"/>
            <a:ext cx="256032" cy="256032"/>
          </a:xfrm>
          <a:prstGeom prst="ellipse">
            <a:avLst/>
          </a:prstGeom>
          <a:solidFill>
            <a:srgbClr val="E9A13B"/>
          </a:solidFill>
          <a:ln/>
        </p:spPr>
      </p:sp>
      <p:sp>
        <p:nvSpPr>
          <p:cNvPr id="14" name="Text 11"/>
          <p:cNvSpPr txBox="1"/>
          <p:nvPr/>
        </p:nvSpPr>
        <p:spPr>
          <a:xfrm>
            <a:off x="6778447" y="317296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5" name="Text 12"/>
          <p:cNvSpPr txBox="1"/>
          <p:nvPr/>
        </p:nvSpPr>
        <p:spPr>
          <a:xfrm>
            <a:off x="749808" y="3154680"/>
            <a:ext cx="5928055"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الإجابة جملة أولًا</a:t>
            </a:r>
            <a:endParaRPr lang="en-US" sz="1300" dirty="0"/>
          </a:p>
        </p:txBody>
      </p:sp>
      <p:sp>
        <p:nvSpPr>
          <p:cNvPr id="16" name="Text 13"/>
          <p:cNvSpPr txBox="1"/>
          <p:nvPr/>
        </p:nvSpPr>
        <p:spPr>
          <a:xfrm>
            <a:off x="749808" y="3429000"/>
            <a:ext cx="6302959"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«عدد السكان الفعّالين في مخيم السلام هو 199 شخصًا»: رقم من الجدول لا تقدير</a:t>
            </a:r>
            <a:endParaRPr lang="en-US" sz="1050" dirty="0"/>
          </a:p>
        </p:txBody>
      </p:sp>
      <p:sp>
        <p:nvSpPr>
          <p:cNvPr id="17" name="Shape 14"/>
          <p:cNvSpPr/>
          <p:nvPr/>
        </p:nvSpPr>
        <p:spPr>
          <a:xfrm>
            <a:off x="548640" y="4005072"/>
            <a:ext cx="6705295"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18" name="Shape 15"/>
          <p:cNvSpPr/>
          <p:nvPr/>
        </p:nvSpPr>
        <p:spPr>
          <a:xfrm>
            <a:off x="6778447" y="4133088"/>
            <a:ext cx="256032" cy="256032"/>
          </a:xfrm>
          <a:prstGeom prst="ellipse">
            <a:avLst/>
          </a:prstGeom>
          <a:solidFill>
            <a:srgbClr val="02717D"/>
          </a:solidFill>
          <a:ln/>
        </p:spPr>
      </p:sp>
      <p:sp>
        <p:nvSpPr>
          <p:cNvPr id="19" name="Text 16"/>
          <p:cNvSpPr txBox="1"/>
          <p:nvPr/>
        </p:nvSpPr>
        <p:spPr>
          <a:xfrm>
            <a:off x="6778447" y="413308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0" name="Text 17"/>
          <p:cNvSpPr txBox="1"/>
          <p:nvPr/>
        </p:nvSpPr>
        <p:spPr>
          <a:xfrm>
            <a:off x="749808" y="4114800"/>
            <a:ext cx="5928055"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الأرقام المساندة</a:t>
            </a:r>
            <a:endParaRPr lang="en-US" sz="1300" dirty="0"/>
          </a:p>
        </p:txBody>
      </p:sp>
      <p:sp>
        <p:nvSpPr>
          <p:cNvPr id="21" name="Text 18"/>
          <p:cNvSpPr txBox="1"/>
          <p:nvPr/>
        </p:nvSpPr>
        <p:spPr>
          <a:xfrm>
            <a:off x="749808" y="4389120"/>
            <a:ext cx="6302959"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إجمالي السكان، وداخل المخيم، وخارجه: تفصيل يجيب السؤال التالي قبل أن يُطرح</a:t>
            </a:r>
            <a:endParaRPr lang="en-US" sz="1050" dirty="0"/>
          </a:p>
        </p:txBody>
      </p:sp>
      <p:sp>
        <p:nvSpPr>
          <p:cNvPr id="22" name="Shape 19"/>
          <p:cNvSpPr/>
          <p:nvPr/>
        </p:nvSpPr>
        <p:spPr>
          <a:xfrm>
            <a:off x="548640" y="4965192"/>
            <a:ext cx="6705295"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23" name="Shape 20"/>
          <p:cNvSpPr/>
          <p:nvPr/>
        </p:nvSpPr>
        <p:spPr>
          <a:xfrm>
            <a:off x="6778447" y="5093208"/>
            <a:ext cx="256032" cy="256032"/>
          </a:xfrm>
          <a:prstGeom prst="ellipse">
            <a:avLst/>
          </a:prstGeom>
          <a:solidFill>
            <a:srgbClr val="02717D"/>
          </a:solidFill>
          <a:ln/>
        </p:spPr>
      </p:sp>
      <p:sp>
        <p:nvSpPr>
          <p:cNvPr id="24" name="Text 21"/>
          <p:cNvSpPr txBox="1"/>
          <p:nvPr/>
        </p:nvSpPr>
        <p:spPr>
          <a:xfrm>
            <a:off x="6778447" y="509320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5" name="Text 22"/>
          <p:cNvSpPr txBox="1"/>
          <p:nvPr/>
        </p:nvSpPr>
        <p:spPr>
          <a:xfrm>
            <a:off x="749808" y="5074920"/>
            <a:ext cx="5928055"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أمثلة مقترحة</a:t>
            </a:r>
            <a:endParaRPr lang="en-US" sz="1300" dirty="0"/>
          </a:p>
        </p:txBody>
      </p:sp>
      <p:sp>
        <p:nvSpPr>
          <p:cNvPr id="26" name="Text 23"/>
          <p:cNvSpPr txBox="1"/>
          <p:nvPr/>
        </p:nvSpPr>
        <p:spPr>
          <a:xfrm>
            <a:off x="749808" y="5349240"/>
            <a:ext cx="6302959"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الشرائح أعلى المحادثة أسئلة يفهمها النظام، مفلترة بدور المستخدم</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الخامس · المتانة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التدهور الآمن — حين لا توجد إجابة واحدة</a:t>
            </a:r>
            <a:endParaRPr lang="en-US" sz="3300" dirty="0"/>
          </a:p>
        </p:txBody>
      </p:sp>
      <p:sp>
        <p:nvSpPr>
          <p:cNvPr id="4" name="Text 2"/>
          <p:cNvSpPr txBox="1"/>
          <p:nvPr/>
        </p:nvSpPr>
        <p:spPr>
          <a:xfrm>
            <a:off x="4693615" y="1572768"/>
            <a:ext cx="2697480" cy="274320"/>
          </a:xfrm>
          <a:prstGeom prst="rect">
            <a:avLst/>
          </a:prstGeom>
          <a:noFill/>
          <a:ln/>
        </p:spPr>
        <p:txBody>
          <a:bodyPr wrap="square" lIns="0" tIns="0" rIns="0" bIns="0" rtlCol="0" anchor="ctr"/>
          <a:lstStyle/>
          <a:p>
            <a:pPr rtl="1" algn="ctr" indent="0" marL="0">
              <a:buNone/>
            </a:pPr>
            <a:r>
              <a:rPr lang="en-US" sz="1150" b="1" dirty="0">
                <a:solidFill>
                  <a:srgbClr val="B4761C"/>
                </a:solidFill>
                <a:latin typeface="Arial" pitchFamily="34" charset="0"/>
                <a:ea typeface="Arial" pitchFamily="34" charset="-122"/>
                <a:cs typeface="Arial" pitchFamily="34" charset="-120"/>
              </a:rPr>
              <a:t>الحالة ١ · اسم ملتبس</a:t>
            </a:r>
            <a:endParaRPr lang="en-US" sz="1150" dirty="0"/>
          </a:p>
        </p:txBody>
      </p:sp>
      <p:sp>
        <p:nvSpPr>
          <p:cNvPr id="5" name="Shape 3"/>
          <p:cNvSpPr/>
          <p:nvPr/>
        </p:nvSpPr>
        <p:spPr>
          <a:xfrm>
            <a:off x="4638751" y="1847088"/>
            <a:ext cx="2807208" cy="4128973"/>
          </a:xfrm>
          <a:prstGeom prst="roundRect">
            <a:avLst>
              <a:gd name="adj" fmla="val 2932"/>
            </a:avLst>
          </a:prstGeom>
          <a:solidFill>
            <a:srgbClr val="FFFFFF"/>
          </a:solidFill>
          <a:ln/>
          <a:effectLst>
            <a:outerShdw sx="100000" sy="100000" kx="0" ky="0" algn="bl" rotWithShape="0" blurRad="127000" dist="25400" dir="5400000">
              <a:srgbClr val="0A2E36">
                <a:alpha val="10000"/>
              </a:srgbClr>
            </a:outerShdw>
          </a:effectLst>
        </p:spPr>
      </p:sp>
      <p:pic>
        <p:nvPicPr>
          <p:cNvPr id="6" name="Image 0" descr="/home/user/Camp_management/docs/screenshots/assistant_panel.png">    </p:cNvPr>
          <p:cNvPicPr>
            <a:picLocks noChangeAspect="1"/>
          </p:cNvPicPr>
          <p:nvPr/>
        </p:nvPicPr>
        <p:blipFill>
          <a:blip r:embed="rId1"/>
          <a:stretch>
            <a:fillRect/>
          </a:stretch>
        </p:blipFill>
        <p:spPr>
          <a:xfrm>
            <a:off x="4693615" y="1901952"/>
            <a:ext cx="2697480" cy="4019245"/>
          </a:xfrm>
          <a:prstGeom prst="rect">
            <a:avLst/>
          </a:prstGeom>
        </p:spPr>
      </p:pic>
      <p:sp>
        <p:nvSpPr>
          <p:cNvPr id="7" name="Text 4"/>
          <p:cNvSpPr txBox="1"/>
          <p:nvPr/>
        </p:nvSpPr>
        <p:spPr>
          <a:xfrm>
            <a:off x="1676095" y="1572768"/>
            <a:ext cx="2697480" cy="274320"/>
          </a:xfrm>
          <a:prstGeom prst="rect">
            <a:avLst/>
          </a:prstGeom>
          <a:noFill/>
          <a:ln/>
        </p:spPr>
        <p:txBody>
          <a:bodyPr wrap="square" lIns="0" tIns="0" rIns="0" bIns="0" rtlCol="0" anchor="ctr"/>
          <a:lstStyle/>
          <a:p>
            <a:pPr rtl="1" algn="ctr" indent="0" marL="0">
              <a:buNone/>
            </a:pPr>
            <a:r>
              <a:rPr lang="en-US" sz="1150" b="1" dirty="0">
                <a:solidFill>
                  <a:srgbClr val="B4761C"/>
                </a:solidFill>
                <a:latin typeface="Arial" pitchFamily="34" charset="0"/>
                <a:ea typeface="Arial" pitchFamily="34" charset="-122"/>
                <a:cs typeface="Arial" pitchFamily="34" charset="-120"/>
              </a:rPr>
              <a:t>الحالة ٢ · مخيم غير موجود</a:t>
            </a:r>
            <a:endParaRPr lang="en-US" sz="1150" dirty="0"/>
          </a:p>
        </p:txBody>
      </p:sp>
      <p:sp>
        <p:nvSpPr>
          <p:cNvPr id="8" name="Shape 5"/>
          <p:cNvSpPr/>
          <p:nvPr/>
        </p:nvSpPr>
        <p:spPr>
          <a:xfrm>
            <a:off x="1621231" y="1847088"/>
            <a:ext cx="2807208" cy="4128973"/>
          </a:xfrm>
          <a:prstGeom prst="roundRect">
            <a:avLst>
              <a:gd name="adj" fmla="val 2932"/>
            </a:avLst>
          </a:prstGeom>
          <a:solidFill>
            <a:srgbClr val="FFFFFF"/>
          </a:solidFill>
          <a:ln/>
          <a:effectLst>
            <a:outerShdw sx="100000" sy="100000" kx="0" ky="0" algn="bl" rotWithShape="0" blurRad="127000" dist="25400" dir="5400000">
              <a:srgbClr val="0A2E36">
                <a:alpha val="10000"/>
              </a:srgbClr>
            </a:outerShdw>
          </a:effectLst>
        </p:spPr>
      </p:sp>
      <p:pic>
        <p:nvPicPr>
          <p:cNvPr id="9" name="Image 1" descr="/home/user/Camp_management/docs/screenshots/assistant_unknown_camp.png">    </p:cNvPr>
          <p:cNvPicPr>
            <a:picLocks noChangeAspect="1"/>
          </p:cNvPicPr>
          <p:nvPr/>
        </p:nvPicPr>
        <p:blipFill>
          <a:blip r:embed="rId2"/>
          <a:stretch>
            <a:fillRect/>
          </a:stretch>
        </p:blipFill>
        <p:spPr>
          <a:xfrm>
            <a:off x="1676095" y="1901952"/>
            <a:ext cx="2697480" cy="4019245"/>
          </a:xfrm>
          <a:prstGeom prst="rect">
            <a:avLst/>
          </a:prstGeom>
        </p:spPr>
      </p:pic>
      <p:sp>
        <p:nvSpPr>
          <p:cNvPr id="10" name="Text 6"/>
          <p:cNvSpPr txBox="1"/>
          <p:nvPr/>
        </p:nvSpPr>
        <p:spPr>
          <a:xfrm>
            <a:off x="7848295" y="1627632"/>
            <a:ext cx="3794760" cy="310896"/>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لا يخمّن، ولا يصمت</a:t>
            </a:r>
            <a:endParaRPr lang="en-US" sz="1400" dirty="0"/>
          </a:p>
        </p:txBody>
      </p:sp>
      <p:sp>
        <p:nvSpPr>
          <p:cNvPr id="11" name="Shape 7"/>
          <p:cNvSpPr/>
          <p:nvPr/>
        </p:nvSpPr>
        <p:spPr>
          <a:xfrm>
            <a:off x="7848295" y="2084832"/>
            <a:ext cx="3794760"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12" name="Shape 8"/>
          <p:cNvSpPr/>
          <p:nvPr/>
        </p:nvSpPr>
        <p:spPr>
          <a:xfrm>
            <a:off x="11167567" y="2212848"/>
            <a:ext cx="256032" cy="256032"/>
          </a:xfrm>
          <a:prstGeom prst="ellipse">
            <a:avLst/>
          </a:prstGeom>
          <a:solidFill>
            <a:srgbClr val="E9A13B"/>
          </a:solidFill>
          <a:ln/>
        </p:spPr>
      </p:sp>
      <p:sp>
        <p:nvSpPr>
          <p:cNvPr id="13" name="Text 9"/>
          <p:cNvSpPr txBox="1"/>
          <p:nvPr/>
        </p:nvSpPr>
        <p:spPr>
          <a:xfrm>
            <a:off x="11167567" y="221284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4" name="Text 10"/>
          <p:cNvSpPr txBox="1"/>
          <p:nvPr/>
        </p:nvSpPr>
        <p:spPr>
          <a:xfrm>
            <a:off x="8049463" y="2194560"/>
            <a:ext cx="3017520"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يعلن العدد</a:t>
            </a:r>
            <a:endParaRPr lang="en-US" sz="1300" dirty="0"/>
          </a:p>
        </p:txBody>
      </p:sp>
      <p:sp>
        <p:nvSpPr>
          <p:cNvPr id="15" name="Text 11"/>
          <p:cNvSpPr txBox="1"/>
          <p:nvPr/>
        </p:nvSpPr>
        <p:spPr>
          <a:xfrm>
            <a:off x="8049463" y="2468880"/>
            <a:ext cx="3392424"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أربعة أشخاص يطابقون الاسم، ولا يختار الأول ويجيب بثقة</a:t>
            </a:r>
            <a:endParaRPr lang="en-US" sz="1050" dirty="0"/>
          </a:p>
        </p:txBody>
      </p:sp>
      <p:sp>
        <p:nvSpPr>
          <p:cNvPr id="16" name="Shape 12"/>
          <p:cNvSpPr/>
          <p:nvPr/>
        </p:nvSpPr>
        <p:spPr>
          <a:xfrm>
            <a:off x="7848295" y="3044952"/>
            <a:ext cx="3794760"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17" name="Shape 13"/>
          <p:cNvSpPr/>
          <p:nvPr/>
        </p:nvSpPr>
        <p:spPr>
          <a:xfrm>
            <a:off x="11167567" y="3172968"/>
            <a:ext cx="256032" cy="256032"/>
          </a:xfrm>
          <a:prstGeom prst="ellipse">
            <a:avLst/>
          </a:prstGeom>
          <a:solidFill>
            <a:srgbClr val="E9A13B"/>
          </a:solidFill>
          <a:ln/>
        </p:spPr>
      </p:sp>
      <p:sp>
        <p:nvSpPr>
          <p:cNvPr id="18" name="Text 14"/>
          <p:cNvSpPr txBox="1"/>
          <p:nvPr/>
        </p:nvSpPr>
        <p:spPr>
          <a:xfrm>
            <a:off x="11167567" y="317296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5"/>
          <p:cNvSpPr txBox="1"/>
          <p:nvPr/>
        </p:nvSpPr>
        <p:spPr>
          <a:xfrm>
            <a:off x="8049463" y="3154680"/>
            <a:ext cx="3017520"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يشرح كيف تُضيَّق</a:t>
            </a:r>
            <a:endParaRPr lang="en-US" sz="1300" dirty="0"/>
          </a:p>
        </p:txBody>
      </p:sp>
      <p:sp>
        <p:nvSpPr>
          <p:cNvPr id="20" name="Text 16"/>
          <p:cNvSpPr txBox="1"/>
          <p:nvPr/>
        </p:nvSpPr>
        <p:spPr>
          <a:xfrm>
            <a:off x="8049463" y="3429000"/>
            <a:ext cx="3392424"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«اكتب الاسم الثلاثي كاملًا أو رقم الوثيقة»: نصيحة قابلة للتنفيذ ومُختبَرة</a:t>
            </a:r>
            <a:endParaRPr lang="en-US" sz="1050" dirty="0"/>
          </a:p>
        </p:txBody>
      </p:sp>
      <p:sp>
        <p:nvSpPr>
          <p:cNvPr id="21" name="Shape 17"/>
          <p:cNvSpPr/>
          <p:nvPr/>
        </p:nvSpPr>
        <p:spPr>
          <a:xfrm>
            <a:off x="7848295" y="4005072"/>
            <a:ext cx="3794760"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22" name="Shape 18"/>
          <p:cNvSpPr/>
          <p:nvPr/>
        </p:nvSpPr>
        <p:spPr>
          <a:xfrm>
            <a:off x="11167567" y="4133088"/>
            <a:ext cx="256032" cy="256032"/>
          </a:xfrm>
          <a:prstGeom prst="ellipse">
            <a:avLst/>
          </a:prstGeom>
          <a:solidFill>
            <a:srgbClr val="02717D"/>
          </a:solidFill>
          <a:ln/>
        </p:spPr>
      </p:sp>
      <p:sp>
        <p:nvSpPr>
          <p:cNvPr id="23" name="Text 19"/>
          <p:cNvSpPr txBox="1"/>
          <p:nvPr/>
        </p:nvSpPr>
        <p:spPr>
          <a:xfrm>
            <a:off x="11167567" y="413308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4" name="Text 20"/>
          <p:cNvSpPr txBox="1"/>
          <p:nvPr/>
        </p:nvSpPr>
        <p:spPr>
          <a:xfrm>
            <a:off x="8049463" y="4114800"/>
            <a:ext cx="3017520"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يصرّح بالمفقود</a:t>
            </a:r>
            <a:endParaRPr lang="en-US" sz="1300" dirty="0"/>
          </a:p>
        </p:txBody>
      </p:sp>
      <p:sp>
        <p:nvSpPr>
          <p:cNvPr id="25" name="Text 21"/>
          <p:cNvSpPr txBox="1"/>
          <p:nvPr/>
        </p:nvSpPr>
        <p:spPr>
          <a:xfrm>
            <a:off x="8049463" y="4389120"/>
            <a:ext cx="3392424"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مخيم غير مسجّل يُقال صراحةً، ولا يُستبدل بإجمالي المخيمات</a:t>
            </a:r>
            <a:endParaRPr lang="en-US" sz="1050" dirty="0"/>
          </a:p>
        </p:txBody>
      </p:sp>
      <p:sp>
        <p:nvSpPr>
          <p:cNvPr id="26" name="Shape 22"/>
          <p:cNvSpPr/>
          <p:nvPr/>
        </p:nvSpPr>
        <p:spPr>
          <a:xfrm>
            <a:off x="7848295" y="4965192"/>
            <a:ext cx="3794760"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27" name="Shape 23"/>
          <p:cNvSpPr/>
          <p:nvPr/>
        </p:nvSpPr>
        <p:spPr>
          <a:xfrm>
            <a:off x="11167567" y="5093208"/>
            <a:ext cx="256032" cy="256032"/>
          </a:xfrm>
          <a:prstGeom prst="ellipse">
            <a:avLst/>
          </a:prstGeom>
          <a:solidFill>
            <a:srgbClr val="02717D"/>
          </a:solidFill>
          <a:ln/>
        </p:spPr>
      </p:sp>
      <p:sp>
        <p:nvSpPr>
          <p:cNvPr id="28" name="Text 24"/>
          <p:cNvSpPr txBox="1"/>
          <p:nvPr/>
        </p:nvSpPr>
        <p:spPr>
          <a:xfrm>
            <a:off x="11167567" y="509320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5"/>
          <p:cNvSpPr txBox="1"/>
          <p:nvPr/>
        </p:nvSpPr>
        <p:spPr>
          <a:xfrm>
            <a:off x="8049463" y="5074920"/>
            <a:ext cx="3017520"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يعرض البدائل</a:t>
            </a:r>
            <a:endParaRPr lang="en-US" sz="1300" dirty="0"/>
          </a:p>
        </p:txBody>
      </p:sp>
      <p:sp>
        <p:nvSpPr>
          <p:cNvPr id="30" name="Text 26"/>
          <p:cNvSpPr txBox="1"/>
          <p:nvPr/>
        </p:nvSpPr>
        <p:spPr>
          <a:xfrm>
            <a:off x="8049463" y="5349240"/>
            <a:ext cx="3392424"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المخيمات المسجّلة فعلًا، لأن السبب الأغلب اختلاف في التسمية</a:t>
            </a:r>
            <a:endParaRPr lang="en-US" sz="1050" dirty="0"/>
          </a:p>
        </p:txBody>
      </p:sp>
      <p:sp>
        <p:nvSpPr>
          <p:cNvPr id="31" name="Shape 27"/>
          <p:cNvSpPr/>
          <p:nvPr/>
        </p:nvSpPr>
        <p:spPr>
          <a:xfrm>
            <a:off x="548640" y="6053328"/>
            <a:ext cx="11094415" cy="658368"/>
          </a:xfrm>
          <a:prstGeom prst="roundRect">
            <a:avLst>
              <a:gd name="adj" fmla="val 12500"/>
            </a:avLst>
          </a:prstGeom>
          <a:solidFill>
            <a:srgbClr val="0A2E36"/>
          </a:solidFill>
          <a:ln/>
        </p:spPr>
      </p:sp>
      <p:sp>
        <p:nvSpPr>
          <p:cNvPr id="32" name="Text 28"/>
          <p:cNvSpPr txBox="1"/>
          <p:nvPr/>
        </p:nvSpPr>
        <p:spPr>
          <a:xfrm>
            <a:off x="822960" y="6053328"/>
            <a:ext cx="10545775" cy="658368"/>
          </a:xfrm>
          <a:prstGeom prst="rect">
            <a:avLst/>
          </a:prstGeom>
          <a:noFill/>
          <a:ln/>
        </p:spPr>
        <p:txBody>
          <a:bodyPr wrap="square" lIns="0" tIns="0" rIns="0" bIns="0" rtlCol="0" anchor="ctr"/>
          <a:lstStyle/>
          <a:p>
            <a:pPr rtl="1" algn="ctr" indent="0" marL="0">
              <a:buNone/>
            </a:pPr>
            <a:r>
              <a:rPr lang="en-US" sz="1100" dirty="0">
                <a:solidFill>
                  <a:srgbClr val="BFD4D7"/>
                </a:solidFill>
                <a:latin typeface="Arial" pitchFamily="34" charset="0"/>
                <a:ea typeface="Arial" pitchFamily="34" charset="-122"/>
                <a:cs typeface="Arial" pitchFamily="34" charset="-120"/>
              </a:rPr>
              <a:t>وحالتان أخريان: «لم أجد» تُقال بنبرة تختلف عن «صفر»، والسؤال غير المفهوم يُمرَّر إلى البحث الشامل ثم تُعرض أمثلة يفهمها النظام</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الخامس · المتانة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معالجة الاستثناءات — شبكة الأمان الأخيرة</a:t>
            </a:r>
            <a:endParaRPr lang="en-US" sz="3300" dirty="0"/>
          </a:p>
        </p:txBody>
      </p:sp>
      <p:sp>
        <p:nvSpPr>
          <p:cNvPr id="4" name="Shape 2"/>
          <p:cNvSpPr/>
          <p:nvPr/>
        </p:nvSpPr>
        <p:spPr>
          <a:xfrm>
            <a:off x="548640" y="1572768"/>
            <a:ext cx="5943600" cy="3310128"/>
          </a:xfrm>
          <a:prstGeom prst="roundRect">
            <a:avLst>
              <a:gd name="adj" fmla="val 2762"/>
            </a:avLst>
          </a:prstGeom>
          <a:solidFill>
            <a:srgbClr val="0A2E36"/>
          </a:solidFill>
          <a:ln/>
        </p:spPr>
      </p:sp>
      <p:sp>
        <p:nvSpPr>
          <p:cNvPr id="5" name="Text 3"/>
          <p:cNvSpPr txBox="1"/>
          <p:nvPr/>
        </p:nvSpPr>
        <p:spPr>
          <a:xfrm>
            <a:off x="822960" y="1719072"/>
            <a:ext cx="5394960" cy="237744"/>
          </a:xfrm>
          <a:prstGeom prst="rect">
            <a:avLst/>
          </a:prstGeom>
          <a:noFill/>
          <a:ln/>
        </p:spPr>
        <p:txBody>
          <a:bodyPr wrap="square" lIns="0" tIns="0" rIns="0" bIns="0" rtlCol="0" anchor="ctr"/>
          <a:lstStyle/>
          <a:p>
            <a:pPr algn="l" indent="0" marL="0">
              <a:buNone/>
            </a:pPr>
            <a:r>
              <a:rPr lang="en-US" sz="1000" b="1" dirty="0">
                <a:solidFill>
                  <a:srgbClr val="00A896"/>
                </a:solidFill>
                <a:latin typeface="Arial" pitchFamily="34" charset="0"/>
                <a:ea typeface="Arial" pitchFamily="34" charset="-122"/>
                <a:cs typeface="Arial" pitchFamily="34" charset="-120"/>
              </a:rPr>
              <a:t>AssistantController::ask()</a:t>
            </a:r>
            <a:endParaRPr lang="en-US" sz="1000" dirty="0"/>
          </a:p>
        </p:txBody>
      </p:sp>
      <p:sp>
        <p:nvSpPr>
          <p:cNvPr id="6" name="Text 4"/>
          <p:cNvSpPr txBox="1"/>
          <p:nvPr/>
        </p:nvSpPr>
        <p:spPr>
          <a:xfrm>
            <a:off x="822960" y="2048256"/>
            <a:ext cx="5394960" cy="201168"/>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try {</a:t>
            </a:r>
            <a:endParaRPr lang="en-US" sz="950" dirty="0"/>
          </a:p>
        </p:txBody>
      </p:sp>
      <p:sp>
        <p:nvSpPr>
          <p:cNvPr id="7" name="Text 5"/>
          <p:cNvSpPr txBox="1"/>
          <p:nvPr/>
        </p:nvSpPr>
        <p:spPr>
          <a:xfrm>
            <a:off x="822960" y="2251253"/>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$answer = $this-&gt;assistant</a:t>
            </a:r>
            <a:endParaRPr lang="en-US" sz="950" dirty="0"/>
          </a:p>
        </p:txBody>
      </p:sp>
      <p:sp>
        <p:nvSpPr>
          <p:cNvPr id="8" name="Text 6"/>
          <p:cNvSpPr txBox="1"/>
          <p:nvPr/>
        </p:nvSpPr>
        <p:spPr>
          <a:xfrm>
            <a:off x="822960" y="2454250"/>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-&gt;ask($question, $request-&gt;user())</a:t>
            </a:r>
            <a:endParaRPr lang="en-US" sz="950" dirty="0"/>
          </a:p>
        </p:txBody>
      </p:sp>
      <p:sp>
        <p:nvSpPr>
          <p:cNvPr id="9" name="Text 7"/>
          <p:cNvSpPr txBox="1"/>
          <p:nvPr/>
        </p:nvSpPr>
        <p:spPr>
          <a:xfrm>
            <a:off x="822960" y="2657246"/>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-&gt;toArray();</a:t>
            </a:r>
            <a:endParaRPr lang="en-US" sz="950" dirty="0"/>
          </a:p>
        </p:txBody>
      </p:sp>
      <p:sp>
        <p:nvSpPr>
          <p:cNvPr id="10" name="Text 8"/>
          <p:cNvSpPr txBox="1"/>
          <p:nvPr/>
        </p:nvSpPr>
        <p:spPr>
          <a:xfrm>
            <a:off x="822960" y="2860243"/>
            <a:ext cx="5394960" cy="201168"/>
          </a:xfrm>
          <a:prstGeom prst="rect">
            <a:avLst/>
          </a:prstGeom>
          <a:noFill/>
          <a:ln/>
        </p:spPr>
        <p:txBody>
          <a:bodyPr wrap="square" lIns="0" tIns="0" rIns="0" bIns="0" rtlCol="0" anchor="ctr"/>
          <a:lstStyle/>
          <a:p>
            <a:pPr algn="l" indent="0" marL="0">
              <a:buNone/>
            </a:pPr>
            <a:r>
              <a:rPr lang="en-US" sz="950" dirty="0">
                <a:solidFill>
                  <a:srgbClr val="E9A13B"/>
                </a:solidFill>
                <a:latin typeface="Courier New" pitchFamily="34" charset="0"/>
                <a:ea typeface="Courier New" pitchFamily="34" charset="-122"/>
                <a:cs typeface="Courier New" pitchFamily="34" charset="-120"/>
              </a:rPr>
              <a:t>} catch (Throwable $e) {</a:t>
            </a:r>
            <a:endParaRPr lang="en-US" sz="950" dirty="0"/>
          </a:p>
        </p:txBody>
      </p:sp>
      <p:sp>
        <p:nvSpPr>
          <p:cNvPr id="11" name="Text 9"/>
          <p:cNvSpPr txBox="1"/>
          <p:nvPr/>
        </p:nvSpPr>
        <p:spPr>
          <a:xfrm>
            <a:off x="822960" y="3063240"/>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Log::error('Assistant failed to answer', [</a:t>
            </a:r>
            <a:endParaRPr lang="en-US" sz="950" dirty="0"/>
          </a:p>
        </p:txBody>
      </p:sp>
      <p:sp>
        <p:nvSpPr>
          <p:cNvPr id="12" name="Text 10"/>
          <p:cNvSpPr txBox="1"/>
          <p:nvPr/>
        </p:nvSpPr>
        <p:spPr>
          <a:xfrm>
            <a:off x="822960" y="3266237"/>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'question'  =&gt; $question,</a:t>
            </a:r>
            <a:endParaRPr lang="en-US" sz="950" dirty="0"/>
          </a:p>
        </p:txBody>
      </p:sp>
      <p:sp>
        <p:nvSpPr>
          <p:cNvPr id="13" name="Text 11"/>
          <p:cNvSpPr txBox="1"/>
          <p:nvPr/>
        </p:nvSpPr>
        <p:spPr>
          <a:xfrm>
            <a:off x="822960" y="3469234"/>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'user_id'   =&gt; $request-&gt;user()?-&gt;id,</a:t>
            </a:r>
            <a:endParaRPr lang="en-US" sz="950" dirty="0"/>
          </a:p>
        </p:txBody>
      </p:sp>
      <p:sp>
        <p:nvSpPr>
          <p:cNvPr id="14" name="Text 12"/>
          <p:cNvSpPr txBox="1"/>
          <p:nvPr/>
        </p:nvSpPr>
        <p:spPr>
          <a:xfrm>
            <a:off x="822960" y="3672230"/>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'exception' =&gt; $e,</a:t>
            </a:r>
            <a:endParaRPr lang="en-US" sz="950" dirty="0"/>
          </a:p>
        </p:txBody>
      </p:sp>
      <p:sp>
        <p:nvSpPr>
          <p:cNvPr id="15" name="Text 13"/>
          <p:cNvSpPr txBox="1"/>
          <p:nvPr/>
        </p:nvSpPr>
        <p:spPr>
          <a:xfrm>
            <a:off x="822960" y="3875227"/>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a:t>
            </a:r>
            <a:endParaRPr lang="en-US" sz="950" dirty="0"/>
          </a:p>
        </p:txBody>
      </p:sp>
      <p:sp>
        <p:nvSpPr>
          <p:cNvPr id="16" name="Text 14"/>
          <p:cNvSpPr txBox="1"/>
          <p:nvPr/>
        </p:nvSpPr>
        <p:spPr>
          <a:xfrm>
            <a:off x="822960" y="4078224"/>
            <a:ext cx="5394960" cy="201168"/>
          </a:xfrm>
          <a:prstGeom prst="rect">
            <a:avLst/>
          </a:prstGeom>
          <a:noFill/>
          <a:ln/>
        </p:spPr>
        <p:txBody>
          <a:bodyPr wrap="square" lIns="0" tIns="0" rIns="0" bIns="0" rtlCol="0" anchor="ctr"/>
          <a:lstStyle/>
          <a:p>
            <a:pPr algn="l" indent="0" marL="0">
              <a:buNone/>
            </a:pPr>
            <a:endParaRPr lang="en-US" sz="950" dirty="0"/>
          </a:p>
        </p:txBody>
      </p:sp>
      <p:sp>
        <p:nvSpPr>
          <p:cNvPr id="17" name="Text 15"/>
          <p:cNvSpPr txBox="1"/>
          <p:nvPr/>
        </p:nvSpPr>
        <p:spPr>
          <a:xfrm>
            <a:off x="822960" y="4281221"/>
            <a:ext cx="5394960" cy="201168"/>
          </a:xfrm>
          <a:prstGeom prst="rect">
            <a:avLst/>
          </a:prstGeom>
          <a:noFill/>
          <a:ln/>
        </p:spPr>
        <p:txBody>
          <a:bodyPr wrap="square" lIns="0" tIns="0" rIns="0" bIns="0" rtlCol="0" anchor="ctr"/>
          <a:lstStyle/>
          <a:p>
            <a:pPr algn="l" indent="0" marL="0">
              <a:buNone/>
            </a:pPr>
            <a:r>
              <a:rPr lang="en-US" sz="950" dirty="0">
                <a:solidFill>
                  <a:srgbClr val="00A896"/>
                </a:solidFill>
                <a:latin typeface="Courier New" pitchFamily="34" charset="0"/>
                <a:ea typeface="Courier New" pitchFamily="34" charset="-122"/>
                <a:cs typeface="Courier New" pitchFamily="34" charset="-120"/>
              </a:rPr>
              <a:t>    $answer = Answer::failed(/* ... */)</a:t>
            </a:r>
            <a:endParaRPr lang="en-US" sz="950" dirty="0"/>
          </a:p>
        </p:txBody>
      </p:sp>
      <p:sp>
        <p:nvSpPr>
          <p:cNvPr id="18" name="Text 16"/>
          <p:cNvSpPr txBox="1"/>
          <p:nvPr/>
        </p:nvSpPr>
        <p:spPr>
          <a:xfrm>
            <a:off x="822960" y="4484218"/>
            <a:ext cx="5394960" cy="201168"/>
          </a:xfrm>
          <a:prstGeom prst="rect">
            <a:avLst/>
          </a:prstGeom>
          <a:noFill/>
          <a:ln/>
        </p:spPr>
        <p:txBody>
          <a:bodyPr wrap="square" lIns="0" tIns="0" rIns="0" bIns="0" rtlCol="0" anchor="ctr"/>
          <a:lstStyle/>
          <a:p>
            <a:pPr algn="l" indent="0" marL="0">
              <a:buNone/>
            </a:pPr>
            <a:r>
              <a:rPr lang="en-US" sz="950" dirty="0">
                <a:solidFill>
                  <a:srgbClr val="00A896"/>
                </a:solidFill>
                <a:latin typeface="Courier New" pitchFamily="34" charset="0"/>
                <a:ea typeface="Courier New" pitchFamily="34" charset="-122"/>
                <a:cs typeface="Courier New" pitchFamily="34" charset="-120"/>
              </a:rPr>
              <a:t>        -&gt;toArray();</a:t>
            </a:r>
            <a:endParaRPr lang="en-US" sz="950" dirty="0"/>
          </a:p>
        </p:txBody>
      </p:sp>
      <p:sp>
        <p:nvSpPr>
          <p:cNvPr id="19" name="Text 17"/>
          <p:cNvSpPr txBox="1"/>
          <p:nvPr/>
        </p:nvSpPr>
        <p:spPr>
          <a:xfrm>
            <a:off x="822960" y="4687214"/>
            <a:ext cx="5394960" cy="201168"/>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a:t>
            </a:r>
            <a:endParaRPr lang="en-US" sz="950" dirty="0"/>
          </a:p>
        </p:txBody>
      </p:sp>
      <p:sp>
        <p:nvSpPr>
          <p:cNvPr id="20" name="Shape 18"/>
          <p:cNvSpPr/>
          <p:nvPr/>
        </p:nvSpPr>
        <p:spPr>
          <a:xfrm>
            <a:off x="6796735" y="1572768"/>
            <a:ext cx="4846320" cy="914400"/>
          </a:xfrm>
          <a:prstGeom prst="roundRect">
            <a:avLst>
              <a:gd name="adj" fmla="val 9000"/>
            </a:avLst>
          </a:prstGeom>
          <a:solidFill>
            <a:srgbClr val="FFFFFF"/>
          </a:solidFill>
          <a:ln/>
          <a:effectLst>
            <a:outerShdw sx="100000" sy="100000" kx="0" ky="0" algn="bl" rotWithShape="0" blurRad="127000" dist="25400" dir="5400000">
              <a:srgbClr val="0A2E36">
                <a:alpha val="10000"/>
              </a:srgbClr>
            </a:outerShdw>
          </a:effectLst>
        </p:spPr>
      </p:sp>
      <p:sp>
        <p:nvSpPr>
          <p:cNvPr id="21" name="Shape 19"/>
          <p:cNvSpPr/>
          <p:nvPr/>
        </p:nvSpPr>
        <p:spPr>
          <a:xfrm>
            <a:off x="11112703" y="1719072"/>
            <a:ext cx="292608" cy="292608"/>
          </a:xfrm>
          <a:prstGeom prst="ellipse">
            <a:avLst/>
          </a:prstGeom>
          <a:solidFill>
            <a:srgbClr val="00A896"/>
          </a:solidFill>
          <a:ln/>
        </p:spPr>
      </p:sp>
      <p:pic>
        <p:nvPicPr>
          <p:cNvPr id="22" name="Image 0" descr="preencoded.png">    </p:cNvPr>
          <p:cNvPicPr>
            <a:picLocks noChangeAspect="1"/>
          </p:cNvPicPr>
          <p:nvPr/>
        </p:nvPicPr>
        <p:blipFill>
          <a:blip r:embed="rId1"/>
          <a:stretch>
            <a:fillRect/>
          </a:stretch>
        </p:blipFill>
        <p:spPr>
          <a:xfrm>
            <a:off x="11185855" y="1792224"/>
            <a:ext cx="146304" cy="146304"/>
          </a:xfrm>
          <a:prstGeom prst="rect">
            <a:avLst/>
          </a:prstGeom>
        </p:spPr>
      </p:pic>
      <p:sp>
        <p:nvSpPr>
          <p:cNvPr id="23" name="Text 20"/>
          <p:cNvSpPr txBox="1"/>
          <p:nvPr/>
        </p:nvSpPr>
        <p:spPr>
          <a:xfrm>
            <a:off x="7016191" y="1700784"/>
            <a:ext cx="397764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للمستخدم</a:t>
            </a:r>
            <a:endParaRPr lang="en-US" sz="1350" dirty="0"/>
          </a:p>
        </p:txBody>
      </p:sp>
      <p:sp>
        <p:nvSpPr>
          <p:cNvPr id="24" name="Text 21"/>
          <p:cNvSpPr txBox="1"/>
          <p:nvPr/>
        </p:nvSpPr>
        <p:spPr>
          <a:xfrm>
            <a:off x="7016191" y="1984248"/>
            <a:ext cx="4389120" cy="411480"/>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جملة عربية لبقة تقترح خطوة بديلة، بحالة ⁦HTTP 200⁩، ودون أي تفصيل تقني</a:t>
            </a:r>
            <a:endParaRPr lang="en-US" sz="1100" dirty="0"/>
          </a:p>
        </p:txBody>
      </p:sp>
      <p:sp>
        <p:nvSpPr>
          <p:cNvPr id="25" name="Shape 22"/>
          <p:cNvSpPr/>
          <p:nvPr/>
        </p:nvSpPr>
        <p:spPr>
          <a:xfrm>
            <a:off x="6796735" y="2596896"/>
            <a:ext cx="4846320" cy="914400"/>
          </a:xfrm>
          <a:prstGeom prst="roundRect">
            <a:avLst>
              <a:gd name="adj" fmla="val 9000"/>
            </a:avLst>
          </a:prstGeom>
          <a:solidFill>
            <a:srgbClr val="FFFFFF"/>
          </a:solidFill>
          <a:ln/>
          <a:effectLst>
            <a:outerShdw sx="100000" sy="100000" kx="0" ky="0" algn="bl" rotWithShape="0" blurRad="127000" dist="25400" dir="5400000">
              <a:srgbClr val="0A2E36">
                <a:alpha val="10000"/>
              </a:srgbClr>
            </a:outerShdw>
          </a:effectLst>
        </p:spPr>
      </p:sp>
      <p:sp>
        <p:nvSpPr>
          <p:cNvPr id="26" name="Shape 23"/>
          <p:cNvSpPr/>
          <p:nvPr/>
        </p:nvSpPr>
        <p:spPr>
          <a:xfrm>
            <a:off x="11112703" y="2743200"/>
            <a:ext cx="292608" cy="292608"/>
          </a:xfrm>
          <a:prstGeom prst="ellipse">
            <a:avLst/>
          </a:prstGeom>
          <a:solidFill>
            <a:srgbClr val="E9A13B"/>
          </a:solidFill>
          <a:ln/>
        </p:spPr>
      </p:sp>
      <p:pic>
        <p:nvPicPr>
          <p:cNvPr id="27" name="Image 1" descr="preencoded.png">    </p:cNvPr>
          <p:cNvPicPr>
            <a:picLocks noChangeAspect="1"/>
          </p:cNvPicPr>
          <p:nvPr/>
        </p:nvPicPr>
        <p:blipFill>
          <a:blip r:embed="rId2"/>
          <a:stretch>
            <a:fillRect/>
          </a:stretch>
        </p:blipFill>
        <p:spPr>
          <a:xfrm>
            <a:off x="11185855" y="2816352"/>
            <a:ext cx="146304" cy="146304"/>
          </a:xfrm>
          <a:prstGeom prst="rect">
            <a:avLst/>
          </a:prstGeom>
        </p:spPr>
      </p:pic>
      <p:sp>
        <p:nvSpPr>
          <p:cNvPr id="28" name="Text 24"/>
          <p:cNvSpPr txBox="1"/>
          <p:nvPr/>
        </p:nvSpPr>
        <p:spPr>
          <a:xfrm>
            <a:off x="7016191" y="2724912"/>
            <a:ext cx="397764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للمطوّر</a:t>
            </a:r>
            <a:endParaRPr lang="en-US" sz="1350" dirty="0"/>
          </a:p>
        </p:txBody>
      </p:sp>
      <p:sp>
        <p:nvSpPr>
          <p:cNvPr id="29" name="Text 25"/>
          <p:cNvSpPr txBox="1"/>
          <p:nvPr/>
        </p:nvSpPr>
        <p:spPr>
          <a:xfrm>
            <a:off x="7016191" y="3008376"/>
            <a:ext cx="4389120" cy="411480"/>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الاستثناء كاملًا في السجل، ومعه نص السؤال الذي سبّبه ومُعرِّف المستخدم</a:t>
            </a:r>
            <a:endParaRPr lang="en-US" sz="1100" dirty="0"/>
          </a:p>
        </p:txBody>
      </p:sp>
      <p:sp>
        <p:nvSpPr>
          <p:cNvPr id="30" name="Shape 26"/>
          <p:cNvSpPr/>
          <p:nvPr/>
        </p:nvSpPr>
        <p:spPr>
          <a:xfrm>
            <a:off x="6796735" y="3621024"/>
            <a:ext cx="4846320" cy="1261872"/>
          </a:xfrm>
          <a:prstGeom prst="roundRect">
            <a:avLst>
              <a:gd name="adj" fmla="val 6522"/>
            </a:avLst>
          </a:prstGeom>
          <a:solidFill>
            <a:srgbClr val="FFFFFF"/>
          </a:solidFill>
          <a:ln/>
          <a:effectLst>
            <a:outerShdw sx="100000" sy="100000" kx="0" ky="0" algn="bl" rotWithShape="0" blurRad="127000" dist="25400" dir="5400000">
              <a:srgbClr val="0A2E36">
                <a:alpha val="10000"/>
              </a:srgbClr>
            </a:outerShdw>
          </a:effectLst>
        </p:spPr>
      </p:sp>
      <p:sp>
        <p:nvSpPr>
          <p:cNvPr id="31" name="Text 27"/>
          <p:cNvSpPr txBox="1"/>
          <p:nvPr/>
        </p:nvSpPr>
        <p:spPr>
          <a:xfrm>
            <a:off x="7016191" y="3749040"/>
            <a:ext cx="4407408" cy="237744"/>
          </a:xfrm>
          <a:prstGeom prst="rect">
            <a:avLst/>
          </a:prstGeom>
          <a:noFill/>
          <a:ln/>
        </p:spPr>
        <p:txBody>
          <a:bodyPr wrap="square" lIns="0" tIns="0" rIns="0" bIns="0" rtlCol="0" anchor="ctr"/>
          <a:lstStyle/>
          <a:p>
            <a:pPr rtl="1" algn="r" indent="0" marL="0">
              <a:buNone/>
            </a:pPr>
            <a:r>
              <a:rPr lang="en-US" sz="1050" b="1" dirty="0">
                <a:solidFill>
                  <a:srgbClr val="02717D"/>
                </a:solidFill>
                <a:latin typeface="Arial" pitchFamily="34" charset="0"/>
                <a:ea typeface="Arial" pitchFamily="34" charset="-122"/>
                <a:cs typeface="Arial" pitchFamily="34" charset="-120"/>
              </a:rPr>
              <a:t>ما يراه المستخدم</a:t>
            </a:r>
            <a:endParaRPr lang="en-US" sz="1050" dirty="0"/>
          </a:p>
        </p:txBody>
      </p:sp>
      <p:sp>
        <p:nvSpPr>
          <p:cNvPr id="32" name="Shape 28"/>
          <p:cNvSpPr/>
          <p:nvPr/>
        </p:nvSpPr>
        <p:spPr>
          <a:xfrm>
            <a:off x="7016191" y="4041648"/>
            <a:ext cx="4407408" cy="694944"/>
          </a:xfrm>
          <a:prstGeom prst="roundRect">
            <a:avLst>
              <a:gd name="adj" fmla="val 15789"/>
            </a:avLst>
          </a:prstGeom>
          <a:solidFill>
            <a:srgbClr val="FBEDE8"/>
          </a:solidFill>
          <a:ln/>
        </p:spPr>
      </p:sp>
      <p:sp>
        <p:nvSpPr>
          <p:cNvPr id="33" name="Text 29"/>
          <p:cNvSpPr txBox="1"/>
          <p:nvPr/>
        </p:nvSpPr>
        <p:spPr>
          <a:xfrm>
            <a:off x="7180783" y="4041648"/>
            <a:ext cx="4078224" cy="694944"/>
          </a:xfrm>
          <a:prstGeom prst="rect">
            <a:avLst/>
          </a:prstGeom>
          <a:noFill/>
          <a:ln/>
        </p:spPr>
        <p:txBody>
          <a:bodyPr wrap="square" lIns="0" tIns="0" rIns="0" bIns="0" rtlCol="0" anchor="ctr"/>
          <a:lstStyle/>
          <a:p>
            <a:pPr rtl="1" algn="r" indent="0" marL="0">
              <a:lnSpc>
                <a:spcPts val="1400"/>
              </a:lnSpc>
              <a:buNone/>
            </a:pPr>
            <a:r>
              <a:rPr lang="en-US" sz="1050" dirty="0">
                <a:solidFill>
                  <a:srgbClr val="8C3A1E"/>
                </a:solidFill>
                <a:latin typeface="Arial" pitchFamily="34" charset="0"/>
                <a:ea typeface="Arial" pitchFamily="34" charset="-122"/>
                <a:cs typeface="Arial" pitchFamily="34" charset="-120"/>
              </a:rPr>
              <a:t>تعذّر إعداد الإجابة على هذا السؤال. جرّب صياغة أبسط، أو استخدم البحث من الشريط العلوي.</a:t>
            </a:r>
            <a:endParaRPr lang="en-US" sz="1050" dirty="0"/>
          </a:p>
        </p:txBody>
      </p:sp>
      <p:sp>
        <p:nvSpPr>
          <p:cNvPr id="34" name="Shape 30"/>
          <p:cNvSpPr/>
          <p:nvPr/>
        </p:nvSpPr>
        <p:spPr>
          <a:xfrm>
            <a:off x="548640" y="5084064"/>
            <a:ext cx="11094415" cy="1188720"/>
          </a:xfrm>
          <a:prstGeom prst="roundRect">
            <a:avLst>
              <a:gd name="adj" fmla="val 7692"/>
            </a:avLst>
          </a:prstGeom>
          <a:solidFill>
            <a:srgbClr val="0A2E36"/>
          </a:solidFill>
          <a:ln/>
        </p:spPr>
      </p:sp>
      <p:sp>
        <p:nvSpPr>
          <p:cNvPr id="35" name="Text 31"/>
          <p:cNvSpPr txBox="1"/>
          <p:nvPr/>
        </p:nvSpPr>
        <p:spPr>
          <a:xfrm>
            <a:off x="822960" y="5230368"/>
            <a:ext cx="10545775" cy="274320"/>
          </a:xfrm>
          <a:prstGeom prst="rect">
            <a:avLst/>
          </a:prstGeom>
          <a:noFill/>
          <a:ln/>
        </p:spPr>
        <p:txBody>
          <a:bodyPr wrap="square" lIns="0" tIns="0" rIns="0" bIns="0" rtlCol="0" anchor="ctr"/>
          <a:lstStyle/>
          <a:p>
            <a:pPr rtl="1" algn="ctr" indent="0" marL="0">
              <a:buNone/>
            </a:pPr>
            <a:r>
              <a:rPr lang="en-US" sz="1300" b="1" dirty="0">
                <a:solidFill>
                  <a:srgbClr val="00A896"/>
                </a:solidFill>
                <a:latin typeface="Arial" pitchFamily="34" charset="0"/>
                <a:ea typeface="Arial" pitchFamily="34" charset="-122"/>
                <a:cs typeface="Arial" pitchFamily="34" charset="-120"/>
              </a:rPr>
              <a:t>والسلوك نفسه مُثبَت باختبارين، لا بالكلام</a:t>
            </a:r>
            <a:endParaRPr lang="en-US" sz="1300" dirty="0"/>
          </a:p>
        </p:txBody>
      </p:sp>
      <p:sp>
        <p:nvSpPr>
          <p:cNvPr id="36" name="Text 32"/>
          <p:cNvSpPr txBox="1"/>
          <p:nvPr/>
        </p:nvSpPr>
        <p:spPr>
          <a:xfrm>
            <a:off x="6233008" y="5577840"/>
            <a:ext cx="5135728" cy="548640"/>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 يفتعل عطلًا داخل المساعد، ويتحقق أن الاستجابة 200 لا 500، وأن كلمة الخطأ التقنية لم تصل إلى المتصفح</a:t>
            </a:r>
            <a:endParaRPr lang="en-US" sz="1050" dirty="0"/>
          </a:p>
        </p:txBody>
      </p:sp>
      <p:sp>
        <p:nvSpPr>
          <p:cNvPr id="37" name="Text 33"/>
          <p:cNvSpPr txBox="1"/>
          <p:nvPr/>
        </p:nvSpPr>
        <p:spPr>
          <a:xfrm>
            <a:off x="822960" y="5577840"/>
            <a:ext cx="5135728" cy="548640"/>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 يتحقق أن السؤال المتسبّب سُجِّل فعلًا في سجل الأخطاء مع مُعرِّف المستخدم</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السادس · البرهان</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الاختبار وضمان الجودة</a:t>
            </a:r>
            <a:endParaRPr lang="en-US" sz="3300" dirty="0"/>
          </a:p>
        </p:txBody>
      </p:sp>
      <p:sp>
        <p:nvSpPr>
          <p:cNvPr id="4" name="Shape 2"/>
          <p:cNvSpPr/>
          <p:nvPr/>
        </p:nvSpPr>
        <p:spPr>
          <a:xfrm>
            <a:off x="548640" y="1572768"/>
            <a:ext cx="6400800" cy="3840480"/>
          </a:xfrm>
          <a:prstGeom prst="roundRect">
            <a:avLst>
              <a:gd name="adj" fmla="val 2381"/>
            </a:avLst>
          </a:prstGeom>
          <a:solidFill>
            <a:srgbClr val="0C1E22"/>
          </a:solidFill>
          <a:ln/>
        </p:spPr>
      </p:sp>
      <p:sp>
        <p:nvSpPr>
          <p:cNvPr id="5" name="Text 3"/>
          <p:cNvSpPr txBox="1"/>
          <p:nvPr/>
        </p:nvSpPr>
        <p:spPr>
          <a:xfrm>
            <a:off x="841248" y="1810512"/>
            <a:ext cx="5815584" cy="219456"/>
          </a:xfrm>
          <a:prstGeom prst="rect">
            <a:avLst/>
          </a:prstGeom>
          <a:noFill/>
          <a:ln/>
        </p:spPr>
        <p:txBody>
          <a:bodyPr wrap="square" lIns="0" tIns="0" rIns="0" bIns="0" rtlCol="0" anchor="ctr"/>
          <a:lstStyle/>
          <a:p>
            <a:pPr algn="l" indent="0" marL="0">
              <a:buNone/>
            </a:pPr>
            <a:r>
              <a:rPr lang="en-US" sz="950" dirty="0">
                <a:solidFill>
                  <a:srgbClr val="00A896"/>
                </a:solidFill>
                <a:latin typeface="Courier New" pitchFamily="34" charset="0"/>
                <a:ea typeface="Courier New" pitchFamily="34" charset="-122"/>
                <a:cs typeface="Courier New" pitchFamily="34" charset="-120"/>
              </a:rPr>
              <a:t>$ vendor/bin/phpunit</a:t>
            </a:r>
            <a:endParaRPr lang="en-US" sz="950" dirty="0"/>
          </a:p>
        </p:txBody>
      </p:sp>
      <p:sp>
        <p:nvSpPr>
          <p:cNvPr id="6" name="Text 4"/>
          <p:cNvSpPr txBox="1"/>
          <p:nvPr/>
        </p:nvSpPr>
        <p:spPr>
          <a:xfrm>
            <a:off x="841248" y="2034540"/>
            <a:ext cx="5815584" cy="219456"/>
          </a:xfrm>
          <a:prstGeom prst="rect">
            <a:avLst/>
          </a:prstGeom>
          <a:noFill/>
          <a:ln/>
        </p:spPr>
        <p:txBody>
          <a:bodyPr wrap="square" lIns="0" tIns="0" rIns="0" bIns="0" rtlCol="0" anchor="ctr"/>
          <a:lstStyle/>
          <a:p>
            <a:pPr algn="l" indent="0" marL="0">
              <a:buNone/>
            </a:pPr>
            <a:endParaRPr lang="en-US" sz="950" dirty="0"/>
          </a:p>
        </p:txBody>
      </p:sp>
      <p:sp>
        <p:nvSpPr>
          <p:cNvPr id="7" name="Text 5"/>
          <p:cNvSpPr txBox="1"/>
          <p:nvPr/>
        </p:nvSpPr>
        <p:spPr>
          <a:xfrm>
            <a:off x="841248" y="2258568"/>
            <a:ext cx="5815584" cy="219456"/>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PHPUnit 11.5.56 by Sebastian Bergmann.</a:t>
            </a:r>
            <a:endParaRPr lang="en-US" sz="950" dirty="0"/>
          </a:p>
        </p:txBody>
      </p:sp>
      <p:sp>
        <p:nvSpPr>
          <p:cNvPr id="8" name="Text 6"/>
          <p:cNvSpPr txBox="1"/>
          <p:nvPr/>
        </p:nvSpPr>
        <p:spPr>
          <a:xfrm>
            <a:off x="841248" y="2482596"/>
            <a:ext cx="5815584" cy="219456"/>
          </a:xfrm>
          <a:prstGeom prst="rect">
            <a:avLst/>
          </a:prstGeom>
          <a:noFill/>
          <a:ln/>
        </p:spPr>
        <p:txBody>
          <a:bodyPr wrap="square" lIns="0" tIns="0" rIns="0" bIns="0" rtlCol="0" anchor="ctr"/>
          <a:lstStyle/>
          <a:p>
            <a:pPr algn="l" indent="0" marL="0">
              <a:buNone/>
            </a:pPr>
            <a:endParaRPr lang="en-US" sz="950" dirty="0"/>
          </a:p>
        </p:txBody>
      </p:sp>
      <p:sp>
        <p:nvSpPr>
          <p:cNvPr id="9" name="Text 7"/>
          <p:cNvSpPr txBox="1"/>
          <p:nvPr/>
        </p:nvSpPr>
        <p:spPr>
          <a:xfrm>
            <a:off x="841248" y="2706624"/>
            <a:ext cx="5815584" cy="219456"/>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Runtime:       PHP 8.4.19</a:t>
            </a:r>
            <a:endParaRPr lang="en-US" sz="950" dirty="0"/>
          </a:p>
        </p:txBody>
      </p:sp>
      <p:sp>
        <p:nvSpPr>
          <p:cNvPr id="10" name="Text 8"/>
          <p:cNvSpPr txBox="1"/>
          <p:nvPr/>
        </p:nvSpPr>
        <p:spPr>
          <a:xfrm>
            <a:off x="841248" y="2930652"/>
            <a:ext cx="5815584" cy="219456"/>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Configuration: phpunit.xml</a:t>
            </a:r>
            <a:endParaRPr lang="en-US" sz="950" dirty="0"/>
          </a:p>
        </p:txBody>
      </p:sp>
      <p:sp>
        <p:nvSpPr>
          <p:cNvPr id="11" name="Text 9"/>
          <p:cNvSpPr txBox="1"/>
          <p:nvPr/>
        </p:nvSpPr>
        <p:spPr>
          <a:xfrm>
            <a:off x="841248" y="3154680"/>
            <a:ext cx="5815584" cy="219456"/>
          </a:xfrm>
          <a:prstGeom prst="rect">
            <a:avLst/>
          </a:prstGeom>
          <a:noFill/>
          <a:ln/>
        </p:spPr>
        <p:txBody>
          <a:bodyPr wrap="square" lIns="0" tIns="0" rIns="0" bIns="0" rtlCol="0" anchor="ctr"/>
          <a:lstStyle/>
          <a:p>
            <a:pPr algn="l" indent="0" marL="0">
              <a:buNone/>
            </a:pPr>
            <a:endParaRPr lang="en-US" sz="950" dirty="0"/>
          </a:p>
        </p:txBody>
      </p:sp>
      <p:sp>
        <p:nvSpPr>
          <p:cNvPr id="12" name="Text 10"/>
          <p:cNvSpPr txBox="1"/>
          <p:nvPr/>
        </p:nvSpPr>
        <p:spPr>
          <a:xfrm>
            <a:off x="841248" y="3378708"/>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63 / 284 ( 22%)</a:t>
            </a:r>
            <a:endParaRPr lang="en-US" sz="950" dirty="0"/>
          </a:p>
        </p:txBody>
      </p:sp>
      <p:sp>
        <p:nvSpPr>
          <p:cNvPr id="13" name="Text 11"/>
          <p:cNvSpPr txBox="1"/>
          <p:nvPr/>
        </p:nvSpPr>
        <p:spPr>
          <a:xfrm>
            <a:off x="841248" y="3602736"/>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126 / 284 ( 44%)</a:t>
            </a:r>
            <a:endParaRPr lang="en-US" sz="950" dirty="0"/>
          </a:p>
        </p:txBody>
      </p:sp>
      <p:sp>
        <p:nvSpPr>
          <p:cNvPr id="14" name="Text 12"/>
          <p:cNvSpPr txBox="1"/>
          <p:nvPr/>
        </p:nvSpPr>
        <p:spPr>
          <a:xfrm>
            <a:off x="841248" y="3826764"/>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189 / 284 ( 66%)</a:t>
            </a:r>
            <a:endParaRPr lang="en-US" sz="950" dirty="0"/>
          </a:p>
        </p:txBody>
      </p:sp>
      <p:sp>
        <p:nvSpPr>
          <p:cNvPr id="15" name="Text 13"/>
          <p:cNvSpPr txBox="1"/>
          <p:nvPr/>
        </p:nvSpPr>
        <p:spPr>
          <a:xfrm>
            <a:off x="841248" y="4050792"/>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252 / 284 ( 88%)</a:t>
            </a:r>
            <a:endParaRPr lang="en-US" sz="950" dirty="0"/>
          </a:p>
        </p:txBody>
      </p:sp>
      <p:sp>
        <p:nvSpPr>
          <p:cNvPr id="16" name="Text 14"/>
          <p:cNvSpPr txBox="1"/>
          <p:nvPr/>
        </p:nvSpPr>
        <p:spPr>
          <a:xfrm>
            <a:off x="841248" y="4274820"/>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284 / 284 (100%)</a:t>
            </a:r>
            <a:endParaRPr lang="en-US" sz="950" dirty="0"/>
          </a:p>
        </p:txBody>
      </p:sp>
      <p:sp>
        <p:nvSpPr>
          <p:cNvPr id="17" name="Text 15"/>
          <p:cNvSpPr txBox="1"/>
          <p:nvPr/>
        </p:nvSpPr>
        <p:spPr>
          <a:xfrm>
            <a:off x="841248" y="4498848"/>
            <a:ext cx="5815584" cy="219456"/>
          </a:xfrm>
          <a:prstGeom prst="rect">
            <a:avLst/>
          </a:prstGeom>
          <a:noFill/>
          <a:ln/>
        </p:spPr>
        <p:txBody>
          <a:bodyPr wrap="square" lIns="0" tIns="0" rIns="0" bIns="0" rtlCol="0" anchor="ctr"/>
          <a:lstStyle/>
          <a:p>
            <a:pPr algn="l" indent="0" marL="0">
              <a:buNone/>
            </a:pPr>
            <a:endParaRPr lang="en-US" sz="950" dirty="0"/>
          </a:p>
        </p:txBody>
      </p:sp>
      <p:sp>
        <p:nvSpPr>
          <p:cNvPr id="18" name="Text 16"/>
          <p:cNvSpPr txBox="1"/>
          <p:nvPr/>
        </p:nvSpPr>
        <p:spPr>
          <a:xfrm>
            <a:off x="841248" y="4722876"/>
            <a:ext cx="5815584" cy="219456"/>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Time: 00:06.900, Memory: 78.50 MB</a:t>
            </a:r>
            <a:endParaRPr lang="en-US" sz="950" dirty="0"/>
          </a:p>
        </p:txBody>
      </p:sp>
      <p:sp>
        <p:nvSpPr>
          <p:cNvPr id="19" name="Text 17"/>
          <p:cNvSpPr txBox="1"/>
          <p:nvPr/>
        </p:nvSpPr>
        <p:spPr>
          <a:xfrm>
            <a:off x="841248" y="4946904"/>
            <a:ext cx="5815584" cy="219456"/>
          </a:xfrm>
          <a:prstGeom prst="rect">
            <a:avLst/>
          </a:prstGeom>
          <a:noFill/>
          <a:ln/>
        </p:spPr>
        <p:txBody>
          <a:bodyPr wrap="square" lIns="0" tIns="0" rIns="0" bIns="0" rtlCol="0" anchor="ctr"/>
          <a:lstStyle/>
          <a:p>
            <a:pPr algn="l" indent="0" marL="0">
              <a:buNone/>
            </a:pPr>
            <a:endParaRPr lang="en-US" sz="950" dirty="0"/>
          </a:p>
        </p:txBody>
      </p:sp>
      <p:sp>
        <p:nvSpPr>
          <p:cNvPr id="20" name="Text 18"/>
          <p:cNvSpPr txBox="1"/>
          <p:nvPr/>
        </p:nvSpPr>
        <p:spPr>
          <a:xfrm>
            <a:off x="841248" y="5170932"/>
            <a:ext cx="5815584" cy="219456"/>
          </a:xfrm>
          <a:prstGeom prst="rect">
            <a:avLst/>
          </a:prstGeom>
          <a:noFill/>
          <a:ln/>
        </p:spPr>
        <p:txBody>
          <a:bodyPr wrap="square" lIns="0" tIns="0" rIns="0" bIns="0" rtlCol="0" anchor="ctr"/>
          <a:lstStyle/>
          <a:p>
            <a:pPr algn="l" indent="0" marL="0">
              <a:buNone/>
            </a:pPr>
            <a:r>
              <a:rPr lang="en-US" sz="950" b="1" dirty="0">
                <a:solidFill>
                  <a:srgbClr val="5BD98A"/>
                </a:solidFill>
                <a:latin typeface="Courier New" pitchFamily="34" charset="0"/>
                <a:ea typeface="Courier New" pitchFamily="34" charset="-122"/>
                <a:cs typeface="Courier New" pitchFamily="34" charset="-120"/>
              </a:rPr>
              <a:t>OK (284 tests, 883 assertions)</a:t>
            </a:r>
            <a:endParaRPr lang="en-US" sz="950" dirty="0"/>
          </a:p>
        </p:txBody>
      </p:sp>
      <p:sp>
        <p:nvSpPr>
          <p:cNvPr id="21" name="Text 19"/>
          <p:cNvSpPr txBox="1"/>
          <p:nvPr/>
        </p:nvSpPr>
        <p:spPr>
          <a:xfrm>
            <a:off x="7253935" y="1572768"/>
            <a:ext cx="4389120" cy="274320"/>
          </a:xfrm>
          <a:prstGeom prst="rect">
            <a:avLst/>
          </a:prstGeom>
          <a:noFill/>
          <a:ln/>
        </p:spPr>
        <p:txBody>
          <a:bodyPr wrap="square" lIns="0" tIns="0" rIns="0" bIns="0" rtlCol="0" anchor="ctr"/>
          <a:lstStyle/>
          <a:p>
            <a:pPr rtl="1" algn="r" indent="0" marL="0">
              <a:buNone/>
            </a:pPr>
            <a:r>
              <a:rPr lang="en-US" sz="1300" b="1" dirty="0">
                <a:solidFill>
                  <a:srgbClr val="02717D"/>
                </a:solidFill>
                <a:latin typeface="Arial" pitchFamily="34" charset="0"/>
                <a:ea typeface="Arial" pitchFamily="34" charset="-122"/>
                <a:cs typeface="Arial" pitchFamily="34" charset="-120"/>
              </a:rPr>
              <a:t>أين تتركّز التغطية</a:t>
            </a:r>
            <a:endParaRPr lang="en-US" sz="1300" dirty="0"/>
          </a:p>
        </p:txBody>
      </p:sp>
      <p:sp>
        <p:nvSpPr>
          <p:cNvPr id="22" name="Shape 20"/>
          <p:cNvSpPr/>
          <p:nvPr/>
        </p:nvSpPr>
        <p:spPr>
          <a:xfrm>
            <a:off x="7253935" y="1956816"/>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23" name="Text 21"/>
          <p:cNvSpPr txBox="1"/>
          <p:nvPr/>
        </p:nvSpPr>
        <p:spPr>
          <a:xfrm>
            <a:off x="7473391" y="1956816"/>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المساعد الذكي</a:t>
            </a:r>
            <a:endParaRPr lang="en-US" sz="1150" dirty="0"/>
          </a:p>
        </p:txBody>
      </p:sp>
      <p:sp>
        <p:nvSpPr>
          <p:cNvPr id="24" name="Shape 22"/>
          <p:cNvSpPr/>
          <p:nvPr/>
        </p:nvSpPr>
        <p:spPr>
          <a:xfrm>
            <a:off x="10801807" y="2039112"/>
            <a:ext cx="621792" cy="310896"/>
          </a:xfrm>
          <a:prstGeom prst="roundRect">
            <a:avLst>
              <a:gd name="adj" fmla="val 23529"/>
            </a:avLst>
          </a:prstGeom>
          <a:solidFill>
            <a:srgbClr val="E9A13B"/>
          </a:solidFill>
          <a:ln/>
        </p:spPr>
      </p:sp>
      <p:sp>
        <p:nvSpPr>
          <p:cNvPr id="25" name="Text 23"/>
          <p:cNvSpPr txBox="1"/>
          <p:nvPr/>
        </p:nvSpPr>
        <p:spPr>
          <a:xfrm>
            <a:off x="10801807" y="2039112"/>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50</a:t>
            </a:r>
            <a:endParaRPr lang="en-US" sz="1150" dirty="0"/>
          </a:p>
        </p:txBody>
      </p:sp>
      <p:sp>
        <p:nvSpPr>
          <p:cNvPr id="26" name="Shape 24"/>
          <p:cNvSpPr/>
          <p:nvPr/>
        </p:nvSpPr>
        <p:spPr>
          <a:xfrm>
            <a:off x="7253935" y="2523744"/>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27" name="Text 25"/>
          <p:cNvSpPr txBox="1"/>
          <p:nvPr/>
        </p:nvSpPr>
        <p:spPr>
          <a:xfrm>
            <a:off x="7473391" y="2523744"/>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خدمات المجال</a:t>
            </a:r>
            <a:endParaRPr lang="en-US" sz="1150" dirty="0"/>
          </a:p>
        </p:txBody>
      </p:sp>
      <p:sp>
        <p:nvSpPr>
          <p:cNvPr id="28" name="Shape 26"/>
          <p:cNvSpPr/>
          <p:nvPr/>
        </p:nvSpPr>
        <p:spPr>
          <a:xfrm>
            <a:off x="10801807" y="2606040"/>
            <a:ext cx="621792" cy="310896"/>
          </a:xfrm>
          <a:prstGeom prst="roundRect">
            <a:avLst>
              <a:gd name="adj" fmla="val 23529"/>
            </a:avLst>
          </a:prstGeom>
          <a:solidFill>
            <a:srgbClr val="02717D"/>
          </a:solidFill>
          <a:ln/>
        </p:spPr>
      </p:sp>
      <p:sp>
        <p:nvSpPr>
          <p:cNvPr id="29" name="Text 27"/>
          <p:cNvSpPr txBox="1"/>
          <p:nvPr/>
        </p:nvSpPr>
        <p:spPr>
          <a:xfrm>
            <a:off x="10801807" y="2606040"/>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28</a:t>
            </a:r>
            <a:endParaRPr lang="en-US" sz="1150" dirty="0"/>
          </a:p>
        </p:txBody>
      </p:sp>
      <p:sp>
        <p:nvSpPr>
          <p:cNvPr id="30" name="Shape 28"/>
          <p:cNvSpPr/>
          <p:nvPr/>
        </p:nvSpPr>
        <p:spPr>
          <a:xfrm>
            <a:off x="7253935" y="3090672"/>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31" name="Text 29"/>
          <p:cNvSpPr txBox="1"/>
          <p:nvPr/>
        </p:nvSpPr>
        <p:spPr>
          <a:xfrm>
            <a:off x="7473391" y="3090672"/>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الترشيح والقوائم</a:t>
            </a:r>
            <a:endParaRPr lang="en-US" sz="1150" dirty="0"/>
          </a:p>
        </p:txBody>
      </p:sp>
      <p:sp>
        <p:nvSpPr>
          <p:cNvPr id="32" name="Shape 30"/>
          <p:cNvSpPr/>
          <p:nvPr/>
        </p:nvSpPr>
        <p:spPr>
          <a:xfrm>
            <a:off x="10801807" y="3172968"/>
            <a:ext cx="621792" cy="310896"/>
          </a:xfrm>
          <a:prstGeom prst="roundRect">
            <a:avLst>
              <a:gd name="adj" fmla="val 23529"/>
            </a:avLst>
          </a:prstGeom>
          <a:solidFill>
            <a:srgbClr val="02717D"/>
          </a:solidFill>
          <a:ln/>
        </p:spPr>
      </p:sp>
      <p:sp>
        <p:nvSpPr>
          <p:cNvPr id="33" name="Text 31"/>
          <p:cNvSpPr txBox="1"/>
          <p:nvPr/>
        </p:nvSpPr>
        <p:spPr>
          <a:xfrm>
            <a:off x="10801807" y="3172968"/>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28</a:t>
            </a:r>
            <a:endParaRPr lang="en-US" sz="1150" dirty="0"/>
          </a:p>
        </p:txBody>
      </p:sp>
      <p:sp>
        <p:nvSpPr>
          <p:cNvPr id="34" name="Shape 32"/>
          <p:cNvSpPr/>
          <p:nvPr/>
        </p:nvSpPr>
        <p:spPr>
          <a:xfrm>
            <a:off x="7253935" y="3657600"/>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35" name="Text 33"/>
          <p:cNvSpPr txBox="1"/>
          <p:nvPr/>
        </p:nvSpPr>
        <p:spPr>
          <a:xfrm>
            <a:off x="7473391" y="3657600"/>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البحث العربي والفهرسة</a:t>
            </a:r>
            <a:endParaRPr lang="en-US" sz="1150" dirty="0"/>
          </a:p>
        </p:txBody>
      </p:sp>
      <p:sp>
        <p:nvSpPr>
          <p:cNvPr id="36" name="Shape 34"/>
          <p:cNvSpPr/>
          <p:nvPr/>
        </p:nvSpPr>
        <p:spPr>
          <a:xfrm>
            <a:off x="10801807" y="3739896"/>
            <a:ext cx="621792" cy="310896"/>
          </a:xfrm>
          <a:prstGeom prst="roundRect">
            <a:avLst>
              <a:gd name="adj" fmla="val 23529"/>
            </a:avLst>
          </a:prstGeom>
          <a:solidFill>
            <a:srgbClr val="02717D"/>
          </a:solidFill>
          <a:ln/>
        </p:spPr>
      </p:sp>
      <p:sp>
        <p:nvSpPr>
          <p:cNvPr id="37" name="Text 35"/>
          <p:cNvSpPr txBox="1"/>
          <p:nvPr/>
        </p:nvSpPr>
        <p:spPr>
          <a:xfrm>
            <a:off x="10801807" y="3739896"/>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22</a:t>
            </a:r>
            <a:endParaRPr lang="en-US" sz="1150" dirty="0"/>
          </a:p>
        </p:txBody>
      </p:sp>
      <p:sp>
        <p:nvSpPr>
          <p:cNvPr id="38" name="Shape 36"/>
          <p:cNvSpPr/>
          <p:nvPr/>
        </p:nvSpPr>
        <p:spPr>
          <a:xfrm>
            <a:off x="7253935" y="4224528"/>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39" name="Text 37"/>
          <p:cNvSpPr txBox="1"/>
          <p:nvPr/>
        </p:nvSpPr>
        <p:spPr>
          <a:xfrm>
            <a:off x="7473391" y="4224528"/>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التحقق من المدخلات</a:t>
            </a:r>
            <a:endParaRPr lang="en-US" sz="1150" dirty="0"/>
          </a:p>
        </p:txBody>
      </p:sp>
      <p:sp>
        <p:nvSpPr>
          <p:cNvPr id="40" name="Shape 38"/>
          <p:cNvSpPr/>
          <p:nvPr/>
        </p:nvSpPr>
        <p:spPr>
          <a:xfrm>
            <a:off x="10801807" y="4306824"/>
            <a:ext cx="621792" cy="310896"/>
          </a:xfrm>
          <a:prstGeom prst="roundRect">
            <a:avLst>
              <a:gd name="adj" fmla="val 23529"/>
            </a:avLst>
          </a:prstGeom>
          <a:solidFill>
            <a:srgbClr val="02717D"/>
          </a:solidFill>
          <a:ln/>
        </p:spPr>
      </p:sp>
      <p:sp>
        <p:nvSpPr>
          <p:cNvPr id="41" name="Text 39"/>
          <p:cNvSpPr txBox="1"/>
          <p:nvPr/>
        </p:nvSpPr>
        <p:spPr>
          <a:xfrm>
            <a:off x="10801807" y="4306824"/>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13</a:t>
            </a:r>
            <a:endParaRPr lang="en-US" sz="1150" dirty="0"/>
          </a:p>
        </p:txBody>
      </p:sp>
      <p:sp>
        <p:nvSpPr>
          <p:cNvPr id="42" name="Shape 40"/>
          <p:cNvSpPr/>
          <p:nvPr/>
        </p:nvSpPr>
        <p:spPr>
          <a:xfrm>
            <a:off x="7253935" y="4791456"/>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43" name="Text 41"/>
          <p:cNvSpPr txBox="1"/>
          <p:nvPr/>
        </p:nvSpPr>
        <p:spPr>
          <a:xfrm>
            <a:off x="7473391" y="4791456"/>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الصلاحيات والمصادقة</a:t>
            </a:r>
            <a:endParaRPr lang="en-US" sz="1150" dirty="0"/>
          </a:p>
        </p:txBody>
      </p:sp>
      <p:sp>
        <p:nvSpPr>
          <p:cNvPr id="44" name="Shape 42"/>
          <p:cNvSpPr/>
          <p:nvPr/>
        </p:nvSpPr>
        <p:spPr>
          <a:xfrm>
            <a:off x="10801807" y="4873752"/>
            <a:ext cx="621792" cy="310896"/>
          </a:xfrm>
          <a:prstGeom prst="roundRect">
            <a:avLst>
              <a:gd name="adj" fmla="val 23529"/>
            </a:avLst>
          </a:prstGeom>
          <a:solidFill>
            <a:srgbClr val="02717D"/>
          </a:solidFill>
          <a:ln/>
        </p:spPr>
      </p:sp>
      <p:sp>
        <p:nvSpPr>
          <p:cNvPr id="45" name="Text 43"/>
          <p:cNvSpPr txBox="1"/>
          <p:nvPr/>
        </p:nvSpPr>
        <p:spPr>
          <a:xfrm>
            <a:off x="10801807" y="4873752"/>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11</a:t>
            </a:r>
            <a:endParaRPr lang="en-US" sz="1150" dirty="0"/>
          </a:p>
        </p:txBody>
      </p:sp>
      <p:sp>
        <p:nvSpPr>
          <p:cNvPr id="46" name="Shape 44"/>
          <p:cNvSpPr/>
          <p:nvPr/>
        </p:nvSpPr>
        <p:spPr>
          <a:xfrm>
            <a:off x="7253935" y="5394960"/>
            <a:ext cx="4389120" cy="877824"/>
          </a:xfrm>
          <a:prstGeom prst="roundRect">
            <a:avLst>
              <a:gd name="adj" fmla="val 9375"/>
            </a:avLst>
          </a:prstGeom>
          <a:solidFill>
            <a:srgbClr val="0A2E36"/>
          </a:solidFill>
          <a:ln/>
        </p:spPr>
      </p:sp>
      <p:sp>
        <p:nvSpPr>
          <p:cNvPr id="47" name="Text 45"/>
          <p:cNvSpPr txBox="1"/>
          <p:nvPr/>
        </p:nvSpPr>
        <p:spPr>
          <a:xfrm>
            <a:off x="7473391" y="5504688"/>
            <a:ext cx="3950208" cy="256032"/>
          </a:xfrm>
          <a:prstGeom prst="rect">
            <a:avLst/>
          </a:prstGeom>
          <a:noFill/>
          <a:ln/>
        </p:spPr>
        <p:txBody>
          <a:bodyPr wrap="square" lIns="0" tIns="0" rIns="0" bIns="0" rtlCol="0" anchor="ctr"/>
          <a:lstStyle/>
          <a:p>
            <a:pPr rtl="1" algn="r" indent="0" marL="0">
              <a:buNone/>
            </a:pPr>
            <a:r>
              <a:rPr lang="en-US" sz="1200" b="1" dirty="0">
                <a:solidFill>
                  <a:srgbClr val="00A896"/>
                </a:solidFill>
                <a:latin typeface="Arial" pitchFamily="34" charset="0"/>
                <a:ea typeface="Arial" pitchFamily="34" charset="-122"/>
                <a:cs typeface="Arial" pitchFamily="34" charset="-120"/>
              </a:rPr>
              <a:t>تعمل آليًا عند كل رفع</a:t>
            </a:r>
            <a:endParaRPr lang="en-US" sz="1200" dirty="0"/>
          </a:p>
        </p:txBody>
      </p:sp>
      <p:sp>
        <p:nvSpPr>
          <p:cNvPr id="48" name="Text 46"/>
          <p:cNvSpPr txBox="1"/>
          <p:nvPr/>
        </p:nvSpPr>
        <p:spPr>
          <a:xfrm>
            <a:off x="7473391" y="5779008"/>
            <a:ext cx="3950208" cy="402336"/>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⁦GitHub Actions⁩ يفحص التنسيق ثم يشغّل المجموعة كاملة قبل أي دمج</a:t>
            </a:r>
            <a:endParaRPr lang="en-US" sz="1050" dirty="0"/>
          </a:p>
        </p:txBody>
      </p:sp>
      <p:sp>
        <p:nvSpPr>
          <p:cNvPr id="49" name="Text 47"/>
          <p:cNvSpPr txBox="1"/>
          <p:nvPr/>
        </p:nvSpPr>
        <p:spPr>
          <a:xfrm>
            <a:off x="548640" y="5559552"/>
            <a:ext cx="6400800" cy="457200"/>
          </a:xfrm>
          <a:prstGeom prst="rect">
            <a:avLst/>
          </a:prstGeom>
          <a:noFill/>
          <a:ln/>
        </p:spPr>
        <p:txBody>
          <a:bodyPr wrap="square" lIns="0" tIns="0" rIns="0" bIns="0" rtlCol="0" anchor="ctr"/>
          <a:lstStyle/>
          <a:p>
            <a:pPr rtl="1" algn="ctr" indent="0" marL="0">
              <a:lnSpc>
                <a:spcPts val="1400"/>
              </a:lnSpc>
              <a:buNone/>
            </a:pPr>
            <a:r>
              <a:rPr lang="en-US" sz="1050" dirty="0">
                <a:solidFill>
                  <a:srgbClr val="5C7378"/>
                </a:solidFill>
                <a:latin typeface="Arial" pitchFamily="34" charset="0"/>
                <a:ea typeface="Arial" pitchFamily="34" charset="-122"/>
                <a:cs typeface="Arial" pitchFamily="34" charset="-120"/>
              </a:rPr>
              <a:t>الاختبارات تعمل على قاعدة بيانات في الذاكرة تُنشأ من الصفر عند كل تشغيل، فلا تعتمد على بيانات سابقة</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E36"/>
        </a:solidFill>
      </p:bgPr>
    </p:bg>
    <p:spTree>
      <p:nvGrpSpPr>
        <p:cNvPr id="1" name=""/>
        <p:cNvGrpSpPr/>
        <p:nvPr/>
      </p:nvGrpSpPr>
      <p:grpSpPr>
        <a:xfrm>
          <a:off x="0" y="0"/>
          <a:ext cx="0" cy="0"/>
          <a:chOff x="0" y="0"/>
          <a:chExt cx="0" cy="0"/>
        </a:xfrm>
      </p:grpSpPr>
      <p:sp>
        <p:nvSpPr>
          <p:cNvPr id="2" name="Shape 0"/>
          <p:cNvSpPr/>
          <p:nvPr/>
        </p:nvSpPr>
        <p:spPr>
          <a:xfrm>
            <a:off x="10515600" y="-2148840"/>
            <a:ext cx="3291840" cy="3291840"/>
          </a:xfrm>
          <a:prstGeom prst="ellipse">
            <a:avLst/>
          </a:prstGeom>
          <a:solidFill>
            <a:srgbClr val="113E48"/>
          </a:solidFill>
          <a:ln/>
        </p:spPr>
      </p:sp>
      <p:sp>
        <p:nvSpPr>
          <p:cNvPr id="3" name="Text 1"/>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E9A13B"/>
                </a:solidFill>
                <a:latin typeface="Arial" pitchFamily="34" charset="0"/>
                <a:ea typeface="Arial" pitchFamily="34" charset="-122"/>
                <a:cs typeface="Arial" pitchFamily="34" charset="-120"/>
              </a:rPr>
              <a:t>الخاتمة</a:t>
            </a:r>
            <a:endParaRPr lang="en-US" sz="1300" dirty="0"/>
          </a:p>
        </p:txBody>
      </p:sp>
      <p:sp>
        <p:nvSpPr>
          <p:cNvPr id="4" name="Text 2"/>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FFFFFF"/>
                </a:solidFill>
                <a:latin typeface="Arial" pitchFamily="34" charset="0"/>
                <a:ea typeface="Arial" pitchFamily="34" charset="-122"/>
                <a:cs typeface="Arial" pitchFamily="34" charset="-120"/>
              </a:rPr>
              <a:t>الخلاصة والتطلعات</a:t>
            </a:r>
            <a:endParaRPr lang="en-US" sz="3300" dirty="0"/>
          </a:p>
        </p:txBody>
      </p:sp>
      <p:sp>
        <p:nvSpPr>
          <p:cNvPr id="5" name="Text 3"/>
          <p:cNvSpPr txBox="1"/>
          <p:nvPr/>
        </p:nvSpPr>
        <p:spPr>
          <a:xfrm>
            <a:off x="6278728" y="1481328"/>
            <a:ext cx="5364328" cy="310896"/>
          </a:xfrm>
          <a:prstGeom prst="rect">
            <a:avLst/>
          </a:prstGeom>
          <a:noFill/>
          <a:ln/>
        </p:spPr>
        <p:txBody>
          <a:bodyPr wrap="square" lIns="0" tIns="0" rIns="0" bIns="0" rtlCol="0" anchor="ctr"/>
          <a:lstStyle/>
          <a:p>
            <a:pPr rtl="1" algn="r" indent="0" marL="0">
              <a:buNone/>
            </a:pPr>
            <a:r>
              <a:rPr lang="en-US" sz="1600" b="1" dirty="0">
                <a:solidFill>
                  <a:srgbClr val="00A896"/>
                </a:solidFill>
                <a:latin typeface="Arial" pitchFamily="34" charset="0"/>
                <a:ea typeface="Arial" pitchFamily="34" charset="-122"/>
                <a:cs typeface="Arial" pitchFamily="34" charset="-120"/>
              </a:rPr>
              <a:t>ما أُنجز</a:t>
            </a:r>
            <a:endParaRPr lang="en-US" sz="1600" dirty="0"/>
          </a:p>
        </p:txBody>
      </p:sp>
      <p:sp>
        <p:nvSpPr>
          <p:cNvPr id="6" name="Shape 4"/>
          <p:cNvSpPr/>
          <p:nvPr/>
        </p:nvSpPr>
        <p:spPr>
          <a:xfrm>
            <a:off x="6278728" y="1938528"/>
            <a:ext cx="5364328" cy="530352"/>
          </a:xfrm>
          <a:prstGeom prst="roundRect">
            <a:avLst>
              <a:gd name="adj" fmla="val 13793"/>
            </a:avLst>
          </a:prstGeom>
          <a:solidFill>
            <a:srgbClr val="113E48"/>
          </a:solidFill>
          <a:ln/>
        </p:spPr>
      </p:sp>
      <p:sp>
        <p:nvSpPr>
          <p:cNvPr id="7" name="Shape 5"/>
          <p:cNvSpPr/>
          <p:nvPr/>
        </p:nvSpPr>
        <p:spPr>
          <a:xfrm>
            <a:off x="11076127" y="2075688"/>
            <a:ext cx="256032" cy="256032"/>
          </a:xfrm>
          <a:prstGeom prst="ellipse">
            <a:avLst/>
          </a:prstGeom>
          <a:solidFill>
            <a:srgbClr val="00A896"/>
          </a:solidFill>
          <a:ln/>
        </p:spPr>
      </p:sp>
      <p:pic>
        <p:nvPicPr>
          <p:cNvPr id="8" name="Image 0" descr="preencoded.png">    </p:cNvPr>
          <p:cNvPicPr>
            <a:picLocks noChangeAspect="1"/>
          </p:cNvPicPr>
          <p:nvPr/>
        </p:nvPicPr>
        <p:blipFill>
          <a:blip r:embed="rId1"/>
          <a:stretch>
            <a:fillRect/>
          </a:stretch>
        </p:blipFill>
        <p:spPr>
          <a:xfrm>
            <a:off x="11140135" y="2139696"/>
            <a:ext cx="128016" cy="128016"/>
          </a:xfrm>
          <a:prstGeom prst="rect">
            <a:avLst/>
          </a:prstGeom>
        </p:spPr>
      </p:pic>
      <p:sp>
        <p:nvSpPr>
          <p:cNvPr id="9" name="Text 6"/>
          <p:cNvSpPr txBox="1"/>
          <p:nvPr/>
        </p:nvSpPr>
        <p:spPr>
          <a:xfrm>
            <a:off x="6479896" y="1938528"/>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نظام متكامل بست وحدات وسبعة أدوار</a:t>
            </a:r>
            <a:endParaRPr lang="en-US" sz="1250" dirty="0"/>
          </a:p>
        </p:txBody>
      </p:sp>
      <p:sp>
        <p:nvSpPr>
          <p:cNvPr id="10" name="Shape 7"/>
          <p:cNvSpPr/>
          <p:nvPr/>
        </p:nvSpPr>
        <p:spPr>
          <a:xfrm>
            <a:off x="6278728" y="2596896"/>
            <a:ext cx="5364328" cy="530352"/>
          </a:xfrm>
          <a:prstGeom prst="roundRect">
            <a:avLst>
              <a:gd name="adj" fmla="val 13793"/>
            </a:avLst>
          </a:prstGeom>
          <a:solidFill>
            <a:srgbClr val="113E48"/>
          </a:solidFill>
          <a:ln/>
        </p:spPr>
      </p:sp>
      <p:sp>
        <p:nvSpPr>
          <p:cNvPr id="11" name="Shape 8"/>
          <p:cNvSpPr/>
          <p:nvPr/>
        </p:nvSpPr>
        <p:spPr>
          <a:xfrm>
            <a:off x="11076127" y="2734056"/>
            <a:ext cx="256032" cy="256032"/>
          </a:xfrm>
          <a:prstGeom prst="ellipse">
            <a:avLst/>
          </a:prstGeom>
          <a:solidFill>
            <a:srgbClr val="00A896"/>
          </a:solidFill>
          <a:ln/>
        </p:spPr>
      </p:sp>
      <p:pic>
        <p:nvPicPr>
          <p:cNvPr id="12" name="Image 1" descr="preencoded.png">    </p:cNvPr>
          <p:cNvPicPr>
            <a:picLocks noChangeAspect="1"/>
          </p:cNvPicPr>
          <p:nvPr/>
        </p:nvPicPr>
        <p:blipFill>
          <a:blip r:embed="rId2"/>
          <a:stretch>
            <a:fillRect/>
          </a:stretch>
        </p:blipFill>
        <p:spPr>
          <a:xfrm>
            <a:off x="11140135" y="2798064"/>
            <a:ext cx="128016" cy="128016"/>
          </a:xfrm>
          <a:prstGeom prst="rect">
            <a:avLst/>
          </a:prstGeom>
        </p:spPr>
      </p:pic>
      <p:sp>
        <p:nvSpPr>
          <p:cNvPr id="13" name="Text 9"/>
          <p:cNvSpPr txBox="1"/>
          <p:nvPr/>
        </p:nvSpPr>
        <p:spPr>
          <a:xfrm>
            <a:off x="6479896" y="2596896"/>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مساعد ذكي بالعربية دون نموذج لغوي خارجي</a:t>
            </a:r>
            <a:endParaRPr lang="en-US" sz="1250" dirty="0"/>
          </a:p>
        </p:txBody>
      </p:sp>
      <p:sp>
        <p:nvSpPr>
          <p:cNvPr id="14" name="Shape 10"/>
          <p:cNvSpPr/>
          <p:nvPr/>
        </p:nvSpPr>
        <p:spPr>
          <a:xfrm>
            <a:off x="6278728" y="3255264"/>
            <a:ext cx="5364328" cy="530352"/>
          </a:xfrm>
          <a:prstGeom prst="roundRect">
            <a:avLst>
              <a:gd name="adj" fmla="val 13793"/>
            </a:avLst>
          </a:prstGeom>
          <a:solidFill>
            <a:srgbClr val="113E48"/>
          </a:solidFill>
          <a:ln/>
        </p:spPr>
      </p:sp>
      <p:sp>
        <p:nvSpPr>
          <p:cNvPr id="15" name="Shape 11"/>
          <p:cNvSpPr/>
          <p:nvPr/>
        </p:nvSpPr>
        <p:spPr>
          <a:xfrm>
            <a:off x="11076127" y="3392424"/>
            <a:ext cx="256032" cy="256032"/>
          </a:xfrm>
          <a:prstGeom prst="ellipse">
            <a:avLst/>
          </a:prstGeom>
          <a:solidFill>
            <a:srgbClr val="00A896"/>
          </a:solidFill>
          <a:ln/>
        </p:spPr>
      </p:sp>
      <p:pic>
        <p:nvPicPr>
          <p:cNvPr id="16" name="Image 2" descr="preencoded.png">    </p:cNvPr>
          <p:cNvPicPr>
            <a:picLocks noChangeAspect="1"/>
          </p:cNvPicPr>
          <p:nvPr/>
        </p:nvPicPr>
        <p:blipFill>
          <a:blip r:embed="rId3"/>
          <a:stretch>
            <a:fillRect/>
          </a:stretch>
        </p:blipFill>
        <p:spPr>
          <a:xfrm>
            <a:off x="11140135" y="3456432"/>
            <a:ext cx="128016" cy="128016"/>
          </a:xfrm>
          <a:prstGeom prst="rect">
            <a:avLst/>
          </a:prstGeom>
        </p:spPr>
      </p:pic>
      <p:sp>
        <p:nvSpPr>
          <p:cNvPr id="17" name="Text 12"/>
          <p:cNvSpPr txBox="1"/>
          <p:nvPr/>
        </p:nvSpPr>
        <p:spPr>
          <a:xfrm>
            <a:off x="6479896" y="3255264"/>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284 اختبارًا آليًا وتكامل مستمر</a:t>
            </a:r>
            <a:endParaRPr lang="en-US" sz="1250" dirty="0"/>
          </a:p>
        </p:txBody>
      </p:sp>
      <p:sp>
        <p:nvSpPr>
          <p:cNvPr id="18" name="Shape 13"/>
          <p:cNvSpPr/>
          <p:nvPr/>
        </p:nvSpPr>
        <p:spPr>
          <a:xfrm>
            <a:off x="6278728" y="3913632"/>
            <a:ext cx="5364328" cy="530352"/>
          </a:xfrm>
          <a:prstGeom prst="roundRect">
            <a:avLst>
              <a:gd name="adj" fmla="val 13793"/>
            </a:avLst>
          </a:prstGeom>
          <a:solidFill>
            <a:srgbClr val="113E48"/>
          </a:solidFill>
          <a:ln/>
        </p:spPr>
      </p:sp>
      <p:sp>
        <p:nvSpPr>
          <p:cNvPr id="19" name="Shape 14"/>
          <p:cNvSpPr/>
          <p:nvPr/>
        </p:nvSpPr>
        <p:spPr>
          <a:xfrm>
            <a:off x="11076127" y="4050792"/>
            <a:ext cx="256032" cy="256032"/>
          </a:xfrm>
          <a:prstGeom prst="ellipse">
            <a:avLst/>
          </a:prstGeom>
          <a:solidFill>
            <a:srgbClr val="00A896"/>
          </a:solidFill>
          <a:ln/>
        </p:spPr>
      </p:sp>
      <p:pic>
        <p:nvPicPr>
          <p:cNvPr id="20" name="Image 3" descr="preencoded.png">    </p:cNvPr>
          <p:cNvPicPr>
            <a:picLocks noChangeAspect="1"/>
          </p:cNvPicPr>
          <p:nvPr/>
        </p:nvPicPr>
        <p:blipFill>
          <a:blip r:embed="rId4"/>
          <a:stretch>
            <a:fillRect/>
          </a:stretch>
        </p:blipFill>
        <p:spPr>
          <a:xfrm>
            <a:off x="11140135" y="4114800"/>
            <a:ext cx="128016" cy="128016"/>
          </a:xfrm>
          <a:prstGeom prst="rect">
            <a:avLst/>
          </a:prstGeom>
        </p:spPr>
      </p:pic>
      <p:sp>
        <p:nvSpPr>
          <p:cNvPr id="21" name="Text 15"/>
          <p:cNvSpPr txBox="1"/>
          <p:nvPr/>
        </p:nvSpPr>
        <p:spPr>
          <a:xfrm>
            <a:off x="6479896" y="3913632"/>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معالجة صريحة للحالات الحرجة</a:t>
            </a:r>
            <a:endParaRPr lang="en-US" sz="1250" dirty="0"/>
          </a:p>
        </p:txBody>
      </p:sp>
      <p:sp>
        <p:nvSpPr>
          <p:cNvPr id="22" name="Text 16"/>
          <p:cNvSpPr txBox="1"/>
          <p:nvPr/>
        </p:nvSpPr>
        <p:spPr>
          <a:xfrm>
            <a:off x="548640" y="1481328"/>
            <a:ext cx="5364328" cy="310896"/>
          </a:xfrm>
          <a:prstGeom prst="rect">
            <a:avLst/>
          </a:prstGeom>
          <a:noFill/>
          <a:ln/>
        </p:spPr>
        <p:txBody>
          <a:bodyPr wrap="square" lIns="0" tIns="0" rIns="0" bIns="0" rtlCol="0" anchor="ctr"/>
          <a:lstStyle/>
          <a:p>
            <a:pPr rtl="1" algn="r" indent="0" marL="0">
              <a:buNone/>
            </a:pPr>
            <a:r>
              <a:rPr lang="en-US" sz="1600" b="1" dirty="0">
                <a:solidFill>
                  <a:srgbClr val="E9A13B"/>
                </a:solidFill>
                <a:latin typeface="Arial" pitchFamily="34" charset="0"/>
                <a:ea typeface="Arial" pitchFamily="34" charset="-122"/>
                <a:cs typeface="Arial" pitchFamily="34" charset="-120"/>
              </a:rPr>
              <a:t>التطوير المستقبلي</a:t>
            </a:r>
            <a:endParaRPr lang="en-US" sz="1600" dirty="0"/>
          </a:p>
        </p:txBody>
      </p:sp>
      <p:sp>
        <p:nvSpPr>
          <p:cNvPr id="23" name="Shape 17"/>
          <p:cNvSpPr/>
          <p:nvPr/>
        </p:nvSpPr>
        <p:spPr>
          <a:xfrm>
            <a:off x="548640" y="1938528"/>
            <a:ext cx="5364328" cy="530352"/>
          </a:xfrm>
          <a:prstGeom prst="roundRect">
            <a:avLst>
              <a:gd name="adj" fmla="val 13793"/>
            </a:avLst>
          </a:prstGeom>
          <a:solidFill>
            <a:srgbClr val="113E48"/>
          </a:solidFill>
          <a:ln/>
        </p:spPr>
      </p:sp>
      <p:sp>
        <p:nvSpPr>
          <p:cNvPr id="24" name="Shape 18"/>
          <p:cNvSpPr/>
          <p:nvPr/>
        </p:nvSpPr>
        <p:spPr>
          <a:xfrm>
            <a:off x="5346040" y="2075688"/>
            <a:ext cx="256032" cy="256032"/>
          </a:xfrm>
          <a:prstGeom prst="ellipse">
            <a:avLst/>
          </a:prstGeom>
          <a:solidFill>
            <a:srgbClr val="E9A13B"/>
          </a:solidFill>
          <a:ln/>
        </p:spPr>
      </p:sp>
      <p:pic>
        <p:nvPicPr>
          <p:cNvPr id="25" name="Image 4" descr="preencoded.png">    </p:cNvPr>
          <p:cNvPicPr>
            <a:picLocks noChangeAspect="1"/>
          </p:cNvPicPr>
          <p:nvPr/>
        </p:nvPicPr>
        <p:blipFill>
          <a:blip r:embed="rId5"/>
          <a:stretch>
            <a:fillRect/>
          </a:stretch>
        </p:blipFill>
        <p:spPr>
          <a:xfrm>
            <a:off x="5410048" y="2139696"/>
            <a:ext cx="128016" cy="128016"/>
          </a:xfrm>
          <a:prstGeom prst="rect">
            <a:avLst/>
          </a:prstGeom>
        </p:spPr>
      </p:pic>
      <p:sp>
        <p:nvSpPr>
          <p:cNvPr id="26" name="Text 19"/>
          <p:cNvSpPr txBox="1"/>
          <p:nvPr/>
        </p:nvSpPr>
        <p:spPr>
          <a:xfrm>
            <a:off x="749808" y="1938528"/>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تطبيق جوّال للبوابات بمسح الباركود</a:t>
            </a:r>
            <a:endParaRPr lang="en-US" sz="1250" dirty="0"/>
          </a:p>
        </p:txBody>
      </p:sp>
      <p:sp>
        <p:nvSpPr>
          <p:cNvPr id="27" name="Shape 20"/>
          <p:cNvSpPr/>
          <p:nvPr/>
        </p:nvSpPr>
        <p:spPr>
          <a:xfrm>
            <a:off x="548640" y="2596896"/>
            <a:ext cx="5364328" cy="530352"/>
          </a:xfrm>
          <a:prstGeom prst="roundRect">
            <a:avLst>
              <a:gd name="adj" fmla="val 13793"/>
            </a:avLst>
          </a:prstGeom>
          <a:solidFill>
            <a:srgbClr val="113E48"/>
          </a:solidFill>
          <a:ln/>
        </p:spPr>
      </p:sp>
      <p:sp>
        <p:nvSpPr>
          <p:cNvPr id="28" name="Shape 21"/>
          <p:cNvSpPr/>
          <p:nvPr/>
        </p:nvSpPr>
        <p:spPr>
          <a:xfrm>
            <a:off x="5346040" y="2734056"/>
            <a:ext cx="256032" cy="256032"/>
          </a:xfrm>
          <a:prstGeom prst="ellipse">
            <a:avLst/>
          </a:prstGeom>
          <a:solidFill>
            <a:srgbClr val="E9A13B"/>
          </a:solidFill>
          <a:ln/>
        </p:spPr>
      </p:sp>
      <p:pic>
        <p:nvPicPr>
          <p:cNvPr id="29" name="Image 5" descr="preencoded.png">    </p:cNvPr>
          <p:cNvPicPr>
            <a:picLocks noChangeAspect="1"/>
          </p:cNvPicPr>
          <p:nvPr/>
        </p:nvPicPr>
        <p:blipFill>
          <a:blip r:embed="rId6"/>
          <a:stretch>
            <a:fillRect/>
          </a:stretch>
        </p:blipFill>
        <p:spPr>
          <a:xfrm>
            <a:off x="5410048" y="2798064"/>
            <a:ext cx="128016" cy="128016"/>
          </a:xfrm>
          <a:prstGeom prst="rect">
            <a:avLst/>
          </a:prstGeom>
        </p:spPr>
      </p:pic>
      <p:sp>
        <p:nvSpPr>
          <p:cNvPr id="30" name="Text 22"/>
          <p:cNvSpPr txBox="1"/>
          <p:nvPr/>
        </p:nvSpPr>
        <p:spPr>
          <a:xfrm>
            <a:off x="749808" y="2596896"/>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دعم متعدد اللغات</a:t>
            </a:r>
            <a:endParaRPr lang="en-US" sz="1250" dirty="0"/>
          </a:p>
        </p:txBody>
      </p:sp>
      <p:sp>
        <p:nvSpPr>
          <p:cNvPr id="31" name="Shape 23"/>
          <p:cNvSpPr/>
          <p:nvPr/>
        </p:nvSpPr>
        <p:spPr>
          <a:xfrm>
            <a:off x="548640" y="3255264"/>
            <a:ext cx="5364328" cy="530352"/>
          </a:xfrm>
          <a:prstGeom prst="roundRect">
            <a:avLst>
              <a:gd name="adj" fmla="val 13793"/>
            </a:avLst>
          </a:prstGeom>
          <a:solidFill>
            <a:srgbClr val="113E48"/>
          </a:solidFill>
          <a:ln/>
        </p:spPr>
      </p:sp>
      <p:sp>
        <p:nvSpPr>
          <p:cNvPr id="32" name="Shape 24"/>
          <p:cNvSpPr/>
          <p:nvPr/>
        </p:nvSpPr>
        <p:spPr>
          <a:xfrm>
            <a:off x="5346040" y="3392424"/>
            <a:ext cx="256032" cy="256032"/>
          </a:xfrm>
          <a:prstGeom prst="ellipse">
            <a:avLst/>
          </a:prstGeom>
          <a:solidFill>
            <a:srgbClr val="E9A13B"/>
          </a:solidFill>
          <a:ln/>
        </p:spPr>
      </p:sp>
      <p:pic>
        <p:nvPicPr>
          <p:cNvPr id="33" name="Image 6" descr="preencoded.png">    </p:cNvPr>
          <p:cNvPicPr>
            <a:picLocks noChangeAspect="1"/>
          </p:cNvPicPr>
          <p:nvPr/>
        </p:nvPicPr>
        <p:blipFill>
          <a:blip r:embed="rId7"/>
          <a:stretch>
            <a:fillRect/>
          </a:stretch>
        </p:blipFill>
        <p:spPr>
          <a:xfrm>
            <a:off x="5410048" y="3456432"/>
            <a:ext cx="128016" cy="128016"/>
          </a:xfrm>
          <a:prstGeom prst="rect">
            <a:avLst/>
          </a:prstGeom>
        </p:spPr>
      </p:pic>
      <p:sp>
        <p:nvSpPr>
          <p:cNvPr id="34" name="Text 25"/>
          <p:cNvSpPr txBox="1"/>
          <p:nvPr/>
        </p:nvSpPr>
        <p:spPr>
          <a:xfrm>
            <a:off x="749808" y="3255264"/>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لوحات تحليلية ومؤشرات إنذار مبكر</a:t>
            </a:r>
            <a:endParaRPr lang="en-US" sz="1250" dirty="0"/>
          </a:p>
        </p:txBody>
      </p:sp>
      <p:sp>
        <p:nvSpPr>
          <p:cNvPr id="35" name="Shape 26"/>
          <p:cNvSpPr/>
          <p:nvPr/>
        </p:nvSpPr>
        <p:spPr>
          <a:xfrm>
            <a:off x="548640" y="3913632"/>
            <a:ext cx="5364328" cy="530352"/>
          </a:xfrm>
          <a:prstGeom prst="roundRect">
            <a:avLst>
              <a:gd name="adj" fmla="val 13793"/>
            </a:avLst>
          </a:prstGeom>
          <a:solidFill>
            <a:srgbClr val="113E48"/>
          </a:solidFill>
          <a:ln/>
        </p:spPr>
      </p:sp>
      <p:sp>
        <p:nvSpPr>
          <p:cNvPr id="36" name="Shape 27"/>
          <p:cNvSpPr/>
          <p:nvPr/>
        </p:nvSpPr>
        <p:spPr>
          <a:xfrm>
            <a:off x="5346040" y="4050792"/>
            <a:ext cx="256032" cy="256032"/>
          </a:xfrm>
          <a:prstGeom prst="ellipse">
            <a:avLst/>
          </a:prstGeom>
          <a:solidFill>
            <a:srgbClr val="E9A13B"/>
          </a:solidFill>
          <a:ln/>
        </p:spPr>
      </p:sp>
      <p:pic>
        <p:nvPicPr>
          <p:cNvPr id="37" name="Image 7" descr="preencoded.png">    </p:cNvPr>
          <p:cNvPicPr>
            <a:picLocks noChangeAspect="1"/>
          </p:cNvPicPr>
          <p:nvPr/>
        </p:nvPicPr>
        <p:blipFill>
          <a:blip r:embed="rId8"/>
          <a:stretch>
            <a:fillRect/>
          </a:stretch>
        </p:blipFill>
        <p:spPr>
          <a:xfrm>
            <a:off x="5410048" y="4114800"/>
            <a:ext cx="128016" cy="128016"/>
          </a:xfrm>
          <a:prstGeom prst="rect">
            <a:avLst/>
          </a:prstGeom>
        </p:spPr>
      </p:pic>
      <p:sp>
        <p:nvSpPr>
          <p:cNvPr id="38" name="Text 28"/>
          <p:cNvSpPr txBox="1"/>
          <p:nvPr/>
        </p:nvSpPr>
        <p:spPr>
          <a:xfrm>
            <a:off x="749808" y="3913632"/>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واجهات تكامل مع المنظمات الإنسانية</a:t>
            </a:r>
            <a:endParaRPr lang="en-US" sz="1250" dirty="0"/>
          </a:p>
        </p:txBody>
      </p:sp>
      <p:sp>
        <p:nvSpPr>
          <p:cNvPr id="39" name="Text 29"/>
          <p:cNvSpPr txBox="1"/>
          <p:nvPr/>
        </p:nvSpPr>
        <p:spPr>
          <a:xfrm>
            <a:off x="548640" y="5230368"/>
            <a:ext cx="11094415" cy="548640"/>
          </a:xfrm>
          <a:prstGeom prst="rect">
            <a:avLst/>
          </a:prstGeom>
          <a:noFill/>
          <a:ln/>
        </p:spPr>
        <p:txBody>
          <a:bodyPr wrap="square" lIns="0" tIns="0" rIns="0" bIns="0" rtlCol="0" anchor="ctr"/>
          <a:lstStyle/>
          <a:p>
            <a:pPr rtl="1" algn="ctr" indent="0" marL="0">
              <a:buNone/>
            </a:pPr>
            <a:r>
              <a:rPr lang="en-US" sz="3200" b="1" dirty="0">
                <a:solidFill>
                  <a:srgbClr val="FFFFFF"/>
                </a:solidFill>
                <a:latin typeface="Arial" pitchFamily="34" charset="0"/>
                <a:ea typeface="Arial" pitchFamily="34" charset="-122"/>
                <a:cs typeface="Arial" pitchFamily="34" charset="-120"/>
              </a:rPr>
              <a:t>شكرًا لحسن استماعكم</a:t>
            </a:r>
            <a:endParaRPr lang="en-US" sz="3200" dirty="0"/>
          </a:p>
        </p:txBody>
      </p:sp>
      <p:sp>
        <p:nvSpPr>
          <p:cNvPr id="40" name="Text 30"/>
          <p:cNvSpPr txBox="1"/>
          <p:nvPr/>
        </p:nvSpPr>
        <p:spPr>
          <a:xfrm>
            <a:off x="548640" y="5870448"/>
            <a:ext cx="11094415" cy="365760"/>
          </a:xfrm>
          <a:prstGeom prst="rect">
            <a:avLst/>
          </a:prstGeom>
          <a:noFill/>
          <a:ln/>
        </p:spPr>
        <p:txBody>
          <a:bodyPr wrap="square" lIns="0" tIns="0" rIns="0" bIns="0" rtlCol="0" anchor="ctr"/>
          <a:lstStyle/>
          <a:p>
            <a:pPr rtl="1" algn="ctr" indent="0" marL="0">
              <a:buNone/>
            </a:pPr>
            <a:r>
              <a:rPr lang="en-US" sz="1500" dirty="0">
                <a:solidFill>
                  <a:srgbClr val="00A896"/>
                </a:solidFill>
                <a:latin typeface="Arial" pitchFamily="34" charset="0"/>
                <a:ea typeface="Arial" pitchFamily="34" charset="-122"/>
                <a:cs typeface="Arial" pitchFamily="34" charset="-120"/>
              </a:rPr>
              <a:t>يسعدني أن أستمع إلى أسئلتكم وملاحظاتكم</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إدارة المخيمات</dc:title>
  <dc:subject>PptxGenJS Presentation</dc:subject>
  <dc:creator>Camp Management System</dc:creator>
  <cp:lastModifiedBy>Camp Management System</cp:lastModifiedBy>
  <cp:revision>1</cp:revision>
  <dcterms:created xsi:type="dcterms:W3CDTF">2026-09-02T16:00:57Z</dcterms:created>
  <dcterms:modified xsi:type="dcterms:W3CDTF">2026-09-02T16:00:57Z</dcterms:modified>
</cp:coreProperties>
</file>