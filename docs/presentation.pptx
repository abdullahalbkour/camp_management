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السلام عليكم ورحمة الله وبركاته. أعضاء لجنة التحكيم الموقّرة، أساتذتي الكرام، أشكركم على وقتكم وحضوركم.
اسمي [الاسم]، وأقدّم اليوم مشروع تخرجي بعنوان «نظام إدارة المخيمات»، وهو نظام ويب متكامل بُني بإطار عمل Laravel لإدارة العمليات اليومية داخل مخيمات اللجوء: من تسجيل اللاجئ لحظة وصوله، إلى تخصيص وحدته السكنية، وتوزيع المساعدات عليه، وتتبّع حركة دخوله وخروجه عبر البوابات.
سأعرض عليكم في الدقائق القادمة أربعة محاور: المشكلة التي دفعتني لاختيار الموضوع، ثم الحل والبنية التقنية، ثم الميزة البرمجية الأهم في المشروع وهي المساعد الذكي، وأخيرًا كيف عالجت الحالات الاستثنائية التي تكسر الأنظمة عادةً — وهي النقطة التي أتمنى أن تنالوا منها انطباعًا عن جدّية الهندسة خلف المشروع، لا عن عدد الشاشات فيه فقط.
ولنبدأ بالسؤال الأول: لماذا هذا المشروع أصلًا؟
[أداء] لا تقرأ الشريحة. انظر إلى اللجنة، وابتسم، وتنفّس قبل أن تبدأ. الزمن: 45 ثانية.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في كثير من المخيمات، تُدار البيانات حتى اليوم بالورق أو بملفات Excel متفرقة، يحتفظ كل قسم بنسخته الخاصة منها. والنتيجة مشاكل متسلسلة:
أولًا: لا يوجد مصدر واحد للحقيقة. قسم التسجيل لديه قائمة، وقسم المساعدات قائمة أخرى، وقسم السكن ثالثة. فإذا انتقلت أسرة من خيمة إلى أخرى، تُحدَّث قائمة واحدة وتبقى البقية قديمة. وهنا تبدأ الازدواجية: شخص يستلم المساعدة مرتين، وآخر لا يستلمها أبدًا.
ثانيًا: الطاقة الاستيعابية غير مضبوطة. لا أحد يعرف بدقة كم وحدة سكنية فارغة الآن، فيُخصَّص لخيمة سعتها خمسة أشخاصٌ ثمانية — لأن الرقم كان في ذهن موظف، لا في نظام يمنع التجاوز.
ثالثًا، وهو الأخطر أمنيًا: حركة الدخول والخروج. في نظام ورقي لا يمكنك أن تجيب عن سؤال بسيط: «من هم الموجودون داخل المخيم الآن؟» — وهو سؤال أمني وإنساني في آن واحد، يُسأل عند الحوادث وعند الإحصاء وعند البحث عن مفقود.
ورابعًا، وهي نقطة تخص لغتنا تحديدًا: البحث بالاسم العربي يفشل في الأنظمة التقليدية. الموظف يكتب «احمد» بألف بلا همزة، والاسم مخزَّن «أحمد» بالهمزة، فلا تظهر أي نتيجة — فيُنشئ الموظف سجلًا جديدًا لنفس الشخص. هكذا تُولد الازدواجية تقنيًا، لا بسبب إهمال الموظف.
والخلاصة: المشكلة ليست نقص البيانات، بل أن البيانات موجودة ولا يمكن الوصول إليها في الوقت المناسب.
[أداء] قف عند نقطة «احمد ≠ أحمد» ثانيتين — ستعود في الشريحة السابعة كإجابة. الزمن: 1.5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الحل الذي بنيته هو نظام ويب مركزي واحد، تعمل عليه جميع الأقسام في الوقت نفسه، وتُبنى عليه خمسة أهداف:
الهدف الأول: مصدر واحد للحقيقة. قاعدة بيانات علائقية واحدة، مترابطة بمفاتيح أجنبية حقيقية. فحين يُنقل لاجئ من وحدة إلى أخرى، يراه قسم المساعدات وقسم الأمن في اللحظة نفسها، لأن الجميع يقرأ من الجدول نفسه.
الهدف الثاني: منع الخطأ لا تسجيله فقط — وهذه نقطة تصميمية أودّ التوقف عندها. مثال عملي: عند نقل لاجئ إلى وحدة سكنية، يحسب النظام الإشغال الحالي ويقارنه بالسعة، فإن كانت ممتلئة يرفض العملية ويعرض رسالة توضح السبب. لا يسجّل التجاوز ثم ينبّه عليه لاحقًا — يمنعه ابتداءً. والقاعدة في طبقة الخدمات لا في الواجهة، لأن الواجهة يمكن تجاوزها والخدمة لا.
الهدف الثالث: صلاحيات دقيقة حسب الدور. سبعة أدوار: مدير النظام، المدير، موظف التسجيل، موظف السكن، موظف المساعدات، الموظف الطبي، وضابط الأمن. وكل دور يرى ما يخصّه فقط — الموظف الطبي لا يرى أرقام المساعدات، وموظف المساعدات لا يرى التشخيصات الطبية. وهذا ليس إخفاءً في الواجهة، بل منعٌ في طبقة الصلاحيات نفسها.
الهدف الرابع: سجل تدقيق كامل. كل عملية حسّاسة — تسجيل، نقل، توزيع، حركة دخول — تُكتب في سجل يحفظ من فعل وماذا فعل ومتى وعلى أي سجل. فالمساءلة ممكنة، وهذا مطلب أساسي في أي نظام يتعامل مع بيانات بشر.
والهدف الخامس هو ما سأخصّص له شريحة كاملة: أن يصل المستخدم إلى المعلومة بسؤال مباشر بالعربية، دون أن يتعلّم أين تقع كل شاشة.
الزمن: 1.5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أنتقل إلى البنية التقنية، وسأشرح لماذا اخترت كل تقنية لا ما هي فقط.
إطار العمل: Laravel 12 على PHP 8.2. اخترته لثلاثة أسباب عملية: نظام الترحيلات (Migrations) الذي يجعل بنية قاعدة البيانات جزءًا من الكود ويمكن إعادة بناؤها بأمر واحد؛ وطبقة Eloquent التي تستخدم الاستعلامات المُعدّة (Prepared Statements) افتراضيًا فتغلق باب حقن SQL؛ ونظام الطبقات الذي سمح لي بفصل منطق العمل في 12 خدمة مستقلة عن المتحكّمات.
قاعدة البيانات: MySQL 8 بثمانية عشر جدولًا مترابطًا. وحرصت أن تكون القيود في قاعدة البيانات نفسها: مفاتيح أجنبية، وقيود فريدة، وفهارس مركّبة على أعمدة البحث المتكرر. فحتى لو أخطأ الكود يومًا، قاعدة البيانات ترفض البيانات المتناقضة.
الواجهة: Blade مع CSS وJavaScript عاديين، بلا أي خطوة بناء (build step). وهذا قرار مقصود: النظام مُوجَّه لبيئات محدودة الموارد والاتصال، ووجود عملية بناء معقّدة يجعل النشر والصيانة أصعب على فريق ميداني. والواجهة كاملة بالعربية واتجاه RTL.
بيئة التطوير: XAMPP التي توفّر Apache وMySQL وPHP في حزمة واحدة، وهي الأنسب للتطوير المحلي والتشغيل التجريبي. وأضفت أيضًا ملف Docker Compose في المستودع كخيار بديل.
وإدارة الأكواد: Git وGitHub — لا كمخزن للنسخ فقط، بل بمنهجية فروع ومراجعة عبر طلبات دمج، مع تكامل مستمر عبر GitHub Actions يفحص تنسيق الكود ويشغّل جميع الاختبارات آليًا عند كل رفع.
وأخيرًا الرقم الذي أعتز به: النظام مغطّى بـ 262 اختبارًا آليًا موزّعة على 28 ملفًا. فحين أعدّل في الكود، الاختبارات هي التي تخبرني إن كنت قد كسرت شيئًا — لا المستخدم بعد النشر.
[أداء] قل رقم «262» ببطء ووضوح — اللجان تلتقطه لأنه دليل انضباط لا يُدّعى بالكلام. الزمن: 1.5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أستعرض وحدات النظام الست، وسأركّز على القرار الهندسي داخل كل وحدة لا على شكل الشاشة.
الوحدة الأولى: سجلات اللاجئين. تسجيل بيانات الشخص، وربطه بأسرة عبر رمز أسرة فريد مع تحديد صلة القرابة برب الأسرة، وأرشفة المرفقات كصور الوثائق. والنظام يولّد لكل لاجئ بطاقة تعريف تحمل باركود بمعيار Code128 — وقد برمجت مولّد الباركود بنفسي داخل المشروع دون مكتبة خارجية.
الوحدة الثانية: الوحدات السكنية. كل مخيم يحتوي وحدات — خيمة أو كرفان — لكل منها رمز وسعة وحالة. والنقل يمرّ عبر خدمة واحدة تتحقق من السعة وترفض التجاوز. والأهم أن كل نقل يُكتب في جدول residency_transfers، فتاريخ سكن أي شخص محفوظ بالكامل: أين كان، ومتى انتقل، ومن نقله، ولماذا.
الوحدة الثالثة: توزيع المساعدات. تسجّل المنظمات المانحة وأنواع المساعدات ووحدات القياس، ثم تُسجَّل عمليات التوزيع — إما لفرد أو لأسرة كاملة. والنظام يميّز بين الحالتين ويجمعهما عند الاستعلام: فحين تسأل «ماذا استلم فلان؟» يحسب ما وصله شخصيًا وما وصله عبر أسرته معًا. هذه التفصيلة هي الفرق بين رقم صحيح ورقم ناقص.
الوحدة الرابعة، وأخصّها بالتفصيل: حركة الدخول والخروج. لكل مخيم نقاط تفتيش، وعند كل مرور يُسجَّل: الشخص، والبوابة، والنوع، والوقت بالدقيقة، والسبب، ومن سجّل العملية. وتُحدَّث حالة التواجد فورًا: داخل أو خارج. فيصبح سؤال «من الموجود داخل المخيم الآن؟» استعلامًا لحظيًا.
وهنا حالة واقعية عالجتها: ماذا لو مرّ لاجئ من بوابة مخيم غير مخيمه؟ الناس تنتقل بين المخيمات فعلًا. الحل الساذج أن يرفض النظام التسجيل — لكن الرفض لا يمنع المرور، بل يترك ثغرة في السجل. لذلك قررت أن يُسجَّل المرور دائمًا، وأن يُنسب إلى مخيم البوابة لا مخيم الشخص — لأن الحدث وقع عند البوابة — مع وضع علامة cross_camp في سجل التدقيق تجعل هذه الحالات قابلة للبحث. ومع ذلك، المرور لا يغيّر مكان الإقامة: فتغيير الإقامة نقلٌ رسمي يمرّ بخدمة السكن وفحوصات السعة، ولا يجوز الالتفاف عليه من بوابة.
الوحدة الخامسة: السجلات الطبية بخدمات وتشخيصات ومواعيد متابعة تُنبَّه عند استحقاقها. والسادسة: التقارير والتدقيق — تقارير قابلة للتصدير إلى Excel والطباعة، وسجل تدقيق يوثّق كل عملية حسّاسة.
وعنصر يخدم الوحدات كلها: البحث العربي الذكي. بنيت طبقة تطبيع توحّد الهمزات، والتاء المربوطة مع الهاء، والألف المقصورة مع الياء، وتحذف التشكيل والتطويل، وتحوّل الأرقام الهندية إلى عربية. وتُطبَّق على طرفَي المقارنة: على ما يكتبه المستخدم وعلى ما هو مخزَّن. وبهذا «احمد» تجد «أحمد» — وتُغلق الثغرة التي ذكرتها في شريحة المشكلة.
[أداء] إن ضاق الوقت اختصر الوحدات 1 و5 و6، واحتفظ بتفصيل الوحدة الرابعة. الزمن: 2.5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نصل إلى الميزة التي أعتبرها نقطة القوة الحقيقية: المساعد الذكي.
الفكرة: بدل أن يتنقّل الموظف بين الشاشات ليجد رقمًا، يكتب سؤاله بالعربية في مربع حوار داخل النظام، فيحصل على الإجابة مع السجلات وروابط الإجراء المناسبة.
وقبل أن أشرح كيف يعمل، أودّ توضيح ما لا يفعله — لأن هذا هو القرار الهندسي الأهم في المشروع كله: هذا المساعد لا يستخدم نموذجًا لغويًا كبيرًا (LLM)، ولا يولّد جملة SQL من كلام المستخدم. وهذا اختيار مقصود لثلاثة أسباب:
الأول — الخصوصية. نحن نتعامل مع أسماء لاجئين وأرقام وثائق وتشخيصات طبية. إرسال هذه البيانات إلى خدمة خارجية غير مقبول أخلاقيًا ولا قانونيًا. في تصميمي لا تغادر البيانات الخادم إطلاقًا، والنظام يعمل كاملًا دون اتصال بالإنترنت.
الثاني — الدقة. النموذج اللغوي ينتج إجابة محتملة؛ ونحن نحتاج إجابة صحيحة. حين يُسأل النظام «كم عدد السكان؟» فالرقم يجب أن يكون رقم قاعدة البيانات، لا رقمًا معقولًا. في تصميمي كل نيّة تملك استعلامًا كتبه مطوّر ويغطّيه اختبار؛ الجملة تختار أي استعلام يُنفَّذ فقط، ولا تكتبه.
الثالث — الأمان. ما دام المستخدم لا يستطيع كتابة الاستعلام، فلا يستطيع توسيعه. مهما كتب، لن يقرأ إلا ما تسمح به النيّة المُعرَّفة مسبقًا وصلاحيات دوره. وهذا يغلق فئة كاملة من الثغرات تُعرف بـ Prompt Injection قبل أن تُفتح.
والآن كيف يعمل فعليًا؟ أربع مراحل:
المرحلة الأولى — تطبيع النص: يُفَّرد السؤال إلى صورته الموحّدة. فتصبح «أين يسكن أحمد؟» و«اين يسكن احمد» السؤال نفسه داخل النظام.
المرحلة الثانية — تحليل النوايا: لدي عشر نوايا مُعرَّفة، كل واحدة صنف برمجي مستقل — نيّة لحالة السكن، ولعدد السكان، وللوحدات الشاغرة، وللمساعدات. وكل نيّة تفحص السؤال وتجيب: هل هذا السؤال يخصّني؟
المرحلة الثالثة — الترجيح بالنقاط، وهي ألطف جزئية في التصميم. النيّة لا تجيب بنعم أو لا، بل بدرجة ثقة تساوي عدد الإشارات التي التقطتها. ثم تفوز صاحبة الدرجة الأعلى. ولماذا النقاط بدل أول تطابق؟ لأن الكلمات تتقاطع: «أين يسكن أحمد؟» و«كم شخصًا بلا سكن؟» كلاهما فيه كلمة «سكن»، لكن الأول سؤال عن شخص والثاني إحصاء عن المخيم. ولو أخذنا أول تطابق لأجاب النظام إجابة خاطئة بثقة تامة. فبرمجت نيّة حالة السكن أن تنسحب فور رؤية أدوات العدّ — «كم»، «عدد»، «إحصائية» — وبذلك يذهب كل سؤال إلى صاحبه.
المرحلة الرابعة — التنفيذ: تستخرج النيّة الفائزة «الموضوع» من السؤال — الاسم أو الرقم — بعد حذف كلماتها المفتاحية وكلمات الوقف. فمن «ابحث عن أحمد» يبقى «أحمد» لا «عن أحمد». ثم يُنفَّذ الاستعلام الجاهز، وتُعاد الإجابة كجملة عربية مفهومة مع السجلات والأرقام وروابط الإجراء المناسبة للدور — فموظف السكن يرى زر «نقل إلى وحدة أخرى» تحت الإجابة، ولا يظهر لمن لا يملك صلاحيته.
ونقطة أخيرة: المساعد يخضع لنظام الصلاحيات نفسه الذي تخضع له الشاشات، من مصدر واحد في الكود. فموظف طبي يسأل عن أرقام المساعدات يُرفض طلبه بأدب، ولا يُعطى رقمًا مختلفًا ولا ناقصًا. ولو كانت الصلاحيات مكتوبة مرتين — للشاشات وللمساعد — لاختلفتا مع الوقت، ولأصبح المساعد بابًا خلفيًا للبيانات.
[أداء] هذه الشريحة تستحق عرضًا حيًّا. اكتب سؤالين: ناجحًا ثم باسم ملتبس، لينتقل الحديث طبيعيًا إلى الشريحة التالية. واحتفظ بلقطات شاشة احتياطية. الزمن: 3 دقائق.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الشريحة هي التي أرجو أن تُقيَّم بها هندسة المشروع، لأن الفرق بين نموذج أوّلي ونظام صالح للتشغيل ليس في المسار الناجح، بل في ما يحدث حين تسوء الأمور.
الحالة الأولى: الاسم الملتبس. في مخيم فيه آلاف الأشخاص، اسم «محمد» يطابق العشرات. الخطأ الفادح أن يختار النظام الأول ويجيب بثقة — فيُعطي عنوان شخص آخر. وهذا في سياق إنساني ليس خطأً تقنيًا فقط، بل قد يكون خطرًا على شخص. والحل الناقص أن يقول «الاسم ملتبس، اختر السجل» — وقد جرّبته أولًا ثم رفضته، لأن من كتب «محمد» غالبًا لا يملك سوى هذا الاسم؛ فإخباره بأن الاسم ملتبس لا يعطيه خطوة تالية. والحل الذي اعتمدته أن يردّ النظام بثلاثة أشياء معًا: يعلن العدد، ويشرح كيف يُضيَّق البحث («اكتب الاسم الثلاثي كاملًا أو رقم الوثيقة»)، ويعرض المطابقين ليُحسم الأمر بنقرة. أي أن النظام لا يخبر المستخدم بأنه فشل، بل يعلّمه كيف ينجح. وهذا مغطّى باختبارات، من بينها اختبار يتحقق أن الاسم الثلاثي الكامل يعيد فعلًا شخصًا واحدًا — لأن النصيحة يجب أن تكون قابلة للتنفيذ لا مجرد كلام مهذّب.
الحالة الثانية، وهي عيب حقيقي اكتشفته وأصلحته، وأعرضها بصراحة لأنها تُظهر منهج التفكير: حين يُسأل النظام «كم عدد السكان في مخيم الزعتري؟» ولا يوجد مخيم بهذا الاسم، كان الكود القديم يعامل النتيجة كأن المستخدم لم يذكر مخيمًا أصلًا، فيحسب إجمالي جميع المخيمات ويعرضه. والنتيجة رقم صحيح حسابيًا وخاطئ تمامًا في معناه — والمستخدم يظنه إجابة عن سؤاله. وجذر المشكلة أنني كنت أمثّل حالتين مختلفتين بقيمة null واحدة: «لم يُذكر مخيم» و«ذُكر مخيم غير موجود». والحل أن أنشأت صنفًا خاصًا (CampReference) يمثّل ثلاث حالات صراحةً: لا مخيم، أو مخيم موجود، أو مخيم مذكور وغير موجود. وبهذا أصبح المبرمج مضطرًا لمعالجة الحالة الثالثة، ولم تعد تسقط صامتة. والرد اليوم: «لا يوجد مخيم بهذا الاسم» مع عرض قائمة المخيمات المسجّلة فعلًا — لأن السبب الأغلب اختلاف في التسمية، وعرض الأسماء الحقيقية يحلّ المشكلة في خطوة واحدة. ولاحظوا أن النظام يعيد الاسم بالإملاء الذي كتبه المستخدم لا بصورته المعالَجة.
الحالة الثالثة: التمييز بين «لم أجد» و«صفر». الإجابة الفارغة ليست خطأ: سؤال «كم لاجئًا بلا سكن؟» قد تكون إجابته الصحيحة صفرًا — وهذا خبر جيد. لذلك يفرّق النظام بين ثلاث نبرات: إجابة عادية، وفارغة، وخطأ فعلي. ولكل نبرة شكل مختلف في الواجهة، فلا يقرأ المستخدم عطلًا على أنه نتيجة، ولا نتيجة صحيحة على أنها عطل.
الحالة الرابعة: السؤال غير المفهوم. حين لا تطالب أي نيّة بالسؤال لا يستسلم النظام، بل يمرّر النص إلى البحث الشامل في اللاجئين والأسر والوحدات والمخيمات — لأن أكثر ما يُكتب في صندوق الحوار ليس سؤالًا أصلًا بل اسم مجرّد. فإن وُجد ما يطابقه عُرضت السجلات؛ وإن لم يوجد، اعترف النظام بعدم فهمه وعرض أمثلة على أسئلة يفهمها، مُفلترة حسب دور المستخدم، بل وتذكر اسم مخيم موجود فعلًا في قاعدة البيانات حتى لا نقترح سؤالًا سيُرفض.
وأخيرًا شبكة الأمان: التقاط الاستثناءات. كل ما سبق معالجةٌ لأخطاء توقّعتها. لكن ماذا عن الخطأ الذي لم أتوقعه؟ عمودٌ حُذف، أو اتصال انقطع، أو ثغرة أدخلها تعديل مستقبلي؟ في التطبيق العادي ينتج عن ذلك صفحة Error 500 — وهي في صندوق حوار كارثة مضاعفة: المستخدم لا يفهم ما جرى، وقد تتسرّب في رسالة الخطأ تفاصيل عن بنية قاعدة البيانات تفيد المهاجم. لذلك أحطتُ نقطة الدخول كاملة بـ try/catch يلتقط Throwable — أي كل خطأ واستثناء دون استثناء. وعند وقوع أي عطل يحدث أمران معًا: للمستخدم جملة عربية لبقة تقترح خطوة بديلة، بحالة HTTP 200 لأن الطلب وصل وعولج، ودون أي تفصيل تقني. وللمطوّر يُكتب في السجل الاستثناء كاملًا ومعه نص السؤال الذي سبّبه ومُعرِّف المستخدم. وهذه النقطة جوهرية: الخطأ يُخفى عن المستخدم ولا يُبتلع.
وهذا السلوك نفسه مغطّى باختبارين: أحدهما يفتعل عطلًا ويتحقق أن الاستجابة 200 لا 500، وأن كلمة الخطأ التقنية لم تظهر في استجابة المتصفح. والآخر يتحقق أن السؤال المتسبّب سُجِّل فعلًا في سجل الأخطاء.
[أداء] الحالة الثانية هي أقوى ما تملك أمام لجنة هندسية: تعترف بعيب في تصميمك وتشرح جذره وحلّه. لا تحذفها عند الاختصار. الزمن: 3 دقائق.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أختم بثلاث نقاط موجزة.
أولًا، ما أُنجز: نظام متكامل يغطي دورة حياة اللاجئ داخل المخيم — من التسجيل إلى السكن إلى المساعدات إلى حركة الدخول والخروج — بستّ وحدات مترابطة وسبعة أدوار بصلاحيات دقيقة، مبني على Laravel وMySQL، ومغطّى بـ 262 اختبارًا آليًا تعمل عند كل تعديل.
ثانيًا، ما أعتبره الإسهام الحقيقي للمشروع: ليس عدد الشاشات، بل أمران. الأول هو المساعد الذكي بالعربية الذي يوصل الموظف إلى المعلومة بجملة واحدة، ويعمل داخل الخادم بالكامل دون إرسال بيانات اللاجئين إلى أي جهة خارجية — وهو ما يجعله صالحًا للتشغيل في بيئة إنسانية حقيقية، لا في العرض التجريبي فقط. والثاني هو التدهور الآمن: أن يتعامل النظام مع الاسم الملتبس، والمخيم غير الموجود، والنتيجة الفارغة، والخطأ غير المتوقع — بردود واضحة، دون أن ينهار ودون أن يخترع.
ثالثًا، آفاق التطوير: تطبيق جوّال لضباط البوابات يسجّل الحركة بمسح باركود البطاقة بدل الإدخال اليدوي. ودعم متعدد اللغات، والبنية جاهزة له لأن كل النصوص مركزية. ولوحات تحليلية تكشف المؤشرات مبكرًا — كاكتظاظ متصاعد في وحدة، أو تأخر في متابعة طبية. وواجهات تكامل مع أنظمة المنظمات الإنسانية لتبادل البيانات بأمان.
وفي الختام، أشكر أستاذي المشرف [الاسم] على متابعته وتوجيهه، وأشكر لجنة التحكيم الموقّرة على وقتها واهتمامها. والآن يسعدني أن أستمع إلى أسئلتكم وملاحظاتكم.
[أداء] اختم ثم اصمت وانظر إلى اللجنة. لا تُتبعها باعتذار ولا بجملة زائدة. الزمن: 1.5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371600" y="3017520"/>
            <a:ext cx="4754880" cy="4754880"/>
          </a:xfrm>
          <a:prstGeom prst="ellipse">
            <a:avLst/>
          </a:prstGeom>
          <a:solidFill>
            <a:srgbClr val="113E48"/>
          </a:solidFill>
          <a:ln/>
        </p:spPr>
      </p:sp>
      <p:sp>
        <p:nvSpPr>
          <p:cNvPr id="3" name="Shape 1"/>
          <p:cNvSpPr/>
          <p:nvPr/>
        </p:nvSpPr>
        <p:spPr>
          <a:xfrm>
            <a:off x="566928" y="1481328"/>
            <a:ext cx="2286000" cy="2286000"/>
          </a:xfrm>
          <a:prstGeom prst="ellipse">
            <a:avLst/>
          </a:prstGeom>
          <a:solidFill>
            <a:srgbClr val="02717D"/>
          </a:solidFill>
          <a:ln/>
        </p:spPr>
      </p:sp>
      <p:pic>
        <p:nvPicPr>
          <p:cNvPr id="4" name="Image 0" descr="preencoded.png">    </p:cNvPr>
          <p:cNvPicPr>
            <a:picLocks noChangeAspect="1"/>
          </p:cNvPicPr>
          <p:nvPr/>
        </p:nvPicPr>
        <p:blipFill>
          <a:blip r:embed="rId1"/>
          <a:stretch>
            <a:fillRect/>
          </a:stretch>
        </p:blipFill>
        <p:spPr>
          <a:xfrm>
            <a:off x="1316736" y="2231136"/>
            <a:ext cx="786384" cy="786384"/>
          </a:xfrm>
          <a:prstGeom prst="rect">
            <a:avLst/>
          </a:prstGeom>
        </p:spPr>
      </p:pic>
      <p:sp>
        <p:nvSpPr>
          <p:cNvPr id="5" name="Text 2"/>
          <p:cNvSpPr txBox="1"/>
          <p:nvPr/>
        </p:nvSpPr>
        <p:spPr>
          <a:xfrm>
            <a:off x="3931920" y="1234440"/>
            <a:ext cx="7711135" cy="292608"/>
          </a:xfrm>
          <a:prstGeom prst="rect">
            <a:avLst/>
          </a:prstGeom>
          <a:noFill/>
          <a:ln/>
        </p:spPr>
        <p:txBody>
          <a:bodyPr wrap="square" lIns="0" tIns="0" rIns="0" bIns="0" rtlCol="0" anchor="ctr"/>
          <a:lstStyle/>
          <a:p>
            <a:pPr rtl="1" algn="r" indent="0" marL="0">
              <a:buNone/>
            </a:pPr>
            <a:r>
              <a:rPr lang="en-US" sz="1400" b="1" spc="200" kern="0" dirty="0">
                <a:solidFill>
                  <a:srgbClr val="00A896"/>
                </a:solidFill>
                <a:latin typeface="Arial" pitchFamily="34" charset="0"/>
                <a:ea typeface="Arial" pitchFamily="34" charset="-122"/>
                <a:cs typeface="Arial" pitchFamily="34" charset="-120"/>
              </a:rPr>
              <a:t>مشروع تخرّج</a:t>
            </a:r>
            <a:endParaRPr lang="en-US" sz="1400" dirty="0"/>
          </a:p>
        </p:txBody>
      </p:sp>
      <p:sp>
        <p:nvSpPr>
          <p:cNvPr id="6" name="Text 3"/>
          <p:cNvSpPr txBox="1"/>
          <p:nvPr/>
        </p:nvSpPr>
        <p:spPr>
          <a:xfrm>
            <a:off x="3931920" y="1600200"/>
            <a:ext cx="7711135" cy="868680"/>
          </a:xfrm>
          <a:prstGeom prst="rect">
            <a:avLst/>
          </a:prstGeom>
          <a:noFill/>
          <a:ln/>
        </p:spPr>
        <p:txBody>
          <a:bodyPr wrap="square" lIns="0" tIns="0" rIns="0" bIns="0" rtlCol="0" anchor="ctr"/>
          <a:lstStyle/>
          <a:p>
            <a:pPr rtl="1" algn="r" indent="0" marL="0">
              <a:buNone/>
            </a:pPr>
            <a:r>
              <a:rPr lang="en-US" sz="4600" b="1" dirty="0">
                <a:solidFill>
                  <a:srgbClr val="FFFFFF"/>
                </a:solidFill>
                <a:latin typeface="Arial" pitchFamily="34" charset="0"/>
                <a:ea typeface="Arial" pitchFamily="34" charset="-122"/>
                <a:cs typeface="Arial" pitchFamily="34" charset="-120"/>
              </a:rPr>
              <a:t>نظام إدارة المخيمات</a:t>
            </a:r>
            <a:endParaRPr lang="en-US" sz="4600" dirty="0"/>
          </a:p>
        </p:txBody>
      </p:sp>
      <p:sp>
        <p:nvSpPr>
          <p:cNvPr id="7" name="Text 4"/>
          <p:cNvSpPr txBox="1"/>
          <p:nvPr/>
        </p:nvSpPr>
        <p:spPr>
          <a:xfrm>
            <a:off x="3931920" y="2487168"/>
            <a:ext cx="7711135" cy="365760"/>
          </a:xfrm>
          <a:prstGeom prst="rect">
            <a:avLst/>
          </a:prstGeom>
          <a:noFill/>
          <a:ln/>
        </p:spPr>
        <p:txBody>
          <a:bodyPr wrap="square" lIns="0" tIns="0" rIns="0" bIns="0" rtlCol="0" anchor="ctr"/>
          <a:lstStyle/>
          <a:p>
            <a:pPr algn="r" indent="0" marL="0">
              <a:buNone/>
            </a:pPr>
            <a:r>
              <a:rPr lang="en-US" sz="1900" dirty="0">
                <a:solidFill>
                  <a:srgbClr val="BFD4D7"/>
                </a:solidFill>
                <a:latin typeface="Arial" pitchFamily="34" charset="0"/>
                <a:ea typeface="Arial" pitchFamily="34" charset="-122"/>
                <a:cs typeface="Arial" pitchFamily="34" charset="-120"/>
              </a:rPr>
              <a:t>Camp Management System</a:t>
            </a:r>
            <a:endParaRPr lang="en-US" sz="1900" dirty="0"/>
          </a:p>
        </p:txBody>
      </p:sp>
      <p:sp>
        <p:nvSpPr>
          <p:cNvPr id="8" name="Text 5"/>
          <p:cNvSpPr txBox="1"/>
          <p:nvPr/>
        </p:nvSpPr>
        <p:spPr>
          <a:xfrm>
            <a:off x="3931920" y="3017520"/>
            <a:ext cx="7711135" cy="365760"/>
          </a:xfrm>
          <a:prstGeom prst="rect">
            <a:avLst/>
          </a:prstGeom>
          <a:noFill/>
          <a:ln/>
        </p:spPr>
        <p:txBody>
          <a:bodyPr wrap="square" lIns="0" tIns="0" rIns="0" bIns="0" rtlCol="0" anchor="ctr"/>
          <a:lstStyle/>
          <a:p>
            <a:pPr rtl="1" algn="r" indent="0" marL="0">
              <a:lnSpc>
                <a:spcPts val="2200"/>
              </a:lnSpc>
              <a:buNone/>
            </a:pPr>
            <a:r>
              <a:rPr lang="en-US" sz="1450" dirty="0">
                <a:solidFill>
                  <a:srgbClr val="BFD4D7"/>
                </a:solidFill>
                <a:latin typeface="Arial" pitchFamily="34" charset="0"/>
                <a:ea typeface="Arial" pitchFamily="34" charset="-122"/>
                <a:cs typeface="Arial" pitchFamily="34" charset="-120"/>
              </a:rPr>
              <a:t>نظام ويب متكامل لإدارة مخيمات اللجوء: التسجيل، السكن، المساعدات، وحركة الدخول والخروج</a:t>
            </a:r>
            <a:endParaRPr lang="en-US" sz="1450" dirty="0"/>
          </a:p>
        </p:txBody>
      </p:sp>
      <p:sp>
        <p:nvSpPr>
          <p:cNvPr id="9" name="Shape 6"/>
          <p:cNvSpPr/>
          <p:nvPr/>
        </p:nvSpPr>
        <p:spPr>
          <a:xfrm>
            <a:off x="10161727" y="3657600"/>
            <a:ext cx="1481328" cy="420624"/>
          </a:xfrm>
          <a:prstGeom prst="roundRect">
            <a:avLst>
              <a:gd name="adj" fmla="val 47826"/>
            </a:avLst>
          </a:prstGeom>
          <a:solidFill>
            <a:srgbClr val="113E48"/>
          </a:solidFill>
          <a:ln w="12700">
            <a:solidFill>
              <a:srgbClr val="02717D"/>
            </a:solidFill>
            <a:prstDash val="solid"/>
          </a:ln>
        </p:spPr>
      </p:sp>
      <p:sp>
        <p:nvSpPr>
          <p:cNvPr id="10" name="Text 7"/>
          <p:cNvSpPr txBox="1"/>
          <p:nvPr/>
        </p:nvSpPr>
        <p:spPr>
          <a:xfrm>
            <a:off x="10161727" y="3657600"/>
            <a:ext cx="1481328" cy="420624"/>
          </a:xfrm>
          <a:prstGeom prst="rect">
            <a:avLst/>
          </a:prstGeom>
          <a:noFill/>
          <a:ln/>
        </p:spPr>
        <p:txBody>
          <a:bodyPr wrap="square" lIns="0" tIns="0" rIns="0" bIns="0" rtlCol="0" anchor="ctr"/>
          <a:lstStyle/>
          <a:p>
            <a:pPr algn="ctr" indent="0" marL="0">
              <a:buNone/>
            </a:pPr>
            <a:r>
              <a:rPr lang="en-US" sz="1250" b="1" dirty="0">
                <a:solidFill>
                  <a:srgbClr val="00A896"/>
                </a:solidFill>
                <a:latin typeface="Arial" pitchFamily="34" charset="0"/>
                <a:ea typeface="Arial" pitchFamily="34" charset="-122"/>
                <a:cs typeface="Arial" pitchFamily="34" charset="-120"/>
              </a:rPr>
              <a:t>Laravel 12</a:t>
            </a:r>
            <a:endParaRPr lang="en-US" sz="1250" dirty="0"/>
          </a:p>
        </p:txBody>
      </p:sp>
      <p:sp>
        <p:nvSpPr>
          <p:cNvPr id="11" name="Shape 8"/>
          <p:cNvSpPr/>
          <p:nvPr/>
        </p:nvSpPr>
        <p:spPr>
          <a:xfrm>
            <a:off x="8515807" y="3657600"/>
            <a:ext cx="1481328" cy="420624"/>
          </a:xfrm>
          <a:prstGeom prst="roundRect">
            <a:avLst>
              <a:gd name="adj" fmla="val 47826"/>
            </a:avLst>
          </a:prstGeom>
          <a:solidFill>
            <a:srgbClr val="113E48"/>
          </a:solidFill>
          <a:ln w="12700">
            <a:solidFill>
              <a:srgbClr val="02717D"/>
            </a:solidFill>
            <a:prstDash val="solid"/>
          </a:ln>
        </p:spPr>
      </p:sp>
      <p:sp>
        <p:nvSpPr>
          <p:cNvPr id="12" name="Text 9"/>
          <p:cNvSpPr txBox="1"/>
          <p:nvPr/>
        </p:nvSpPr>
        <p:spPr>
          <a:xfrm>
            <a:off x="8515807" y="3657600"/>
            <a:ext cx="1481328" cy="420624"/>
          </a:xfrm>
          <a:prstGeom prst="rect">
            <a:avLst/>
          </a:prstGeom>
          <a:noFill/>
          <a:ln/>
        </p:spPr>
        <p:txBody>
          <a:bodyPr wrap="square" lIns="0" tIns="0" rIns="0" bIns="0" rtlCol="0" anchor="ctr"/>
          <a:lstStyle/>
          <a:p>
            <a:pPr algn="ctr" indent="0" marL="0">
              <a:buNone/>
            </a:pPr>
            <a:r>
              <a:rPr lang="en-US" sz="1250" b="1" dirty="0">
                <a:solidFill>
                  <a:srgbClr val="00A896"/>
                </a:solidFill>
                <a:latin typeface="Arial" pitchFamily="34" charset="0"/>
                <a:ea typeface="Arial" pitchFamily="34" charset="-122"/>
                <a:cs typeface="Arial" pitchFamily="34" charset="-120"/>
              </a:rPr>
              <a:t>MySQL 8</a:t>
            </a:r>
            <a:endParaRPr lang="en-US" sz="1250" dirty="0"/>
          </a:p>
        </p:txBody>
      </p:sp>
      <p:sp>
        <p:nvSpPr>
          <p:cNvPr id="13" name="Shape 10"/>
          <p:cNvSpPr/>
          <p:nvPr/>
        </p:nvSpPr>
        <p:spPr>
          <a:xfrm>
            <a:off x="6869887" y="3657600"/>
            <a:ext cx="1481328" cy="420624"/>
          </a:xfrm>
          <a:prstGeom prst="roundRect">
            <a:avLst>
              <a:gd name="adj" fmla="val 47826"/>
            </a:avLst>
          </a:prstGeom>
          <a:solidFill>
            <a:srgbClr val="113E48"/>
          </a:solidFill>
          <a:ln w="12700">
            <a:solidFill>
              <a:srgbClr val="02717D"/>
            </a:solidFill>
            <a:prstDash val="solid"/>
          </a:ln>
        </p:spPr>
      </p:sp>
      <p:sp>
        <p:nvSpPr>
          <p:cNvPr id="14" name="Text 11"/>
          <p:cNvSpPr txBox="1"/>
          <p:nvPr/>
        </p:nvSpPr>
        <p:spPr>
          <a:xfrm>
            <a:off x="6869887" y="3657600"/>
            <a:ext cx="1481328" cy="420624"/>
          </a:xfrm>
          <a:prstGeom prst="rect">
            <a:avLst/>
          </a:prstGeom>
          <a:noFill/>
          <a:ln/>
        </p:spPr>
        <p:txBody>
          <a:bodyPr wrap="square" lIns="0" tIns="0" rIns="0" bIns="0" rtlCol="0" anchor="ctr"/>
          <a:lstStyle/>
          <a:p>
            <a:pPr algn="ctr" indent="0" marL="0">
              <a:buNone/>
            </a:pPr>
            <a:r>
              <a:rPr lang="en-US" sz="1250" b="1" dirty="0">
                <a:solidFill>
                  <a:srgbClr val="00A896"/>
                </a:solidFill>
                <a:latin typeface="Arial" pitchFamily="34" charset="0"/>
                <a:ea typeface="Arial" pitchFamily="34" charset="-122"/>
                <a:cs typeface="Arial" pitchFamily="34" charset="-120"/>
              </a:rPr>
              <a:t>PHP 8.2</a:t>
            </a:r>
            <a:endParaRPr lang="en-US" sz="1250" dirty="0"/>
          </a:p>
        </p:txBody>
      </p:sp>
      <p:sp>
        <p:nvSpPr>
          <p:cNvPr id="15" name="Text 12"/>
          <p:cNvSpPr txBox="1"/>
          <p:nvPr/>
        </p:nvSpPr>
        <p:spPr>
          <a:xfrm>
            <a:off x="3931920" y="5376672"/>
            <a:ext cx="7711135" cy="274320"/>
          </a:xfrm>
          <a:prstGeom prst="rect">
            <a:avLst/>
          </a:prstGeom>
          <a:noFill/>
          <a:ln/>
        </p:spPr>
        <p:txBody>
          <a:bodyPr wrap="square" lIns="0" tIns="0" rIns="0" bIns="0" rtlCol="0" anchor="ctr"/>
          <a:lstStyle/>
          <a:p>
            <a:pPr algn="r" indent="0" marL="0">
              <a:buNone/>
            </a:pPr>
            <a:r>
              <a:rPr lang="en-US" sz="1300" dirty="0">
                <a:solidFill>
                  <a:srgbClr val="5C7378"/>
                </a:solidFill>
                <a:latin typeface="Arial" pitchFamily="34" charset="0"/>
                <a:ea typeface="Arial" pitchFamily="34" charset="-122"/>
                <a:cs typeface="Arial" pitchFamily="34" charset="-120"/>
              </a:rPr>
              <a:t>إعداد: </a:t>
            </a:r>
            <a:pPr algn="r" indent="0" marL="0">
              <a:buNone/>
            </a:pPr>
            <a:r>
              <a:rPr lang="en-US" sz="1300" b="1" dirty="0">
                <a:solidFill>
                  <a:srgbClr val="FFFFFF"/>
                </a:solidFill>
                <a:latin typeface="Arial" pitchFamily="34" charset="0"/>
                <a:ea typeface="Arial" pitchFamily="34" charset="-122"/>
                <a:cs typeface="Arial" pitchFamily="34" charset="-120"/>
              </a:rPr>
              <a:t>[اسم الطالب]</a:t>
            </a:r>
            <a:pPr algn="r" indent="0" marL="0">
              <a:buNone/>
            </a:pPr>
            <a:r>
              <a:rPr lang="en-US" sz="1300" dirty="0">
                <a:solidFill>
                  <a:srgbClr val="5C7378"/>
                </a:solidFill>
                <a:latin typeface="Arial" pitchFamily="34" charset="0"/>
                <a:ea typeface="Arial" pitchFamily="34" charset="-122"/>
                <a:cs typeface="Arial" pitchFamily="34" charset="-120"/>
              </a:rPr>
              <a:t>     |     إشراف: </a:t>
            </a:r>
            <a:pPr algn="r" indent="0" marL="0">
              <a:buNone/>
            </a:pPr>
            <a:r>
              <a:rPr lang="en-US" sz="1300" b="1" dirty="0">
                <a:solidFill>
                  <a:srgbClr val="FFFFFF"/>
                </a:solidFill>
                <a:latin typeface="Arial" pitchFamily="34" charset="0"/>
                <a:ea typeface="Arial" pitchFamily="34" charset="-122"/>
                <a:cs typeface="Arial" pitchFamily="34" charset="-120"/>
              </a:rPr>
              <a:t>[اسم المشرف]</a:t>
            </a:r>
            <a:endParaRPr lang="en-US" sz="1300" dirty="0"/>
          </a:p>
        </p:txBody>
      </p:sp>
      <p:sp>
        <p:nvSpPr>
          <p:cNvPr id="16" name="Text 13"/>
          <p:cNvSpPr txBox="1"/>
          <p:nvPr/>
        </p:nvSpPr>
        <p:spPr>
          <a:xfrm>
            <a:off x="3931920" y="5724144"/>
            <a:ext cx="7711135" cy="274320"/>
          </a:xfrm>
          <a:prstGeom prst="rect">
            <a:avLst/>
          </a:prstGeom>
          <a:noFill/>
          <a:ln/>
        </p:spPr>
        <p:txBody>
          <a:bodyPr wrap="square" lIns="0" tIns="0" rIns="0" bIns="0" rtlCol="0" anchor="ctr"/>
          <a:lstStyle/>
          <a:p>
            <a:pPr rtl="1" algn="r" indent="0" marL="0">
              <a:buNone/>
            </a:pPr>
            <a:r>
              <a:rPr lang="en-US" sz="1250" dirty="0">
                <a:solidFill>
                  <a:srgbClr val="5C7378"/>
                </a:solidFill>
                <a:latin typeface="Arial" pitchFamily="34" charset="0"/>
                <a:ea typeface="Arial" pitchFamily="34" charset="-122"/>
                <a:cs typeface="Arial" pitchFamily="34" charset="-120"/>
              </a:rPr>
              <a:t>[القسم]  —  [الجامعة]  —  [العام الدراسي]</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rtl="1" algn="r" indent="0" marL="0">
              <a:buNone/>
            </a:pPr>
            <a:r>
              <a:rPr lang="en-US" sz="1300" b="1" spc="100" kern="0" dirty="0">
                <a:solidFill>
                  <a:srgbClr val="02717D"/>
                </a:solidFill>
                <a:latin typeface="Arial" pitchFamily="34" charset="0"/>
                <a:ea typeface="Arial" pitchFamily="34" charset="-122"/>
                <a:cs typeface="Arial" pitchFamily="34" charset="-120"/>
              </a:rPr>
              <a:t>الفصل الأول  ·  المشكلة</a:t>
            </a:r>
            <a:endParaRPr lang="en-US" sz="13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أين تكمن المشكلة؟</a:t>
            </a:r>
            <a:endParaRPr lang="en-US" sz="3400" dirty="0"/>
          </a:p>
        </p:txBody>
      </p:sp>
      <p:sp>
        <p:nvSpPr>
          <p:cNvPr id="4" name="Shape 2"/>
          <p:cNvSpPr/>
          <p:nvPr/>
        </p:nvSpPr>
        <p:spPr>
          <a:xfrm>
            <a:off x="6260440" y="1572768"/>
            <a:ext cx="5382616"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5" name="Shape 3"/>
          <p:cNvSpPr/>
          <p:nvPr/>
        </p:nvSpPr>
        <p:spPr>
          <a:xfrm>
            <a:off x="10664647" y="1920240"/>
            <a:ext cx="676656" cy="676656"/>
          </a:xfrm>
          <a:prstGeom prst="ellipse">
            <a:avLst/>
          </a:prstGeom>
          <a:solidFill>
            <a:srgbClr val="02717D"/>
          </a:solidFill>
          <a:ln/>
        </p:spPr>
      </p:sp>
      <p:pic>
        <p:nvPicPr>
          <p:cNvPr id="6" name="Image 0" descr="preencoded.png">    </p:cNvPr>
          <p:cNvPicPr>
            <a:picLocks noChangeAspect="1"/>
          </p:cNvPicPr>
          <p:nvPr/>
        </p:nvPicPr>
        <p:blipFill>
          <a:blip r:embed="rId1"/>
          <a:stretch>
            <a:fillRect/>
          </a:stretch>
        </p:blipFill>
        <p:spPr>
          <a:xfrm>
            <a:off x="10829239" y="2084832"/>
            <a:ext cx="347472" cy="347472"/>
          </a:xfrm>
          <a:prstGeom prst="rect">
            <a:avLst/>
          </a:prstGeom>
        </p:spPr>
      </p:pic>
      <p:sp>
        <p:nvSpPr>
          <p:cNvPr id="7" name="Text 4"/>
          <p:cNvSpPr txBox="1"/>
          <p:nvPr/>
        </p:nvSpPr>
        <p:spPr>
          <a:xfrm>
            <a:off x="6516472" y="1911096"/>
            <a:ext cx="4011016" cy="329184"/>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سجلات ورقية متفرّقة</a:t>
            </a:r>
            <a:endParaRPr lang="en-US" sz="1500" dirty="0"/>
          </a:p>
        </p:txBody>
      </p:sp>
      <p:sp>
        <p:nvSpPr>
          <p:cNvPr id="8" name="Text 5"/>
          <p:cNvSpPr txBox="1"/>
          <p:nvPr/>
        </p:nvSpPr>
        <p:spPr>
          <a:xfrm>
            <a:off x="6516472" y="2295144"/>
            <a:ext cx="4011016" cy="402336"/>
          </a:xfrm>
          <a:prstGeom prst="rect">
            <a:avLst/>
          </a:prstGeom>
          <a:noFill/>
          <a:ln/>
        </p:spPr>
        <p:txBody>
          <a:bodyPr wrap="square" lIns="0" tIns="0" rIns="0" bIns="0" rtlCol="0" anchor="ctr"/>
          <a:lstStyle/>
          <a:p>
            <a:pPr rtl="1" algn="r" indent="0" marL="0">
              <a:lnSpc>
                <a:spcPts val="1500"/>
              </a:lnSpc>
              <a:buNone/>
            </a:pPr>
            <a:r>
              <a:rPr lang="en-US" sz="1150" dirty="0">
                <a:solidFill>
                  <a:srgbClr val="5C7378"/>
                </a:solidFill>
                <a:latin typeface="Arial" pitchFamily="34" charset="0"/>
                <a:ea typeface="Arial" pitchFamily="34" charset="-122"/>
                <a:cs typeface="Arial" pitchFamily="34" charset="-120"/>
              </a:rPr>
              <a:t>كل قسم لديه نسخته، ولا مصدر واحد للحقيقة</a:t>
            </a:r>
            <a:endParaRPr lang="en-US" sz="1150" dirty="0"/>
          </a:p>
        </p:txBody>
      </p:sp>
      <p:sp>
        <p:nvSpPr>
          <p:cNvPr id="9" name="Shape 6"/>
          <p:cNvSpPr/>
          <p:nvPr/>
        </p:nvSpPr>
        <p:spPr>
          <a:xfrm>
            <a:off x="548640" y="1572768"/>
            <a:ext cx="5382616"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10" name="Shape 7"/>
          <p:cNvSpPr/>
          <p:nvPr/>
        </p:nvSpPr>
        <p:spPr>
          <a:xfrm>
            <a:off x="4952848" y="1920240"/>
            <a:ext cx="676656" cy="676656"/>
          </a:xfrm>
          <a:prstGeom prst="ellipse">
            <a:avLst/>
          </a:prstGeom>
          <a:solidFill>
            <a:srgbClr val="02717D"/>
          </a:solidFill>
          <a:ln/>
        </p:spPr>
      </p:sp>
      <p:pic>
        <p:nvPicPr>
          <p:cNvPr id="11" name="Image 1" descr="preencoded.png">    </p:cNvPr>
          <p:cNvPicPr>
            <a:picLocks noChangeAspect="1"/>
          </p:cNvPicPr>
          <p:nvPr/>
        </p:nvPicPr>
        <p:blipFill>
          <a:blip r:embed="rId2"/>
          <a:stretch>
            <a:fillRect/>
          </a:stretch>
        </p:blipFill>
        <p:spPr>
          <a:xfrm>
            <a:off x="5117440" y="2084832"/>
            <a:ext cx="347472" cy="347472"/>
          </a:xfrm>
          <a:prstGeom prst="rect">
            <a:avLst/>
          </a:prstGeom>
        </p:spPr>
      </p:pic>
      <p:sp>
        <p:nvSpPr>
          <p:cNvPr id="12" name="Text 8"/>
          <p:cNvSpPr txBox="1"/>
          <p:nvPr/>
        </p:nvSpPr>
        <p:spPr>
          <a:xfrm>
            <a:off x="804672" y="1911096"/>
            <a:ext cx="4011016" cy="329184"/>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ازدواجية وتكرار</a:t>
            </a:r>
            <a:endParaRPr lang="en-US" sz="1500" dirty="0"/>
          </a:p>
        </p:txBody>
      </p:sp>
      <p:sp>
        <p:nvSpPr>
          <p:cNvPr id="13" name="Text 9"/>
          <p:cNvSpPr txBox="1"/>
          <p:nvPr/>
        </p:nvSpPr>
        <p:spPr>
          <a:xfrm>
            <a:off x="804672" y="2295144"/>
            <a:ext cx="4011016" cy="402336"/>
          </a:xfrm>
          <a:prstGeom prst="rect">
            <a:avLst/>
          </a:prstGeom>
          <a:noFill/>
          <a:ln/>
        </p:spPr>
        <p:txBody>
          <a:bodyPr wrap="square" lIns="0" tIns="0" rIns="0" bIns="0" rtlCol="0" anchor="ctr"/>
          <a:lstStyle/>
          <a:p>
            <a:pPr rtl="1" algn="r" indent="0" marL="0">
              <a:lnSpc>
                <a:spcPts val="1500"/>
              </a:lnSpc>
              <a:buNone/>
            </a:pPr>
            <a:r>
              <a:rPr lang="en-US" sz="1150" dirty="0">
                <a:solidFill>
                  <a:srgbClr val="5C7378"/>
                </a:solidFill>
                <a:latin typeface="Arial" pitchFamily="34" charset="0"/>
                <a:ea typeface="Arial" pitchFamily="34" charset="-122"/>
                <a:cs typeface="Arial" pitchFamily="34" charset="-120"/>
              </a:rPr>
              <a:t>شخص يستلم المساعدة مرتين، وآخر لا يستلمها</a:t>
            </a:r>
            <a:endParaRPr lang="en-US" sz="1150" dirty="0"/>
          </a:p>
        </p:txBody>
      </p:sp>
      <p:sp>
        <p:nvSpPr>
          <p:cNvPr id="14" name="Shape 10"/>
          <p:cNvSpPr/>
          <p:nvPr/>
        </p:nvSpPr>
        <p:spPr>
          <a:xfrm>
            <a:off x="6260440" y="3200400"/>
            <a:ext cx="5382616"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15" name="Shape 11"/>
          <p:cNvSpPr/>
          <p:nvPr/>
        </p:nvSpPr>
        <p:spPr>
          <a:xfrm>
            <a:off x="10664647" y="3547872"/>
            <a:ext cx="676656" cy="676656"/>
          </a:xfrm>
          <a:prstGeom prst="ellipse">
            <a:avLst/>
          </a:prstGeom>
          <a:solidFill>
            <a:srgbClr val="02717D"/>
          </a:solidFill>
          <a:ln/>
        </p:spPr>
      </p:sp>
      <p:pic>
        <p:nvPicPr>
          <p:cNvPr id="16" name="Image 2" descr="preencoded.png">    </p:cNvPr>
          <p:cNvPicPr>
            <a:picLocks noChangeAspect="1"/>
          </p:cNvPicPr>
          <p:nvPr/>
        </p:nvPicPr>
        <p:blipFill>
          <a:blip r:embed="rId3"/>
          <a:stretch>
            <a:fillRect/>
          </a:stretch>
        </p:blipFill>
        <p:spPr>
          <a:xfrm>
            <a:off x="10829239" y="3712464"/>
            <a:ext cx="347472" cy="347472"/>
          </a:xfrm>
          <a:prstGeom prst="rect">
            <a:avLst/>
          </a:prstGeom>
        </p:spPr>
      </p:pic>
      <p:sp>
        <p:nvSpPr>
          <p:cNvPr id="17" name="Text 12"/>
          <p:cNvSpPr txBox="1"/>
          <p:nvPr/>
        </p:nvSpPr>
        <p:spPr>
          <a:xfrm>
            <a:off x="6516472" y="3538728"/>
            <a:ext cx="4011016" cy="329184"/>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الطاقة الاستيعابية غير مضبوطة</a:t>
            </a:r>
            <a:endParaRPr lang="en-US" sz="1500" dirty="0"/>
          </a:p>
        </p:txBody>
      </p:sp>
      <p:sp>
        <p:nvSpPr>
          <p:cNvPr id="18" name="Text 13"/>
          <p:cNvSpPr txBox="1"/>
          <p:nvPr/>
        </p:nvSpPr>
        <p:spPr>
          <a:xfrm>
            <a:off x="6516472" y="3922776"/>
            <a:ext cx="4011016" cy="402336"/>
          </a:xfrm>
          <a:prstGeom prst="rect">
            <a:avLst/>
          </a:prstGeom>
          <a:noFill/>
          <a:ln/>
        </p:spPr>
        <p:txBody>
          <a:bodyPr wrap="square" lIns="0" tIns="0" rIns="0" bIns="0" rtlCol="0" anchor="ctr"/>
          <a:lstStyle/>
          <a:p>
            <a:pPr rtl="1" algn="r" indent="0" marL="0">
              <a:lnSpc>
                <a:spcPts val="1500"/>
              </a:lnSpc>
              <a:buNone/>
            </a:pPr>
            <a:r>
              <a:rPr lang="en-US" sz="1150" dirty="0">
                <a:solidFill>
                  <a:srgbClr val="5C7378"/>
                </a:solidFill>
                <a:latin typeface="Arial" pitchFamily="34" charset="0"/>
                <a:ea typeface="Arial" pitchFamily="34" charset="-122"/>
                <a:cs typeface="Arial" pitchFamily="34" charset="-120"/>
              </a:rPr>
              <a:t>خيمة سعتها خمسة يسكنها ثمانية</a:t>
            </a:r>
            <a:endParaRPr lang="en-US" sz="1150" dirty="0"/>
          </a:p>
        </p:txBody>
      </p:sp>
      <p:sp>
        <p:nvSpPr>
          <p:cNvPr id="19" name="Shape 14"/>
          <p:cNvSpPr/>
          <p:nvPr/>
        </p:nvSpPr>
        <p:spPr>
          <a:xfrm>
            <a:off x="548640" y="3200400"/>
            <a:ext cx="5382616"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20" name="Shape 15"/>
          <p:cNvSpPr/>
          <p:nvPr/>
        </p:nvSpPr>
        <p:spPr>
          <a:xfrm>
            <a:off x="4952848" y="3547872"/>
            <a:ext cx="676656" cy="676656"/>
          </a:xfrm>
          <a:prstGeom prst="ellipse">
            <a:avLst/>
          </a:prstGeom>
          <a:solidFill>
            <a:srgbClr val="E9A13B"/>
          </a:solidFill>
          <a:ln/>
        </p:spPr>
      </p:sp>
      <p:pic>
        <p:nvPicPr>
          <p:cNvPr id="21" name="Image 3" descr="preencoded.png">    </p:cNvPr>
          <p:cNvPicPr>
            <a:picLocks noChangeAspect="1"/>
          </p:cNvPicPr>
          <p:nvPr/>
        </p:nvPicPr>
        <p:blipFill>
          <a:blip r:embed="rId4"/>
          <a:stretch>
            <a:fillRect/>
          </a:stretch>
        </p:blipFill>
        <p:spPr>
          <a:xfrm>
            <a:off x="5117440" y="3712464"/>
            <a:ext cx="347472" cy="347472"/>
          </a:xfrm>
          <a:prstGeom prst="rect">
            <a:avLst/>
          </a:prstGeom>
        </p:spPr>
      </p:pic>
      <p:sp>
        <p:nvSpPr>
          <p:cNvPr id="22" name="Text 16"/>
          <p:cNvSpPr txBox="1"/>
          <p:nvPr/>
        </p:nvSpPr>
        <p:spPr>
          <a:xfrm>
            <a:off x="804672" y="3538728"/>
            <a:ext cx="4011016" cy="329184"/>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حركة الدخول والخروج</a:t>
            </a:r>
            <a:endParaRPr lang="en-US" sz="1500" dirty="0"/>
          </a:p>
        </p:txBody>
      </p:sp>
      <p:sp>
        <p:nvSpPr>
          <p:cNvPr id="23" name="Text 17"/>
          <p:cNvSpPr txBox="1"/>
          <p:nvPr/>
        </p:nvSpPr>
        <p:spPr>
          <a:xfrm>
            <a:off x="804672" y="3922776"/>
            <a:ext cx="4011016" cy="402336"/>
          </a:xfrm>
          <a:prstGeom prst="rect">
            <a:avLst/>
          </a:prstGeom>
          <a:noFill/>
          <a:ln/>
        </p:spPr>
        <p:txBody>
          <a:bodyPr wrap="square" lIns="0" tIns="0" rIns="0" bIns="0" rtlCol="0" anchor="ctr"/>
          <a:lstStyle/>
          <a:p>
            <a:pPr rtl="1" algn="r" indent="0" marL="0">
              <a:lnSpc>
                <a:spcPts val="1500"/>
              </a:lnSpc>
              <a:buNone/>
            </a:pPr>
            <a:r>
              <a:rPr lang="en-US" sz="1150" dirty="0">
                <a:solidFill>
                  <a:srgbClr val="5C7378"/>
                </a:solidFill>
                <a:latin typeface="Arial" pitchFamily="34" charset="0"/>
                <a:ea typeface="Arial" pitchFamily="34" charset="-122"/>
                <a:cs typeface="Arial" pitchFamily="34" charset="-120"/>
              </a:rPr>
              <a:t>سؤال «من الموجود داخل المخيم الآن؟» بلا إجابة</a:t>
            </a:r>
            <a:endParaRPr lang="en-US" sz="1150" dirty="0"/>
          </a:p>
        </p:txBody>
      </p:sp>
      <p:sp>
        <p:nvSpPr>
          <p:cNvPr id="24" name="Shape 18"/>
          <p:cNvSpPr/>
          <p:nvPr/>
        </p:nvSpPr>
        <p:spPr>
          <a:xfrm>
            <a:off x="6260440" y="4828032"/>
            <a:ext cx="5382616"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25" name="Shape 19"/>
          <p:cNvSpPr/>
          <p:nvPr/>
        </p:nvSpPr>
        <p:spPr>
          <a:xfrm>
            <a:off x="10664647" y="5175504"/>
            <a:ext cx="676656" cy="676656"/>
          </a:xfrm>
          <a:prstGeom prst="ellipse">
            <a:avLst/>
          </a:prstGeom>
          <a:solidFill>
            <a:srgbClr val="E9A13B"/>
          </a:solidFill>
          <a:ln/>
        </p:spPr>
      </p:sp>
      <p:pic>
        <p:nvPicPr>
          <p:cNvPr id="26" name="Image 4" descr="preencoded.png">    </p:cNvPr>
          <p:cNvPicPr>
            <a:picLocks noChangeAspect="1"/>
          </p:cNvPicPr>
          <p:nvPr/>
        </p:nvPicPr>
        <p:blipFill>
          <a:blip r:embed="rId5"/>
          <a:stretch>
            <a:fillRect/>
          </a:stretch>
        </p:blipFill>
        <p:spPr>
          <a:xfrm>
            <a:off x="10829239" y="5340096"/>
            <a:ext cx="347472" cy="347472"/>
          </a:xfrm>
          <a:prstGeom prst="rect">
            <a:avLst/>
          </a:prstGeom>
        </p:spPr>
      </p:pic>
      <p:sp>
        <p:nvSpPr>
          <p:cNvPr id="27" name="Text 20"/>
          <p:cNvSpPr txBox="1"/>
          <p:nvPr/>
        </p:nvSpPr>
        <p:spPr>
          <a:xfrm>
            <a:off x="6516472" y="5166360"/>
            <a:ext cx="4011016" cy="329184"/>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البحث بالاسم العربي يفشل</a:t>
            </a:r>
            <a:endParaRPr lang="en-US" sz="1500" dirty="0"/>
          </a:p>
        </p:txBody>
      </p:sp>
      <p:sp>
        <p:nvSpPr>
          <p:cNvPr id="28" name="Text 21"/>
          <p:cNvSpPr txBox="1"/>
          <p:nvPr/>
        </p:nvSpPr>
        <p:spPr>
          <a:xfrm>
            <a:off x="6516472" y="5550408"/>
            <a:ext cx="4011016" cy="402336"/>
          </a:xfrm>
          <a:prstGeom prst="rect">
            <a:avLst/>
          </a:prstGeom>
          <a:noFill/>
          <a:ln/>
        </p:spPr>
        <p:txBody>
          <a:bodyPr wrap="square" lIns="0" tIns="0" rIns="0" bIns="0" rtlCol="0" anchor="ctr"/>
          <a:lstStyle/>
          <a:p>
            <a:pPr rtl="1" algn="r" indent="0" marL="0">
              <a:lnSpc>
                <a:spcPts val="1500"/>
              </a:lnSpc>
              <a:buNone/>
            </a:pPr>
            <a:r>
              <a:rPr lang="en-US" sz="1150" dirty="0">
                <a:solidFill>
                  <a:srgbClr val="5C7378"/>
                </a:solidFill>
                <a:latin typeface="Arial" pitchFamily="34" charset="0"/>
                <a:ea typeface="Arial" pitchFamily="34" charset="-122"/>
                <a:cs typeface="Arial" pitchFamily="34" charset="-120"/>
              </a:rPr>
              <a:t>«احمد» و«أحمد» سجلّان مختلفان، فتُولد الازدواجية</a:t>
            </a:r>
            <a:endParaRPr lang="en-US" sz="1150" dirty="0"/>
          </a:p>
        </p:txBody>
      </p:sp>
      <p:sp>
        <p:nvSpPr>
          <p:cNvPr id="29" name="Shape 22"/>
          <p:cNvSpPr/>
          <p:nvPr/>
        </p:nvSpPr>
        <p:spPr>
          <a:xfrm>
            <a:off x="548640" y="4828032"/>
            <a:ext cx="5382616"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30" name="Shape 23"/>
          <p:cNvSpPr/>
          <p:nvPr/>
        </p:nvSpPr>
        <p:spPr>
          <a:xfrm>
            <a:off x="4952848" y="5175504"/>
            <a:ext cx="676656" cy="676656"/>
          </a:xfrm>
          <a:prstGeom prst="ellipse">
            <a:avLst/>
          </a:prstGeom>
          <a:solidFill>
            <a:srgbClr val="02717D"/>
          </a:solidFill>
          <a:ln/>
        </p:spPr>
      </p:sp>
      <p:pic>
        <p:nvPicPr>
          <p:cNvPr id="31" name="Image 5" descr="preencoded.png">    </p:cNvPr>
          <p:cNvPicPr>
            <a:picLocks noChangeAspect="1"/>
          </p:cNvPicPr>
          <p:nvPr/>
        </p:nvPicPr>
        <p:blipFill>
          <a:blip r:embed="rId6"/>
          <a:stretch>
            <a:fillRect/>
          </a:stretch>
        </p:blipFill>
        <p:spPr>
          <a:xfrm>
            <a:off x="5117440" y="5340096"/>
            <a:ext cx="347472" cy="347472"/>
          </a:xfrm>
          <a:prstGeom prst="rect">
            <a:avLst/>
          </a:prstGeom>
        </p:spPr>
      </p:pic>
      <p:sp>
        <p:nvSpPr>
          <p:cNvPr id="32" name="Text 24"/>
          <p:cNvSpPr txBox="1"/>
          <p:nvPr/>
        </p:nvSpPr>
        <p:spPr>
          <a:xfrm>
            <a:off x="804672" y="5166360"/>
            <a:ext cx="4011016" cy="329184"/>
          </a:xfrm>
          <a:prstGeom prst="rect">
            <a:avLst/>
          </a:prstGeom>
          <a:noFill/>
          <a:ln/>
        </p:spPr>
        <p:txBody>
          <a:bodyPr wrap="square" lIns="0" tIns="0" rIns="0" bIns="0" rtlCol="0" anchor="ctr"/>
          <a:lstStyle/>
          <a:p>
            <a:pPr rtl="1" algn="r" indent="0" marL="0">
              <a:buNone/>
            </a:pPr>
            <a:r>
              <a:rPr lang="en-US" sz="1500" b="1" dirty="0">
                <a:solidFill>
                  <a:srgbClr val="16292E"/>
                </a:solidFill>
                <a:latin typeface="Arial" pitchFamily="34" charset="0"/>
                <a:ea typeface="Arial" pitchFamily="34" charset="-122"/>
                <a:cs typeface="Arial" pitchFamily="34" charset="-120"/>
              </a:rPr>
              <a:t>الاستعلام يحتاج ساعات</a:t>
            </a:r>
            <a:endParaRPr lang="en-US" sz="1500" dirty="0"/>
          </a:p>
        </p:txBody>
      </p:sp>
      <p:sp>
        <p:nvSpPr>
          <p:cNvPr id="33" name="Text 25"/>
          <p:cNvSpPr txBox="1"/>
          <p:nvPr/>
        </p:nvSpPr>
        <p:spPr>
          <a:xfrm>
            <a:off x="804672" y="5550408"/>
            <a:ext cx="4011016" cy="402336"/>
          </a:xfrm>
          <a:prstGeom prst="rect">
            <a:avLst/>
          </a:prstGeom>
          <a:noFill/>
          <a:ln/>
        </p:spPr>
        <p:txBody>
          <a:bodyPr wrap="square" lIns="0" tIns="0" rIns="0" bIns="0" rtlCol="0" anchor="ctr"/>
          <a:lstStyle/>
          <a:p>
            <a:pPr rtl="1" algn="r" indent="0" marL="0">
              <a:lnSpc>
                <a:spcPts val="1500"/>
              </a:lnSpc>
              <a:buNone/>
            </a:pPr>
            <a:r>
              <a:rPr lang="en-US" sz="1150" dirty="0">
                <a:solidFill>
                  <a:srgbClr val="5C7378"/>
                </a:solidFill>
                <a:latin typeface="Arial" pitchFamily="34" charset="0"/>
                <a:ea typeface="Arial" pitchFamily="34" charset="-122"/>
                <a:cs typeface="Arial" pitchFamily="34" charset="-120"/>
              </a:rPr>
              <a:t>موظف يبحث يدويًا في ملفات متفرقة</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rtl="1" algn="r" indent="0" marL="0">
              <a:buNone/>
            </a:pPr>
            <a:r>
              <a:rPr lang="en-US" sz="1300" b="1" spc="100" kern="0" dirty="0">
                <a:solidFill>
                  <a:srgbClr val="02717D"/>
                </a:solidFill>
                <a:latin typeface="Arial" pitchFamily="34" charset="0"/>
                <a:ea typeface="Arial" pitchFamily="34" charset="-122"/>
                <a:cs typeface="Arial" pitchFamily="34" charset="-120"/>
              </a:rPr>
              <a:t>الفصل الثاني  ·  الحل</a:t>
            </a:r>
            <a:endParaRPr lang="en-US" sz="13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الحل المقترح وأهداف النظام</a:t>
            </a:r>
            <a:endParaRPr lang="en-US" sz="3400" dirty="0"/>
          </a:p>
        </p:txBody>
      </p:sp>
      <p:sp>
        <p:nvSpPr>
          <p:cNvPr id="4" name="Shape 2"/>
          <p:cNvSpPr/>
          <p:nvPr/>
        </p:nvSpPr>
        <p:spPr>
          <a:xfrm>
            <a:off x="4785055" y="1572768"/>
            <a:ext cx="6858000" cy="786384"/>
          </a:xfrm>
          <a:prstGeom prst="roundRect">
            <a:avLst>
              <a:gd name="adj" fmla="val 9302"/>
            </a:avLst>
          </a:prstGeom>
          <a:solidFill>
            <a:srgbClr val="FFFFFF"/>
          </a:solidFill>
          <a:ln/>
          <a:effectLst>
            <a:outerShdw sx="100000" sy="100000" kx="0" ky="0" algn="bl" rotWithShape="0" blurRad="127000" dist="25400" dir="5400000">
              <a:srgbClr val="0A2E36">
                <a:alpha val="10000"/>
              </a:srgbClr>
            </a:outerShdw>
          </a:effectLst>
        </p:spPr>
      </p:sp>
      <p:sp>
        <p:nvSpPr>
          <p:cNvPr id="5" name="Shape 3"/>
          <p:cNvSpPr/>
          <p:nvPr/>
        </p:nvSpPr>
        <p:spPr>
          <a:xfrm>
            <a:off x="10884103" y="1746504"/>
            <a:ext cx="438912" cy="438912"/>
          </a:xfrm>
          <a:prstGeom prst="ellipse">
            <a:avLst/>
          </a:prstGeom>
          <a:solidFill>
            <a:srgbClr val="02717D"/>
          </a:solidFill>
          <a:ln/>
        </p:spPr>
      </p:sp>
      <p:sp>
        <p:nvSpPr>
          <p:cNvPr id="6" name="Text 4"/>
          <p:cNvSpPr txBox="1"/>
          <p:nvPr/>
        </p:nvSpPr>
        <p:spPr>
          <a:xfrm>
            <a:off x="10884103" y="17465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5013655" y="1691640"/>
            <a:ext cx="5760720" cy="27432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مصدر واحد للحقيقة</a:t>
            </a:r>
            <a:endParaRPr lang="en-US" sz="1450" dirty="0"/>
          </a:p>
        </p:txBody>
      </p:sp>
      <p:sp>
        <p:nvSpPr>
          <p:cNvPr id="8" name="Text 6"/>
          <p:cNvSpPr txBox="1"/>
          <p:nvPr/>
        </p:nvSpPr>
        <p:spPr>
          <a:xfrm>
            <a:off x="5013655" y="1993392"/>
            <a:ext cx="5760720" cy="256032"/>
          </a:xfrm>
          <a:prstGeom prst="rect">
            <a:avLst/>
          </a:prstGeom>
          <a:noFill/>
          <a:ln/>
        </p:spPr>
        <p:txBody>
          <a:bodyPr wrap="square" lIns="0" tIns="0" rIns="0" bIns="0" rtlCol="0" anchor="ctr"/>
          <a:lstStyle/>
          <a:p>
            <a:pPr rtl="1" algn="r" indent="0" marL="0">
              <a:buNone/>
            </a:pPr>
            <a:r>
              <a:rPr lang="en-US" sz="1150" dirty="0">
                <a:solidFill>
                  <a:srgbClr val="5C7378"/>
                </a:solidFill>
                <a:latin typeface="Arial" pitchFamily="34" charset="0"/>
                <a:ea typeface="Arial" pitchFamily="34" charset="-122"/>
                <a:cs typeface="Arial" pitchFamily="34" charset="-120"/>
              </a:rPr>
              <a:t>قاعدة بيانات علائقية مترابطة تقرأ منها كل الأقسام</a:t>
            </a:r>
            <a:endParaRPr lang="en-US" sz="1150" dirty="0"/>
          </a:p>
        </p:txBody>
      </p:sp>
      <p:sp>
        <p:nvSpPr>
          <p:cNvPr id="9" name="Shape 7"/>
          <p:cNvSpPr/>
          <p:nvPr/>
        </p:nvSpPr>
        <p:spPr>
          <a:xfrm>
            <a:off x="4785055" y="2505456"/>
            <a:ext cx="6858000" cy="786384"/>
          </a:xfrm>
          <a:prstGeom prst="roundRect">
            <a:avLst>
              <a:gd name="adj" fmla="val 9302"/>
            </a:avLst>
          </a:prstGeom>
          <a:solidFill>
            <a:srgbClr val="FFFFFF"/>
          </a:solidFill>
          <a:ln/>
          <a:effectLst>
            <a:outerShdw sx="100000" sy="100000" kx="0" ky="0" algn="bl" rotWithShape="0" blurRad="127000" dist="25400" dir="5400000">
              <a:srgbClr val="0A2E36">
                <a:alpha val="10000"/>
              </a:srgbClr>
            </a:outerShdw>
          </a:effectLst>
        </p:spPr>
      </p:sp>
      <p:sp>
        <p:nvSpPr>
          <p:cNvPr id="10" name="Shape 8"/>
          <p:cNvSpPr/>
          <p:nvPr/>
        </p:nvSpPr>
        <p:spPr>
          <a:xfrm>
            <a:off x="10884103" y="2679192"/>
            <a:ext cx="438912" cy="438912"/>
          </a:xfrm>
          <a:prstGeom prst="ellipse">
            <a:avLst/>
          </a:prstGeom>
          <a:solidFill>
            <a:srgbClr val="02717D"/>
          </a:solidFill>
          <a:ln/>
        </p:spPr>
      </p:sp>
      <p:sp>
        <p:nvSpPr>
          <p:cNvPr id="11" name="Text 9"/>
          <p:cNvSpPr txBox="1"/>
          <p:nvPr/>
        </p:nvSpPr>
        <p:spPr>
          <a:xfrm>
            <a:off x="10884103" y="267919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5013655" y="2624328"/>
            <a:ext cx="5760720" cy="27432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منع الخطأ لا تسجيله</a:t>
            </a:r>
            <a:endParaRPr lang="en-US" sz="1450" dirty="0"/>
          </a:p>
        </p:txBody>
      </p:sp>
      <p:sp>
        <p:nvSpPr>
          <p:cNvPr id="13" name="Text 11"/>
          <p:cNvSpPr txBox="1"/>
          <p:nvPr/>
        </p:nvSpPr>
        <p:spPr>
          <a:xfrm>
            <a:off x="5013655" y="2926080"/>
            <a:ext cx="5760720" cy="256032"/>
          </a:xfrm>
          <a:prstGeom prst="rect">
            <a:avLst/>
          </a:prstGeom>
          <a:noFill/>
          <a:ln/>
        </p:spPr>
        <p:txBody>
          <a:bodyPr wrap="square" lIns="0" tIns="0" rIns="0" bIns="0" rtlCol="0" anchor="ctr"/>
          <a:lstStyle/>
          <a:p>
            <a:pPr rtl="1" algn="r" indent="0" marL="0">
              <a:buNone/>
            </a:pPr>
            <a:r>
              <a:rPr lang="en-US" sz="1150" dirty="0">
                <a:solidFill>
                  <a:srgbClr val="5C7378"/>
                </a:solidFill>
                <a:latin typeface="Arial" pitchFamily="34" charset="0"/>
                <a:ea typeface="Arial" pitchFamily="34" charset="-122"/>
                <a:cs typeface="Arial" pitchFamily="34" charset="-120"/>
              </a:rPr>
              <a:t>النظام يرفض تجاوز سعة الوحدة السكنية ابتداءً</a:t>
            </a:r>
            <a:endParaRPr lang="en-US" sz="1150" dirty="0"/>
          </a:p>
        </p:txBody>
      </p:sp>
      <p:sp>
        <p:nvSpPr>
          <p:cNvPr id="14" name="Shape 12"/>
          <p:cNvSpPr/>
          <p:nvPr/>
        </p:nvSpPr>
        <p:spPr>
          <a:xfrm>
            <a:off x="4785055" y="3438144"/>
            <a:ext cx="6858000" cy="786384"/>
          </a:xfrm>
          <a:prstGeom prst="roundRect">
            <a:avLst>
              <a:gd name="adj" fmla="val 9302"/>
            </a:avLst>
          </a:prstGeom>
          <a:solidFill>
            <a:srgbClr val="FFFFFF"/>
          </a:solidFill>
          <a:ln/>
          <a:effectLst>
            <a:outerShdw sx="100000" sy="100000" kx="0" ky="0" algn="bl" rotWithShape="0" blurRad="127000" dist="25400" dir="5400000">
              <a:srgbClr val="0A2E36">
                <a:alpha val="10000"/>
              </a:srgbClr>
            </a:outerShdw>
          </a:effectLst>
        </p:spPr>
      </p:sp>
      <p:sp>
        <p:nvSpPr>
          <p:cNvPr id="15" name="Shape 13"/>
          <p:cNvSpPr/>
          <p:nvPr/>
        </p:nvSpPr>
        <p:spPr>
          <a:xfrm>
            <a:off x="10884103" y="3611880"/>
            <a:ext cx="438912" cy="438912"/>
          </a:xfrm>
          <a:prstGeom prst="ellipse">
            <a:avLst/>
          </a:prstGeom>
          <a:solidFill>
            <a:srgbClr val="02717D"/>
          </a:solidFill>
          <a:ln/>
        </p:spPr>
      </p:sp>
      <p:sp>
        <p:nvSpPr>
          <p:cNvPr id="16" name="Text 14"/>
          <p:cNvSpPr txBox="1"/>
          <p:nvPr/>
        </p:nvSpPr>
        <p:spPr>
          <a:xfrm>
            <a:off x="10884103" y="36118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5013655" y="3557016"/>
            <a:ext cx="5760720" cy="27432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صلاحيات دقيقة</a:t>
            </a:r>
            <a:endParaRPr lang="en-US" sz="1450" dirty="0"/>
          </a:p>
        </p:txBody>
      </p:sp>
      <p:sp>
        <p:nvSpPr>
          <p:cNvPr id="18" name="Text 16"/>
          <p:cNvSpPr txBox="1"/>
          <p:nvPr/>
        </p:nvSpPr>
        <p:spPr>
          <a:xfrm>
            <a:off x="5013655" y="3858768"/>
            <a:ext cx="5760720" cy="256032"/>
          </a:xfrm>
          <a:prstGeom prst="rect">
            <a:avLst/>
          </a:prstGeom>
          <a:noFill/>
          <a:ln/>
        </p:spPr>
        <p:txBody>
          <a:bodyPr wrap="square" lIns="0" tIns="0" rIns="0" bIns="0" rtlCol="0" anchor="ctr"/>
          <a:lstStyle/>
          <a:p>
            <a:pPr rtl="1" algn="r" indent="0" marL="0">
              <a:buNone/>
            </a:pPr>
            <a:r>
              <a:rPr lang="en-US" sz="1150" dirty="0">
                <a:solidFill>
                  <a:srgbClr val="5C7378"/>
                </a:solidFill>
                <a:latin typeface="Arial" pitchFamily="34" charset="0"/>
                <a:ea typeface="Arial" pitchFamily="34" charset="-122"/>
                <a:cs typeface="Arial" pitchFamily="34" charset="-120"/>
              </a:rPr>
              <a:t>٧ أدوار وظيفية، كل دور يرى ما يخصّه فقط</a:t>
            </a:r>
            <a:endParaRPr lang="en-US" sz="1150" dirty="0"/>
          </a:p>
        </p:txBody>
      </p:sp>
      <p:sp>
        <p:nvSpPr>
          <p:cNvPr id="19" name="Shape 17"/>
          <p:cNvSpPr/>
          <p:nvPr/>
        </p:nvSpPr>
        <p:spPr>
          <a:xfrm>
            <a:off x="4785055" y="4370832"/>
            <a:ext cx="6858000" cy="786384"/>
          </a:xfrm>
          <a:prstGeom prst="roundRect">
            <a:avLst>
              <a:gd name="adj" fmla="val 9302"/>
            </a:avLst>
          </a:prstGeom>
          <a:solidFill>
            <a:srgbClr val="FFFFFF"/>
          </a:solidFill>
          <a:ln/>
          <a:effectLst>
            <a:outerShdw sx="100000" sy="100000" kx="0" ky="0" algn="bl" rotWithShape="0" blurRad="127000" dist="25400" dir="5400000">
              <a:srgbClr val="0A2E36">
                <a:alpha val="10000"/>
              </a:srgbClr>
            </a:outerShdw>
          </a:effectLst>
        </p:spPr>
      </p:sp>
      <p:sp>
        <p:nvSpPr>
          <p:cNvPr id="20" name="Shape 18"/>
          <p:cNvSpPr/>
          <p:nvPr/>
        </p:nvSpPr>
        <p:spPr>
          <a:xfrm>
            <a:off x="10884103" y="4544568"/>
            <a:ext cx="438912" cy="438912"/>
          </a:xfrm>
          <a:prstGeom prst="ellipse">
            <a:avLst/>
          </a:prstGeom>
          <a:solidFill>
            <a:srgbClr val="02717D"/>
          </a:solidFill>
          <a:ln/>
        </p:spPr>
      </p:sp>
      <p:sp>
        <p:nvSpPr>
          <p:cNvPr id="21" name="Text 19"/>
          <p:cNvSpPr txBox="1"/>
          <p:nvPr/>
        </p:nvSpPr>
        <p:spPr>
          <a:xfrm>
            <a:off x="10884103" y="454456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5013655" y="4489704"/>
            <a:ext cx="5760720" cy="27432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تتبّع كامل</a:t>
            </a:r>
            <a:endParaRPr lang="en-US" sz="1450" dirty="0"/>
          </a:p>
        </p:txBody>
      </p:sp>
      <p:sp>
        <p:nvSpPr>
          <p:cNvPr id="23" name="Text 21"/>
          <p:cNvSpPr txBox="1"/>
          <p:nvPr/>
        </p:nvSpPr>
        <p:spPr>
          <a:xfrm>
            <a:off x="5013655" y="4791456"/>
            <a:ext cx="5760720" cy="256032"/>
          </a:xfrm>
          <a:prstGeom prst="rect">
            <a:avLst/>
          </a:prstGeom>
          <a:noFill/>
          <a:ln/>
        </p:spPr>
        <p:txBody>
          <a:bodyPr wrap="square" lIns="0" tIns="0" rIns="0" bIns="0" rtlCol="0" anchor="ctr"/>
          <a:lstStyle/>
          <a:p>
            <a:pPr rtl="1" algn="r" indent="0" marL="0">
              <a:buNone/>
            </a:pPr>
            <a:r>
              <a:rPr lang="en-US" sz="1150" dirty="0">
                <a:solidFill>
                  <a:srgbClr val="5C7378"/>
                </a:solidFill>
                <a:latin typeface="Arial" pitchFamily="34" charset="0"/>
                <a:ea typeface="Arial" pitchFamily="34" charset="-122"/>
                <a:cs typeface="Arial" pitchFamily="34" charset="-120"/>
              </a:rPr>
              <a:t>سجل تدقيق يوثّق من فعل وماذا فعل ومتى</a:t>
            </a:r>
            <a:endParaRPr lang="en-US" sz="1150" dirty="0"/>
          </a:p>
        </p:txBody>
      </p:sp>
      <p:sp>
        <p:nvSpPr>
          <p:cNvPr id="24" name="Shape 22"/>
          <p:cNvSpPr/>
          <p:nvPr/>
        </p:nvSpPr>
        <p:spPr>
          <a:xfrm>
            <a:off x="4785055" y="5303520"/>
            <a:ext cx="6858000" cy="786384"/>
          </a:xfrm>
          <a:prstGeom prst="roundRect">
            <a:avLst>
              <a:gd name="adj" fmla="val 9302"/>
            </a:avLst>
          </a:prstGeom>
          <a:solidFill>
            <a:srgbClr val="FFFFFF"/>
          </a:solidFill>
          <a:ln/>
          <a:effectLst>
            <a:outerShdw sx="100000" sy="100000" kx="0" ky="0" algn="bl" rotWithShape="0" blurRad="127000" dist="25400" dir="5400000">
              <a:srgbClr val="0A2E36">
                <a:alpha val="10000"/>
              </a:srgbClr>
            </a:outerShdw>
          </a:effectLst>
        </p:spPr>
      </p:sp>
      <p:sp>
        <p:nvSpPr>
          <p:cNvPr id="25" name="Shape 23"/>
          <p:cNvSpPr/>
          <p:nvPr/>
        </p:nvSpPr>
        <p:spPr>
          <a:xfrm>
            <a:off x="10884103" y="5477256"/>
            <a:ext cx="438912" cy="438912"/>
          </a:xfrm>
          <a:prstGeom prst="ellipse">
            <a:avLst/>
          </a:prstGeom>
          <a:solidFill>
            <a:srgbClr val="E9A13B"/>
          </a:solidFill>
          <a:ln/>
        </p:spPr>
      </p:sp>
      <p:sp>
        <p:nvSpPr>
          <p:cNvPr id="26" name="Text 24"/>
          <p:cNvSpPr txBox="1"/>
          <p:nvPr/>
        </p:nvSpPr>
        <p:spPr>
          <a:xfrm>
            <a:off x="10884103" y="547725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7" name="Text 25"/>
          <p:cNvSpPr txBox="1"/>
          <p:nvPr/>
        </p:nvSpPr>
        <p:spPr>
          <a:xfrm>
            <a:off x="5013655" y="5422392"/>
            <a:ext cx="5760720" cy="274320"/>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وصول فوري للمعلومة</a:t>
            </a:r>
            <a:endParaRPr lang="en-US" sz="1450" dirty="0"/>
          </a:p>
        </p:txBody>
      </p:sp>
      <p:sp>
        <p:nvSpPr>
          <p:cNvPr id="28" name="Text 26"/>
          <p:cNvSpPr txBox="1"/>
          <p:nvPr/>
        </p:nvSpPr>
        <p:spPr>
          <a:xfrm>
            <a:off x="5013655" y="5724144"/>
            <a:ext cx="5760720" cy="256032"/>
          </a:xfrm>
          <a:prstGeom prst="rect">
            <a:avLst/>
          </a:prstGeom>
          <a:noFill/>
          <a:ln/>
        </p:spPr>
        <p:txBody>
          <a:bodyPr wrap="square" lIns="0" tIns="0" rIns="0" bIns="0" rtlCol="0" anchor="ctr"/>
          <a:lstStyle/>
          <a:p>
            <a:pPr rtl="1" algn="r" indent="0" marL="0">
              <a:buNone/>
            </a:pPr>
            <a:r>
              <a:rPr lang="en-US" sz="1150" dirty="0">
                <a:solidFill>
                  <a:srgbClr val="5C7378"/>
                </a:solidFill>
                <a:latin typeface="Arial" pitchFamily="34" charset="0"/>
                <a:ea typeface="Arial" pitchFamily="34" charset="-122"/>
                <a:cs typeface="Arial" pitchFamily="34" charset="-120"/>
              </a:rPr>
              <a:t>مساعد ذكي يجيب عن السؤال المكتوب بالعربية</a:t>
            </a:r>
            <a:endParaRPr lang="en-US" sz="1150" dirty="0"/>
          </a:p>
        </p:txBody>
      </p:sp>
      <p:sp>
        <p:nvSpPr>
          <p:cNvPr id="29" name="Shape 27"/>
          <p:cNvSpPr/>
          <p:nvPr/>
        </p:nvSpPr>
        <p:spPr>
          <a:xfrm>
            <a:off x="548640" y="1572768"/>
            <a:ext cx="3870655" cy="4517136"/>
          </a:xfrm>
          <a:prstGeom prst="roundRect">
            <a:avLst>
              <a:gd name="adj" fmla="val 2835"/>
            </a:avLst>
          </a:prstGeom>
          <a:solidFill>
            <a:srgbClr val="0A2E36"/>
          </a:solidFill>
          <a:ln/>
        </p:spPr>
      </p:sp>
      <p:sp>
        <p:nvSpPr>
          <p:cNvPr id="30" name="Shape 28"/>
          <p:cNvSpPr/>
          <p:nvPr/>
        </p:nvSpPr>
        <p:spPr>
          <a:xfrm>
            <a:off x="2072488" y="2084832"/>
            <a:ext cx="822960" cy="822960"/>
          </a:xfrm>
          <a:prstGeom prst="ellipse">
            <a:avLst/>
          </a:prstGeom>
          <a:solidFill>
            <a:srgbClr val="02717D"/>
          </a:solidFill>
          <a:ln/>
        </p:spPr>
      </p:sp>
      <p:pic>
        <p:nvPicPr>
          <p:cNvPr id="31" name="Image 0" descr="preencoded.png">    </p:cNvPr>
          <p:cNvPicPr>
            <a:picLocks noChangeAspect="1"/>
          </p:cNvPicPr>
          <p:nvPr/>
        </p:nvPicPr>
        <p:blipFill>
          <a:blip r:embed="rId1"/>
          <a:stretch>
            <a:fillRect/>
          </a:stretch>
        </p:blipFill>
        <p:spPr>
          <a:xfrm>
            <a:off x="2264512" y="2276856"/>
            <a:ext cx="438912" cy="438912"/>
          </a:xfrm>
          <a:prstGeom prst="rect">
            <a:avLst/>
          </a:prstGeom>
        </p:spPr>
      </p:pic>
      <p:sp>
        <p:nvSpPr>
          <p:cNvPr id="32" name="Text 29"/>
          <p:cNvSpPr txBox="1"/>
          <p:nvPr/>
        </p:nvSpPr>
        <p:spPr>
          <a:xfrm>
            <a:off x="822960" y="3127248"/>
            <a:ext cx="3322015" cy="274320"/>
          </a:xfrm>
          <a:prstGeom prst="rect">
            <a:avLst/>
          </a:prstGeom>
          <a:noFill/>
          <a:ln/>
        </p:spPr>
        <p:txBody>
          <a:bodyPr wrap="square" lIns="0" tIns="0" rIns="0" bIns="0" rtlCol="0" anchor="ctr"/>
          <a:lstStyle/>
          <a:p>
            <a:pPr rtl="1" algn="ctr" indent="0" marL="0">
              <a:buNone/>
            </a:pPr>
            <a:r>
              <a:rPr lang="en-US" sz="1250" b="1" dirty="0">
                <a:solidFill>
                  <a:srgbClr val="00A896"/>
                </a:solidFill>
                <a:latin typeface="Arial" pitchFamily="34" charset="0"/>
                <a:ea typeface="Arial" pitchFamily="34" charset="-122"/>
                <a:cs typeface="Arial" pitchFamily="34" charset="-120"/>
              </a:rPr>
              <a:t>فلسفة التصميم</a:t>
            </a:r>
            <a:endParaRPr lang="en-US" sz="1250" dirty="0"/>
          </a:p>
        </p:txBody>
      </p:sp>
      <p:sp>
        <p:nvSpPr>
          <p:cNvPr id="33" name="Text 30"/>
          <p:cNvSpPr txBox="1"/>
          <p:nvPr/>
        </p:nvSpPr>
        <p:spPr>
          <a:xfrm>
            <a:off x="822960" y="3529584"/>
            <a:ext cx="3322015" cy="1371600"/>
          </a:xfrm>
          <a:prstGeom prst="rect">
            <a:avLst/>
          </a:prstGeom>
          <a:noFill/>
          <a:ln/>
        </p:spPr>
        <p:txBody>
          <a:bodyPr wrap="square" lIns="0" tIns="0" rIns="0" bIns="0" rtlCol="0" anchor="ctr"/>
          <a:lstStyle/>
          <a:p>
            <a:pPr rtl="1" algn="ctr" indent="0" marL="0">
              <a:lnSpc>
                <a:spcPts val="3200"/>
              </a:lnSpc>
              <a:buNone/>
            </a:pPr>
            <a:r>
              <a:rPr lang="en-US" sz="2000" b="1" dirty="0">
                <a:solidFill>
                  <a:srgbClr val="FFFFFF"/>
                </a:solidFill>
                <a:latin typeface="Arial" pitchFamily="34" charset="0"/>
                <a:ea typeface="Arial" pitchFamily="34" charset="-122"/>
                <a:cs typeface="Arial" pitchFamily="34" charset="-120"/>
              </a:rPr>
              <a:t>النظام يمنع الخطأ</a:t>
            </a:r>
            <a:endParaRPr lang="en-US" sz="2000" dirty="0"/>
          </a:p>
          <a:p>
            <a:pPr rtl="1" algn="ctr" indent="0" marL="0">
              <a:lnSpc>
                <a:spcPts val="3200"/>
              </a:lnSpc>
              <a:buNone/>
            </a:pPr>
            <a:r>
              <a:rPr lang="en-US" sz="2000" b="1" dirty="0">
                <a:solidFill>
                  <a:srgbClr val="FFFFFF"/>
                </a:solidFill>
                <a:latin typeface="Arial" pitchFamily="34" charset="0"/>
                <a:ea typeface="Arial" pitchFamily="34" charset="-122"/>
                <a:cs typeface="Arial" pitchFamily="34" charset="-120"/>
              </a:rPr>
              <a:t>قبل وقوعه،</a:t>
            </a:r>
            <a:endParaRPr lang="en-US" sz="2000" dirty="0"/>
          </a:p>
          <a:p>
            <a:pPr rtl="1" algn="ctr" indent="0" marL="0">
              <a:lnSpc>
                <a:spcPts val="3200"/>
              </a:lnSpc>
              <a:buNone/>
            </a:pPr>
            <a:r>
              <a:rPr lang="en-US" sz="2000" b="1" dirty="0">
                <a:solidFill>
                  <a:srgbClr val="FFFFFF"/>
                </a:solidFill>
                <a:latin typeface="Arial" pitchFamily="34" charset="0"/>
                <a:ea typeface="Arial" pitchFamily="34" charset="-122"/>
                <a:cs typeface="Arial" pitchFamily="34" charset="-120"/>
              </a:rPr>
              <a:t>ولا يكتفي بتسجيله.</a:t>
            </a:r>
            <a:endParaRPr lang="en-US" sz="2000" dirty="0"/>
          </a:p>
        </p:txBody>
      </p:sp>
      <p:sp>
        <p:nvSpPr>
          <p:cNvPr id="34" name="Text 31"/>
          <p:cNvSpPr txBox="1"/>
          <p:nvPr/>
        </p:nvSpPr>
        <p:spPr>
          <a:xfrm>
            <a:off x="822960" y="5029200"/>
            <a:ext cx="3322015" cy="822960"/>
          </a:xfrm>
          <a:prstGeom prst="rect">
            <a:avLst/>
          </a:prstGeom>
          <a:noFill/>
          <a:ln/>
        </p:spPr>
        <p:txBody>
          <a:bodyPr wrap="square" lIns="0" tIns="0" rIns="0" bIns="0" rtlCol="0" anchor="ctr"/>
          <a:lstStyle/>
          <a:p>
            <a:pPr rtl="1" algn="ctr" indent="0" marL="0">
              <a:lnSpc>
                <a:spcPts val="1700"/>
              </a:lnSpc>
              <a:buNone/>
            </a:pPr>
            <a:r>
              <a:rPr lang="en-US" sz="1150" dirty="0">
                <a:solidFill>
                  <a:srgbClr val="BFD4D7"/>
                </a:solidFill>
                <a:latin typeface="Arial" pitchFamily="34" charset="0"/>
                <a:ea typeface="Arial" pitchFamily="34" charset="-122"/>
                <a:cs typeface="Arial" pitchFamily="34" charset="-120"/>
              </a:rPr>
              <a:t>قواعد العمل في طبقة الخدمات،</a:t>
            </a:r>
            <a:endParaRPr lang="en-US" sz="1150" dirty="0"/>
          </a:p>
          <a:p>
            <a:pPr rtl="1" algn="ctr" indent="0" marL="0">
              <a:lnSpc>
                <a:spcPts val="1700"/>
              </a:lnSpc>
              <a:buNone/>
            </a:pPr>
            <a:r>
              <a:rPr lang="en-US" sz="1150" dirty="0">
                <a:solidFill>
                  <a:srgbClr val="BFD4D7"/>
                </a:solidFill>
                <a:latin typeface="Arial" pitchFamily="34" charset="0"/>
                <a:ea typeface="Arial" pitchFamily="34" charset="-122"/>
                <a:cs typeface="Arial" pitchFamily="34" charset="-120"/>
              </a:rPr>
              <a:t>لا في الواجهة، لأن الواجهة</a:t>
            </a:r>
            <a:endParaRPr lang="en-US" sz="1150" dirty="0"/>
          </a:p>
          <a:p>
            <a:pPr rtl="1" algn="ctr" indent="0" marL="0">
              <a:lnSpc>
                <a:spcPts val="1700"/>
              </a:lnSpc>
              <a:buNone/>
            </a:pPr>
            <a:r>
              <a:rPr lang="en-US" sz="1150" dirty="0">
                <a:solidFill>
                  <a:srgbClr val="BFD4D7"/>
                </a:solidFill>
                <a:latin typeface="Arial" pitchFamily="34" charset="0"/>
                <a:ea typeface="Arial" pitchFamily="34" charset="-122"/>
                <a:cs typeface="Arial" pitchFamily="34" charset="-120"/>
              </a:rPr>
              <a:t>يمكن تجاوزها والخدمة لا.</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rtl="1" algn="r" indent="0" marL="0">
              <a:buNone/>
            </a:pPr>
            <a:r>
              <a:rPr lang="en-US" sz="1300" b="1" spc="100" kern="0" dirty="0">
                <a:solidFill>
                  <a:srgbClr val="02717D"/>
                </a:solidFill>
                <a:latin typeface="Arial" pitchFamily="34" charset="0"/>
                <a:ea typeface="Arial" pitchFamily="34" charset="-122"/>
                <a:cs typeface="Arial" pitchFamily="34" charset="-120"/>
              </a:rPr>
              <a:t>الفصل الثالث  ·  البنية التقنية</a:t>
            </a:r>
            <a:endParaRPr lang="en-US" sz="13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التقنيات وبيئة التطوير</a:t>
            </a:r>
            <a:endParaRPr lang="en-US" sz="3400" dirty="0"/>
          </a:p>
        </p:txBody>
      </p:sp>
      <p:sp>
        <p:nvSpPr>
          <p:cNvPr id="4" name="Shape 2"/>
          <p:cNvSpPr/>
          <p:nvPr/>
        </p:nvSpPr>
        <p:spPr>
          <a:xfrm>
            <a:off x="5333695" y="1572768"/>
            <a:ext cx="6309360" cy="768096"/>
          </a:xfrm>
          <a:prstGeom prst="roundRect">
            <a:avLst>
              <a:gd name="adj" fmla="val 9524"/>
            </a:avLst>
          </a:prstGeom>
          <a:solidFill>
            <a:srgbClr val="FFFFFF"/>
          </a:solidFill>
          <a:ln/>
          <a:effectLst>
            <a:outerShdw sx="100000" sy="100000" kx="0" ky="0" algn="bl" rotWithShape="0" blurRad="127000" dist="25400" dir="5400000">
              <a:srgbClr val="0A2E36">
                <a:alpha val="10000"/>
              </a:srgbClr>
            </a:outerShdw>
          </a:effectLst>
        </p:spPr>
      </p:sp>
      <p:sp>
        <p:nvSpPr>
          <p:cNvPr id="5" name="Text 3"/>
          <p:cNvSpPr txBox="1"/>
          <p:nvPr/>
        </p:nvSpPr>
        <p:spPr>
          <a:xfrm>
            <a:off x="9494215" y="1792224"/>
            <a:ext cx="1874520" cy="329184"/>
          </a:xfrm>
          <a:prstGeom prst="rect">
            <a:avLst/>
          </a:prstGeom>
          <a:noFill/>
          <a:ln/>
        </p:spPr>
        <p:txBody>
          <a:bodyPr wrap="square" lIns="0" tIns="0" rIns="0" bIns="0" rtlCol="0" anchor="ctr"/>
          <a:lstStyle/>
          <a:p>
            <a:pPr rtl="1" algn="r" indent="0" marL="0">
              <a:buNone/>
            </a:pPr>
            <a:r>
              <a:rPr lang="en-US" sz="1400" b="1" dirty="0">
                <a:solidFill>
                  <a:srgbClr val="02717D"/>
                </a:solidFill>
                <a:latin typeface="Arial" pitchFamily="34" charset="0"/>
                <a:ea typeface="Arial" pitchFamily="34" charset="-122"/>
                <a:cs typeface="Arial" pitchFamily="34" charset="-120"/>
              </a:rPr>
              <a:t>إطار العمل</a:t>
            </a:r>
            <a:endParaRPr lang="en-US" sz="1400" dirty="0"/>
          </a:p>
        </p:txBody>
      </p:sp>
      <p:sp>
        <p:nvSpPr>
          <p:cNvPr id="6" name="Text 4"/>
          <p:cNvSpPr txBox="1"/>
          <p:nvPr/>
        </p:nvSpPr>
        <p:spPr>
          <a:xfrm>
            <a:off x="5608015" y="1810512"/>
            <a:ext cx="3703320" cy="310896"/>
          </a:xfrm>
          <a:prstGeom prst="rect">
            <a:avLst/>
          </a:prstGeom>
          <a:noFill/>
          <a:ln/>
        </p:spPr>
        <p:txBody>
          <a:bodyPr wrap="square" lIns="0" tIns="0" rIns="0" bIns="0" rtlCol="0" anchor="ctr"/>
          <a:lstStyle/>
          <a:p>
            <a:pPr algn="l" indent="0" marL="0">
              <a:buNone/>
            </a:pPr>
            <a:r>
              <a:rPr lang="en-US" sz="1300" dirty="0">
                <a:solidFill>
                  <a:srgbClr val="16292E"/>
                </a:solidFill>
                <a:latin typeface="Arial" pitchFamily="34" charset="0"/>
                <a:ea typeface="Arial" pitchFamily="34" charset="-122"/>
                <a:cs typeface="Arial" pitchFamily="34" charset="-120"/>
              </a:rPr>
              <a:t>Laravel 12  ·  PHP 8.2</a:t>
            </a:r>
            <a:endParaRPr lang="en-US" sz="1300" dirty="0"/>
          </a:p>
        </p:txBody>
      </p:sp>
      <p:sp>
        <p:nvSpPr>
          <p:cNvPr id="7" name="Shape 5"/>
          <p:cNvSpPr/>
          <p:nvPr/>
        </p:nvSpPr>
        <p:spPr>
          <a:xfrm>
            <a:off x="5333695" y="2468880"/>
            <a:ext cx="6309360" cy="768096"/>
          </a:xfrm>
          <a:prstGeom prst="roundRect">
            <a:avLst>
              <a:gd name="adj" fmla="val 9524"/>
            </a:avLst>
          </a:prstGeom>
          <a:solidFill>
            <a:srgbClr val="FFFFFF"/>
          </a:solidFill>
          <a:ln/>
          <a:effectLst>
            <a:outerShdw sx="100000" sy="100000" kx="0" ky="0" algn="bl" rotWithShape="0" blurRad="127000" dist="25400" dir="5400000">
              <a:srgbClr val="0A2E36">
                <a:alpha val="10000"/>
              </a:srgbClr>
            </a:outerShdw>
          </a:effectLst>
        </p:spPr>
      </p:sp>
      <p:sp>
        <p:nvSpPr>
          <p:cNvPr id="8" name="Text 6"/>
          <p:cNvSpPr txBox="1"/>
          <p:nvPr/>
        </p:nvSpPr>
        <p:spPr>
          <a:xfrm>
            <a:off x="9494215" y="2688336"/>
            <a:ext cx="1874520" cy="329184"/>
          </a:xfrm>
          <a:prstGeom prst="rect">
            <a:avLst/>
          </a:prstGeom>
          <a:noFill/>
          <a:ln/>
        </p:spPr>
        <p:txBody>
          <a:bodyPr wrap="square" lIns="0" tIns="0" rIns="0" bIns="0" rtlCol="0" anchor="ctr"/>
          <a:lstStyle/>
          <a:p>
            <a:pPr rtl="1" algn="r" indent="0" marL="0">
              <a:buNone/>
            </a:pPr>
            <a:r>
              <a:rPr lang="en-US" sz="1400" b="1" dirty="0">
                <a:solidFill>
                  <a:srgbClr val="02717D"/>
                </a:solidFill>
                <a:latin typeface="Arial" pitchFamily="34" charset="0"/>
                <a:ea typeface="Arial" pitchFamily="34" charset="-122"/>
                <a:cs typeface="Arial" pitchFamily="34" charset="-120"/>
              </a:rPr>
              <a:t>قاعدة البيانات</a:t>
            </a:r>
            <a:endParaRPr lang="en-US" sz="1400" dirty="0"/>
          </a:p>
        </p:txBody>
      </p:sp>
      <p:sp>
        <p:nvSpPr>
          <p:cNvPr id="9" name="Text 7"/>
          <p:cNvSpPr txBox="1"/>
          <p:nvPr/>
        </p:nvSpPr>
        <p:spPr>
          <a:xfrm>
            <a:off x="5608015" y="2706624"/>
            <a:ext cx="3703320" cy="310896"/>
          </a:xfrm>
          <a:prstGeom prst="rect">
            <a:avLst/>
          </a:prstGeom>
          <a:noFill/>
          <a:ln/>
        </p:spPr>
        <p:txBody>
          <a:bodyPr wrap="square" lIns="0" tIns="0" rIns="0" bIns="0" rtlCol="0" anchor="ctr"/>
          <a:lstStyle/>
          <a:p>
            <a:pPr algn="l" indent="0" marL="0">
              <a:buNone/>
            </a:pPr>
            <a:r>
              <a:rPr lang="en-US" sz="1300" dirty="0">
                <a:solidFill>
                  <a:srgbClr val="16292E"/>
                </a:solidFill>
                <a:latin typeface="Arial" pitchFamily="34" charset="0"/>
                <a:ea typeface="Arial" pitchFamily="34" charset="-122"/>
                <a:cs typeface="Arial" pitchFamily="34" charset="-120"/>
              </a:rPr>
              <a:t>MySQL 8  ·  Eloquent ORM</a:t>
            </a:r>
            <a:endParaRPr lang="en-US" sz="1300" dirty="0"/>
          </a:p>
        </p:txBody>
      </p:sp>
      <p:sp>
        <p:nvSpPr>
          <p:cNvPr id="10" name="Shape 8"/>
          <p:cNvSpPr/>
          <p:nvPr/>
        </p:nvSpPr>
        <p:spPr>
          <a:xfrm>
            <a:off x="5333695" y="3364992"/>
            <a:ext cx="6309360" cy="768096"/>
          </a:xfrm>
          <a:prstGeom prst="roundRect">
            <a:avLst>
              <a:gd name="adj" fmla="val 9524"/>
            </a:avLst>
          </a:prstGeom>
          <a:solidFill>
            <a:srgbClr val="FFFFFF"/>
          </a:solidFill>
          <a:ln/>
          <a:effectLst>
            <a:outerShdw sx="100000" sy="100000" kx="0" ky="0" algn="bl" rotWithShape="0" blurRad="127000" dist="25400" dir="5400000">
              <a:srgbClr val="0A2E36">
                <a:alpha val="10000"/>
              </a:srgbClr>
            </a:outerShdw>
          </a:effectLst>
        </p:spPr>
      </p:sp>
      <p:sp>
        <p:nvSpPr>
          <p:cNvPr id="11" name="Text 9"/>
          <p:cNvSpPr txBox="1"/>
          <p:nvPr/>
        </p:nvSpPr>
        <p:spPr>
          <a:xfrm>
            <a:off x="9494215" y="3584448"/>
            <a:ext cx="1874520" cy="329184"/>
          </a:xfrm>
          <a:prstGeom prst="rect">
            <a:avLst/>
          </a:prstGeom>
          <a:noFill/>
          <a:ln/>
        </p:spPr>
        <p:txBody>
          <a:bodyPr wrap="square" lIns="0" tIns="0" rIns="0" bIns="0" rtlCol="0" anchor="ctr"/>
          <a:lstStyle/>
          <a:p>
            <a:pPr rtl="1" algn="r" indent="0" marL="0">
              <a:buNone/>
            </a:pPr>
            <a:r>
              <a:rPr lang="en-US" sz="1400" b="1" dirty="0">
                <a:solidFill>
                  <a:srgbClr val="02717D"/>
                </a:solidFill>
                <a:latin typeface="Arial" pitchFamily="34" charset="0"/>
                <a:ea typeface="Arial" pitchFamily="34" charset="-122"/>
                <a:cs typeface="Arial" pitchFamily="34" charset="-120"/>
              </a:rPr>
              <a:t>الواجهة</a:t>
            </a:r>
            <a:endParaRPr lang="en-US" sz="1400" dirty="0"/>
          </a:p>
        </p:txBody>
      </p:sp>
      <p:sp>
        <p:nvSpPr>
          <p:cNvPr id="12" name="Text 10"/>
          <p:cNvSpPr txBox="1"/>
          <p:nvPr/>
        </p:nvSpPr>
        <p:spPr>
          <a:xfrm>
            <a:off x="5608015" y="3602736"/>
            <a:ext cx="3703320" cy="310896"/>
          </a:xfrm>
          <a:prstGeom prst="rect">
            <a:avLst/>
          </a:prstGeom>
          <a:noFill/>
          <a:ln/>
        </p:spPr>
        <p:txBody>
          <a:bodyPr wrap="square" lIns="0" tIns="0" rIns="0" bIns="0" rtlCol="0" anchor="ctr"/>
          <a:lstStyle/>
          <a:p>
            <a:pPr algn="l" indent="0" marL="0">
              <a:buNone/>
            </a:pPr>
            <a:r>
              <a:rPr lang="en-US" sz="1300" dirty="0">
                <a:solidFill>
                  <a:srgbClr val="16292E"/>
                </a:solidFill>
                <a:latin typeface="Arial" pitchFamily="34" charset="0"/>
                <a:ea typeface="Arial" pitchFamily="34" charset="-122"/>
                <a:cs typeface="Arial" pitchFamily="34" charset="-120"/>
              </a:rPr>
              <a:t>Blade  ·  RTL  ·  بلا خطوة بناء</a:t>
            </a:r>
            <a:endParaRPr lang="en-US" sz="1300" dirty="0"/>
          </a:p>
        </p:txBody>
      </p:sp>
      <p:sp>
        <p:nvSpPr>
          <p:cNvPr id="13" name="Shape 11"/>
          <p:cNvSpPr/>
          <p:nvPr/>
        </p:nvSpPr>
        <p:spPr>
          <a:xfrm>
            <a:off x="5333695" y="4261104"/>
            <a:ext cx="6309360" cy="768096"/>
          </a:xfrm>
          <a:prstGeom prst="roundRect">
            <a:avLst>
              <a:gd name="adj" fmla="val 9524"/>
            </a:avLst>
          </a:prstGeom>
          <a:solidFill>
            <a:srgbClr val="FFFFFF"/>
          </a:solidFill>
          <a:ln/>
          <a:effectLst>
            <a:outerShdw sx="100000" sy="100000" kx="0" ky="0" algn="bl" rotWithShape="0" blurRad="127000" dist="25400" dir="5400000">
              <a:srgbClr val="0A2E36">
                <a:alpha val="10000"/>
              </a:srgbClr>
            </a:outerShdw>
          </a:effectLst>
        </p:spPr>
      </p:sp>
      <p:sp>
        <p:nvSpPr>
          <p:cNvPr id="14" name="Text 12"/>
          <p:cNvSpPr txBox="1"/>
          <p:nvPr/>
        </p:nvSpPr>
        <p:spPr>
          <a:xfrm>
            <a:off x="9494215" y="4480560"/>
            <a:ext cx="1874520" cy="329184"/>
          </a:xfrm>
          <a:prstGeom prst="rect">
            <a:avLst/>
          </a:prstGeom>
          <a:noFill/>
          <a:ln/>
        </p:spPr>
        <p:txBody>
          <a:bodyPr wrap="square" lIns="0" tIns="0" rIns="0" bIns="0" rtlCol="0" anchor="ctr"/>
          <a:lstStyle/>
          <a:p>
            <a:pPr rtl="1" algn="r" indent="0" marL="0">
              <a:buNone/>
            </a:pPr>
            <a:r>
              <a:rPr lang="en-US" sz="1400" b="1" dirty="0">
                <a:solidFill>
                  <a:srgbClr val="02717D"/>
                </a:solidFill>
                <a:latin typeface="Arial" pitchFamily="34" charset="0"/>
                <a:ea typeface="Arial" pitchFamily="34" charset="-122"/>
                <a:cs typeface="Arial" pitchFamily="34" charset="-120"/>
              </a:rPr>
              <a:t>بيئة التطوير</a:t>
            </a:r>
            <a:endParaRPr lang="en-US" sz="1400" dirty="0"/>
          </a:p>
        </p:txBody>
      </p:sp>
      <p:sp>
        <p:nvSpPr>
          <p:cNvPr id="15" name="Text 13"/>
          <p:cNvSpPr txBox="1"/>
          <p:nvPr/>
        </p:nvSpPr>
        <p:spPr>
          <a:xfrm>
            <a:off x="5608015" y="4498848"/>
            <a:ext cx="3703320" cy="310896"/>
          </a:xfrm>
          <a:prstGeom prst="rect">
            <a:avLst/>
          </a:prstGeom>
          <a:noFill/>
          <a:ln/>
        </p:spPr>
        <p:txBody>
          <a:bodyPr wrap="square" lIns="0" tIns="0" rIns="0" bIns="0" rtlCol="0" anchor="ctr"/>
          <a:lstStyle/>
          <a:p>
            <a:pPr algn="l" indent="0" marL="0">
              <a:buNone/>
            </a:pPr>
            <a:r>
              <a:rPr lang="en-US" sz="1300" dirty="0">
                <a:solidFill>
                  <a:srgbClr val="16292E"/>
                </a:solidFill>
                <a:latin typeface="Arial" pitchFamily="34" charset="0"/>
                <a:ea typeface="Arial" pitchFamily="34" charset="-122"/>
                <a:cs typeface="Arial" pitchFamily="34" charset="-120"/>
              </a:rPr>
              <a:t>XAMPP  (Apache + MySQL + PHP)</a:t>
            </a:r>
            <a:endParaRPr lang="en-US" sz="1300" dirty="0"/>
          </a:p>
        </p:txBody>
      </p:sp>
      <p:sp>
        <p:nvSpPr>
          <p:cNvPr id="16" name="Shape 14"/>
          <p:cNvSpPr/>
          <p:nvPr/>
        </p:nvSpPr>
        <p:spPr>
          <a:xfrm>
            <a:off x="5333695" y="5157216"/>
            <a:ext cx="6309360" cy="768096"/>
          </a:xfrm>
          <a:prstGeom prst="roundRect">
            <a:avLst>
              <a:gd name="adj" fmla="val 9524"/>
            </a:avLst>
          </a:prstGeom>
          <a:solidFill>
            <a:srgbClr val="FFFFFF"/>
          </a:solidFill>
          <a:ln/>
          <a:effectLst>
            <a:outerShdw sx="100000" sy="100000" kx="0" ky="0" algn="bl" rotWithShape="0" blurRad="127000" dist="25400" dir="5400000">
              <a:srgbClr val="0A2E36">
                <a:alpha val="10000"/>
              </a:srgbClr>
            </a:outerShdw>
          </a:effectLst>
        </p:spPr>
      </p:sp>
      <p:sp>
        <p:nvSpPr>
          <p:cNvPr id="17" name="Text 15"/>
          <p:cNvSpPr txBox="1"/>
          <p:nvPr/>
        </p:nvSpPr>
        <p:spPr>
          <a:xfrm>
            <a:off x="9494215" y="5376672"/>
            <a:ext cx="1874520" cy="329184"/>
          </a:xfrm>
          <a:prstGeom prst="rect">
            <a:avLst/>
          </a:prstGeom>
          <a:noFill/>
          <a:ln/>
        </p:spPr>
        <p:txBody>
          <a:bodyPr wrap="square" lIns="0" tIns="0" rIns="0" bIns="0" rtlCol="0" anchor="ctr"/>
          <a:lstStyle/>
          <a:p>
            <a:pPr rtl="1" algn="r" indent="0" marL="0">
              <a:buNone/>
            </a:pPr>
            <a:r>
              <a:rPr lang="en-US" sz="1400" b="1" dirty="0">
                <a:solidFill>
                  <a:srgbClr val="02717D"/>
                </a:solidFill>
                <a:latin typeface="Arial" pitchFamily="34" charset="0"/>
                <a:ea typeface="Arial" pitchFamily="34" charset="-122"/>
                <a:cs typeface="Arial" pitchFamily="34" charset="-120"/>
              </a:rPr>
              <a:t>إدارة الأكواد</a:t>
            </a:r>
            <a:endParaRPr lang="en-US" sz="1400" dirty="0"/>
          </a:p>
        </p:txBody>
      </p:sp>
      <p:sp>
        <p:nvSpPr>
          <p:cNvPr id="18" name="Text 16"/>
          <p:cNvSpPr txBox="1"/>
          <p:nvPr/>
        </p:nvSpPr>
        <p:spPr>
          <a:xfrm>
            <a:off x="5608015" y="5394960"/>
            <a:ext cx="3703320" cy="310896"/>
          </a:xfrm>
          <a:prstGeom prst="rect">
            <a:avLst/>
          </a:prstGeom>
          <a:noFill/>
          <a:ln/>
        </p:spPr>
        <p:txBody>
          <a:bodyPr wrap="square" lIns="0" tIns="0" rIns="0" bIns="0" rtlCol="0" anchor="ctr"/>
          <a:lstStyle/>
          <a:p>
            <a:pPr algn="l" indent="0" marL="0">
              <a:buNone/>
            </a:pPr>
            <a:r>
              <a:rPr lang="en-US" sz="1300" dirty="0">
                <a:solidFill>
                  <a:srgbClr val="16292E"/>
                </a:solidFill>
                <a:latin typeface="Arial" pitchFamily="34" charset="0"/>
                <a:ea typeface="Arial" pitchFamily="34" charset="-122"/>
                <a:cs typeface="Arial" pitchFamily="34" charset="-120"/>
              </a:rPr>
              <a:t>Git  ·  GitHub  ·  GitHub Actions</a:t>
            </a:r>
            <a:endParaRPr lang="en-US" sz="1300" dirty="0"/>
          </a:p>
        </p:txBody>
      </p:sp>
      <p:sp>
        <p:nvSpPr>
          <p:cNvPr id="19" name="Shape 17"/>
          <p:cNvSpPr/>
          <p:nvPr/>
        </p:nvSpPr>
        <p:spPr>
          <a:xfrm>
            <a:off x="2858872" y="1572768"/>
            <a:ext cx="2109064" cy="1371600"/>
          </a:xfrm>
          <a:prstGeom prst="roundRect">
            <a:avLst>
              <a:gd name="adj" fmla="val 6667"/>
            </a:avLst>
          </a:prstGeom>
          <a:solidFill>
            <a:srgbClr val="0A2E36"/>
          </a:solidFill>
          <a:ln/>
          <a:effectLst>
            <a:outerShdw sx="100000" sy="100000" kx="0" ky="0" algn="bl" rotWithShape="0" blurRad="127000" dist="25400" dir="5400000">
              <a:srgbClr val="0A2E36">
                <a:alpha val="10000"/>
              </a:srgbClr>
            </a:outerShdw>
          </a:effectLst>
        </p:spPr>
      </p:sp>
      <p:sp>
        <p:nvSpPr>
          <p:cNvPr id="20" name="Text 18"/>
          <p:cNvSpPr txBox="1"/>
          <p:nvPr/>
        </p:nvSpPr>
        <p:spPr>
          <a:xfrm>
            <a:off x="2858872" y="1847088"/>
            <a:ext cx="2109064" cy="566928"/>
          </a:xfrm>
          <a:prstGeom prst="rect">
            <a:avLst/>
          </a:prstGeom>
          <a:noFill/>
          <a:ln/>
        </p:spPr>
        <p:txBody>
          <a:bodyPr wrap="square" lIns="0" tIns="0" rIns="0" bIns="0" rtlCol="0" anchor="ctr"/>
          <a:lstStyle/>
          <a:p>
            <a:pPr algn="ctr" indent="0" marL="0">
              <a:buNone/>
            </a:pPr>
            <a:r>
              <a:rPr lang="en-US" sz="3400" b="1" dirty="0">
                <a:solidFill>
                  <a:srgbClr val="E9A13B"/>
                </a:solidFill>
                <a:latin typeface="Arial" pitchFamily="34" charset="0"/>
                <a:ea typeface="Arial" pitchFamily="34" charset="-122"/>
                <a:cs typeface="Arial" pitchFamily="34" charset="-120"/>
              </a:rPr>
              <a:t>262</a:t>
            </a:r>
            <a:endParaRPr lang="en-US" sz="3400" dirty="0"/>
          </a:p>
        </p:txBody>
      </p:sp>
      <p:sp>
        <p:nvSpPr>
          <p:cNvPr id="21" name="Text 19"/>
          <p:cNvSpPr txBox="1"/>
          <p:nvPr/>
        </p:nvSpPr>
        <p:spPr>
          <a:xfrm>
            <a:off x="2858872" y="2450592"/>
            <a:ext cx="2109064" cy="274320"/>
          </a:xfrm>
          <a:prstGeom prst="rect">
            <a:avLst/>
          </a:prstGeom>
          <a:noFill/>
          <a:ln/>
        </p:spPr>
        <p:txBody>
          <a:bodyPr wrap="square" lIns="0" tIns="0" rIns="0" bIns="0" rtlCol="0" anchor="ctr"/>
          <a:lstStyle/>
          <a:p>
            <a:pPr rtl="1" algn="ctr" indent="0" marL="0">
              <a:buNone/>
            </a:pPr>
            <a:r>
              <a:rPr lang="en-US" sz="1200" dirty="0">
                <a:solidFill>
                  <a:srgbClr val="BFD4D7"/>
                </a:solidFill>
                <a:latin typeface="Arial" pitchFamily="34" charset="0"/>
                <a:ea typeface="Arial" pitchFamily="34" charset="-122"/>
                <a:cs typeface="Arial" pitchFamily="34" charset="-120"/>
              </a:rPr>
              <a:t>اختبارًا آليًا</a:t>
            </a:r>
            <a:endParaRPr lang="en-US" sz="1200" dirty="0"/>
          </a:p>
        </p:txBody>
      </p:sp>
      <p:sp>
        <p:nvSpPr>
          <p:cNvPr id="22" name="Shape 20"/>
          <p:cNvSpPr/>
          <p:nvPr/>
        </p:nvSpPr>
        <p:spPr>
          <a:xfrm>
            <a:off x="548640" y="1572768"/>
            <a:ext cx="2109064"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23" name="Text 21"/>
          <p:cNvSpPr txBox="1"/>
          <p:nvPr/>
        </p:nvSpPr>
        <p:spPr>
          <a:xfrm>
            <a:off x="548640" y="1847088"/>
            <a:ext cx="2109064" cy="566928"/>
          </a:xfrm>
          <a:prstGeom prst="rect">
            <a:avLst/>
          </a:prstGeom>
          <a:noFill/>
          <a:ln/>
        </p:spPr>
        <p:txBody>
          <a:bodyPr wrap="square" lIns="0" tIns="0" rIns="0" bIns="0" rtlCol="0" anchor="ctr"/>
          <a:lstStyle/>
          <a:p>
            <a:pPr algn="ctr" indent="0" marL="0">
              <a:buNone/>
            </a:pPr>
            <a:r>
              <a:rPr lang="en-US" sz="3400" b="1" dirty="0">
                <a:solidFill>
                  <a:srgbClr val="02717D"/>
                </a:solidFill>
                <a:latin typeface="Arial" pitchFamily="34" charset="0"/>
                <a:ea typeface="Arial" pitchFamily="34" charset="-122"/>
                <a:cs typeface="Arial" pitchFamily="34" charset="-120"/>
              </a:rPr>
              <a:t>18</a:t>
            </a:r>
            <a:endParaRPr lang="en-US" sz="3400" dirty="0"/>
          </a:p>
        </p:txBody>
      </p:sp>
      <p:sp>
        <p:nvSpPr>
          <p:cNvPr id="24" name="Text 22"/>
          <p:cNvSpPr txBox="1"/>
          <p:nvPr/>
        </p:nvSpPr>
        <p:spPr>
          <a:xfrm>
            <a:off x="548640" y="2450592"/>
            <a:ext cx="2109064" cy="274320"/>
          </a:xfrm>
          <a:prstGeom prst="rect">
            <a:avLst/>
          </a:prstGeom>
          <a:noFill/>
          <a:ln/>
        </p:spPr>
        <p:txBody>
          <a:bodyPr wrap="square" lIns="0" tIns="0" rIns="0" bIns="0" rtlCol="0" anchor="ctr"/>
          <a:lstStyle/>
          <a:p>
            <a:pPr rtl="1" algn="ctr" indent="0" marL="0">
              <a:buNone/>
            </a:pPr>
            <a:r>
              <a:rPr lang="en-US" sz="1200" dirty="0">
                <a:solidFill>
                  <a:srgbClr val="5C7378"/>
                </a:solidFill>
                <a:latin typeface="Arial" pitchFamily="34" charset="0"/>
                <a:ea typeface="Arial" pitchFamily="34" charset="-122"/>
                <a:cs typeface="Arial" pitchFamily="34" charset="-120"/>
              </a:rPr>
              <a:t>جدولًا مترابطًا</a:t>
            </a:r>
            <a:endParaRPr lang="en-US" sz="1200" dirty="0"/>
          </a:p>
        </p:txBody>
      </p:sp>
      <p:sp>
        <p:nvSpPr>
          <p:cNvPr id="25" name="Shape 23"/>
          <p:cNvSpPr/>
          <p:nvPr/>
        </p:nvSpPr>
        <p:spPr>
          <a:xfrm>
            <a:off x="2858872" y="3172968"/>
            <a:ext cx="2109064"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26" name="Text 24"/>
          <p:cNvSpPr txBox="1"/>
          <p:nvPr/>
        </p:nvSpPr>
        <p:spPr>
          <a:xfrm>
            <a:off x="2858872" y="3447288"/>
            <a:ext cx="2109064" cy="566928"/>
          </a:xfrm>
          <a:prstGeom prst="rect">
            <a:avLst/>
          </a:prstGeom>
          <a:noFill/>
          <a:ln/>
        </p:spPr>
        <p:txBody>
          <a:bodyPr wrap="square" lIns="0" tIns="0" rIns="0" bIns="0" rtlCol="0" anchor="ctr"/>
          <a:lstStyle/>
          <a:p>
            <a:pPr algn="ctr" indent="0" marL="0">
              <a:buNone/>
            </a:pPr>
            <a:r>
              <a:rPr lang="en-US" sz="3400" b="1" dirty="0">
                <a:solidFill>
                  <a:srgbClr val="02717D"/>
                </a:solidFill>
                <a:latin typeface="Arial" pitchFamily="34" charset="0"/>
                <a:ea typeface="Arial" pitchFamily="34" charset="-122"/>
                <a:cs typeface="Arial" pitchFamily="34" charset="-120"/>
              </a:rPr>
              <a:t>12</a:t>
            </a:r>
            <a:endParaRPr lang="en-US" sz="3400" dirty="0"/>
          </a:p>
        </p:txBody>
      </p:sp>
      <p:sp>
        <p:nvSpPr>
          <p:cNvPr id="27" name="Text 25"/>
          <p:cNvSpPr txBox="1"/>
          <p:nvPr/>
        </p:nvSpPr>
        <p:spPr>
          <a:xfrm>
            <a:off x="2858872" y="4050792"/>
            <a:ext cx="2109064" cy="274320"/>
          </a:xfrm>
          <a:prstGeom prst="rect">
            <a:avLst/>
          </a:prstGeom>
          <a:noFill/>
          <a:ln/>
        </p:spPr>
        <p:txBody>
          <a:bodyPr wrap="square" lIns="0" tIns="0" rIns="0" bIns="0" rtlCol="0" anchor="ctr"/>
          <a:lstStyle/>
          <a:p>
            <a:pPr rtl="1" algn="ctr" indent="0" marL="0">
              <a:buNone/>
            </a:pPr>
            <a:r>
              <a:rPr lang="en-US" sz="1200" dirty="0">
                <a:solidFill>
                  <a:srgbClr val="5C7378"/>
                </a:solidFill>
                <a:latin typeface="Arial" pitchFamily="34" charset="0"/>
                <a:ea typeface="Arial" pitchFamily="34" charset="-122"/>
                <a:cs typeface="Arial" pitchFamily="34" charset="-120"/>
              </a:rPr>
              <a:t>خدمة مستقلة</a:t>
            </a:r>
            <a:endParaRPr lang="en-US" sz="1200" dirty="0"/>
          </a:p>
        </p:txBody>
      </p:sp>
      <p:sp>
        <p:nvSpPr>
          <p:cNvPr id="28" name="Shape 26"/>
          <p:cNvSpPr/>
          <p:nvPr/>
        </p:nvSpPr>
        <p:spPr>
          <a:xfrm>
            <a:off x="548640" y="3172968"/>
            <a:ext cx="2109064" cy="1371600"/>
          </a:xfrm>
          <a:prstGeom prst="roundRect">
            <a:avLst>
              <a:gd name="adj" fmla="val 6667"/>
            </a:avLst>
          </a:prstGeom>
          <a:solidFill>
            <a:srgbClr val="FFFFFF"/>
          </a:solidFill>
          <a:ln/>
          <a:effectLst>
            <a:outerShdw sx="100000" sy="100000" kx="0" ky="0" algn="bl" rotWithShape="0" blurRad="127000" dist="25400" dir="5400000">
              <a:srgbClr val="0A2E36">
                <a:alpha val="10000"/>
              </a:srgbClr>
            </a:outerShdw>
          </a:effectLst>
        </p:spPr>
      </p:sp>
      <p:sp>
        <p:nvSpPr>
          <p:cNvPr id="29" name="Text 27"/>
          <p:cNvSpPr txBox="1"/>
          <p:nvPr/>
        </p:nvSpPr>
        <p:spPr>
          <a:xfrm>
            <a:off x="548640" y="3447288"/>
            <a:ext cx="2109064" cy="566928"/>
          </a:xfrm>
          <a:prstGeom prst="rect">
            <a:avLst/>
          </a:prstGeom>
          <a:noFill/>
          <a:ln/>
        </p:spPr>
        <p:txBody>
          <a:bodyPr wrap="square" lIns="0" tIns="0" rIns="0" bIns="0" rtlCol="0" anchor="ctr"/>
          <a:lstStyle/>
          <a:p>
            <a:pPr algn="ctr" indent="0" marL="0">
              <a:buNone/>
            </a:pPr>
            <a:r>
              <a:rPr lang="en-US" sz="3400" b="1" dirty="0">
                <a:solidFill>
                  <a:srgbClr val="02717D"/>
                </a:solidFill>
                <a:latin typeface="Arial" pitchFamily="34" charset="0"/>
                <a:ea typeface="Arial" pitchFamily="34" charset="-122"/>
                <a:cs typeface="Arial" pitchFamily="34" charset="-120"/>
              </a:rPr>
              <a:t>13,500</a:t>
            </a:r>
            <a:endParaRPr lang="en-US" sz="3400" dirty="0"/>
          </a:p>
        </p:txBody>
      </p:sp>
      <p:sp>
        <p:nvSpPr>
          <p:cNvPr id="30" name="Text 28"/>
          <p:cNvSpPr txBox="1"/>
          <p:nvPr/>
        </p:nvSpPr>
        <p:spPr>
          <a:xfrm>
            <a:off x="548640" y="4050792"/>
            <a:ext cx="2109064" cy="274320"/>
          </a:xfrm>
          <a:prstGeom prst="rect">
            <a:avLst/>
          </a:prstGeom>
          <a:noFill/>
          <a:ln/>
        </p:spPr>
        <p:txBody>
          <a:bodyPr wrap="square" lIns="0" tIns="0" rIns="0" bIns="0" rtlCol="0" anchor="ctr"/>
          <a:lstStyle/>
          <a:p>
            <a:pPr rtl="1" algn="ctr" indent="0" marL="0">
              <a:buNone/>
            </a:pPr>
            <a:r>
              <a:rPr lang="en-US" sz="1200" dirty="0">
                <a:solidFill>
                  <a:srgbClr val="5C7378"/>
                </a:solidFill>
                <a:latin typeface="Arial" pitchFamily="34" charset="0"/>
                <a:ea typeface="Arial" pitchFamily="34" charset="-122"/>
                <a:cs typeface="Arial" pitchFamily="34" charset="-120"/>
              </a:rPr>
              <a:t>سطر برمجي</a:t>
            </a:r>
            <a:endParaRPr lang="en-US" sz="1200" dirty="0"/>
          </a:p>
        </p:txBody>
      </p:sp>
      <p:sp>
        <p:nvSpPr>
          <p:cNvPr id="31" name="Shape 29"/>
          <p:cNvSpPr/>
          <p:nvPr/>
        </p:nvSpPr>
        <p:spPr>
          <a:xfrm>
            <a:off x="548640" y="4754880"/>
            <a:ext cx="4419295" cy="1298448"/>
          </a:xfrm>
          <a:prstGeom prst="roundRect">
            <a:avLst>
              <a:gd name="adj" fmla="val 7042"/>
            </a:avLst>
          </a:prstGeom>
          <a:solidFill>
            <a:srgbClr val="FFFFFF"/>
          </a:solidFill>
          <a:ln/>
          <a:effectLst>
            <a:outerShdw sx="100000" sy="100000" kx="0" ky="0" algn="bl" rotWithShape="0" blurRad="127000" dist="25400" dir="5400000">
              <a:srgbClr val="0A2E36">
                <a:alpha val="10000"/>
              </a:srgbClr>
            </a:outerShdw>
          </a:effectLst>
        </p:spPr>
      </p:sp>
      <p:sp>
        <p:nvSpPr>
          <p:cNvPr id="32" name="Shape 30"/>
          <p:cNvSpPr/>
          <p:nvPr/>
        </p:nvSpPr>
        <p:spPr>
          <a:xfrm>
            <a:off x="4254703" y="5138928"/>
            <a:ext cx="475488" cy="475488"/>
          </a:xfrm>
          <a:prstGeom prst="ellipse">
            <a:avLst/>
          </a:prstGeom>
          <a:solidFill>
            <a:srgbClr val="00A896"/>
          </a:solidFill>
          <a:ln/>
        </p:spPr>
      </p:sp>
      <p:pic>
        <p:nvPicPr>
          <p:cNvPr id="33" name="Image 0" descr="preencoded.png">    </p:cNvPr>
          <p:cNvPicPr>
            <a:picLocks noChangeAspect="1"/>
          </p:cNvPicPr>
          <p:nvPr/>
        </p:nvPicPr>
        <p:blipFill>
          <a:blip r:embed="rId1"/>
          <a:stretch>
            <a:fillRect/>
          </a:stretch>
        </p:blipFill>
        <p:spPr>
          <a:xfrm>
            <a:off x="4382719" y="5266944"/>
            <a:ext cx="219456" cy="219456"/>
          </a:xfrm>
          <a:prstGeom prst="rect">
            <a:avLst/>
          </a:prstGeom>
        </p:spPr>
      </p:pic>
      <p:sp>
        <p:nvSpPr>
          <p:cNvPr id="34" name="Text 31"/>
          <p:cNvSpPr txBox="1"/>
          <p:nvPr/>
        </p:nvSpPr>
        <p:spPr>
          <a:xfrm>
            <a:off x="777240" y="5102352"/>
            <a:ext cx="3367735" cy="274320"/>
          </a:xfrm>
          <a:prstGeom prst="rect">
            <a:avLst/>
          </a:prstGeom>
          <a:noFill/>
          <a:ln/>
        </p:spPr>
        <p:txBody>
          <a:bodyPr wrap="square" lIns="0" tIns="0" rIns="0" bIns="0" rtlCol="0" anchor="ctr"/>
          <a:lstStyle/>
          <a:p>
            <a:pPr rtl="1" algn="r" indent="0" marL="0">
              <a:buNone/>
            </a:pPr>
            <a:r>
              <a:rPr lang="en-US" sz="1300" b="1" dirty="0">
                <a:solidFill>
                  <a:srgbClr val="16292E"/>
                </a:solidFill>
                <a:latin typeface="Arial" pitchFamily="34" charset="0"/>
                <a:ea typeface="Arial" pitchFamily="34" charset="-122"/>
                <a:cs typeface="Arial" pitchFamily="34" charset="-120"/>
              </a:rPr>
              <a:t>تكامل مستمر (CI)</a:t>
            </a:r>
            <a:endParaRPr lang="en-US" sz="1300" dirty="0"/>
          </a:p>
        </p:txBody>
      </p:sp>
      <p:sp>
        <p:nvSpPr>
          <p:cNvPr id="35" name="Text 32"/>
          <p:cNvSpPr txBox="1"/>
          <p:nvPr/>
        </p:nvSpPr>
        <p:spPr>
          <a:xfrm>
            <a:off x="777240" y="5431536"/>
            <a:ext cx="3367735" cy="402336"/>
          </a:xfrm>
          <a:prstGeom prst="rect">
            <a:avLst/>
          </a:prstGeom>
          <a:noFill/>
          <a:ln/>
        </p:spPr>
        <p:txBody>
          <a:bodyPr wrap="square" lIns="0" tIns="0" rIns="0" bIns="0" rtlCol="0" anchor="ctr"/>
          <a:lstStyle/>
          <a:p>
            <a:pPr rtl="1" algn="r" indent="0" marL="0">
              <a:lnSpc>
                <a:spcPts val="1500"/>
              </a:lnSpc>
              <a:buNone/>
            </a:pPr>
            <a:r>
              <a:rPr lang="en-US" sz="1100" dirty="0">
                <a:solidFill>
                  <a:srgbClr val="5C7378"/>
                </a:solidFill>
                <a:latin typeface="Arial" pitchFamily="34" charset="0"/>
                <a:ea typeface="Arial" pitchFamily="34" charset="-122"/>
                <a:cs typeface="Arial" pitchFamily="34" charset="-120"/>
              </a:rPr>
              <a:t>الاختبارات وفحص التنسيق تعمل آليًا عند كل رفع</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rtl="1" algn="r" indent="0" marL="0">
              <a:buNone/>
            </a:pPr>
            <a:r>
              <a:rPr lang="en-US" sz="1300" b="1" spc="100" kern="0" dirty="0">
                <a:solidFill>
                  <a:srgbClr val="02717D"/>
                </a:solidFill>
                <a:latin typeface="Arial" pitchFamily="34" charset="0"/>
                <a:ea typeface="Arial" pitchFamily="34" charset="-122"/>
                <a:cs typeface="Arial" pitchFamily="34" charset="-120"/>
              </a:rPr>
              <a:t>الفصل الرابع  ·  الوظائف</a:t>
            </a:r>
            <a:endParaRPr lang="en-US" sz="13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الوحدات الأساسية للنظام</a:t>
            </a:r>
            <a:endParaRPr lang="en-US" sz="3400" dirty="0"/>
          </a:p>
        </p:txBody>
      </p:sp>
      <p:sp>
        <p:nvSpPr>
          <p:cNvPr id="4" name="Shape 2"/>
          <p:cNvSpPr/>
          <p:nvPr/>
        </p:nvSpPr>
        <p:spPr>
          <a:xfrm>
            <a:off x="8158277" y="1572768"/>
            <a:ext cx="3484778" cy="1737360"/>
          </a:xfrm>
          <a:prstGeom prst="roundRect">
            <a:avLst>
              <a:gd name="adj" fmla="val 5263"/>
            </a:avLst>
          </a:prstGeom>
          <a:solidFill>
            <a:srgbClr val="FFFFFF"/>
          </a:solidFill>
          <a:ln/>
          <a:effectLst>
            <a:outerShdw sx="100000" sy="100000" kx="0" ky="0" algn="bl" rotWithShape="0" blurRad="127000" dist="25400" dir="5400000">
              <a:srgbClr val="0A2E36">
                <a:alpha val="10000"/>
              </a:srgbClr>
            </a:outerShdw>
          </a:effectLst>
        </p:spPr>
      </p:sp>
      <p:sp>
        <p:nvSpPr>
          <p:cNvPr id="5" name="Shape 3"/>
          <p:cNvSpPr/>
          <p:nvPr/>
        </p:nvSpPr>
        <p:spPr>
          <a:xfrm>
            <a:off x="10746943" y="1810512"/>
            <a:ext cx="603504" cy="603504"/>
          </a:xfrm>
          <a:prstGeom prst="ellipse">
            <a:avLst/>
          </a:prstGeom>
          <a:solidFill>
            <a:srgbClr val="02717D"/>
          </a:solidFill>
          <a:ln/>
        </p:spPr>
      </p:sp>
      <p:pic>
        <p:nvPicPr>
          <p:cNvPr id="6" name="Image 0" descr="preencoded.png">    </p:cNvPr>
          <p:cNvPicPr>
            <a:picLocks noChangeAspect="1"/>
          </p:cNvPicPr>
          <p:nvPr/>
        </p:nvPicPr>
        <p:blipFill>
          <a:blip r:embed="rId1"/>
          <a:stretch>
            <a:fillRect/>
          </a:stretch>
        </p:blipFill>
        <p:spPr>
          <a:xfrm>
            <a:off x="10893247" y="1956816"/>
            <a:ext cx="310896" cy="310896"/>
          </a:xfrm>
          <a:prstGeom prst="rect">
            <a:avLst/>
          </a:prstGeom>
        </p:spPr>
      </p:pic>
      <p:sp>
        <p:nvSpPr>
          <p:cNvPr id="7" name="Text 4"/>
          <p:cNvSpPr txBox="1"/>
          <p:nvPr/>
        </p:nvSpPr>
        <p:spPr>
          <a:xfrm>
            <a:off x="8396021" y="1847088"/>
            <a:ext cx="457200" cy="310896"/>
          </a:xfrm>
          <a:prstGeom prst="rect">
            <a:avLst/>
          </a:prstGeom>
          <a:noFill/>
          <a:ln/>
        </p:spPr>
        <p:txBody>
          <a:bodyPr wrap="square" lIns="0" tIns="0" rIns="0" bIns="0" rtlCol="0" anchor="ctr"/>
          <a:lstStyle/>
          <a:p>
            <a:pPr algn="l" indent="0" marL="0">
              <a:buNone/>
            </a:pPr>
            <a:r>
              <a:rPr lang="en-US" sz="2000" b="1" dirty="0">
                <a:solidFill>
                  <a:srgbClr val="DCE6E7"/>
                </a:solidFill>
                <a:latin typeface="Arial" pitchFamily="34" charset="0"/>
                <a:ea typeface="Arial" pitchFamily="34" charset="-122"/>
                <a:cs typeface="Arial" pitchFamily="34" charset="-120"/>
              </a:rPr>
              <a:t>1</a:t>
            </a:r>
            <a:endParaRPr lang="en-US" sz="2000" dirty="0"/>
          </a:p>
        </p:txBody>
      </p:sp>
      <p:sp>
        <p:nvSpPr>
          <p:cNvPr id="8" name="Text 5"/>
          <p:cNvSpPr txBox="1"/>
          <p:nvPr/>
        </p:nvSpPr>
        <p:spPr>
          <a:xfrm>
            <a:off x="8396021" y="2487168"/>
            <a:ext cx="3009290" cy="292608"/>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سجلات اللاجئين</a:t>
            </a:r>
            <a:endParaRPr lang="en-US" sz="1450" dirty="0"/>
          </a:p>
        </p:txBody>
      </p:sp>
      <p:sp>
        <p:nvSpPr>
          <p:cNvPr id="9" name="Text 6"/>
          <p:cNvSpPr txBox="1"/>
          <p:nvPr/>
        </p:nvSpPr>
        <p:spPr>
          <a:xfrm>
            <a:off x="8396021" y="2816352"/>
            <a:ext cx="3009290" cy="402336"/>
          </a:xfrm>
          <a:prstGeom prst="rect">
            <a:avLst/>
          </a:prstGeom>
          <a:noFill/>
          <a:ln/>
        </p:spPr>
        <p:txBody>
          <a:bodyPr wrap="square" lIns="0" tIns="0" rIns="0" bIns="0" rtlCol="0" anchor="ctr"/>
          <a:lstStyle/>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تسجيل، أسر، وثائق،</a:t>
            </a:r>
            <a:endParaRPr lang="en-US" sz="1100" dirty="0"/>
          </a:p>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وبطاقة تعريف بباركود</a:t>
            </a:r>
            <a:endParaRPr lang="en-US" sz="1100" dirty="0"/>
          </a:p>
        </p:txBody>
      </p:sp>
      <p:sp>
        <p:nvSpPr>
          <p:cNvPr id="10" name="Shape 7"/>
          <p:cNvSpPr/>
          <p:nvPr/>
        </p:nvSpPr>
        <p:spPr>
          <a:xfrm>
            <a:off x="4353458" y="1572768"/>
            <a:ext cx="3484778" cy="1737360"/>
          </a:xfrm>
          <a:prstGeom prst="roundRect">
            <a:avLst>
              <a:gd name="adj" fmla="val 5263"/>
            </a:avLst>
          </a:prstGeom>
          <a:solidFill>
            <a:srgbClr val="FFFFFF"/>
          </a:solidFill>
          <a:ln/>
          <a:effectLst>
            <a:outerShdw sx="100000" sy="100000" kx="0" ky="0" algn="bl" rotWithShape="0" blurRad="127000" dist="25400" dir="5400000">
              <a:srgbClr val="0A2E36">
                <a:alpha val="10000"/>
              </a:srgbClr>
            </a:outerShdw>
          </a:effectLst>
        </p:spPr>
      </p:sp>
      <p:sp>
        <p:nvSpPr>
          <p:cNvPr id="11" name="Shape 8"/>
          <p:cNvSpPr/>
          <p:nvPr/>
        </p:nvSpPr>
        <p:spPr>
          <a:xfrm>
            <a:off x="6942125" y="1810512"/>
            <a:ext cx="603504" cy="603504"/>
          </a:xfrm>
          <a:prstGeom prst="ellipse">
            <a:avLst/>
          </a:prstGeom>
          <a:solidFill>
            <a:srgbClr val="02717D"/>
          </a:solidFill>
          <a:ln/>
        </p:spPr>
      </p:sp>
      <p:pic>
        <p:nvPicPr>
          <p:cNvPr id="12" name="Image 1" descr="preencoded.png">    </p:cNvPr>
          <p:cNvPicPr>
            <a:picLocks noChangeAspect="1"/>
          </p:cNvPicPr>
          <p:nvPr/>
        </p:nvPicPr>
        <p:blipFill>
          <a:blip r:embed="rId2"/>
          <a:stretch>
            <a:fillRect/>
          </a:stretch>
        </p:blipFill>
        <p:spPr>
          <a:xfrm>
            <a:off x="7088429" y="1956816"/>
            <a:ext cx="310896" cy="310896"/>
          </a:xfrm>
          <a:prstGeom prst="rect">
            <a:avLst/>
          </a:prstGeom>
        </p:spPr>
      </p:pic>
      <p:sp>
        <p:nvSpPr>
          <p:cNvPr id="13" name="Text 9"/>
          <p:cNvSpPr txBox="1"/>
          <p:nvPr/>
        </p:nvSpPr>
        <p:spPr>
          <a:xfrm>
            <a:off x="4591202" y="1847088"/>
            <a:ext cx="457200" cy="310896"/>
          </a:xfrm>
          <a:prstGeom prst="rect">
            <a:avLst/>
          </a:prstGeom>
          <a:noFill/>
          <a:ln/>
        </p:spPr>
        <p:txBody>
          <a:bodyPr wrap="square" lIns="0" tIns="0" rIns="0" bIns="0" rtlCol="0" anchor="ctr"/>
          <a:lstStyle/>
          <a:p>
            <a:pPr algn="l" indent="0" marL="0">
              <a:buNone/>
            </a:pPr>
            <a:r>
              <a:rPr lang="en-US" sz="2000" b="1" dirty="0">
                <a:solidFill>
                  <a:srgbClr val="DCE6E7"/>
                </a:solidFill>
                <a:latin typeface="Arial" pitchFamily="34" charset="0"/>
                <a:ea typeface="Arial" pitchFamily="34" charset="-122"/>
                <a:cs typeface="Arial" pitchFamily="34" charset="-120"/>
              </a:rPr>
              <a:t>2</a:t>
            </a:r>
            <a:endParaRPr lang="en-US" sz="2000" dirty="0"/>
          </a:p>
        </p:txBody>
      </p:sp>
      <p:sp>
        <p:nvSpPr>
          <p:cNvPr id="14" name="Text 10"/>
          <p:cNvSpPr txBox="1"/>
          <p:nvPr/>
        </p:nvSpPr>
        <p:spPr>
          <a:xfrm>
            <a:off x="4591202" y="2487168"/>
            <a:ext cx="3009290" cy="292608"/>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الوحدات السكنية</a:t>
            </a:r>
            <a:endParaRPr lang="en-US" sz="1450" dirty="0"/>
          </a:p>
        </p:txBody>
      </p:sp>
      <p:sp>
        <p:nvSpPr>
          <p:cNvPr id="15" name="Text 11"/>
          <p:cNvSpPr txBox="1"/>
          <p:nvPr/>
        </p:nvSpPr>
        <p:spPr>
          <a:xfrm>
            <a:off x="4591202" y="2816352"/>
            <a:ext cx="3009290" cy="402336"/>
          </a:xfrm>
          <a:prstGeom prst="rect">
            <a:avLst/>
          </a:prstGeom>
          <a:noFill/>
          <a:ln/>
        </p:spPr>
        <p:txBody>
          <a:bodyPr wrap="square" lIns="0" tIns="0" rIns="0" bIns="0" rtlCol="0" anchor="ctr"/>
          <a:lstStyle/>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خيام وكرفانات بسعة محدّدة،</a:t>
            </a:r>
            <a:endParaRPr lang="en-US" sz="1100" dirty="0"/>
          </a:p>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ونقل بسجل كامل</a:t>
            </a:r>
            <a:endParaRPr lang="en-US" sz="1100" dirty="0"/>
          </a:p>
        </p:txBody>
      </p:sp>
      <p:sp>
        <p:nvSpPr>
          <p:cNvPr id="16" name="Shape 12"/>
          <p:cNvSpPr/>
          <p:nvPr/>
        </p:nvSpPr>
        <p:spPr>
          <a:xfrm>
            <a:off x="548640" y="1572768"/>
            <a:ext cx="3484778" cy="1737360"/>
          </a:xfrm>
          <a:prstGeom prst="roundRect">
            <a:avLst>
              <a:gd name="adj" fmla="val 5263"/>
            </a:avLst>
          </a:prstGeom>
          <a:solidFill>
            <a:srgbClr val="FFFFFF"/>
          </a:solidFill>
          <a:ln/>
          <a:effectLst>
            <a:outerShdw sx="100000" sy="100000" kx="0" ky="0" algn="bl" rotWithShape="0" blurRad="127000" dist="25400" dir="5400000">
              <a:srgbClr val="0A2E36">
                <a:alpha val="10000"/>
              </a:srgbClr>
            </a:outerShdw>
          </a:effectLst>
        </p:spPr>
      </p:sp>
      <p:sp>
        <p:nvSpPr>
          <p:cNvPr id="17" name="Shape 13"/>
          <p:cNvSpPr/>
          <p:nvPr/>
        </p:nvSpPr>
        <p:spPr>
          <a:xfrm>
            <a:off x="3137306" y="1810512"/>
            <a:ext cx="603504" cy="603504"/>
          </a:xfrm>
          <a:prstGeom prst="ellipse">
            <a:avLst/>
          </a:prstGeom>
          <a:solidFill>
            <a:srgbClr val="02717D"/>
          </a:solidFill>
          <a:ln/>
        </p:spPr>
      </p:sp>
      <p:pic>
        <p:nvPicPr>
          <p:cNvPr id="18" name="Image 2" descr="preencoded.png">    </p:cNvPr>
          <p:cNvPicPr>
            <a:picLocks noChangeAspect="1"/>
          </p:cNvPicPr>
          <p:nvPr/>
        </p:nvPicPr>
        <p:blipFill>
          <a:blip r:embed="rId3"/>
          <a:stretch>
            <a:fillRect/>
          </a:stretch>
        </p:blipFill>
        <p:spPr>
          <a:xfrm>
            <a:off x="3283610" y="1956816"/>
            <a:ext cx="310896" cy="310896"/>
          </a:xfrm>
          <a:prstGeom prst="rect">
            <a:avLst/>
          </a:prstGeom>
        </p:spPr>
      </p:pic>
      <p:sp>
        <p:nvSpPr>
          <p:cNvPr id="19" name="Text 14"/>
          <p:cNvSpPr txBox="1"/>
          <p:nvPr/>
        </p:nvSpPr>
        <p:spPr>
          <a:xfrm>
            <a:off x="786384" y="1847088"/>
            <a:ext cx="457200" cy="310896"/>
          </a:xfrm>
          <a:prstGeom prst="rect">
            <a:avLst/>
          </a:prstGeom>
          <a:noFill/>
          <a:ln/>
        </p:spPr>
        <p:txBody>
          <a:bodyPr wrap="square" lIns="0" tIns="0" rIns="0" bIns="0" rtlCol="0" anchor="ctr"/>
          <a:lstStyle/>
          <a:p>
            <a:pPr algn="l" indent="0" marL="0">
              <a:buNone/>
            </a:pPr>
            <a:r>
              <a:rPr lang="en-US" sz="2000" b="1" dirty="0">
                <a:solidFill>
                  <a:srgbClr val="DCE6E7"/>
                </a:solidFill>
                <a:latin typeface="Arial" pitchFamily="34" charset="0"/>
                <a:ea typeface="Arial" pitchFamily="34" charset="-122"/>
                <a:cs typeface="Arial" pitchFamily="34" charset="-120"/>
              </a:rPr>
              <a:t>3</a:t>
            </a:r>
            <a:endParaRPr lang="en-US" sz="2000" dirty="0"/>
          </a:p>
        </p:txBody>
      </p:sp>
      <p:sp>
        <p:nvSpPr>
          <p:cNvPr id="20" name="Text 15"/>
          <p:cNvSpPr txBox="1"/>
          <p:nvPr/>
        </p:nvSpPr>
        <p:spPr>
          <a:xfrm>
            <a:off x="786384" y="2487168"/>
            <a:ext cx="3009290" cy="292608"/>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توزيع المساعدات</a:t>
            </a:r>
            <a:endParaRPr lang="en-US" sz="1450" dirty="0"/>
          </a:p>
        </p:txBody>
      </p:sp>
      <p:sp>
        <p:nvSpPr>
          <p:cNvPr id="21" name="Text 16"/>
          <p:cNvSpPr txBox="1"/>
          <p:nvPr/>
        </p:nvSpPr>
        <p:spPr>
          <a:xfrm>
            <a:off x="786384" y="2816352"/>
            <a:ext cx="3009290" cy="402336"/>
          </a:xfrm>
          <a:prstGeom prst="rect">
            <a:avLst/>
          </a:prstGeom>
          <a:noFill/>
          <a:ln/>
        </p:spPr>
        <p:txBody>
          <a:bodyPr wrap="square" lIns="0" tIns="0" rIns="0" bIns="0" rtlCol="0" anchor="ctr"/>
          <a:lstStyle/>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منظمات وأنواع، وتوزيع</a:t>
            </a:r>
            <a:endParaRPr lang="en-US" sz="1100" dirty="0"/>
          </a:p>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للفرد أو للأسرة</a:t>
            </a:r>
            <a:endParaRPr lang="en-US" sz="1100" dirty="0"/>
          </a:p>
        </p:txBody>
      </p:sp>
      <p:sp>
        <p:nvSpPr>
          <p:cNvPr id="22" name="Shape 17"/>
          <p:cNvSpPr/>
          <p:nvPr/>
        </p:nvSpPr>
        <p:spPr>
          <a:xfrm>
            <a:off x="8158277" y="3511296"/>
            <a:ext cx="3484778" cy="1737360"/>
          </a:xfrm>
          <a:prstGeom prst="roundRect">
            <a:avLst>
              <a:gd name="adj" fmla="val 5263"/>
            </a:avLst>
          </a:prstGeom>
          <a:solidFill>
            <a:srgbClr val="FFFFFF"/>
          </a:solidFill>
          <a:ln/>
          <a:effectLst>
            <a:outerShdw sx="100000" sy="100000" kx="0" ky="0" algn="bl" rotWithShape="0" blurRad="127000" dist="25400" dir="5400000">
              <a:srgbClr val="0A2E36">
                <a:alpha val="10000"/>
              </a:srgbClr>
            </a:outerShdw>
          </a:effectLst>
        </p:spPr>
      </p:sp>
      <p:sp>
        <p:nvSpPr>
          <p:cNvPr id="23" name="Shape 18"/>
          <p:cNvSpPr/>
          <p:nvPr/>
        </p:nvSpPr>
        <p:spPr>
          <a:xfrm>
            <a:off x="10746943" y="3749040"/>
            <a:ext cx="603504" cy="603504"/>
          </a:xfrm>
          <a:prstGeom prst="ellipse">
            <a:avLst/>
          </a:prstGeom>
          <a:solidFill>
            <a:srgbClr val="E9A13B"/>
          </a:solidFill>
          <a:ln/>
        </p:spPr>
      </p:sp>
      <p:pic>
        <p:nvPicPr>
          <p:cNvPr id="24" name="Image 3" descr="preencoded.png">    </p:cNvPr>
          <p:cNvPicPr>
            <a:picLocks noChangeAspect="1"/>
          </p:cNvPicPr>
          <p:nvPr/>
        </p:nvPicPr>
        <p:blipFill>
          <a:blip r:embed="rId4"/>
          <a:stretch>
            <a:fillRect/>
          </a:stretch>
        </p:blipFill>
        <p:spPr>
          <a:xfrm>
            <a:off x="10893247" y="3895344"/>
            <a:ext cx="310896" cy="310896"/>
          </a:xfrm>
          <a:prstGeom prst="rect">
            <a:avLst/>
          </a:prstGeom>
        </p:spPr>
      </p:pic>
      <p:sp>
        <p:nvSpPr>
          <p:cNvPr id="25" name="Text 19"/>
          <p:cNvSpPr txBox="1"/>
          <p:nvPr/>
        </p:nvSpPr>
        <p:spPr>
          <a:xfrm>
            <a:off x="8396021" y="3785616"/>
            <a:ext cx="457200" cy="310896"/>
          </a:xfrm>
          <a:prstGeom prst="rect">
            <a:avLst/>
          </a:prstGeom>
          <a:noFill/>
          <a:ln/>
        </p:spPr>
        <p:txBody>
          <a:bodyPr wrap="square" lIns="0" tIns="0" rIns="0" bIns="0" rtlCol="0" anchor="ctr"/>
          <a:lstStyle/>
          <a:p>
            <a:pPr algn="l" indent="0" marL="0">
              <a:buNone/>
            </a:pPr>
            <a:r>
              <a:rPr lang="en-US" sz="2000" b="1" dirty="0">
                <a:solidFill>
                  <a:srgbClr val="DCE6E7"/>
                </a:solidFill>
                <a:latin typeface="Arial" pitchFamily="34" charset="0"/>
                <a:ea typeface="Arial" pitchFamily="34" charset="-122"/>
                <a:cs typeface="Arial" pitchFamily="34" charset="-120"/>
              </a:rPr>
              <a:t>4</a:t>
            </a:r>
            <a:endParaRPr lang="en-US" sz="2000" dirty="0"/>
          </a:p>
        </p:txBody>
      </p:sp>
      <p:sp>
        <p:nvSpPr>
          <p:cNvPr id="26" name="Text 20"/>
          <p:cNvSpPr txBox="1"/>
          <p:nvPr/>
        </p:nvSpPr>
        <p:spPr>
          <a:xfrm>
            <a:off x="8396021" y="4425696"/>
            <a:ext cx="3009290" cy="292608"/>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الدخول والخروج</a:t>
            </a:r>
            <a:endParaRPr lang="en-US" sz="1450" dirty="0"/>
          </a:p>
        </p:txBody>
      </p:sp>
      <p:sp>
        <p:nvSpPr>
          <p:cNvPr id="27" name="Text 21"/>
          <p:cNvSpPr txBox="1"/>
          <p:nvPr/>
        </p:nvSpPr>
        <p:spPr>
          <a:xfrm>
            <a:off x="8396021" y="4754880"/>
            <a:ext cx="3009290" cy="402336"/>
          </a:xfrm>
          <a:prstGeom prst="rect">
            <a:avLst/>
          </a:prstGeom>
          <a:noFill/>
          <a:ln/>
        </p:spPr>
        <p:txBody>
          <a:bodyPr wrap="square" lIns="0" tIns="0" rIns="0" bIns="0" rtlCol="0" anchor="ctr"/>
          <a:lstStyle/>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بوابات ونقاط تفتيش،</a:t>
            </a:r>
            <a:endParaRPr lang="en-US" sz="1100" dirty="0"/>
          </a:p>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وحالة تواجد لحظية</a:t>
            </a:r>
            <a:endParaRPr lang="en-US" sz="1100" dirty="0"/>
          </a:p>
        </p:txBody>
      </p:sp>
      <p:sp>
        <p:nvSpPr>
          <p:cNvPr id="28" name="Shape 22"/>
          <p:cNvSpPr/>
          <p:nvPr/>
        </p:nvSpPr>
        <p:spPr>
          <a:xfrm>
            <a:off x="4353458" y="3511296"/>
            <a:ext cx="3484778" cy="1737360"/>
          </a:xfrm>
          <a:prstGeom prst="roundRect">
            <a:avLst>
              <a:gd name="adj" fmla="val 5263"/>
            </a:avLst>
          </a:prstGeom>
          <a:solidFill>
            <a:srgbClr val="FFFFFF"/>
          </a:solidFill>
          <a:ln/>
          <a:effectLst>
            <a:outerShdw sx="100000" sy="100000" kx="0" ky="0" algn="bl" rotWithShape="0" blurRad="127000" dist="25400" dir="5400000">
              <a:srgbClr val="0A2E36">
                <a:alpha val="10000"/>
              </a:srgbClr>
            </a:outerShdw>
          </a:effectLst>
        </p:spPr>
      </p:sp>
      <p:sp>
        <p:nvSpPr>
          <p:cNvPr id="29" name="Shape 23"/>
          <p:cNvSpPr/>
          <p:nvPr/>
        </p:nvSpPr>
        <p:spPr>
          <a:xfrm>
            <a:off x="6942125" y="3749040"/>
            <a:ext cx="603504" cy="603504"/>
          </a:xfrm>
          <a:prstGeom prst="ellipse">
            <a:avLst/>
          </a:prstGeom>
          <a:solidFill>
            <a:srgbClr val="02717D"/>
          </a:solidFill>
          <a:ln/>
        </p:spPr>
      </p:sp>
      <p:pic>
        <p:nvPicPr>
          <p:cNvPr id="30" name="Image 4" descr="preencoded.png">    </p:cNvPr>
          <p:cNvPicPr>
            <a:picLocks noChangeAspect="1"/>
          </p:cNvPicPr>
          <p:nvPr/>
        </p:nvPicPr>
        <p:blipFill>
          <a:blip r:embed="rId5"/>
          <a:stretch>
            <a:fillRect/>
          </a:stretch>
        </p:blipFill>
        <p:spPr>
          <a:xfrm>
            <a:off x="7088429" y="3895344"/>
            <a:ext cx="310896" cy="310896"/>
          </a:xfrm>
          <a:prstGeom prst="rect">
            <a:avLst/>
          </a:prstGeom>
        </p:spPr>
      </p:pic>
      <p:sp>
        <p:nvSpPr>
          <p:cNvPr id="31" name="Text 24"/>
          <p:cNvSpPr txBox="1"/>
          <p:nvPr/>
        </p:nvSpPr>
        <p:spPr>
          <a:xfrm>
            <a:off x="4591202" y="3785616"/>
            <a:ext cx="457200" cy="310896"/>
          </a:xfrm>
          <a:prstGeom prst="rect">
            <a:avLst/>
          </a:prstGeom>
          <a:noFill/>
          <a:ln/>
        </p:spPr>
        <p:txBody>
          <a:bodyPr wrap="square" lIns="0" tIns="0" rIns="0" bIns="0" rtlCol="0" anchor="ctr"/>
          <a:lstStyle/>
          <a:p>
            <a:pPr algn="l" indent="0" marL="0">
              <a:buNone/>
            </a:pPr>
            <a:r>
              <a:rPr lang="en-US" sz="2000" b="1" dirty="0">
                <a:solidFill>
                  <a:srgbClr val="DCE6E7"/>
                </a:solidFill>
                <a:latin typeface="Arial" pitchFamily="34" charset="0"/>
                <a:ea typeface="Arial" pitchFamily="34" charset="-122"/>
                <a:cs typeface="Arial" pitchFamily="34" charset="-120"/>
              </a:rPr>
              <a:t>5</a:t>
            </a:r>
            <a:endParaRPr lang="en-US" sz="2000" dirty="0"/>
          </a:p>
        </p:txBody>
      </p:sp>
      <p:sp>
        <p:nvSpPr>
          <p:cNvPr id="32" name="Text 25"/>
          <p:cNvSpPr txBox="1"/>
          <p:nvPr/>
        </p:nvSpPr>
        <p:spPr>
          <a:xfrm>
            <a:off x="4591202" y="4425696"/>
            <a:ext cx="3009290" cy="292608"/>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السجلات الطبية</a:t>
            </a:r>
            <a:endParaRPr lang="en-US" sz="1450" dirty="0"/>
          </a:p>
        </p:txBody>
      </p:sp>
      <p:sp>
        <p:nvSpPr>
          <p:cNvPr id="33" name="Text 26"/>
          <p:cNvSpPr txBox="1"/>
          <p:nvPr/>
        </p:nvSpPr>
        <p:spPr>
          <a:xfrm>
            <a:off x="4591202" y="4754880"/>
            <a:ext cx="3009290" cy="402336"/>
          </a:xfrm>
          <a:prstGeom prst="rect">
            <a:avLst/>
          </a:prstGeom>
          <a:noFill/>
          <a:ln/>
        </p:spPr>
        <p:txBody>
          <a:bodyPr wrap="square" lIns="0" tIns="0" rIns="0" bIns="0" rtlCol="0" anchor="ctr"/>
          <a:lstStyle/>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خدمات وتشخيصات</a:t>
            </a:r>
            <a:endParaRPr lang="en-US" sz="1100" dirty="0"/>
          </a:p>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ومواعيد متابعة</a:t>
            </a:r>
            <a:endParaRPr lang="en-US" sz="1100" dirty="0"/>
          </a:p>
        </p:txBody>
      </p:sp>
      <p:sp>
        <p:nvSpPr>
          <p:cNvPr id="34" name="Shape 27"/>
          <p:cNvSpPr/>
          <p:nvPr/>
        </p:nvSpPr>
        <p:spPr>
          <a:xfrm>
            <a:off x="548640" y="3511296"/>
            <a:ext cx="3484778" cy="1737360"/>
          </a:xfrm>
          <a:prstGeom prst="roundRect">
            <a:avLst>
              <a:gd name="adj" fmla="val 5263"/>
            </a:avLst>
          </a:prstGeom>
          <a:solidFill>
            <a:srgbClr val="FFFFFF"/>
          </a:solidFill>
          <a:ln/>
          <a:effectLst>
            <a:outerShdw sx="100000" sy="100000" kx="0" ky="0" algn="bl" rotWithShape="0" blurRad="127000" dist="25400" dir="5400000">
              <a:srgbClr val="0A2E36">
                <a:alpha val="10000"/>
              </a:srgbClr>
            </a:outerShdw>
          </a:effectLst>
        </p:spPr>
      </p:sp>
      <p:sp>
        <p:nvSpPr>
          <p:cNvPr id="35" name="Shape 28"/>
          <p:cNvSpPr/>
          <p:nvPr/>
        </p:nvSpPr>
        <p:spPr>
          <a:xfrm>
            <a:off x="3137306" y="3749040"/>
            <a:ext cx="603504" cy="603504"/>
          </a:xfrm>
          <a:prstGeom prst="ellipse">
            <a:avLst/>
          </a:prstGeom>
          <a:solidFill>
            <a:srgbClr val="02717D"/>
          </a:solidFill>
          <a:ln/>
        </p:spPr>
      </p:sp>
      <p:pic>
        <p:nvPicPr>
          <p:cNvPr id="36" name="Image 5" descr="preencoded.png">    </p:cNvPr>
          <p:cNvPicPr>
            <a:picLocks noChangeAspect="1"/>
          </p:cNvPicPr>
          <p:nvPr/>
        </p:nvPicPr>
        <p:blipFill>
          <a:blip r:embed="rId6"/>
          <a:stretch>
            <a:fillRect/>
          </a:stretch>
        </p:blipFill>
        <p:spPr>
          <a:xfrm>
            <a:off x="3283610" y="3895344"/>
            <a:ext cx="310896" cy="310896"/>
          </a:xfrm>
          <a:prstGeom prst="rect">
            <a:avLst/>
          </a:prstGeom>
        </p:spPr>
      </p:pic>
      <p:sp>
        <p:nvSpPr>
          <p:cNvPr id="37" name="Text 29"/>
          <p:cNvSpPr txBox="1"/>
          <p:nvPr/>
        </p:nvSpPr>
        <p:spPr>
          <a:xfrm>
            <a:off x="786384" y="3785616"/>
            <a:ext cx="457200" cy="310896"/>
          </a:xfrm>
          <a:prstGeom prst="rect">
            <a:avLst/>
          </a:prstGeom>
          <a:noFill/>
          <a:ln/>
        </p:spPr>
        <p:txBody>
          <a:bodyPr wrap="square" lIns="0" tIns="0" rIns="0" bIns="0" rtlCol="0" anchor="ctr"/>
          <a:lstStyle/>
          <a:p>
            <a:pPr algn="l" indent="0" marL="0">
              <a:buNone/>
            </a:pPr>
            <a:r>
              <a:rPr lang="en-US" sz="2000" b="1" dirty="0">
                <a:solidFill>
                  <a:srgbClr val="DCE6E7"/>
                </a:solidFill>
                <a:latin typeface="Arial" pitchFamily="34" charset="0"/>
                <a:ea typeface="Arial" pitchFamily="34" charset="-122"/>
                <a:cs typeface="Arial" pitchFamily="34" charset="-120"/>
              </a:rPr>
              <a:t>6</a:t>
            </a:r>
            <a:endParaRPr lang="en-US" sz="2000" dirty="0"/>
          </a:p>
        </p:txBody>
      </p:sp>
      <p:sp>
        <p:nvSpPr>
          <p:cNvPr id="38" name="Text 30"/>
          <p:cNvSpPr txBox="1"/>
          <p:nvPr/>
        </p:nvSpPr>
        <p:spPr>
          <a:xfrm>
            <a:off x="786384" y="4425696"/>
            <a:ext cx="3009290" cy="292608"/>
          </a:xfrm>
          <a:prstGeom prst="rect">
            <a:avLst/>
          </a:prstGeom>
          <a:noFill/>
          <a:ln/>
        </p:spPr>
        <p:txBody>
          <a:bodyPr wrap="square" lIns="0" tIns="0" rIns="0" bIns="0" rtlCol="0" anchor="ctr"/>
          <a:lstStyle/>
          <a:p>
            <a:pPr rtl="1" algn="r" indent="0" marL="0">
              <a:buNone/>
            </a:pPr>
            <a:r>
              <a:rPr lang="en-US" sz="1450" b="1" dirty="0">
                <a:solidFill>
                  <a:srgbClr val="16292E"/>
                </a:solidFill>
                <a:latin typeface="Arial" pitchFamily="34" charset="0"/>
                <a:ea typeface="Arial" pitchFamily="34" charset="-122"/>
                <a:cs typeface="Arial" pitchFamily="34" charset="-120"/>
              </a:rPr>
              <a:t>التقارير والتدقيق</a:t>
            </a:r>
            <a:endParaRPr lang="en-US" sz="1450" dirty="0"/>
          </a:p>
        </p:txBody>
      </p:sp>
      <p:sp>
        <p:nvSpPr>
          <p:cNvPr id="39" name="Text 31"/>
          <p:cNvSpPr txBox="1"/>
          <p:nvPr/>
        </p:nvSpPr>
        <p:spPr>
          <a:xfrm>
            <a:off x="786384" y="4754880"/>
            <a:ext cx="3009290" cy="402336"/>
          </a:xfrm>
          <a:prstGeom prst="rect">
            <a:avLst/>
          </a:prstGeom>
          <a:noFill/>
          <a:ln/>
        </p:spPr>
        <p:txBody>
          <a:bodyPr wrap="square" lIns="0" tIns="0" rIns="0" bIns="0" rtlCol="0" anchor="ctr"/>
          <a:lstStyle/>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تصدير Excel وطباعة،</a:t>
            </a:r>
            <a:endParaRPr lang="en-US" sz="1100" dirty="0"/>
          </a:p>
          <a:p>
            <a:pPr rtl="1" algn="r" indent="0" marL="0">
              <a:lnSpc>
                <a:spcPts val="1400"/>
              </a:lnSpc>
              <a:buNone/>
            </a:pPr>
            <a:r>
              <a:rPr lang="en-US" sz="1100" dirty="0">
                <a:solidFill>
                  <a:srgbClr val="5C7378"/>
                </a:solidFill>
                <a:latin typeface="Arial" pitchFamily="34" charset="0"/>
                <a:ea typeface="Arial" pitchFamily="34" charset="-122"/>
                <a:cs typeface="Arial" pitchFamily="34" charset="-120"/>
              </a:rPr>
              <a:t>وسجل تدقيق كامل</a:t>
            </a:r>
            <a:endParaRPr lang="en-US" sz="1100" dirty="0"/>
          </a:p>
        </p:txBody>
      </p:sp>
      <p:sp>
        <p:nvSpPr>
          <p:cNvPr id="40" name="Shape 32"/>
          <p:cNvSpPr/>
          <p:nvPr/>
        </p:nvSpPr>
        <p:spPr>
          <a:xfrm>
            <a:off x="548640" y="5431536"/>
            <a:ext cx="11094415" cy="914400"/>
          </a:xfrm>
          <a:prstGeom prst="roundRect">
            <a:avLst>
              <a:gd name="adj" fmla="val 10000"/>
            </a:avLst>
          </a:prstGeom>
          <a:solidFill>
            <a:srgbClr val="0A2E36"/>
          </a:solidFill>
          <a:ln/>
        </p:spPr>
      </p:sp>
      <p:sp>
        <p:nvSpPr>
          <p:cNvPr id="41" name="Shape 33"/>
          <p:cNvSpPr/>
          <p:nvPr/>
        </p:nvSpPr>
        <p:spPr>
          <a:xfrm>
            <a:off x="10865815" y="5669280"/>
            <a:ext cx="457200" cy="457200"/>
          </a:xfrm>
          <a:prstGeom prst="ellipse">
            <a:avLst/>
          </a:prstGeom>
          <a:solidFill>
            <a:srgbClr val="E9A13B"/>
          </a:solidFill>
          <a:ln/>
        </p:spPr>
      </p:sp>
      <p:pic>
        <p:nvPicPr>
          <p:cNvPr id="42" name="Image 6" descr="preencoded.png">    </p:cNvPr>
          <p:cNvPicPr>
            <a:picLocks noChangeAspect="1"/>
          </p:cNvPicPr>
          <p:nvPr/>
        </p:nvPicPr>
        <p:blipFill>
          <a:blip r:embed="rId7"/>
          <a:stretch>
            <a:fillRect/>
          </a:stretch>
        </p:blipFill>
        <p:spPr>
          <a:xfrm>
            <a:off x="10984687" y="5788152"/>
            <a:ext cx="219456" cy="219456"/>
          </a:xfrm>
          <a:prstGeom prst="rect">
            <a:avLst/>
          </a:prstGeom>
        </p:spPr>
      </p:pic>
      <p:sp>
        <p:nvSpPr>
          <p:cNvPr id="43" name="Text 34"/>
          <p:cNvSpPr txBox="1"/>
          <p:nvPr/>
        </p:nvSpPr>
        <p:spPr>
          <a:xfrm>
            <a:off x="822960" y="5614416"/>
            <a:ext cx="9951415" cy="274320"/>
          </a:xfrm>
          <a:prstGeom prst="rect">
            <a:avLst/>
          </a:prstGeom>
          <a:noFill/>
          <a:ln/>
        </p:spPr>
        <p:txBody>
          <a:bodyPr wrap="square" lIns="0" tIns="0" rIns="0" bIns="0" rtlCol="0" anchor="ctr"/>
          <a:lstStyle/>
          <a:p>
            <a:pPr rtl="1" algn="r" indent="0" marL="0">
              <a:buNone/>
            </a:pPr>
            <a:r>
              <a:rPr lang="en-US" sz="1350" b="1" dirty="0">
                <a:solidFill>
                  <a:srgbClr val="FFFFFF"/>
                </a:solidFill>
                <a:latin typeface="Arial" pitchFamily="34" charset="0"/>
                <a:ea typeface="Arial" pitchFamily="34" charset="-122"/>
                <a:cs typeface="Arial" pitchFamily="34" charset="-120"/>
              </a:rPr>
              <a:t>بحث عربي ذكي يخدم الوحدات كلها</a:t>
            </a:r>
            <a:endParaRPr lang="en-US" sz="1350" dirty="0"/>
          </a:p>
        </p:txBody>
      </p:sp>
      <p:sp>
        <p:nvSpPr>
          <p:cNvPr id="44" name="Text 35"/>
          <p:cNvSpPr txBox="1"/>
          <p:nvPr/>
        </p:nvSpPr>
        <p:spPr>
          <a:xfrm>
            <a:off x="822960" y="5943600"/>
            <a:ext cx="9951415" cy="274320"/>
          </a:xfrm>
          <a:prstGeom prst="rect">
            <a:avLst/>
          </a:prstGeom>
          <a:noFill/>
          <a:ln/>
        </p:spPr>
        <p:txBody>
          <a:bodyPr wrap="square" lIns="0" tIns="0" rIns="0" bIns="0" rtlCol="0" anchor="ctr"/>
          <a:lstStyle/>
          <a:p>
            <a:pPr rtl="1" algn="r" indent="0" marL="0">
              <a:buNone/>
            </a:pPr>
            <a:r>
              <a:rPr lang="en-US" sz="1100" dirty="0">
                <a:solidFill>
                  <a:srgbClr val="BFD4D7"/>
                </a:solidFill>
                <a:latin typeface="Arial" pitchFamily="34" charset="0"/>
                <a:ea typeface="Arial" pitchFamily="34" charset="-122"/>
                <a:cs typeface="Arial" pitchFamily="34" charset="-120"/>
              </a:rPr>
              <a:t>توحيد الهمزات والتاء المربوطة والألف المقصورة، وحذف التشكيل، وتحويل الأرقام الهندية، وتُطبَّق على طرفَي المقارنة معًا</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E36"/>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rtl="1" algn="r" indent="0" marL="0">
              <a:buNone/>
            </a:pPr>
            <a:r>
              <a:rPr lang="en-US" sz="1300" b="1" spc="100" kern="0" dirty="0">
                <a:solidFill>
                  <a:srgbClr val="E9A13B"/>
                </a:solidFill>
                <a:latin typeface="Arial" pitchFamily="34" charset="0"/>
                <a:ea typeface="Arial" pitchFamily="34" charset="-122"/>
                <a:cs typeface="Arial" pitchFamily="34" charset="-120"/>
              </a:rPr>
              <a:t>الابتكار البرمجي  ·  نقطة قوة المشروع</a:t>
            </a:r>
            <a:endParaRPr lang="en-US" sz="1300" dirty="0"/>
          </a:p>
        </p:txBody>
      </p:sp>
      <p:sp>
        <p:nvSpPr>
          <p:cNvPr id="3" name="Text 1"/>
          <p:cNvSpPr txBox="1"/>
          <p:nvPr/>
        </p:nvSpPr>
        <p:spPr>
          <a:xfrm>
            <a:off x="548640" y="694944"/>
            <a:ext cx="11094415" cy="548640"/>
          </a:xfrm>
          <a:prstGeom prst="rect">
            <a:avLst/>
          </a:prstGeom>
          <a:noFill/>
          <a:ln/>
        </p:spPr>
        <p:txBody>
          <a:bodyPr wrap="square" lIns="0" tIns="0" rIns="0" bIns="0"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المساعد الذكي — محرّك تحليل النوايا</a:t>
            </a:r>
            <a:endParaRPr lang="en-US" sz="3400" dirty="0"/>
          </a:p>
        </p:txBody>
      </p:sp>
      <p:sp>
        <p:nvSpPr>
          <p:cNvPr id="4" name="Text 2"/>
          <p:cNvSpPr txBox="1"/>
          <p:nvPr/>
        </p:nvSpPr>
        <p:spPr>
          <a:xfrm>
            <a:off x="6430975" y="1463040"/>
            <a:ext cx="5212080" cy="274320"/>
          </a:xfrm>
          <a:prstGeom prst="rect">
            <a:avLst/>
          </a:prstGeom>
          <a:noFill/>
          <a:ln/>
        </p:spPr>
        <p:txBody>
          <a:bodyPr wrap="square" lIns="0" tIns="0" rIns="0" bIns="0" rtlCol="0" anchor="ctr"/>
          <a:lstStyle/>
          <a:p>
            <a:pPr rtl="1" algn="r" indent="0" marL="0">
              <a:buNone/>
            </a:pPr>
            <a:r>
              <a:rPr lang="en-US" sz="1250" b="1" dirty="0">
                <a:solidFill>
                  <a:srgbClr val="00A896"/>
                </a:solidFill>
                <a:latin typeface="Arial" pitchFamily="34" charset="0"/>
                <a:ea typeface="Arial" pitchFamily="34" charset="-122"/>
                <a:cs typeface="Arial" pitchFamily="34" charset="-120"/>
              </a:rPr>
              <a:t>اسأل بالعربية، واحصل على رقم من قاعدة البيانات</a:t>
            </a:r>
            <a:endParaRPr lang="en-US" sz="1250" dirty="0"/>
          </a:p>
        </p:txBody>
      </p:sp>
      <p:sp>
        <p:nvSpPr>
          <p:cNvPr id="5" name="Shape 3"/>
          <p:cNvSpPr/>
          <p:nvPr/>
        </p:nvSpPr>
        <p:spPr>
          <a:xfrm>
            <a:off x="6430975" y="1847088"/>
            <a:ext cx="5212080" cy="566928"/>
          </a:xfrm>
          <a:prstGeom prst="roundRect">
            <a:avLst>
              <a:gd name="adj" fmla="val 25806"/>
            </a:avLst>
          </a:prstGeom>
          <a:solidFill>
            <a:srgbClr val="113E48"/>
          </a:solidFill>
          <a:ln/>
        </p:spPr>
      </p:sp>
      <p:sp>
        <p:nvSpPr>
          <p:cNvPr id="6" name="Text 4"/>
          <p:cNvSpPr txBox="1"/>
          <p:nvPr/>
        </p:nvSpPr>
        <p:spPr>
          <a:xfrm>
            <a:off x="6687007" y="1847088"/>
            <a:ext cx="4700016" cy="566928"/>
          </a:xfrm>
          <a:prstGeom prst="rect">
            <a:avLst/>
          </a:prstGeom>
          <a:noFill/>
          <a:ln/>
        </p:spPr>
        <p:txBody>
          <a:bodyPr wrap="square" lIns="0" tIns="0" rIns="0" bIns="0" rtlCol="0" anchor="ctr"/>
          <a:lstStyle/>
          <a:p>
            <a:pPr rtl="1" algn="r" indent="0" marL="0">
              <a:buNone/>
            </a:pPr>
            <a:r>
              <a:rPr lang="en-US" sz="1350" dirty="0">
                <a:solidFill>
                  <a:srgbClr val="FFFFFF"/>
                </a:solidFill>
                <a:latin typeface="Arial" pitchFamily="34" charset="0"/>
                <a:ea typeface="Arial" pitchFamily="34" charset="-122"/>
                <a:cs typeface="Arial" pitchFamily="34" charset="-120"/>
              </a:rPr>
              <a:t>أين يسكن أحمد الحسن؟</a:t>
            </a:r>
            <a:endParaRPr lang="en-US" sz="1350" dirty="0"/>
          </a:p>
        </p:txBody>
      </p:sp>
      <p:sp>
        <p:nvSpPr>
          <p:cNvPr id="7" name="Shape 5"/>
          <p:cNvSpPr/>
          <p:nvPr/>
        </p:nvSpPr>
        <p:spPr>
          <a:xfrm>
            <a:off x="6430975" y="2560320"/>
            <a:ext cx="5212080" cy="566928"/>
          </a:xfrm>
          <a:prstGeom prst="roundRect">
            <a:avLst>
              <a:gd name="adj" fmla="val 25806"/>
            </a:avLst>
          </a:prstGeom>
          <a:solidFill>
            <a:srgbClr val="113E48"/>
          </a:solidFill>
          <a:ln/>
        </p:spPr>
      </p:sp>
      <p:sp>
        <p:nvSpPr>
          <p:cNvPr id="8" name="Text 6"/>
          <p:cNvSpPr txBox="1"/>
          <p:nvPr/>
        </p:nvSpPr>
        <p:spPr>
          <a:xfrm>
            <a:off x="6687007" y="2560320"/>
            <a:ext cx="4700016" cy="566928"/>
          </a:xfrm>
          <a:prstGeom prst="rect">
            <a:avLst/>
          </a:prstGeom>
          <a:noFill/>
          <a:ln/>
        </p:spPr>
        <p:txBody>
          <a:bodyPr wrap="square" lIns="0" tIns="0" rIns="0" bIns="0" rtlCol="0" anchor="ctr"/>
          <a:lstStyle/>
          <a:p>
            <a:pPr rtl="1" algn="r" indent="0" marL="0">
              <a:buNone/>
            </a:pPr>
            <a:r>
              <a:rPr lang="en-US" sz="1350" dirty="0">
                <a:solidFill>
                  <a:srgbClr val="FFFFFF"/>
                </a:solidFill>
                <a:latin typeface="Arial" pitchFamily="34" charset="0"/>
                <a:ea typeface="Arial" pitchFamily="34" charset="-122"/>
                <a:cs typeface="Arial" pitchFamily="34" charset="-120"/>
              </a:rPr>
              <a:t>كم عدد السكان في مخيم السلام؟</a:t>
            </a:r>
            <a:endParaRPr lang="en-US" sz="1350" dirty="0"/>
          </a:p>
        </p:txBody>
      </p:sp>
      <p:sp>
        <p:nvSpPr>
          <p:cNvPr id="9" name="Shape 7"/>
          <p:cNvSpPr/>
          <p:nvPr/>
        </p:nvSpPr>
        <p:spPr>
          <a:xfrm>
            <a:off x="6430975" y="3273552"/>
            <a:ext cx="5212080" cy="566928"/>
          </a:xfrm>
          <a:prstGeom prst="roundRect">
            <a:avLst>
              <a:gd name="adj" fmla="val 25806"/>
            </a:avLst>
          </a:prstGeom>
          <a:solidFill>
            <a:srgbClr val="113E48"/>
          </a:solidFill>
          <a:ln/>
        </p:spPr>
      </p:sp>
      <p:sp>
        <p:nvSpPr>
          <p:cNvPr id="10" name="Text 8"/>
          <p:cNvSpPr txBox="1"/>
          <p:nvPr/>
        </p:nvSpPr>
        <p:spPr>
          <a:xfrm>
            <a:off x="6687007" y="3273552"/>
            <a:ext cx="4700016" cy="566928"/>
          </a:xfrm>
          <a:prstGeom prst="rect">
            <a:avLst/>
          </a:prstGeom>
          <a:noFill/>
          <a:ln/>
        </p:spPr>
        <p:txBody>
          <a:bodyPr wrap="square" lIns="0" tIns="0" rIns="0" bIns="0" rtlCol="0" anchor="ctr"/>
          <a:lstStyle/>
          <a:p>
            <a:pPr rtl="1" algn="r" indent="0" marL="0">
              <a:buNone/>
            </a:pPr>
            <a:r>
              <a:rPr lang="en-US" sz="1350" dirty="0">
                <a:solidFill>
                  <a:srgbClr val="FFFFFF"/>
                </a:solidFill>
                <a:latin typeface="Arial" pitchFamily="34" charset="0"/>
                <a:ea typeface="Arial" pitchFamily="34" charset="-122"/>
                <a:cs typeface="Arial" pitchFamily="34" charset="-120"/>
              </a:rPr>
              <a:t>كم وحدة سكنية فارغة؟</a:t>
            </a:r>
            <a:endParaRPr lang="en-US" sz="1350" dirty="0"/>
          </a:p>
        </p:txBody>
      </p:sp>
      <p:sp>
        <p:nvSpPr>
          <p:cNvPr id="11" name="Shape 9"/>
          <p:cNvSpPr/>
          <p:nvPr/>
        </p:nvSpPr>
        <p:spPr>
          <a:xfrm>
            <a:off x="6430975" y="3986784"/>
            <a:ext cx="5212080" cy="566928"/>
          </a:xfrm>
          <a:prstGeom prst="roundRect">
            <a:avLst>
              <a:gd name="adj" fmla="val 25806"/>
            </a:avLst>
          </a:prstGeom>
          <a:solidFill>
            <a:srgbClr val="113E48"/>
          </a:solidFill>
          <a:ln/>
        </p:spPr>
      </p:sp>
      <p:sp>
        <p:nvSpPr>
          <p:cNvPr id="12" name="Text 10"/>
          <p:cNvSpPr txBox="1"/>
          <p:nvPr/>
        </p:nvSpPr>
        <p:spPr>
          <a:xfrm>
            <a:off x="6687007" y="3986784"/>
            <a:ext cx="4700016" cy="566928"/>
          </a:xfrm>
          <a:prstGeom prst="rect">
            <a:avLst/>
          </a:prstGeom>
          <a:noFill/>
          <a:ln/>
        </p:spPr>
        <p:txBody>
          <a:bodyPr wrap="square" lIns="0" tIns="0" rIns="0" bIns="0" rtlCol="0" anchor="ctr"/>
          <a:lstStyle/>
          <a:p>
            <a:pPr rtl="1" algn="r" indent="0" marL="0">
              <a:buNone/>
            </a:pPr>
            <a:r>
              <a:rPr lang="en-US" sz="1350" dirty="0">
                <a:solidFill>
                  <a:srgbClr val="FFFFFF"/>
                </a:solidFill>
                <a:latin typeface="Arial" pitchFamily="34" charset="0"/>
                <a:ea typeface="Arial" pitchFamily="34" charset="-122"/>
                <a:cs typeface="Arial" pitchFamily="34" charset="-120"/>
              </a:rPr>
              <a:t>ماذا استلم محمد من مساعدات الشهر الماضي؟</a:t>
            </a:r>
            <a:endParaRPr lang="en-US" sz="1350" dirty="0"/>
          </a:p>
        </p:txBody>
      </p:sp>
      <p:sp>
        <p:nvSpPr>
          <p:cNvPr id="13" name="Text 11"/>
          <p:cNvSpPr txBox="1"/>
          <p:nvPr/>
        </p:nvSpPr>
        <p:spPr>
          <a:xfrm>
            <a:off x="548640" y="1463040"/>
            <a:ext cx="5425135" cy="274320"/>
          </a:xfrm>
          <a:prstGeom prst="rect">
            <a:avLst/>
          </a:prstGeom>
          <a:noFill/>
          <a:ln/>
        </p:spPr>
        <p:txBody>
          <a:bodyPr wrap="square" lIns="0" tIns="0" rIns="0" bIns="0" rtlCol="0" anchor="ctr"/>
          <a:lstStyle/>
          <a:p>
            <a:pPr rtl="1" algn="r" indent="0" marL="0">
              <a:buNone/>
            </a:pPr>
            <a:r>
              <a:rPr lang="en-US" sz="1250" b="1" dirty="0">
                <a:solidFill>
                  <a:srgbClr val="00A896"/>
                </a:solidFill>
                <a:latin typeface="Arial" pitchFamily="34" charset="0"/>
                <a:ea typeface="Arial" pitchFamily="34" charset="-122"/>
                <a:cs typeface="Arial" pitchFamily="34" charset="-120"/>
              </a:rPr>
              <a:t>كيف يعمل؟  أربع مراحل</a:t>
            </a:r>
            <a:endParaRPr lang="en-US" sz="1250" dirty="0"/>
          </a:p>
        </p:txBody>
      </p:sp>
      <p:sp>
        <p:nvSpPr>
          <p:cNvPr id="14" name="Shape 12"/>
          <p:cNvSpPr/>
          <p:nvPr/>
        </p:nvSpPr>
        <p:spPr>
          <a:xfrm>
            <a:off x="548640" y="1847088"/>
            <a:ext cx="5425135" cy="566928"/>
          </a:xfrm>
          <a:prstGeom prst="roundRect">
            <a:avLst>
              <a:gd name="adj" fmla="val 12903"/>
            </a:avLst>
          </a:prstGeom>
          <a:solidFill>
            <a:srgbClr val="113E48"/>
          </a:solidFill>
          <a:ln/>
        </p:spPr>
      </p:sp>
      <p:sp>
        <p:nvSpPr>
          <p:cNvPr id="15" name="Shape 13"/>
          <p:cNvSpPr/>
          <p:nvPr/>
        </p:nvSpPr>
        <p:spPr>
          <a:xfrm>
            <a:off x="5425135" y="1965960"/>
            <a:ext cx="329184" cy="329184"/>
          </a:xfrm>
          <a:prstGeom prst="ellipse">
            <a:avLst/>
          </a:prstGeom>
          <a:solidFill>
            <a:srgbClr val="02717D"/>
          </a:solidFill>
          <a:ln/>
        </p:spPr>
      </p:sp>
      <p:sp>
        <p:nvSpPr>
          <p:cNvPr id="16" name="Text 14"/>
          <p:cNvSpPr txBox="1"/>
          <p:nvPr/>
        </p:nvSpPr>
        <p:spPr>
          <a:xfrm>
            <a:off x="5425135" y="1965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7" name="Text 15"/>
          <p:cNvSpPr txBox="1"/>
          <p:nvPr/>
        </p:nvSpPr>
        <p:spPr>
          <a:xfrm>
            <a:off x="749808" y="1920240"/>
            <a:ext cx="4556455" cy="237744"/>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تطبيع النص العربي</a:t>
            </a:r>
            <a:endParaRPr lang="en-US" sz="1250" dirty="0"/>
          </a:p>
        </p:txBody>
      </p:sp>
      <p:sp>
        <p:nvSpPr>
          <p:cNvPr id="18" name="Text 16"/>
          <p:cNvSpPr txBox="1"/>
          <p:nvPr/>
        </p:nvSpPr>
        <p:spPr>
          <a:xfrm>
            <a:off x="749808" y="2148840"/>
            <a:ext cx="4556455" cy="219456"/>
          </a:xfrm>
          <a:prstGeom prst="rect">
            <a:avLst/>
          </a:prstGeom>
          <a:noFill/>
          <a:ln/>
        </p:spPr>
        <p:txBody>
          <a:bodyPr wrap="square" lIns="0" tIns="0" rIns="0" bIns="0" rtlCol="0" anchor="ctr"/>
          <a:lstStyle/>
          <a:p>
            <a:pPr rtl="1" algn="r" indent="0" marL="0">
              <a:buNone/>
            </a:pPr>
            <a:r>
              <a:rPr lang="en-US" sz="1000" dirty="0">
                <a:solidFill>
                  <a:srgbClr val="BFD4D7"/>
                </a:solidFill>
                <a:latin typeface="Arial" pitchFamily="34" charset="0"/>
                <a:ea typeface="Arial" pitchFamily="34" charset="-122"/>
                <a:cs typeface="Arial" pitchFamily="34" charset="-120"/>
              </a:rPr>
              <a:t>توحيد الهمزات والتشكيل والأرقام</a:t>
            </a:r>
            <a:endParaRPr lang="en-US" sz="1000" dirty="0"/>
          </a:p>
        </p:txBody>
      </p:sp>
      <p:sp>
        <p:nvSpPr>
          <p:cNvPr id="19" name="Shape 17"/>
          <p:cNvSpPr/>
          <p:nvPr/>
        </p:nvSpPr>
        <p:spPr>
          <a:xfrm>
            <a:off x="548640" y="2560320"/>
            <a:ext cx="5425135" cy="566928"/>
          </a:xfrm>
          <a:prstGeom prst="roundRect">
            <a:avLst>
              <a:gd name="adj" fmla="val 12903"/>
            </a:avLst>
          </a:prstGeom>
          <a:solidFill>
            <a:srgbClr val="113E48"/>
          </a:solidFill>
          <a:ln/>
        </p:spPr>
      </p:sp>
      <p:sp>
        <p:nvSpPr>
          <p:cNvPr id="20" name="Shape 18"/>
          <p:cNvSpPr/>
          <p:nvPr/>
        </p:nvSpPr>
        <p:spPr>
          <a:xfrm>
            <a:off x="5425135" y="2679192"/>
            <a:ext cx="329184" cy="329184"/>
          </a:xfrm>
          <a:prstGeom prst="ellipse">
            <a:avLst/>
          </a:prstGeom>
          <a:solidFill>
            <a:srgbClr val="02717D"/>
          </a:solidFill>
          <a:ln/>
        </p:spPr>
      </p:sp>
      <p:sp>
        <p:nvSpPr>
          <p:cNvPr id="21" name="Text 19"/>
          <p:cNvSpPr txBox="1"/>
          <p:nvPr/>
        </p:nvSpPr>
        <p:spPr>
          <a:xfrm>
            <a:off x="5425135" y="2679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txBox="1"/>
          <p:nvPr/>
        </p:nvSpPr>
        <p:spPr>
          <a:xfrm>
            <a:off x="749808" y="2633472"/>
            <a:ext cx="4556455" cy="237744"/>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تحليل النوايا</a:t>
            </a:r>
            <a:endParaRPr lang="en-US" sz="1250" dirty="0"/>
          </a:p>
        </p:txBody>
      </p:sp>
      <p:sp>
        <p:nvSpPr>
          <p:cNvPr id="23" name="Text 21"/>
          <p:cNvSpPr txBox="1"/>
          <p:nvPr/>
        </p:nvSpPr>
        <p:spPr>
          <a:xfrm>
            <a:off x="749808" y="2862072"/>
            <a:ext cx="4556455" cy="219456"/>
          </a:xfrm>
          <a:prstGeom prst="rect">
            <a:avLst/>
          </a:prstGeom>
          <a:noFill/>
          <a:ln/>
        </p:spPr>
        <p:txBody>
          <a:bodyPr wrap="square" lIns="0" tIns="0" rIns="0" bIns="0" rtlCol="0" anchor="ctr"/>
          <a:lstStyle/>
          <a:p>
            <a:pPr rtl="1" algn="r" indent="0" marL="0">
              <a:buNone/>
            </a:pPr>
            <a:r>
              <a:rPr lang="en-US" sz="1000" dirty="0">
                <a:solidFill>
                  <a:srgbClr val="BFD4D7"/>
                </a:solidFill>
                <a:latin typeface="Arial" pitchFamily="34" charset="0"/>
                <a:ea typeface="Arial" pitchFamily="34" charset="-122"/>
                <a:cs typeface="Arial" pitchFamily="34" charset="-120"/>
              </a:rPr>
              <a:t>10 نوايا، كل واحدة صنف برمجي مستقل</a:t>
            </a:r>
            <a:endParaRPr lang="en-US" sz="1000" dirty="0"/>
          </a:p>
        </p:txBody>
      </p:sp>
      <p:sp>
        <p:nvSpPr>
          <p:cNvPr id="24" name="Shape 22"/>
          <p:cNvSpPr/>
          <p:nvPr/>
        </p:nvSpPr>
        <p:spPr>
          <a:xfrm>
            <a:off x="548640" y="3273552"/>
            <a:ext cx="5425135" cy="566928"/>
          </a:xfrm>
          <a:prstGeom prst="roundRect">
            <a:avLst>
              <a:gd name="adj" fmla="val 12903"/>
            </a:avLst>
          </a:prstGeom>
          <a:solidFill>
            <a:srgbClr val="113E48"/>
          </a:solidFill>
          <a:ln/>
        </p:spPr>
      </p:sp>
      <p:sp>
        <p:nvSpPr>
          <p:cNvPr id="25" name="Shape 23"/>
          <p:cNvSpPr/>
          <p:nvPr/>
        </p:nvSpPr>
        <p:spPr>
          <a:xfrm>
            <a:off x="5425135" y="3392424"/>
            <a:ext cx="329184" cy="329184"/>
          </a:xfrm>
          <a:prstGeom prst="ellipse">
            <a:avLst/>
          </a:prstGeom>
          <a:solidFill>
            <a:srgbClr val="E9A13B"/>
          </a:solidFill>
          <a:ln/>
        </p:spPr>
      </p:sp>
      <p:sp>
        <p:nvSpPr>
          <p:cNvPr id="26" name="Text 24"/>
          <p:cNvSpPr txBox="1"/>
          <p:nvPr/>
        </p:nvSpPr>
        <p:spPr>
          <a:xfrm>
            <a:off x="5425135" y="3392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7" name="Text 25"/>
          <p:cNvSpPr txBox="1"/>
          <p:nvPr/>
        </p:nvSpPr>
        <p:spPr>
          <a:xfrm>
            <a:off x="749808" y="3346704"/>
            <a:ext cx="4556455" cy="237744"/>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الترجيح بالنقاط</a:t>
            </a:r>
            <a:endParaRPr lang="en-US" sz="1250" dirty="0"/>
          </a:p>
        </p:txBody>
      </p:sp>
      <p:sp>
        <p:nvSpPr>
          <p:cNvPr id="28" name="Text 26"/>
          <p:cNvSpPr txBox="1"/>
          <p:nvPr/>
        </p:nvSpPr>
        <p:spPr>
          <a:xfrm>
            <a:off x="749808" y="3575304"/>
            <a:ext cx="4556455" cy="219456"/>
          </a:xfrm>
          <a:prstGeom prst="rect">
            <a:avLst/>
          </a:prstGeom>
          <a:noFill/>
          <a:ln/>
        </p:spPr>
        <p:txBody>
          <a:bodyPr wrap="square" lIns="0" tIns="0" rIns="0" bIns="0" rtlCol="0" anchor="ctr"/>
          <a:lstStyle/>
          <a:p>
            <a:pPr rtl="1" algn="r" indent="0" marL="0">
              <a:buNone/>
            </a:pPr>
            <a:r>
              <a:rPr lang="en-US" sz="1000" dirty="0">
                <a:solidFill>
                  <a:srgbClr val="BFD4D7"/>
                </a:solidFill>
                <a:latin typeface="Arial" pitchFamily="34" charset="0"/>
                <a:ea typeface="Arial" pitchFamily="34" charset="-122"/>
                <a:cs typeface="Arial" pitchFamily="34" charset="-120"/>
              </a:rPr>
              <a:t>الأعلى ثقةً تفوز، لا أول تطابق</a:t>
            </a:r>
            <a:endParaRPr lang="en-US" sz="1000" dirty="0"/>
          </a:p>
        </p:txBody>
      </p:sp>
      <p:sp>
        <p:nvSpPr>
          <p:cNvPr id="29" name="Shape 27"/>
          <p:cNvSpPr/>
          <p:nvPr/>
        </p:nvSpPr>
        <p:spPr>
          <a:xfrm>
            <a:off x="548640" y="3986784"/>
            <a:ext cx="5425135" cy="566928"/>
          </a:xfrm>
          <a:prstGeom prst="roundRect">
            <a:avLst>
              <a:gd name="adj" fmla="val 12903"/>
            </a:avLst>
          </a:prstGeom>
          <a:solidFill>
            <a:srgbClr val="113E48"/>
          </a:solidFill>
          <a:ln/>
        </p:spPr>
      </p:sp>
      <p:sp>
        <p:nvSpPr>
          <p:cNvPr id="30" name="Shape 28"/>
          <p:cNvSpPr/>
          <p:nvPr/>
        </p:nvSpPr>
        <p:spPr>
          <a:xfrm>
            <a:off x="5425135" y="4105656"/>
            <a:ext cx="329184" cy="329184"/>
          </a:xfrm>
          <a:prstGeom prst="ellipse">
            <a:avLst/>
          </a:prstGeom>
          <a:solidFill>
            <a:srgbClr val="02717D"/>
          </a:solidFill>
          <a:ln/>
        </p:spPr>
      </p:sp>
      <p:sp>
        <p:nvSpPr>
          <p:cNvPr id="31" name="Text 29"/>
          <p:cNvSpPr txBox="1"/>
          <p:nvPr/>
        </p:nvSpPr>
        <p:spPr>
          <a:xfrm>
            <a:off x="5425135" y="41056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2" name="Text 30"/>
          <p:cNvSpPr txBox="1"/>
          <p:nvPr/>
        </p:nvSpPr>
        <p:spPr>
          <a:xfrm>
            <a:off x="749808" y="4059936"/>
            <a:ext cx="4556455" cy="237744"/>
          </a:xfrm>
          <a:prstGeom prst="rect">
            <a:avLst/>
          </a:prstGeom>
          <a:noFill/>
          <a:ln/>
        </p:spPr>
        <p:txBody>
          <a:bodyPr wrap="square" lIns="0" tIns="0" rIns="0" bIns="0" rtlCol="0" anchor="ctr"/>
          <a:lstStyle/>
          <a:p>
            <a:pPr rtl="1" algn="r" indent="0" marL="0">
              <a:buNone/>
            </a:pPr>
            <a:r>
              <a:rPr lang="en-US" sz="1250" b="1" dirty="0">
                <a:solidFill>
                  <a:srgbClr val="FFFFFF"/>
                </a:solidFill>
                <a:latin typeface="Arial" pitchFamily="34" charset="0"/>
                <a:ea typeface="Arial" pitchFamily="34" charset="-122"/>
                <a:cs typeface="Arial" pitchFamily="34" charset="-120"/>
              </a:rPr>
              <a:t>استعلام جاهز ومُختبَر</a:t>
            </a:r>
            <a:endParaRPr lang="en-US" sz="1250" dirty="0"/>
          </a:p>
        </p:txBody>
      </p:sp>
      <p:sp>
        <p:nvSpPr>
          <p:cNvPr id="33" name="Text 31"/>
          <p:cNvSpPr txBox="1"/>
          <p:nvPr/>
        </p:nvSpPr>
        <p:spPr>
          <a:xfrm>
            <a:off x="749808" y="4288536"/>
            <a:ext cx="4556455" cy="219456"/>
          </a:xfrm>
          <a:prstGeom prst="rect">
            <a:avLst/>
          </a:prstGeom>
          <a:noFill/>
          <a:ln/>
        </p:spPr>
        <p:txBody>
          <a:bodyPr wrap="square" lIns="0" tIns="0" rIns="0" bIns="0" rtlCol="0" anchor="ctr"/>
          <a:lstStyle/>
          <a:p>
            <a:pPr rtl="1" algn="r" indent="0" marL="0">
              <a:buNone/>
            </a:pPr>
            <a:r>
              <a:rPr lang="en-US" sz="1000" dirty="0">
                <a:solidFill>
                  <a:srgbClr val="BFD4D7"/>
                </a:solidFill>
                <a:latin typeface="Arial" pitchFamily="34" charset="0"/>
                <a:ea typeface="Arial" pitchFamily="34" charset="-122"/>
                <a:cs typeface="Arial" pitchFamily="34" charset="-120"/>
              </a:rPr>
              <a:t>كتبه مطوّر ويغطّيه اختبار</a:t>
            </a:r>
            <a:endParaRPr lang="en-US" sz="1000" dirty="0"/>
          </a:p>
        </p:txBody>
      </p:sp>
      <p:sp>
        <p:nvSpPr>
          <p:cNvPr id="34" name="Shape 32"/>
          <p:cNvSpPr/>
          <p:nvPr/>
        </p:nvSpPr>
        <p:spPr>
          <a:xfrm>
            <a:off x="8076895" y="5138928"/>
            <a:ext cx="3566160" cy="658368"/>
          </a:xfrm>
          <a:prstGeom prst="roundRect">
            <a:avLst>
              <a:gd name="adj" fmla="val 13889"/>
            </a:avLst>
          </a:prstGeom>
          <a:solidFill>
            <a:srgbClr val="113E48"/>
          </a:solidFill>
          <a:ln w="12700">
            <a:solidFill>
              <a:srgbClr val="E9A13B"/>
            </a:solidFill>
            <a:prstDash val="solid"/>
          </a:ln>
        </p:spPr>
      </p:sp>
      <p:sp>
        <p:nvSpPr>
          <p:cNvPr id="35" name="Text 33"/>
          <p:cNvSpPr txBox="1"/>
          <p:nvPr/>
        </p:nvSpPr>
        <p:spPr>
          <a:xfrm>
            <a:off x="8214055" y="5138928"/>
            <a:ext cx="3291840" cy="658368"/>
          </a:xfrm>
          <a:prstGeom prst="rect">
            <a:avLst/>
          </a:prstGeom>
          <a:noFill/>
          <a:ln/>
        </p:spPr>
        <p:txBody>
          <a:bodyPr wrap="square" lIns="0" tIns="0" rIns="0" bIns="0" rtlCol="0" anchor="ctr"/>
          <a:lstStyle/>
          <a:p>
            <a:pPr rtl="1" algn="ctr" indent="0" marL="0">
              <a:buNone/>
            </a:pPr>
            <a:r>
              <a:rPr lang="en-US" sz="1250" b="1" dirty="0">
                <a:solidFill>
                  <a:srgbClr val="E9A13B"/>
                </a:solidFill>
                <a:latin typeface="Arial" pitchFamily="34" charset="0"/>
                <a:ea typeface="Arial" pitchFamily="34" charset="-122"/>
                <a:cs typeface="Arial" pitchFamily="34" charset="-120"/>
              </a:rPr>
              <a:t>بلا نموذج لغوي (LLM)</a:t>
            </a:r>
            <a:endParaRPr lang="en-US" sz="1250" dirty="0"/>
          </a:p>
        </p:txBody>
      </p:sp>
      <p:sp>
        <p:nvSpPr>
          <p:cNvPr id="36" name="Shape 34"/>
          <p:cNvSpPr/>
          <p:nvPr/>
        </p:nvSpPr>
        <p:spPr>
          <a:xfrm>
            <a:off x="4309567" y="5138928"/>
            <a:ext cx="3566160" cy="658368"/>
          </a:xfrm>
          <a:prstGeom prst="roundRect">
            <a:avLst>
              <a:gd name="adj" fmla="val 13889"/>
            </a:avLst>
          </a:prstGeom>
          <a:solidFill>
            <a:srgbClr val="113E48"/>
          </a:solidFill>
          <a:ln w="12700">
            <a:solidFill>
              <a:srgbClr val="E9A13B"/>
            </a:solidFill>
            <a:prstDash val="solid"/>
          </a:ln>
        </p:spPr>
      </p:sp>
      <p:sp>
        <p:nvSpPr>
          <p:cNvPr id="37" name="Text 35"/>
          <p:cNvSpPr txBox="1"/>
          <p:nvPr/>
        </p:nvSpPr>
        <p:spPr>
          <a:xfrm>
            <a:off x="4446727" y="5138928"/>
            <a:ext cx="3291840" cy="658368"/>
          </a:xfrm>
          <a:prstGeom prst="rect">
            <a:avLst/>
          </a:prstGeom>
          <a:noFill/>
          <a:ln/>
        </p:spPr>
        <p:txBody>
          <a:bodyPr wrap="square" lIns="0" tIns="0" rIns="0" bIns="0" rtlCol="0" anchor="ctr"/>
          <a:lstStyle/>
          <a:p>
            <a:pPr rtl="1" algn="ctr" indent="0" marL="0">
              <a:buNone/>
            </a:pPr>
            <a:r>
              <a:rPr lang="en-US" sz="1250" b="1" dirty="0">
                <a:solidFill>
                  <a:srgbClr val="E9A13B"/>
                </a:solidFill>
                <a:latin typeface="Arial" pitchFamily="34" charset="0"/>
                <a:ea typeface="Arial" pitchFamily="34" charset="-122"/>
                <a:cs typeface="Arial" pitchFamily="34" charset="-120"/>
              </a:rPr>
              <a:t>بلا SQL مُولَّد من كلام المستخدم</a:t>
            </a:r>
            <a:endParaRPr lang="en-US" sz="1250" dirty="0"/>
          </a:p>
        </p:txBody>
      </p:sp>
      <p:sp>
        <p:nvSpPr>
          <p:cNvPr id="38" name="Shape 36"/>
          <p:cNvSpPr/>
          <p:nvPr/>
        </p:nvSpPr>
        <p:spPr>
          <a:xfrm>
            <a:off x="542239" y="5138928"/>
            <a:ext cx="3566160" cy="658368"/>
          </a:xfrm>
          <a:prstGeom prst="roundRect">
            <a:avLst>
              <a:gd name="adj" fmla="val 13889"/>
            </a:avLst>
          </a:prstGeom>
          <a:solidFill>
            <a:srgbClr val="113E48"/>
          </a:solidFill>
          <a:ln w="12700">
            <a:solidFill>
              <a:srgbClr val="E9A13B"/>
            </a:solidFill>
            <a:prstDash val="solid"/>
          </a:ln>
        </p:spPr>
      </p:sp>
      <p:sp>
        <p:nvSpPr>
          <p:cNvPr id="39" name="Text 37"/>
          <p:cNvSpPr txBox="1"/>
          <p:nvPr/>
        </p:nvSpPr>
        <p:spPr>
          <a:xfrm>
            <a:off x="679399" y="5138928"/>
            <a:ext cx="3291840" cy="658368"/>
          </a:xfrm>
          <a:prstGeom prst="rect">
            <a:avLst/>
          </a:prstGeom>
          <a:noFill/>
          <a:ln/>
        </p:spPr>
        <p:txBody>
          <a:bodyPr wrap="square" lIns="0" tIns="0" rIns="0" bIns="0" rtlCol="0" anchor="ctr"/>
          <a:lstStyle/>
          <a:p>
            <a:pPr rtl="1" algn="ctr" indent="0" marL="0">
              <a:buNone/>
            </a:pPr>
            <a:r>
              <a:rPr lang="en-US" sz="1250" b="1" dirty="0">
                <a:solidFill>
                  <a:srgbClr val="E9A13B"/>
                </a:solidFill>
                <a:latin typeface="Arial" pitchFamily="34" charset="0"/>
                <a:ea typeface="Arial" pitchFamily="34" charset="-122"/>
                <a:cs typeface="Arial" pitchFamily="34" charset="-120"/>
              </a:rPr>
              <a:t>البيانات لا تغادر الخادم</a:t>
            </a:r>
            <a:endParaRPr lang="en-US" sz="1250" dirty="0"/>
          </a:p>
        </p:txBody>
      </p:sp>
      <p:sp>
        <p:nvSpPr>
          <p:cNvPr id="40" name="Text 38"/>
          <p:cNvSpPr txBox="1"/>
          <p:nvPr/>
        </p:nvSpPr>
        <p:spPr>
          <a:xfrm>
            <a:off x="548640" y="5989320"/>
            <a:ext cx="11094415" cy="320040"/>
          </a:xfrm>
          <a:prstGeom prst="rect">
            <a:avLst/>
          </a:prstGeom>
          <a:noFill/>
          <a:ln/>
        </p:spPr>
        <p:txBody>
          <a:bodyPr wrap="square" lIns="0" tIns="0" rIns="0" bIns="0" rtlCol="0" anchor="ctr"/>
          <a:lstStyle/>
          <a:p>
            <a:pPr rtl="1" algn="ctr" indent="0" marL="0">
              <a:buNone/>
            </a:pPr>
            <a:r>
              <a:rPr lang="en-US" sz="1200" dirty="0">
                <a:solidFill>
                  <a:srgbClr val="BFD4D7"/>
                </a:solidFill>
                <a:latin typeface="Arial" pitchFamily="34" charset="0"/>
                <a:ea typeface="Arial" pitchFamily="34" charset="-122"/>
                <a:cs typeface="Arial" pitchFamily="34" charset="-120"/>
              </a:rPr>
              <a:t>الدقة والخصوصية والأمان: ثلاثتها نتيجة قرار واحد، أن تختار الجملةُ الاستعلامَ لا أن تكتبه.</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8"/>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rtl="1" algn="r" indent="0" marL="0">
              <a:buNone/>
            </a:pPr>
            <a:r>
              <a:rPr lang="en-US" sz="1300" b="1" spc="100" kern="0" dirty="0">
                <a:solidFill>
                  <a:srgbClr val="02717D"/>
                </a:solidFill>
                <a:latin typeface="Arial" pitchFamily="34" charset="0"/>
                <a:ea typeface="Arial" pitchFamily="34" charset="-122"/>
                <a:cs typeface="Arial" pitchFamily="34" charset="-120"/>
              </a:rPr>
              <a:t>الفصل الخامس  ·  متانة النظام</a:t>
            </a:r>
            <a:endParaRPr lang="en-US" sz="1300" dirty="0"/>
          </a:p>
        </p:txBody>
      </p:sp>
      <p:sp>
        <p:nvSpPr>
          <p:cNvPr id="3" name="Text 1"/>
          <p:cNvSpPr txBox="1"/>
          <p:nvPr/>
        </p:nvSpPr>
        <p:spPr>
          <a:xfrm>
            <a:off x="548640" y="694944"/>
            <a:ext cx="11094415" cy="566928"/>
          </a:xfrm>
          <a:prstGeom prst="rect">
            <a:avLst/>
          </a:prstGeom>
          <a:noFill/>
          <a:ln/>
        </p:spPr>
        <p:txBody>
          <a:bodyPr wrap="square" lIns="0" tIns="0" rIns="0" bIns="0" rtlCol="0" anchor="ctr"/>
          <a:lstStyle/>
          <a:p>
            <a:pPr rtl="1" algn="r" indent="0" marL="0">
              <a:buNone/>
            </a:pPr>
            <a:r>
              <a:rPr lang="en-US" sz="3400" b="1" dirty="0">
                <a:solidFill>
                  <a:srgbClr val="16292E"/>
                </a:solidFill>
                <a:latin typeface="Arial" pitchFamily="34" charset="0"/>
                <a:ea typeface="Arial" pitchFamily="34" charset="-122"/>
                <a:cs typeface="Arial" pitchFamily="34" charset="-120"/>
              </a:rPr>
              <a:t>التحديات التقنية والتدهور الآمن</a:t>
            </a:r>
            <a:endParaRPr lang="en-US" sz="3400" dirty="0"/>
          </a:p>
        </p:txBody>
      </p:sp>
      <p:sp>
        <p:nvSpPr>
          <p:cNvPr id="4" name="Shape 2"/>
          <p:cNvSpPr/>
          <p:nvPr/>
        </p:nvSpPr>
        <p:spPr>
          <a:xfrm>
            <a:off x="548640" y="1572768"/>
            <a:ext cx="11094415" cy="713232"/>
          </a:xfrm>
          <a:prstGeom prst="roundRect">
            <a:avLst>
              <a:gd name="adj" fmla="val 10256"/>
            </a:avLst>
          </a:prstGeom>
          <a:solidFill>
            <a:srgbClr val="FFFFFF"/>
          </a:solidFill>
          <a:ln/>
          <a:effectLst>
            <a:outerShdw sx="100000" sy="100000" kx="0" ky="0" algn="bl" rotWithShape="0" blurRad="127000" dist="25400" dir="5400000">
              <a:srgbClr val="0A2E36">
                <a:alpha val="10000"/>
              </a:srgbClr>
            </a:outerShdw>
          </a:effectLst>
        </p:spPr>
      </p:sp>
      <p:sp>
        <p:nvSpPr>
          <p:cNvPr id="5" name="Shape 3"/>
          <p:cNvSpPr/>
          <p:nvPr/>
        </p:nvSpPr>
        <p:spPr>
          <a:xfrm>
            <a:off x="8396935" y="1673352"/>
            <a:ext cx="3063240" cy="512064"/>
          </a:xfrm>
          <a:prstGeom prst="roundRect">
            <a:avLst>
              <a:gd name="adj" fmla="val 10714"/>
            </a:avLst>
          </a:prstGeom>
          <a:solidFill>
            <a:srgbClr val="FDF3E3"/>
          </a:solidFill>
          <a:ln/>
        </p:spPr>
      </p:sp>
      <p:sp>
        <p:nvSpPr>
          <p:cNvPr id="6" name="Text 4"/>
          <p:cNvSpPr txBox="1"/>
          <p:nvPr/>
        </p:nvSpPr>
        <p:spPr>
          <a:xfrm>
            <a:off x="8488375" y="1709928"/>
            <a:ext cx="2880360" cy="256032"/>
          </a:xfrm>
          <a:prstGeom prst="rect">
            <a:avLst/>
          </a:prstGeom>
          <a:noFill/>
          <a:ln/>
        </p:spPr>
        <p:txBody>
          <a:bodyPr wrap="square" lIns="0" tIns="0" rIns="0" bIns="0" rtlCol="0" anchor="ctr"/>
          <a:lstStyle/>
          <a:p>
            <a:pPr rtl="1" algn="r" indent="0" marL="0">
              <a:buNone/>
            </a:pPr>
            <a:r>
              <a:rPr lang="en-US" sz="1300" b="1" dirty="0">
                <a:solidFill>
                  <a:srgbClr val="B4761C"/>
                </a:solidFill>
                <a:latin typeface="Arial" pitchFamily="34" charset="0"/>
                <a:ea typeface="Arial" pitchFamily="34" charset="-122"/>
                <a:cs typeface="Arial" pitchFamily="34" charset="-120"/>
              </a:rPr>
              <a:t>اسم ملتبس</a:t>
            </a:r>
            <a:endParaRPr lang="en-US" sz="1300" dirty="0"/>
          </a:p>
        </p:txBody>
      </p:sp>
      <p:sp>
        <p:nvSpPr>
          <p:cNvPr id="7" name="Text 5"/>
          <p:cNvSpPr txBox="1"/>
          <p:nvPr/>
        </p:nvSpPr>
        <p:spPr>
          <a:xfrm>
            <a:off x="8488375" y="1975104"/>
            <a:ext cx="2880360" cy="219456"/>
          </a:xfrm>
          <a:prstGeom prst="rect">
            <a:avLst/>
          </a:prstGeom>
          <a:noFill/>
          <a:ln/>
        </p:spPr>
        <p:txBody>
          <a:bodyPr wrap="square" lIns="0" tIns="0" rIns="0" bIns="0" rtlCol="0" anchor="ctr"/>
          <a:lstStyle/>
          <a:p>
            <a:pPr rtl="1" algn="r" indent="0" marL="0">
              <a:buNone/>
            </a:pPr>
            <a:r>
              <a:rPr lang="en-US" sz="1000" dirty="0">
                <a:solidFill>
                  <a:srgbClr val="5C7378"/>
                </a:solidFill>
                <a:latin typeface="Arial" pitchFamily="34" charset="0"/>
                <a:ea typeface="Arial" pitchFamily="34" charset="-122"/>
                <a:cs typeface="Arial" pitchFamily="34" charset="-120"/>
              </a:rPr>
              <a:t>٣ أشخاص باسم «محمد»</a:t>
            </a:r>
            <a:endParaRPr lang="en-US" sz="1000" dirty="0"/>
          </a:p>
        </p:txBody>
      </p:sp>
      <p:pic>
        <p:nvPicPr>
          <p:cNvPr id="8" name="Image 0" descr="preencoded.png">    </p:cNvPr>
          <p:cNvPicPr>
            <a:picLocks noChangeAspect="1"/>
          </p:cNvPicPr>
          <p:nvPr/>
        </p:nvPicPr>
        <p:blipFill>
          <a:blip r:embed="rId1"/>
          <a:stretch>
            <a:fillRect/>
          </a:stretch>
        </p:blipFill>
        <p:spPr>
          <a:xfrm>
            <a:off x="8031175" y="1837944"/>
            <a:ext cx="182880" cy="182880"/>
          </a:xfrm>
          <a:prstGeom prst="rect">
            <a:avLst/>
          </a:prstGeom>
        </p:spPr>
      </p:pic>
      <p:sp>
        <p:nvSpPr>
          <p:cNvPr id="9" name="Text 6"/>
          <p:cNvSpPr txBox="1"/>
          <p:nvPr/>
        </p:nvSpPr>
        <p:spPr>
          <a:xfrm>
            <a:off x="804672" y="1572768"/>
            <a:ext cx="7116775" cy="713232"/>
          </a:xfrm>
          <a:prstGeom prst="rect">
            <a:avLst/>
          </a:prstGeom>
          <a:noFill/>
          <a:ln/>
        </p:spPr>
        <p:txBody>
          <a:bodyPr wrap="square" lIns="0" tIns="0" rIns="0" bIns="0" rtlCol="0" anchor="ctr"/>
          <a:lstStyle/>
          <a:p>
            <a:pPr rtl="1" algn="r" indent="0" marL="0">
              <a:lnSpc>
                <a:spcPts val="1600"/>
              </a:lnSpc>
              <a:buNone/>
            </a:pPr>
            <a:r>
              <a:rPr lang="en-US" sz="1250" dirty="0">
                <a:solidFill>
                  <a:srgbClr val="16292E"/>
                </a:solidFill>
                <a:latin typeface="Arial" pitchFamily="34" charset="0"/>
                <a:ea typeface="Arial" pitchFamily="34" charset="-122"/>
                <a:cs typeface="Arial" pitchFamily="34" charset="-120"/>
              </a:rPr>
              <a:t>يشرح كيف تحدّد الشخص (الاسم الثلاثي أو رقم الوثيقة) ويعرض القائمة</a:t>
            </a:r>
            <a:endParaRPr lang="en-US" sz="1250" dirty="0"/>
          </a:p>
        </p:txBody>
      </p:sp>
      <p:sp>
        <p:nvSpPr>
          <p:cNvPr id="10" name="Shape 7"/>
          <p:cNvSpPr/>
          <p:nvPr/>
        </p:nvSpPr>
        <p:spPr>
          <a:xfrm>
            <a:off x="548640" y="2404872"/>
            <a:ext cx="11094415" cy="713232"/>
          </a:xfrm>
          <a:prstGeom prst="roundRect">
            <a:avLst>
              <a:gd name="adj" fmla="val 10256"/>
            </a:avLst>
          </a:prstGeom>
          <a:solidFill>
            <a:srgbClr val="FFFFFF"/>
          </a:solidFill>
          <a:ln/>
          <a:effectLst>
            <a:outerShdw sx="100000" sy="100000" kx="0" ky="0" algn="bl" rotWithShape="0" blurRad="127000" dist="25400" dir="5400000">
              <a:srgbClr val="0A2E36">
                <a:alpha val="10000"/>
              </a:srgbClr>
            </a:outerShdw>
          </a:effectLst>
        </p:spPr>
      </p:sp>
      <p:sp>
        <p:nvSpPr>
          <p:cNvPr id="11" name="Shape 8"/>
          <p:cNvSpPr/>
          <p:nvPr/>
        </p:nvSpPr>
        <p:spPr>
          <a:xfrm>
            <a:off x="8396935" y="2505456"/>
            <a:ext cx="3063240" cy="512064"/>
          </a:xfrm>
          <a:prstGeom prst="roundRect">
            <a:avLst>
              <a:gd name="adj" fmla="val 10714"/>
            </a:avLst>
          </a:prstGeom>
          <a:solidFill>
            <a:srgbClr val="FDF3E3"/>
          </a:solidFill>
          <a:ln/>
        </p:spPr>
      </p:sp>
      <p:sp>
        <p:nvSpPr>
          <p:cNvPr id="12" name="Text 9"/>
          <p:cNvSpPr txBox="1"/>
          <p:nvPr/>
        </p:nvSpPr>
        <p:spPr>
          <a:xfrm>
            <a:off x="8488375" y="2542032"/>
            <a:ext cx="2880360" cy="256032"/>
          </a:xfrm>
          <a:prstGeom prst="rect">
            <a:avLst/>
          </a:prstGeom>
          <a:noFill/>
          <a:ln/>
        </p:spPr>
        <p:txBody>
          <a:bodyPr wrap="square" lIns="0" tIns="0" rIns="0" bIns="0" rtlCol="0" anchor="ctr"/>
          <a:lstStyle/>
          <a:p>
            <a:pPr rtl="1" algn="r" indent="0" marL="0">
              <a:buNone/>
            </a:pPr>
            <a:r>
              <a:rPr lang="en-US" sz="1300" b="1" dirty="0">
                <a:solidFill>
                  <a:srgbClr val="B4761C"/>
                </a:solidFill>
                <a:latin typeface="Arial" pitchFamily="34" charset="0"/>
                <a:ea typeface="Arial" pitchFamily="34" charset="-122"/>
                <a:cs typeface="Arial" pitchFamily="34" charset="-120"/>
              </a:rPr>
              <a:t>مخيم غير موجود</a:t>
            </a:r>
            <a:endParaRPr lang="en-US" sz="1300" dirty="0"/>
          </a:p>
        </p:txBody>
      </p:sp>
      <p:sp>
        <p:nvSpPr>
          <p:cNvPr id="13" name="Text 10"/>
          <p:cNvSpPr txBox="1"/>
          <p:nvPr/>
        </p:nvSpPr>
        <p:spPr>
          <a:xfrm>
            <a:off x="8488375" y="2807208"/>
            <a:ext cx="2880360" cy="219456"/>
          </a:xfrm>
          <a:prstGeom prst="rect">
            <a:avLst/>
          </a:prstGeom>
          <a:noFill/>
          <a:ln/>
        </p:spPr>
        <p:txBody>
          <a:bodyPr wrap="square" lIns="0" tIns="0" rIns="0" bIns="0" rtlCol="0" anchor="ctr"/>
          <a:lstStyle/>
          <a:p>
            <a:pPr rtl="1" algn="r" indent="0" marL="0">
              <a:buNone/>
            </a:pPr>
            <a:r>
              <a:rPr lang="en-US" sz="1000" dirty="0">
                <a:solidFill>
                  <a:srgbClr val="5C7378"/>
                </a:solidFill>
                <a:latin typeface="Arial" pitchFamily="34" charset="0"/>
                <a:ea typeface="Arial" pitchFamily="34" charset="-122"/>
                <a:cs typeface="Arial" pitchFamily="34" charset="-120"/>
              </a:rPr>
              <a:t>سؤال عن مخيم غير مسجّل</a:t>
            </a:r>
            <a:endParaRPr lang="en-US" sz="1000" dirty="0"/>
          </a:p>
        </p:txBody>
      </p:sp>
      <p:pic>
        <p:nvPicPr>
          <p:cNvPr id="14" name="Image 1" descr="preencoded.png">    </p:cNvPr>
          <p:cNvPicPr>
            <a:picLocks noChangeAspect="1"/>
          </p:cNvPicPr>
          <p:nvPr/>
        </p:nvPicPr>
        <p:blipFill>
          <a:blip r:embed="rId2"/>
          <a:stretch>
            <a:fillRect/>
          </a:stretch>
        </p:blipFill>
        <p:spPr>
          <a:xfrm>
            <a:off x="8031175" y="2670048"/>
            <a:ext cx="182880" cy="182880"/>
          </a:xfrm>
          <a:prstGeom prst="rect">
            <a:avLst/>
          </a:prstGeom>
        </p:spPr>
      </p:pic>
      <p:sp>
        <p:nvSpPr>
          <p:cNvPr id="15" name="Text 11"/>
          <p:cNvSpPr txBox="1"/>
          <p:nvPr/>
        </p:nvSpPr>
        <p:spPr>
          <a:xfrm>
            <a:off x="804672" y="2404872"/>
            <a:ext cx="7116775" cy="713232"/>
          </a:xfrm>
          <a:prstGeom prst="rect">
            <a:avLst/>
          </a:prstGeom>
          <a:noFill/>
          <a:ln/>
        </p:spPr>
        <p:txBody>
          <a:bodyPr wrap="square" lIns="0" tIns="0" rIns="0" bIns="0" rtlCol="0" anchor="ctr"/>
          <a:lstStyle/>
          <a:p>
            <a:pPr rtl="1" algn="r" indent="0" marL="0">
              <a:lnSpc>
                <a:spcPts val="1600"/>
              </a:lnSpc>
              <a:buNone/>
            </a:pPr>
            <a:r>
              <a:rPr lang="en-US" sz="1250" dirty="0">
                <a:solidFill>
                  <a:srgbClr val="16292E"/>
                </a:solidFill>
                <a:latin typeface="Arial" pitchFamily="34" charset="0"/>
                <a:ea typeface="Arial" pitchFamily="34" charset="-122"/>
                <a:cs typeface="Arial" pitchFamily="34" charset="-120"/>
              </a:rPr>
              <a:t>يصرّح بعدم وجوده ويعرض المخيمات المسجّلة فعلًا</a:t>
            </a:r>
            <a:endParaRPr lang="en-US" sz="1250" dirty="0"/>
          </a:p>
        </p:txBody>
      </p:sp>
      <p:sp>
        <p:nvSpPr>
          <p:cNvPr id="16" name="Shape 12"/>
          <p:cNvSpPr/>
          <p:nvPr/>
        </p:nvSpPr>
        <p:spPr>
          <a:xfrm>
            <a:off x="548640" y="3236976"/>
            <a:ext cx="11094415" cy="713232"/>
          </a:xfrm>
          <a:prstGeom prst="roundRect">
            <a:avLst>
              <a:gd name="adj" fmla="val 10256"/>
            </a:avLst>
          </a:prstGeom>
          <a:solidFill>
            <a:srgbClr val="FFFFFF"/>
          </a:solidFill>
          <a:ln/>
          <a:effectLst>
            <a:outerShdw sx="100000" sy="100000" kx="0" ky="0" algn="bl" rotWithShape="0" blurRad="127000" dist="25400" dir="5400000">
              <a:srgbClr val="0A2E36">
                <a:alpha val="10000"/>
              </a:srgbClr>
            </a:outerShdw>
          </a:effectLst>
        </p:spPr>
      </p:sp>
      <p:sp>
        <p:nvSpPr>
          <p:cNvPr id="17" name="Shape 13"/>
          <p:cNvSpPr/>
          <p:nvPr/>
        </p:nvSpPr>
        <p:spPr>
          <a:xfrm>
            <a:off x="8396935" y="3337560"/>
            <a:ext cx="3063240" cy="512064"/>
          </a:xfrm>
          <a:prstGeom prst="roundRect">
            <a:avLst>
              <a:gd name="adj" fmla="val 10714"/>
            </a:avLst>
          </a:prstGeom>
          <a:solidFill>
            <a:srgbClr val="ECF4F4"/>
          </a:solidFill>
          <a:ln/>
        </p:spPr>
      </p:sp>
      <p:sp>
        <p:nvSpPr>
          <p:cNvPr id="18" name="Text 14"/>
          <p:cNvSpPr txBox="1"/>
          <p:nvPr/>
        </p:nvSpPr>
        <p:spPr>
          <a:xfrm>
            <a:off x="8488375" y="3374136"/>
            <a:ext cx="2880360" cy="256032"/>
          </a:xfrm>
          <a:prstGeom prst="rect">
            <a:avLst/>
          </a:prstGeom>
          <a:noFill/>
          <a:ln/>
        </p:spPr>
        <p:txBody>
          <a:bodyPr wrap="square" lIns="0" tIns="0" rIns="0" bIns="0" rtlCol="0" anchor="ctr"/>
          <a:lstStyle/>
          <a:p>
            <a:pPr rtl="1" algn="r" indent="0" marL="0">
              <a:buNone/>
            </a:pPr>
            <a:r>
              <a:rPr lang="en-US" sz="1300" b="1" dirty="0">
                <a:solidFill>
                  <a:srgbClr val="02717D"/>
                </a:solidFill>
                <a:latin typeface="Arial" pitchFamily="34" charset="0"/>
                <a:ea typeface="Arial" pitchFamily="34" charset="-122"/>
                <a:cs typeface="Arial" pitchFamily="34" charset="-120"/>
              </a:rPr>
              <a:t>لا نتائج</a:t>
            </a:r>
            <a:endParaRPr lang="en-US" sz="1300" dirty="0"/>
          </a:p>
        </p:txBody>
      </p:sp>
      <p:sp>
        <p:nvSpPr>
          <p:cNvPr id="19" name="Text 15"/>
          <p:cNvSpPr txBox="1"/>
          <p:nvPr/>
        </p:nvSpPr>
        <p:spPr>
          <a:xfrm>
            <a:off x="8488375" y="3639312"/>
            <a:ext cx="2880360" cy="219456"/>
          </a:xfrm>
          <a:prstGeom prst="rect">
            <a:avLst/>
          </a:prstGeom>
          <a:noFill/>
          <a:ln/>
        </p:spPr>
        <p:txBody>
          <a:bodyPr wrap="square" lIns="0" tIns="0" rIns="0" bIns="0" rtlCol="0" anchor="ctr"/>
          <a:lstStyle/>
          <a:p>
            <a:pPr rtl="1" algn="r" indent="0" marL="0">
              <a:buNone/>
            </a:pPr>
            <a:r>
              <a:rPr lang="en-US" sz="1000" dirty="0">
                <a:solidFill>
                  <a:srgbClr val="5C7378"/>
                </a:solidFill>
                <a:latin typeface="Arial" pitchFamily="34" charset="0"/>
                <a:ea typeface="Arial" pitchFamily="34" charset="-122"/>
                <a:cs typeface="Arial" pitchFamily="34" charset="-120"/>
              </a:rPr>
              <a:t>الاستعلام أعاد صفرًا</a:t>
            </a:r>
            <a:endParaRPr lang="en-US" sz="1000" dirty="0"/>
          </a:p>
        </p:txBody>
      </p:sp>
      <p:pic>
        <p:nvPicPr>
          <p:cNvPr id="20" name="Image 2" descr="preencoded.png">    </p:cNvPr>
          <p:cNvPicPr>
            <a:picLocks noChangeAspect="1"/>
          </p:cNvPicPr>
          <p:nvPr/>
        </p:nvPicPr>
        <p:blipFill>
          <a:blip r:embed="rId3"/>
          <a:stretch>
            <a:fillRect/>
          </a:stretch>
        </p:blipFill>
        <p:spPr>
          <a:xfrm>
            <a:off x="8031175" y="3502152"/>
            <a:ext cx="182880" cy="182880"/>
          </a:xfrm>
          <a:prstGeom prst="rect">
            <a:avLst/>
          </a:prstGeom>
        </p:spPr>
      </p:pic>
      <p:sp>
        <p:nvSpPr>
          <p:cNvPr id="21" name="Text 16"/>
          <p:cNvSpPr txBox="1"/>
          <p:nvPr/>
        </p:nvSpPr>
        <p:spPr>
          <a:xfrm>
            <a:off x="804672" y="3236976"/>
            <a:ext cx="7116775" cy="713232"/>
          </a:xfrm>
          <a:prstGeom prst="rect">
            <a:avLst/>
          </a:prstGeom>
          <a:noFill/>
          <a:ln/>
        </p:spPr>
        <p:txBody>
          <a:bodyPr wrap="square" lIns="0" tIns="0" rIns="0" bIns="0" rtlCol="0" anchor="ctr"/>
          <a:lstStyle/>
          <a:p>
            <a:pPr rtl="1" algn="r" indent="0" marL="0">
              <a:lnSpc>
                <a:spcPts val="1600"/>
              </a:lnSpc>
              <a:buNone/>
            </a:pPr>
            <a:r>
              <a:rPr lang="en-US" sz="1250" dirty="0">
                <a:solidFill>
                  <a:srgbClr val="16292E"/>
                </a:solidFill>
                <a:latin typeface="Arial" pitchFamily="34" charset="0"/>
                <a:ea typeface="Arial" pitchFamily="34" charset="-122"/>
                <a:cs typeface="Arial" pitchFamily="34" charset="-120"/>
              </a:rPr>
              <a:t>«لم أجد» تختلف عن «صفر»: نبرتان مختلفتان في الواجهة</a:t>
            </a:r>
            <a:endParaRPr lang="en-US" sz="1250" dirty="0"/>
          </a:p>
        </p:txBody>
      </p:sp>
      <p:sp>
        <p:nvSpPr>
          <p:cNvPr id="22" name="Shape 17"/>
          <p:cNvSpPr/>
          <p:nvPr/>
        </p:nvSpPr>
        <p:spPr>
          <a:xfrm>
            <a:off x="548640" y="4069080"/>
            <a:ext cx="11094415" cy="713232"/>
          </a:xfrm>
          <a:prstGeom prst="roundRect">
            <a:avLst>
              <a:gd name="adj" fmla="val 10256"/>
            </a:avLst>
          </a:prstGeom>
          <a:solidFill>
            <a:srgbClr val="FFFFFF"/>
          </a:solidFill>
          <a:ln/>
          <a:effectLst>
            <a:outerShdw sx="100000" sy="100000" kx="0" ky="0" algn="bl" rotWithShape="0" blurRad="127000" dist="25400" dir="5400000">
              <a:srgbClr val="0A2E36">
                <a:alpha val="10000"/>
              </a:srgbClr>
            </a:outerShdw>
          </a:effectLst>
        </p:spPr>
      </p:sp>
      <p:sp>
        <p:nvSpPr>
          <p:cNvPr id="23" name="Shape 18"/>
          <p:cNvSpPr/>
          <p:nvPr/>
        </p:nvSpPr>
        <p:spPr>
          <a:xfrm>
            <a:off x="8396935" y="4169664"/>
            <a:ext cx="3063240" cy="512064"/>
          </a:xfrm>
          <a:prstGeom prst="roundRect">
            <a:avLst>
              <a:gd name="adj" fmla="val 10714"/>
            </a:avLst>
          </a:prstGeom>
          <a:solidFill>
            <a:srgbClr val="ECF4F4"/>
          </a:solidFill>
          <a:ln/>
        </p:spPr>
      </p:sp>
      <p:sp>
        <p:nvSpPr>
          <p:cNvPr id="24" name="Text 19"/>
          <p:cNvSpPr txBox="1"/>
          <p:nvPr/>
        </p:nvSpPr>
        <p:spPr>
          <a:xfrm>
            <a:off x="8488375" y="4206240"/>
            <a:ext cx="2880360" cy="256032"/>
          </a:xfrm>
          <a:prstGeom prst="rect">
            <a:avLst/>
          </a:prstGeom>
          <a:noFill/>
          <a:ln/>
        </p:spPr>
        <p:txBody>
          <a:bodyPr wrap="square" lIns="0" tIns="0" rIns="0" bIns="0" rtlCol="0" anchor="ctr"/>
          <a:lstStyle/>
          <a:p>
            <a:pPr rtl="1" algn="r" indent="0" marL="0">
              <a:buNone/>
            </a:pPr>
            <a:r>
              <a:rPr lang="en-US" sz="1300" b="1" dirty="0">
                <a:solidFill>
                  <a:srgbClr val="02717D"/>
                </a:solidFill>
                <a:latin typeface="Arial" pitchFamily="34" charset="0"/>
                <a:ea typeface="Arial" pitchFamily="34" charset="-122"/>
                <a:cs typeface="Arial" pitchFamily="34" charset="-120"/>
              </a:rPr>
              <a:t>سؤال غير مفهوم</a:t>
            </a:r>
            <a:endParaRPr lang="en-US" sz="1300" dirty="0"/>
          </a:p>
        </p:txBody>
      </p:sp>
      <p:sp>
        <p:nvSpPr>
          <p:cNvPr id="25" name="Text 20"/>
          <p:cNvSpPr txBox="1"/>
          <p:nvPr/>
        </p:nvSpPr>
        <p:spPr>
          <a:xfrm>
            <a:off x="8488375" y="4471416"/>
            <a:ext cx="2880360" cy="219456"/>
          </a:xfrm>
          <a:prstGeom prst="rect">
            <a:avLst/>
          </a:prstGeom>
          <a:noFill/>
          <a:ln/>
        </p:spPr>
        <p:txBody>
          <a:bodyPr wrap="square" lIns="0" tIns="0" rIns="0" bIns="0" rtlCol="0" anchor="ctr"/>
          <a:lstStyle/>
          <a:p>
            <a:pPr rtl="1" algn="r" indent="0" marL="0">
              <a:buNone/>
            </a:pPr>
            <a:r>
              <a:rPr lang="en-US" sz="1000" dirty="0">
                <a:solidFill>
                  <a:srgbClr val="5C7378"/>
                </a:solidFill>
                <a:latin typeface="Arial" pitchFamily="34" charset="0"/>
                <a:ea typeface="Arial" pitchFamily="34" charset="-122"/>
                <a:cs typeface="Arial" pitchFamily="34" charset="-120"/>
              </a:rPr>
              <a:t>لا نيّة طالبت به</a:t>
            </a:r>
            <a:endParaRPr lang="en-US" sz="1000" dirty="0"/>
          </a:p>
        </p:txBody>
      </p:sp>
      <p:pic>
        <p:nvPicPr>
          <p:cNvPr id="26" name="Image 3" descr="preencoded.png">    </p:cNvPr>
          <p:cNvPicPr>
            <a:picLocks noChangeAspect="1"/>
          </p:cNvPicPr>
          <p:nvPr/>
        </p:nvPicPr>
        <p:blipFill>
          <a:blip r:embed="rId4"/>
          <a:stretch>
            <a:fillRect/>
          </a:stretch>
        </p:blipFill>
        <p:spPr>
          <a:xfrm>
            <a:off x="8031175" y="4334256"/>
            <a:ext cx="182880" cy="182880"/>
          </a:xfrm>
          <a:prstGeom prst="rect">
            <a:avLst/>
          </a:prstGeom>
        </p:spPr>
      </p:pic>
      <p:sp>
        <p:nvSpPr>
          <p:cNvPr id="27" name="Text 21"/>
          <p:cNvSpPr txBox="1"/>
          <p:nvPr/>
        </p:nvSpPr>
        <p:spPr>
          <a:xfrm>
            <a:off x="804672" y="4069080"/>
            <a:ext cx="7116775" cy="713232"/>
          </a:xfrm>
          <a:prstGeom prst="rect">
            <a:avLst/>
          </a:prstGeom>
          <a:noFill/>
          <a:ln/>
        </p:spPr>
        <p:txBody>
          <a:bodyPr wrap="square" lIns="0" tIns="0" rIns="0" bIns="0" rtlCol="0" anchor="ctr"/>
          <a:lstStyle/>
          <a:p>
            <a:pPr rtl="1" algn="r" indent="0" marL="0">
              <a:lnSpc>
                <a:spcPts val="1600"/>
              </a:lnSpc>
              <a:buNone/>
            </a:pPr>
            <a:r>
              <a:rPr lang="en-US" sz="1250" dirty="0">
                <a:solidFill>
                  <a:srgbClr val="16292E"/>
                </a:solidFill>
                <a:latin typeface="Arial" pitchFamily="34" charset="0"/>
                <a:ea typeface="Arial" pitchFamily="34" charset="-122"/>
                <a:cs typeface="Arial" pitchFamily="34" charset="-120"/>
              </a:rPr>
              <a:t>بحث شامل احتياطي، ثم أمثلة على أسئلة يفهمها النظام</a:t>
            </a:r>
            <a:endParaRPr lang="en-US" sz="1250" dirty="0"/>
          </a:p>
        </p:txBody>
      </p:sp>
      <p:sp>
        <p:nvSpPr>
          <p:cNvPr id="28" name="Shape 22"/>
          <p:cNvSpPr/>
          <p:nvPr/>
        </p:nvSpPr>
        <p:spPr>
          <a:xfrm>
            <a:off x="548640" y="4901184"/>
            <a:ext cx="11094415" cy="713232"/>
          </a:xfrm>
          <a:prstGeom prst="roundRect">
            <a:avLst>
              <a:gd name="adj" fmla="val 10256"/>
            </a:avLst>
          </a:prstGeom>
          <a:solidFill>
            <a:srgbClr val="FFFFFF"/>
          </a:solidFill>
          <a:ln/>
          <a:effectLst>
            <a:outerShdw sx="100000" sy="100000" kx="0" ky="0" algn="bl" rotWithShape="0" blurRad="127000" dist="25400" dir="5400000">
              <a:srgbClr val="0A2E36">
                <a:alpha val="10000"/>
              </a:srgbClr>
            </a:outerShdw>
          </a:effectLst>
        </p:spPr>
      </p:sp>
      <p:sp>
        <p:nvSpPr>
          <p:cNvPr id="29" name="Shape 23"/>
          <p:cNvSpPr/>
          <p:nvPr/>
        </p:nvSpPr>
        <p:spPr>
          <a:xfrm>
            <a:off x="8396935" y="5001768"/>
            <a:ext cx="3063240" cy="512064"/>
          </a:xfrm>
          <a:prstGeom prst="roundRect">
            <a:avLst>
              <a:gd name="adj" fmla="val 10714"/>
            </a:avLst>
          </a:prstGeom>
          <a:solidFill>
            <a:srgbClr val="ECF4F4"/>
          </a:solidFill>
          <a:ln/>
        </p:spPr>
      </p:sp>
      <p:sp>
        <p:nvSpPr>
          <p:cNvPr id="30" name="Text 24"/>
          <p:cNvSpPr txBox="1"/>
          <p:nvPr/>
        </p:nvSpPr>
        <p:spPr>
          <a:xfrm>
            <a:off x="8488375" y="5038344"/>
            <a:ext cx="2880360" cy="256032"/>
          </a:xfrm>
          <a:prstGeom prst="rect">
            <a:avLst/>
          </a:prstGeom>
          <a:noFill/>
          <a:ln/>
        </p:spPr>
        <p:txBody>
          <a:bodyPr wrap="square" lIns="0" tIns="0" rIns="0" bIns="0" rtlCol="0" anchor="ctr"/>
          <a:lstStyle/>
          <a:p>
            <a:pPr rtl="1" algn="r" indent="0" marL="0">
              <a:buNone/>
            </a:pPr>
            <a:r>
              <a:rPr lang="en-US" sz="1300" b="1" dirty="0">
                <a:solidFill>
                  <a:srgbClr val="02717D"/>
                </a:solidFill>
                <a:latin typeface="Arial" pitchFamily="34" charset="0"/>
                <a:ea typeface="Arial" pitchFamily="34" charset="-122"/>
                <a:cs typeface="Arial" pitchFamily="34" charset="-120"/>
              </a:rPr>
              <a:t>خطأ غير متوقع</a:t>
            </a:r>
            <a:endParaRPr lang="en-US" sz="1300" dirty="0"/>
          </a:p>
        </p:txBody>
      </p:sp>
      <p:sp>
        <p:nvSpPr>
          <p:cNvPr id="31" name="Text 25"/>
          <p:cNvSpPr txBox="1"/>
          <p:nvPr/>
        </p:nvSpPr>
        <p:spPr>
          <a:xfrm>
            <a:off x="8488375" y="5303520"/>
            <a:ext cx="2880360" cy="219456"/>
          </a:xfrm>
          <a:prstGeom prst="rect">
            <a:avLst/>
          </a:prstGeom>
          <a:noFill/>
          <a:ln/>
        </p:spPr>
        <p:txBody>
          <a:bodyPr wrap="square" lIns="0" tIns="0" rIns="0" bIns="0" rtlCol="0" anchor="ctr"/>
          <a:lstStyle/>
          <a:p>
            <a:pPr rtl="1" algn="r" indent="0" marL="0">
              <a:buNone/>
            </a:pPr>
            <a:r>
              <a:rPr lang="en-US" sz="1000" dirty="0">
                <a:solidFill>
                  <a:srgbClr val="5C7378"/>
                </a:solidFill>
                <a:latin typeface="Arial" pitchFamily="34" charset="0"/>
                <a:ea typeface="Arial" pitchFamily="34" charset="-122"/>
                <a:cs typeface="Arial" pitchFamily="34" charset="-120"/>
              </a:rPr>
              <a:t>عطل برمجي أو انقطاع</a:t>
            </a:r>
            <a:endParaRPr lang="en-US" sz="1000" dirty="0"/>
          </a:p>
        </p:txBody>
      </p:sp>
      <p:pic>
        <p:nvPicPr>
          <p:cNvPr id="32" name="Image 4" descr="preencoded.png">    </p:cNvPr>
          <p:cNvPicPr>
            <a:picLocks noChangeAspect="1"/>
          </p:cNvPicPr>
          <p:nvPr/>
        </p:nvPicPr>
        <p:blipFill>
          <a:blip r:embed="rId5"/>
          <a:stretch>
            <a:fillRect/>
          </a:stretch>
        </p:blipFill>
        <p:spPr>
          <a:xfrm>
            <a:off x="8031175" y="5166360"/>
            <a:ext cx="182880" cy="182880"/>
          </a:xfrm>
          <a:prstGeom prst="rect">
            <a:avLst/>
          </a:prstGeom>
        </p:spPr>
      </p:pic>
      <p:sp>
        <p:nvSpPr>
          <p:cNvPr id="33" name="Text 26"/>
          <p:cNvSpPr txBox="1"/>
          <p:nvPr/>
        </p:nvSpPr>
        <p:spPr>
          <a:xfrm>
            <a:off x="804672" y="4901184"/>
            <a:ext cx="7116775" cy="713232"/>
          </a:xfrm>
          <a:prstGeom prst="rect">
            <a:avLst/>
          </a:prstGeom>
          <a:noFill/>
          <a:ln/>
        </p:spPr>
        <p:txBody>
          <a:bodyPr wrap="square" lIns="0" tIns="0" rIns="0" bIns="0" rtlCol="0" anchor="ctr"/>
          <a:lstStyle/>
          <a:p>
            <a:pPr rtl="1" algn="r" indent="0" marL="0">
              <a:lnSpc>
                <a:spcPts val="1600"/>
              </a:lnSpc>
              <a:buNone/>
            </a:pPr>
            <a:r>
              <a:rPr lang="en-US" sz="1250" dirty="0">
                <a:solidFill>
                  <a:srgbClr val="16292E"/>
                </a:solidFill>
                <a:latin typeface="Arial" pitchFamily="34" charset="0"/>
                <a:ea typeface="Arial" pitchFamily="34" charset="-122"/>
                <a:cs typeface="Arial" pitchFamily="34" charset="-120"/>
              </a:rPr>
              <a:t>ردّ لبق للمستخدم (HTTP 200) + الاستثناء كاملًا في سجل المطوّر</a:t>
            </a:r>
            <a:endParaRPr lang="en-US" sz="1250" dirty="0"/>
          </a:p>
        </p:txBody>
      </p:sp>
      <p:sp>
        <p:nvSpPr>
          <p:cNvPr id="34" name="Shape 27"/>
          <p:cNvSpPr/>
          <p:nvPr/>
        </p:nvSpPr>
        <p:spPr>
          <a:xfrm>
            <a:off x="548640" y="5742432"/>
            <a:ext cx="11094415" cy="713232"/>
          </a:xfrm>
          <a:prstGeom prst="roundRect">
            <a:avLst>
              <a:gd name="adj" fmla="val 12821"/>
            </a:avLst>
          </a:prstGeom>
          <a:solidFill>
            <a:srgbClr val="0A2E36"/>
          </a:solidFill>
          <a:ln/>
        </p:spPr>
      </p:sp>
      <p:sp>
        <p:nvSpPr>
          <p:cNvPr id="35" name="Shape 28"/>
          <p:cNvSpPr/>
          <p:nvPr/>
        </p:nvSpPr>
        <p:spPr>
          <a:xfrm>
            <a:off x="10984687" y="5897880"/>
            <a:ext cx="402336" cy="402336"/>
          </a:xfrm>
          <a:prstGeom prst="ellipse">
            <a:avLst/>
          </a:prstGeom>
          <a:solidFill>
            <a:srgbClr val="E9A13B"/>
          </a:solidFill>
          <a:ln/>
        </p:spPr>
      </p:sp>
      <p:pic>
        <p:nvPicPr>
          <p:cNvPr id="36" name="Image 5" descr="preencoded.png">    </p:cNvPr>
          <p:cNvPicPr>
            <a:picLocks noChangeAspect="1"/>
          </p:cNvPicPr>
          <p:nvPr/>
        </p:nvPicPr>
        <p:blipFill>
          <a:blip r:embed="rId6"/>
          <a:stretch>
            <a:fillRect/>
          </a:stretch>
        </p:blipFill>
        <p:spPr>
          <a:xfrm>
            <a:off x="11094415" y="6007608"/>
            <a:ext cx="182880" cy="182880"/>
          </a:xfrm>
          <a:prstGeom prst="rect">
            <a:avLst/>
          </a:prstGeom>
        </p:spPr>
      </p:pic>
      <p:sp>
        <p:nvSpPr>
          <p:cNvPr id="37" name="Text 29"/>
          <p:cNvSpPr txBox="1"/>
          <p:nvPr/>
        </p:nvSpPr>
        <p:spPr>
          <a:xfrm>
            <a:off x="5059375" y="5742432"/>
            <a:ext cx="5852160" cy="713232"/>
          </a:xfrm>
          <a:prstGeom prst="rect">
            <a:avLst/>
          </a:prstGeom>
          <a:noFill/>
          <a:ln/>
        </p:spPr>
        <p:txBody>
          <a:bodyPr wrap="square" lIns="0" tIns="0" rIns="0" bIns="0" rtlCol="0" anchor="ctr"/>
          <a:lstStyle/>
          <a:p>
            <a:pPr rtl="1" algn="r" indent="0" marL="0">
              <a:buNone/>
            </a:pPr>
            <a:r>
              <a:rPr lang="en-US" sz="1400" b="1" dirty="0">
                <a:solidFill>
                  <a:srgbClr val="FFFFFF"/>
                </a:solidFill>
                <a:latin typeface="Arial" pitchFamily="34" charset="0"/>
                <a:ea typeface="Arial" pitchFamily="34" charset="-122"/>
                <a:cs typeface="Arial" pitchFamily="34" charset="-120"/>
              </a:rPr>
              <a:t>صندوق الحوار لا يردّ أبدًا بـ Error 500</a:t>
            </a:r>
            <a:endParaRPr lang="en-US" sz="1400" dirty="0"/>
          </a:p>
        </p:txBody>
      </p:sp>
      <p:sp>
        <p:nvSpPr>
          <p:cNvPr id="38" name="Text 30"/>
          <p:cNvSpPr txBox="1"/>
          <p:nvPr/>
        </p:nvSpPr>
        <p:spPr>
          <a:xfrm>
            <a:off x="822960" y="5742432"/>
            <a:ext cx="4114800" cy="713232"/>
          </a:xfrm>
          <a:prstGeom prst="rect">
            <a:avLst/>
          </a:prstGeom>
          <a:noFill/>
          <a:ln/>
        </p:spPr>
        <p:txBody>
          <a:bodyPr wrap="square" lIns="0" tIns="0" rIns="0" bIns="0" rtlCol="0" anchor="ctr"/>
          <a:lstStyle/>
          <a:p>
            <a:pPr rtl="1" algn="r" indent="0" marL="0">
              <a:buNone/>
            </a:pPr>
            <a:r>
              <a:rPr lang="en-US" sz="1150" dirty="0">
                <a:solidFill>
                  <a:srgbClr val="BFD4D7"/>
                </a:solidFill>
                <a:latin typeface="Arial" pitchFamily="34" charset="0"/>
                <a:ea typeface="Arial" pitchFamily="34" charset="-122"/>
                <a:cs typeface="Arial" pitchFamily="34" charset="-120"/>
              </a:rPr>
              <a:t>قد يعجز عن الإجابة، لكنه لا ينهار، ولا يخترع إجابة، ولا يفشل بصمت</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0515600" y="-2148840"/>
            <a:ext cx="3291840" cy="3291840"/>
          </a:xfrm>
          <a:prstGeom prst="ellipse">
            <a:avLst/>
          </a:prstGeom>
          <a:solidFill>
            <a:srgbClr val="113E48"/>
          </a:solidFill>
          <a:ln/>
        </p:spPr>
      </p:sp>
      <p:sp>
        <p:nvSpPr>
          <p:cNvPr id="3" name="Text 1"/>
          <p:cNvSpPr txBox="1"/>
          <p:nvPr/>
        </p:nvSpPr>
        <p:spPr>
          <a:xfrm>
            <a:off x="548640" y="384048"/>
            <a:ext cx="11094415" cy="274320"/>
          </a:xfrm>
          <a:prstGeom prst="rect">
            <a:avLst/>
          </a:prstGeom>
          <a:noFill/>
          <a:ln/>
        </p:spPr>
        <p:txBody>
          <a:bodyPr wrap="square" lIns="0" tIns="0" rIns="0" bIns="0" rtlCol="0" anchor="ctr"/>
          <a:lstStyle/>
          <a:p>
            <a:pPr rtl="1" algn="r" indent="0" marL="0">
              <a:buNone/>
            </a:pPr>
            <a:r>
              <a:rPr lang="en-US" sz="1300" b="1" spc="100" kern="0" dirty="0">
                <a:solidFill>
                  <a:srgbClr val="E9A13B"/>
                </a:solidFill>
                <a:latin typeface="Arial" pitchFamily="34" charset="0"/>
                <a:ea typeface="Arial" pitchFamily="34" charset="-122"/>
                <a:cs typeface="Arial" pitchFamily="34" charset="-120"/>
              </a:rPr>
              <a:t>الخاتمة</a:t>
            </a:r>
            <a:endParaRPr lang="en-US" sz="1300" dirty="0"/>
          </a:p>
        </p:txBody>
      </p:sp>
      <p:sp>
        <p:nvSpPr>
          <p:cNvPr id="4" name="Text 2"/>
          <p:cNvSpPr txBox="1"/>
          <p:nvPr/>
        </p:nvSpPr>
        <p:spPr>
          <a:xfrm>
            <a:off x="548640" y="694944"/>
            <a:ext cx="11094415" cy="548640"/>
          </a:xfrm>
          <a:prstGeom prst="rect">
            <a:avLst/>
          </a:prstGeom>
          <a:noFill/>
          <a:ln/>
        </p:spPr>
        <p:txBody>
          <a:bodyPr wrap="square" lIns="0" tIns="0" rIns="0" bIns="0"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الخلاصة والتطلعات</a:t>
            </a:r>
            <a:endParaRPr lang="en-US" sz="3400" dirty="0"/>
          </a:p>
        </p:txBody>
      </p:sp>
      <p:sp>
        <p:nvSpPr>
          <p:cNvPr id="5" name="Text 3"/>
          <p:cNvSpPr txBox="1"/>
          <p:nvPr/>
        </p:nvSpPr>
        <p:spPr>
          <a:xfrm>
            <a:off x="6278728" y="1481328"/>
            <a:ext cx="5364328" cy="310896"/>
          </a:xfrm>
          <a:prstGeom prst="rect">
            <a:avLst/>
          </a:prstGeom>
          <a:noFill/>
          <a:ln/>
        </p:spPr>
        <p:txBody>
          <a:bodyPr wrap="square" lIns="0" tIns="0" rIns="0" bIns="0" rtlCol="0" anchor="ctr"/>
          <a:lstStyle/>
          <a:p>
            <a:pPr rtl="1" algn="r" indent="0" marL="0">
              <a:buNone/>
            </a:pPr>
            <a:r>
              <a:rPr lang="en-US" sz="1600" b="1" dirty="0">
                <a:solidFill>
                  <a:srgbClr val="00A896"/>
                </a:solidFill>
                <a:latin typeface="Arial" pitchFamily="34" charset="0"/>
                <a:ea typeface="Arial" pitchFamily="34" charset="-122"/>
                <a:cs typeface="Arial" pitchFamily="34" charset="-120"/>
              </a:rPr>
              <a:t>ما أُنجز</a:t>
            </a:r>
            <a:endParaRPr lang="en-US" sz="1600" dirty="0"/>
          </a:p>
        </p:txBody>
      </p:sp>
      <p:sp>
        <p:nvSpPr>
          <p:cNvPr id="6" name="Shape 4"/>
          <p:cNvSpPr/>
          <p:nvPr/>
        </p:nvSpPr>
        <p:spPr>
          <a:xfrm>
            <a:off x="6278728" y="1938528"/>
            <a:ext cx="5364328" cy="530352"/>
          </a:xfrm>
          <a:prstGeom prst="roundRect">
            <a:avLst>
              <a:gd name="adj" fmla="val 13793"/>
            </a:avLst>
          </a:prstGeom>
          <a:solidFill>
            <a:srgbClr val="113E48"/>
          </a:solidFill>
          <a:ln/>
        </p:spPr>
      </p:sp>
      <p:sp>
        <p:nvSpPr>
          <p:cNvPr id="7" name="Shape 5"/>
          <p:cNvSpPr/>
          <p:nvPr/>
        </p:nvSpPr>
        <p:spPr>
          <a:xfrm>
            <a:off x="11076127" y="2075688"/>
            <a:ext cx="256032" cy="256032"/>
          </a:xfrm>
          <a:prstGeom prst="ellipse">
            <a:avLst/>
          </a:prstGeom>
          <a:solidFill>
            <a:srgbClr val="00A896"/>
          </a:solidFill>
          <a:ln/>
        </p:spPr>
      </p:sp>
      <p:pic>
        <p:nvPicPr>
          <p:cNvPr id="8" name="Image 0" descr="preencoded.png">    </p:cNvPr>
          <p:cNvPicPr>
            <a:picLocks noChangeAspect="1"/>
          </p:cNvPicPr>
          <p:nvPr/>
        </p:nvPicPr>
        <p:blipFill>
          <a:blip r:embed="rId1"/>
          <a:stretch>
            <a:fillRect/>
          </a:stretch>
        </p:blipFill>
        <p:spPr>
          <a:xfrm>
            <a:off x="11140135" y="2139696"/>
            <a:ext cx="128016" cy="128016"/>
          </a:xfrm>
          <a:prstGeom prst="rect">
            <a:avLst/>
          </a:prstGeom>
        </p:spPr>
      </p:pic>
      <p:sp>
        <p:nvSpPr>
          <p:cNvPr id="9" name="Text 6"/>
          <p:cNvSpPr txBox="1"/>
          <p:nvPr/>
        </p:nvSpPr>
        <p:spPr>
          <a:xfrm>
            <a:off x="6479896" y="1938528"/>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نظام متكامل بـ ٦ وحدات و٧ أدوار</a:t>
            </a:r>
            <a:endParaRPr lang="en-US" sz="1250" dirty="0"/>
          </a:p>
        </p:txBody>
      </p:sp>
      <p:sp>
        <p:nvSpPr>
          <p:cNvPr id="10" name="Shape 7"/>
          <p:cNvSpPr/>
          <p:nvPr/>
        </p:nvSpPr>
        <p:spPr>
          <a:xfrm>
            <a:off x="6278728" y="2596896"/>
            <a:ext cx="5364328" cy="530352"/>
          </a:xfrm>
          <a:prstGeom prst="roundRect">
            <a:avLst>
              <a:gd name="adj" fmla="val 13793"/>
            </a:avLst>
          </a:prstGeom>
          <a:solidFill>
            <a:srgbClr val="113E48"/>
          </a:solidFill>
          <a:ln/>
        </p:spPr>
      </p:sp>
      <p:sp>
        <p:nvSpPr>
          <p:cNvPr id="11" name="Shape 8"/>
          <p:cNvSpPr/>
          <p:nvPr/>
        </p:nvSpPr>
        <p:spPr>
          <a:xfrm>
            <a:off x="11076127" y="2734056"/>
            <a:ext cx="256032" cy="256032"/>
          </a:xfrm>
          <a:prstGeom prst="ellipse">
            <a:avLst/>
          </a:prstGeom>
          <a:solidFill>
            <a:srgbClr val="00A896"/>
          </a:solidFill>
          <a:ln/>
        </p:spPr>
      </p:sp>
      <p:pic>
        <p:nvPicPr>
          <p:cNvPr id="12" name="Image 1" descr="preencoded.png">    </p:cNvPr>
          <p:cNvPicPr>
            <a:picLocks noChangeAspect="1"/>
          </p:cNvPicPr>
          <p:nvPr/>
        </p:nvPicPr>
        <p:blipFill>
          <a:blip r:embed="rId2"/>
          <a:stretch>
            <a:fillRect/>
          </a:stretch>
        </p:blipFill>
        <p:spPr>
          <a:xfrm>
            <a:off x="11140135" y="2798064"/>
            <a:ext cx="128016" cy="128016"/>
          </a:xfrm>
          <a:prstGeom prst="rect">
            <a:avLst/>
          </a:prstGeom>
        </p:spPr>
      </p:pic>
      <p:sp>
        <p:nvSpPr>
          <p:cNvPr id="13" name="Text 9"/>
          <p:cNvSpPr txBox="1"/>
          <p:nvPr/>
        </p:nvSpPr>
        <p:spPr>
          <a:xfrm>
            <a:off x="6479896" y="2596896"/>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مساعد ذكي بالعربية دون نموذج لغوي خارجي</a:t>
            </a:r>
            <a:endParaRPr lang="en-US" sz="1250" dirty="0"/>
          </a:p>
        </p:txBody>
      </p:sp>
      <p:sp>
        <p:nvSpPr>
          <p:cNvPr id="14" name="Shape 10"/>
          <p:cNvSpPr/>
          <p:nvPr/>
        </p:nvSpPr>
        <p:spPr>
          <a:xfrm>
            <a:off x="6278728" y="3255264"/>
            <a:ext cx="5364328" cy="530352"/>
          </a:xfrm>
          <a:prstGeom prst="roundRect">
            <a:avLst>
              <a:gd name="adj" fmla="val 13793"/>
            </a:avLst>
          </a:prstGeom>
          <a:solidFill>
            <a:srgbClr val="113E48"/>
          </a:solidFill>
          <a:ln/>
        </p:spPr>
      </p:sp>
      <p:sp>
        <p:nvSpPr>
          <p:cNvPr id="15" name="Shape 11"/>
          <p:cNvSpPr/>
          <p:nvPr/>
        </p:nvSpPr>
        <p:spPr>
          <a:xfrm>
            <a:off x="11076127" y="3392424"/>
            <a:ext cx="256032" cy="256032"/>
          </a:xfrm>
          <a:prstGeom prst="ellipse">
            <a:avLst/>
          </a:prstGeom>
          <a:solidFill>
            <a:srgbClr val="00A896"/>
          </a:solidFill>
          <a:ln/>
        </p:spPr>
      </p:sp>
      <p:pic>
        <p:nvPicPr>
          <p:cNvPr id="16" name="Image 2" descr="preencoded.png">    </p:cNvPr>
          <p:cNvPicPr>
            <a:picLocks noChangeAspect="1"/>
          </p:cNvPicPr>
          <p:nvPr/>
        </p:nvPicPr>
        <p:blipFill>
          <a:blip r:embed="rId3"/>
          <a:stretch>
            <a:fillRect/>
          </a:stretch>
        </p:blipFill>
        <p:spPr>
          <a:xfrm>
            <a:off x="11140135" y="3456432"/>
            <a:ext cx="128016" cy="128016"/>
          </a:xfrm>
          <a:prstGeom prst="rect">
            <a:avLst/>
          </a:prstGeom>
        </p:spPr>
      </p:pic>
      <p:sp>
        <p:nvSpPr>
          <p:cNvPr id="17" name="Text 12"/>
          <p:cNvSpPr txBox="1"/>
          <p:nvPr/>
        </p:nvSpPr>
        <p:spPr>
          <a:xfrm>
            <a:off x="6479896" y="3255264"/>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٢٦٢ اختبارًا آليًا وتكامل مستمر</a:t>
            </a:r>
            <a:endParaRPr lang="en-US" sz="1250" dirty="0"/>
          </a:p>
        </p:txBody>
      </p:sp>
      <p:sp>
        <p:nvSpPr>
          <p:cNvPr id="18" name="Shape 13"/>
          <p:cNvSpPr/>
          <p:nvPr/>
        </p:nvSpPr>
        <p:spPr>
          <a:xfrm>
            <a:off x="6278728" y="3913632"/>
            <a:ext cx="5364328" cy="530352"/>
          </a:xfrm>
          <a:prstGeom prst="roundRect">
            <a:avLst>
              <a:gd name="adj" fmla="val 13793"/>
            </a:avLst>
          </a:prstGeom>
          <a:solidFill>
            <a:srgbClr val="113E48"/>
          </a:solidFill>
          <a:ln/>
        </p:spPr>
      </p:sp>
      <p:sp>
        <p:nvSpPr>
          <p:cNvPr id="19" name="Shape 14"/>
          <p:cNvSpPr/>
          <p:nvPr/>
        </p:nvSpPr>
        <p:spPr>
          <a:xfrm>
            <a:off x="11076127" y="4050792"/>
            <a:ext cx="256032" cy="256032"/>
          </a:xfrm>
          <a:prstGeom prst="ellipse">
            <a:avLst/>
          </a:prstGeom>
          <a:solidFill>
            <a:srgbClr val="00A896"/>
          </a:solidFill>
          <a:ln/>
        </p:spPr>
      </p:sp>
      <p:pic>
        <p:nvPicPr>
          <p:cNvPr id="20" name="Image 3" descr="preencoded.png">    </p:cNvPr>
          <p:cNvPicPr>
            <a:picLocks noChangeAspect="1"/>
          </p:cNvPicPr>
          <p:nvPr/>
        </p:nvPicPr>
        <p:blipFill>
          <a:blip r:embed="rId4"/>
          <a:stretch>
            <a:fillRect/>
          </a:stretch>
        </p:blipFill>
        <p:spPr>
          <a:xfrm>
            <a:off x="11140135" y="4114800"/>
            <a:ext cx="128016" cy="128016"/>
          </a:xfrm>
          <a:prstGeom prst="rect">
            <a:avLst/>
          </a:prstGeom>
        </p:spPr>
      </p:pic>
      <p:sp>
        <p:nvSpPr>
          <p:cNvPr id="21" name="Text 15"/>
          <p:cNvSpPr txBox="1"/>
          <p:nvPr/>
        </p:nvSpPr>
        <p:spPr>
          <a:xfrm>
            <a:off x="6479896" y="3913632"/>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معالجة صريحة للحالات الحرجة</a:t>
            </a:r>
            <a:endParaRPr lang="en-US" sz="1250" dirty="0"/>
          </a:p>
        </p:txBody>
      </p:sp>
      <p:sp>
        <p:nvSpPr>
          <p:cNvPr id="22" name="Text 16"/>
          <p:cNvSpPr txBox="1"/>
          <p:nvPr/>
        </p:nvSpPr>
        <p:spPr>
          <a:xfrm>
            <a:off x="548640" y="1481328"/>
            <a:ext cx="5364328" cy="310896"/>
          </a:xfrm>
          <a:prstGeom prst="rect">
            <a:avLst/>
          </a:prstGeom>
          <a:noFill/>
          <a:ln/>
        </p:spPr>
        <p:txBody>
          <a:bodyPr wrap="square" lIns="0" tIns="0" rIns="0" bIns="0" rtlCol="0" anchor="ctr"/>
          <a:lstStyle/>
          <a:p>
            <a:pPr rtl="1" algn="r" indent="0" marL="0">
              <a:buNone/>
            </a:pPr>
            <a:r>
              <a:rPr lang="en-US" sz="1600" b="1" dirty="0">
                <a:solidFill>
                  <a:srgbClr val="E9A13B"/>
                </a:solidFill>
                <a:latin typeface="Arial" pitchFamily="34" charset="0"/>
                <a:ea typeface="Arial" pitchFamily="34" charset="-122"/>
                <a:cs typeface="Arial" pitchFamily="34" charset="-120"/>
              </a:rPr>
              <a:t>التطوير المستقبلي</a:t>
            </a:r>
            <a:endParaRPr lang="en-US" sz="1600" dirty="0"/>
          </a:p>
        </p:txBody>
      </p:sp>
      <p:sp>
        <p:nvSpPr>
          <p:cNvPr id="23" name="Shape 17"/>
          <p:cNvSpPr/>
          <p:nvPr/>
        </p:nvSpPr>
        <p:spPr>
          <a:xfrm>
            <a:off x="548640" y="1938528"/>
            <a:ext cx="5364328" cy="530352"/>
          </a:xfrm>
          <a:prstGeom prst="roundRect">
            <a:avLst>
              <a:gd name="adj" fmla="val 13793"/>
            </a:avLst>
          </a:prstGeom>
          <a:solidFill>
            <a:srgbClr val="113E48"/>
          </a:solidFill>
          <a:ln/>
        </p:spPr>
      </p:sp>
      <p:sp>
        <p:nvSpPr>
          <p:cNvPr id="24" name="Shape 18"/>
          <p:cNvSpPr/>
          <p:nvPr/>
        </p:nvSpPr>
        <p:spPr>
          <a:xfrm>
            <a:off x="5346040" y="2075688"/>
            <a:ext cx="256032" cy="256032"/>
          </a:xfrm>
          <a:prstGeom prst="ellipse">
            <a:avLst/>
          </a:prstGeom>
          <a:solidFill>
            <a:srgbClr val="E9A13B"/>
          </a:solidFill>
          <a:ln/>
        </p:spPr>
      </p:sp>
      <p:pic>
        <p:nvPicPr>
          <p:cNvPr id="25" name="Image 4" descr="preencoded.png">    </p:cNvPr>
          <p:cNvPicPr>
            <a:picLocks noChangeAspect="1"/>
          </p:cNvPicPr>
          <p:nvPr/>
        </p:nvPicPr>
        <p:blipFill>
          <a:blip r:embed="rId5"/>
          <a:stretch>
            <a:fillRect/>
          </a:stretch>
        </p:blipFill>
        <p:spPr>
          <a:xfrm>
            <a:off x="5410048" y="2139696"/>
            <a:ext cx="128016" cy="128016"/>
          </a:xfrm>
          <a:prstGeom prst="rect">
            <a:avLst/>
          </a:prstGeom>
        </p:spPr>
      </p:pic>
      <p:sp>
        <p:nvSpPr>
          <p:cNvPr id="26" name="Text 19"/>
          <p:cNvSpPr txBox="1"/>
          <p:nvPr/>
        </p:nvSpPr>
        <p:spPr>
          <a:xfrm>
            <a:off x="749808" y="1938528"/>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تطبيق جوّال للبوابات بمسح الباركود</a:t>
            </a:r>
            <a:endParaRPr lang="en-US" sz="1250" dirty="0"/>
          </a:p>
        </p:txBody>
      </p:sp>
      <p:sp>
        <p:nvSpPr>
          <p:cNvPr id="27" name="Shape 20"/>
          <p:cNvSpPr/>
          <p:nvPr/>
        </p:nvSpPr>
        <p:spPr>
          <a:xfrm>
            <a:off x="548640" y="2596896"/>
            <a:ext cx="5364328" cy="530352"/>
          </a:xfrm>
          <a:prstGeom prst="roundRect">
            <a:avLst>
              <a:gd name="adj" fmla="val 13793"/>
            </a:avLst>
          </a:prstGeom>
          <a:solidFill>
            <a:srgbClr val="113E48"/>
          </a:solidFill>
          <a:ln/>
        </p:spPr>
      </p:sp>
      <p:sp>
        <p:nvSpPr>
          <p:cNvPr id="28" name="Shape 21"/>
          <p:cNvSpPr/>
          <p:nvPr/>
        </p:nvSpPr>
        <p:spPr>
          <a:xfrm>
            <a:off x="5346040" y="2734056"/>
            <a:ext cx="256032" cy="256032"/>
          </a:xfrm>
          <a:prstGeom prst="ellipse">
            <a:avLst/>
          </a:prstGeom>
          <a:solidFill>
            <a:srgbClr val="E9A13B"/>
          </a:solidFill>
          <a:ln/>
        </p:spPr>
      </p:sp>
      <p:pic>
        <p:nvPicPr>
          <p:cNvPr id="29" name="Image 5" descr="preencoded.png">    </p:cNvPr>
          <p:cNvPicPr>
            <a:picLocks noChangeAspect="1"/>
          </p:cNvPicPr>
          <p:nvPr/>
        </p:nvPicPr>
        <p:blipFill>
          <a:blip r:embed="rId6"/>
          <a:stretch>
            <a:fillRect/>
          </a:stretch>
        </p:blipFill>
        <p:spPr>
          <a:xfrm>
            <a:off x="5410048" y="2798064"/>
            <a:ext cx="128016" cy="128016"/>
          </a:xfrm>
          <a:prstGeom prst="rect">
            <a:avLst/>
          </a:prstGeom>
        </p:spPr>
      </p:pic>
      <p:sp>
        <p:nvSpPr>
          <p:cNvPr id="30" name="Text 22"/>
          <p:cNvSpPr txBox="1"/>
          <p:nvPr/>
        </p:nvSpPr>
        <p:spPr>
          <a:xfrm>
            <a:off x="749808" y="2596896"/>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دعم متعدد اللغات</a:t>
            </a:r>
            <a:endParaRPr lang="en-US" sz="1250" dirty="0"/>
          </a:p>
        </p:txBody>
      </p:sp>
      <p:sp>
        <p:nvSpPr>
          <p:cNvPr id="31" name="Shape 23"/>
          <p:cNvSpPr/>
          <p:nvPr/>
        </p:nvSpPr>
        <p:spPr>
          <a:xfrm>
            <a:off x="548640" y="3255264"/>
            <a:ext cx="5364328" cy="530352"/>
          </a:xfrm>
          <a:prstGeom prst="roundRect">
            <a:avLst>
              <a:gd name="adj" fmla="val 13793"/>
            </a:avLst>
          </a:prstGeom>
          <a:solidFill>
            <a:srgbClr val="113E48"/>
          </a:solidFill>
          <a:ln/>
        </p:spPr>
      </p:sp>
      <p:sp>
        <p:nvSpPr>
          <p:cNvPr id="32" name="Shape 24"/>
          <p:cNvSpPr/>
          <p:nvPr/>
        </p:nvSpPr>
        <p:spPr>
          <a:xfrm>
            <a:off x="5346040" y="3392424"/>
            <a:ext cx="256032" cy="256032"/>
          </a:xfrm>
          <a:prstGeom prst="ellipse">
            <a:avLst/>
          </a:prstGeom>
          <a:solidFill>
            <a:srgbClr val="E9A13B"/>
          </a:solidFill>
          <a:ln/>
        </p:spPr>
      </p:sp>
      <p:pic>
        <p:nvPicPr>
          <p:cNvPr id="33" name="Image 6" descr="preencoded.png">    </p:cNvPr>
          <p:cNvPicPr>
            <a:picLocks noChangeAspect="1"/>
          </p:cNvPicPr>
          <p:nvPr/>
        </p:nvPicPr>
        <p:blipFill>
          <a:blip r:embed="rId7"/>
          <a:stretch>
            <a:fillRect/>
          </a:stretch>
        </p:blipFill>
        <p:spPr>
          <a:xfrm>
            <a:off x="5410048" y="3456432"/>
            <a:ext cx="128016" cy="128016"/>
          </a:xfrm>
          <a:prstGeom prst="rect">
            <a:avLst/>
          </a:prstGeom>
        </p:spPr>
      </p:pic>
      <p:sp>
        <p:nvSpPr>
          <p:cNvPr id="34" name="Text 25"/>
          <p:cNvSpPr txBox="1"/>
          <p:nvPr/>
        </p:nvSpPr>
        <p:spPr>
          <a:xfrm>
            <a:off x="749808" y="3255264"/>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لوحات تحليلية ومؤشرات إنذار مبكر</a:t>
            </a:r>
            <a:endParaRPr lang="en-US" sz="1250" dirty="0"/>
          </a:p>
        </p:txBody>
      </p:sp>
      <p:sp>
        <p:nvSpPr>
          <p:cNvPr id="35" name="Shape 26"/>
          <p:cNvSpPr/>
          <p:nvPr/>
        </p:nvSpPr>
        <p:spPr>
          <a:xfrm>
            <a:off x="548640" y="3913632"/>
            <a:ext cx="5364328" cy="530352"/>
          </a:xfrm>
          <a:prstGeom prst="roundRect">
            <a:avLst>
              <a:gd name="adj" fmla="val 13793"/>
            </a:avLst>
          </a:prstGeom>
          <a:solidFill>
            <a:srgbClr val="113E48"/>
          </a:solidFill>
          <a:ln/>
        </p:spPr>
      </p:sp>
      <p:sp>
        <p:nvSpPr>
          <p:cNvPr id="36" name="Shape 27"/>
          <p:cNvSpPr/>
          <p:nvPr/>
        </p:nvSpPr>
        <p:spPr>
          <a:xfrm>
            <a:off x="5346040" y="4050792"/>
            <a:ext cx="256032" cy="256032"/>
          </a:xfrm>
          <a:prstGeom prst="ellipse">
            <a:avLst/>
          </a:prstGeom>
          <a:solidFill>
            <a:srgbClr val="E9A13B"/>
          </a:solidFill>
          <a:ln/>
        </p:spPr>
      </p:sp>
      <p:pic>
        <p:nvPicPr>
          <p:cNvPr id="37" name="Image 7" descr="preencoded.png">    </p:cNvPr>
          <p:cNvPicPr>
            <a:picLocks noChangeAspect="1"/>
          </p:cNvPicPr>
          <p:nvPr/>
        </p:nvPicPr>
        <p:blipFill>
          <a:blip r:embed="rId8"/>
          <a:stretch>
            <a:fillRect/>
          </a:stretch>
        </p:blipFill>
        <p:spPr>
          <a:xfrm>
            <a:off x="5410048" y="4114800"/>
            <a:ext cx="128016" cy="128016"/>
          </a:xfrm>
          <a:prstGeom prst="rect">
            <a:avLst/>
          </a:prstGeom>
        </p:spPr>
      </p:pic>
      <p:sp>
        <p:nvSpPr>
          <p:cNvPr id="38" name="Text 28"/>
          <p:cNvSpPr txBox="1"/>
          <p:nvPr/>
        </p:nvSpPr>
        <p:spPr>
          <a:xfrm>
            <a:off x="749808" y="3913632"/>
            <a:ext cx="4495648" cy="530352"/>
          </a:xfrm>
          <a:prstGeom prst="rect">
            <a:avLst/>
          </a:prstGeom>
          <a:noFill/>
          <a:ln/>
        </p:spPr>
        <p:txBody>
          <a:bodyPr wrap="square" lIns="0" tIns="0" rIns="0" bIns="0" rtlCol="0" anchor="ctr"/>
          <a:lstStyle/>
          <a:p>
            <a:pPr rtl="1" algn="r" indent="0" marL="0">
              <a:buNone/>
            </a:pPr>
            <a:r>
              <a:rPr lang="en-US" sz="1250" dirty="0">
                <a:solidFill>
                  <a:srgbClr val="FFFFFF"/>
                </a:solidFill>
                <a:latin typeface="Arial" pitchFamily="34" charset="0"/>
                <a:ea typeface="Arial" pitchFamily="34" charset="-122"/>
                <a:cs typeface="Arial" pitchFamily="34" charset="-120"/>
              </a:rPr>
              <a:t>واجهات تكامل مع المنظمات الإنسانية</a:t>
            </a:r>
            <a:endParaRPr lang="en-US" sz="1250" dirty="0"/>
          </a:p>
        </p:txBody>
      </p:sp>
      <p:sp>
        <p:nvSpPr>
          <p:cNvPr id="39" name="Text 29"/>
          <p:cNvSpPr txBox="1"/>
          <p:nvPr/>
        </p:nvSpPr>
        <p:spPr>
          <a:xfrm>
            <a:off x="548640" y="4956048"/>
            <a:ext cx="11094415" cy="548640"/>
          </a:xfrm>
          <a:prstGeom prst="rect">
            <a:avLst/>
          </a:prstGeom>
          <a:noFill/>
          <a:ln/>
        </p:spPr>
        <p:txBody>
          <a:bodyPr wrap="square" lIns="0" tIns="0" rIns="0" bIns="0" rtlCol="0" anchor="ctr"/>
          <a:lstStyle/>
          <a:p>
            <a:pPr rtl="1" algn="ctr" indent="0" marL="0">
              <a:buNone/>
            </a:pPr>
            <a:r>
              <a:rPr lang="en-US" sz="3200" b="1" dirty="0">
                <a:solidFill>
                  <a:srgbClr val="FFFFFF"/>
                </a:solidFill>
                <a:latin typeface="Arial" pitchFamily="34" charset="0"/>
                <a:ea typeface="Arial" pitchFamily="34" charset="-122"/>
                <a:cs typeface="Arial" pitchFamily="34" charset="-120"/>
              </a:rPr>
              <a:t>شكرًا لحسن استماعكم</a:t>
            </a:r>
            <a:endParaRPr lang="en-US" sz="3200" dirty="0"/>
          </a:p>
        </p:txBody>
      </p:sp>
      <p:sp>
        <p:nvSpPr>
          <p:cNvPr id="40" name="Text 30"/>
          <p:cNvSpPr txBox="1"/>
          <p:nvPr/>
        </p:nvSpPr>
        <p:spPr>
          <a:xfrm>
            <a:off x="548640" y="5596128"/>
            <a:ext cx="11094415" cy="365760"/>
          </a:xfrm>
          <a:prstGeom prst="rect">
            <a:avLst/>
          </a:prstGeom>
          <a:noFill/>
          <a:ln/>
        </p:spPr>
        <p:txBody>
          <a:bodyPr wrap="square" lIns="0" tIns="0" rIns="0" bIns="0" rtlCol="0" anchor="ctr"/>
          <a:lstStyle/>
          <a:p>
            <a:pPr rtl="1" algn="ctr" indent="0" marL="0">
              <a:buNone/>
            </a:pPr>
            <a:r>
              <a:rPr lang="en-US" sz="1500" dirty="0">
                <a:solidFill>
                  <a:srgbClr val="00A896"/>
                </a:solidFill>
                <a:latin typeface="Arial" pitchFamily="34" charset="0"/>
                <a:ea typeface="Arial" pitchFamily="34" charset="-122"/>
                <a:cs typeface="Arial" pitchFamily="34" charset="-120"/>
              </a:rPr>
              <a:t>يسعدني أن أستمع إلى أسئلتكم وملاحظاتكم</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إدارة المخيمات</dc:title>
  <dc:subject>PptxGenJS Presentation</dc:subject>
  <dc:creator>Camp Management System</dc:creator>
  <cp:lastModifiedBy>Camp Management System</cp:lastModifiedBy>
  <cp:revision>1</cp:revision>
  <dcterms:created xsi:type="dcterms:W3CDTF">2026-08-31T13:15:01Z</dcterms:created>
  <dcterms:modified xsi:type="dcterms:W3CDTF">2026-08-31T13:15:01Z</dcterms:modified>
</cp:coreProperties>
</file>