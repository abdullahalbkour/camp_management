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ورحمة الله وبركاته. أعضاء اللجنة الموقّرة، أساتذتنا الكرام، نشكركم على وقتكم وحضوركم.
نحن عبد الله البكور، وأحمد الفاضل، ومحمد خطيب، ونقدّم اليوم مشروعنا الفصلي «نظام إدارة المخيمات»، بإشراف المهندسة لبنى الأنيس، في جامعة الشمال الخاصة.
وقبل أن نبدأ، نودّ أن نوضّح زاوية العرض. هذا المشروع مكتوب بلغة برمجية وقاعدة بيانات، وقد بُني ويعمل فعلًا. لكننا لن نعرضه اليوم بوصفه شيفرة. سنعرضه بوصفه فكرة لها مشكلة تحلّها وجمهور يستفيد منها.
لأن السؤال الذي يهمّ في النهاية ليس «بأي تقنية بُني؟»، بل «ماذا يتغيّر في المخيم إن استُخدم؟». وقد أعددنا للجانب التقني شرائح احتياطية في آخر العرض، نعود إليها إن أحببتم.
والجملة التي تختصر المشروع كله هي المكتوبة أمامكم: نقل إدارة المخيم من سجل ورقي مبعثر، إلى قرار إداري مبني على معلومة لحظية موثوقة.
[أداء] قف على يمين الشاشة. لا تقرأ الشريحة. عرّف بنفسك وبزميليك، واذكر عنوان المشروع والمشرفة، ثم انتقل. الزمن: 45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العرض في أربعة محاور، وسنمرّ عليها في ثلاث عشرة دقيقة تقريبًا.
المحور الأول، الإطار: ما المشكلة في إدارة المخيمات اليوم، وما الفكرة التي نقترحها لحلّها.
المحور الثاني، القيمة: ما الذي يتغيّر فعلًا حين يُستخدم النظام، ومن المستفيد من هذا التغيّر.
المحور الثالث، النظام: ما يفعله عمليًا، والميزة التي نعتبرها الأبرز فيه.
المحور الرابع، المستقبل: إلى أين يمضي المشروع، ولماذا نعدّه قابلًا للاستدامة، ثم الخاتمة.
ونودّ أن ننبّه إلى أمر: أعددنا ثلاث شرائح احتياطية في آخر العرض للجانب التقني — التقنيات المستخدمة، وآلية عمل المساعد الذكي، وحدود المشروع الحالية. لم نضعها في المسار الأساسي لأن العرض اليوم عن الفكرة لا عن الشيفرة، لكنها جاهزة متى شئتم.
[أداء] أربعون ثانية. لا تشرح المحاور، اذكرها فقط ليعرف الحاضر أين هو من العرض. وأشِر إلى الشرائح الاحتياطية بثقة، فهي تُظهر استعدادًا لا اعتذارًا.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لنبدأ من الواقع الذي دفعنا إلى هذا المشروع.
إدارة المخيم في كثير من الحالات ما تزال تعتمد على الورق والجداول اليدوية. وهذه ليست مجرد وسيلة قديمة، بل هي مصدر أربع مشكلات متتابعة.
الأولى: السجلّات مبعثرة. دفتر عند مسؤول التسجيل، وجدول عند مسؤول التوزيع، وقائمة ثالثة عند البوابة. ولا أحد يعرف على وجه اليقين أيّها الأحدث. وحين يتلف سجلّ واحد، تفقد أسرة كاملة إثبات وجودها.
الثانية: الازدواجية والتضارب. الاسم العربي يُكتب بأكثر من صورة، فتُسجَّل الأسرة الواحدة مرتين. والنتيجة مفارقة قاسية: تُحسب مرتين في التقارير، وقد تُحرم عند التوزيع لأن السجلّ الآخر يقول إنها استلمت.
الثالثة: غياب الصورة اللحظية. سؤال بسيط مثل «كم شخصًا داخل المخيم الآن؟» يحتاج جردًا يدويًا يستغرق ساعات، ويكون جوابه قد تقادم لحظة صدوره.
الرابعة: التوزيع بلا سجلّ موثوق. لا سبيل لمعرفة من استلم ومن لم يستلم، فيتكرّر العطاء على من يُحسن الوصول، ويُحرم منه الأشدّ حاجة.
وأودّ أن أتوقف عند الشريط الأسفل، لأنه جوهر الشريحة: ما يترتّب على ذلك ليس خللًا إداريًا فحسب. حقوق تضيع، وقرارات تُبنى على التخمين، وساعات تُهدر في الطوارئ حين تكون الدقيقة ثمينة، وثقة تهتزّ بين المخيم والجهات المانحة التي تطلب أثرًا موثَّقًا لا وعودًا.
فالمخيم ليس مكانًا للإقامة فحسب؛ هو منظومة خدمات يومية. وأي منظومة خدمات بلا بيانات موثوقة تتحوّل إلى اجتهاد فردي، يصيب حينًا ويخطئ أحيانًا.
[سؤال متوقّع] «ما مصدر هذا التوصيف؟» — الجواب الصادق: بُني على قراءتنا في أدبيات الإدارة الإنسانية وعلى منطق العمليات نفسه، لا على دراسة ميدانية أجريناها. لا تدّعِ ما لم تفعل.
[أداء] هذه أهمّ شريحة في العرض؛ إن اقتنعت اللجنة بالمشكلة اقتنعت بالحلّ. تحدّث ببطء، ولا تسرد النقاط سردًا. الزمن: دقيقتان.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إذن، ما هو النظام؟
في جملة واحدة، وهي المكتوبة في الشريط الأعلى: سجلّ مركزي واحد يرافق اللاجئ من لحظة وصوله إلى كل خدمة يتلقّاها.
ولاحظوا الكلمتين المفتاحيتين: «واحد»، و«يرافق». واحد لأن تعدّد السجلّات هو أصل المشكلة كلها. ويرافق لأننا لا نبني أرشيفًا يُملأ مرة ويُنسى، بل سجلًّا حيًّا يكبر مع كل خدمة تُقدَّم.
وتقوم الفكرة على ثلاث ركائز.
الركيزة الأولى: هوية واحدة لا تتكرّر. يُسجَّل الشخص مرة واحدة برقم وثيقة فريد، ثم يُبنى على هذه الهوية كل ما يليه: وحدته السكنية، وأسرته، والمساعدات التي استلمها، وحركة دخوله وخروجه. فلا تنشأ نسخة ثانية، ولا يبقى سجلّ معلَّق بلا صاحب.
الركيزة الثانية: العمليات اليومية مرقمنة لحظة حدوثها. التسكين يُسجَّل عند التسكين، والتوزيع عند التوزيع، والحركة عند البوابة. لا تُدوَّن آخر النهار ولا تُجمَّع آخر الأسبوع. ولهذا الصورة التي تراها الإدارة هي صورة اللحظة لا صورة الأمس.
الركيزة الثالثة، وهي التي تصنع الفارق العملي: الوصول إلى المعلومة لا يمرّ بطلب تقرير من قسم آخر. سؤال مكتوب بالعربية يكفي. وسنقف عندها بالتفصيل بعد قليل.
وفي الأسفل خلاصة التحوّل في ثلاث نقلات: من الدفتر إلى قاعدة بيانات واحدة، ومن الجرد اليدوي إلى رقم محدَّث لحظيًا، ومن الاجتهاد الفردي إلى قاعدة يطبّقها النظام على الجميع بالتساوي.
[أداء] هذه شريحة «الفكرة»، فاحرص أن تُفهم الركائز الثلاث. الزمن: دقيقة ونصف.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إن كانت الشريحة السابقة عن الفكرة، فهذه عن قيمتها. أربع قيم، وفي كل سطر نضع الحال اليوم مقابل الحال مع النظام.
القيمة الأولى: منع الازدواجية. اليوم قد يحمل الشخص الواحد اسمين في سجلّين، فتُصرف لأسرة واحدة حصّتان بينما تُحرم أخرى. النظام يجعل رقم الوثيقة مفتاحًا فريدًا يرفض التكرار من الأساس. وأضفنا إليه بحثًا يفهم اختلاف الإملاء العربي، فيجد «احمد» حين كُتب «أحمد». وهذه تفصيلة صغيرة في الظاهر، لكنها هي بالضبط ما يمنع نشوء السجلّ المكرَّر.
القيمة الثانية، وهي أقربها إلى الجانب الإنساني: العدالة في التوزيع. اليوم من يصل أولًا يأخذ، ومن لا يعرف بموعد التوزيع يُحرم. والنظام يحتفظ بسجلّ استلام لكل فرد ولكل أسرة، فيصبح بالإمكان أن نسأل: من لم يستلم هذا الشهر؟ ويُجاب. أي أن المحروم يظهر قبل أن يشتكي، لا بعد أن يشتكي.
القيمة الثالثة: السرعة في القرار. تحويل ساعات الجرد إلى ثوانٍ ليس ترفًا إداريًا؛ إنه تحرير وقت الموظف من العدّ إلى الخدمة. وفي حالات الطوارئ تحديدًا، الفارق بين معلومة الآن ومعلومة بعد ساعتين قد يكون فارقًا في سلامة أشخاص.
القيمة الرابعة: الأمان والخصوصية. وهذه مسؤولية أخلاقية لا ميزة تقنية. بيانات اللاجئين حسّاسة بطبيعتها. الدفتر الورقي مفتوح لكل من وصل إليه؛ أما في النظام فلكلّ موظف نطاق يراه بحسب عمله، والموظف الطبي لا يرى سجلّات المساعدات أصلًا. وكل عملية حسّاسة موثَّقة بصاحبها ووقتها.
[أداء] إن كان عندك وقت لشريحة واحدة فقط، فلتكن هذه. اقرأ من اليمين إلى اليسار في كل سطر: القيمة، ثم الحال اليوم، ثم ما يصير إليه. الزمن: دقيقتان.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لمن بُني هذا النظام؟ لأربع فئات، ولكلٍّ منها مكسب مختلف.
الفئة الأولى: المنظمات الإنسانية والجهات الداعمة. ما يعنيها هو الأثر: أين ذهبت المساعدات، ومن استلمها، وما نسبة التغطية. والنظام يعطيها ذلك موثَّقًا لا مقدَّرًا. وهذه ليست مسألة شكلية؛ استمرار التمويل نفسه مرتبط بالقدرة على إثبات الأثر.
الفئة الثانية: إدارة المخيم. ما يعنيها هو التخطيط: كم شخصًا لدينا، وكم وحدة شاغرة، وأين الضغط. والنظام يحوّل هذه الأسئلة من جرد أسبوعي إلى صورة لحظية.
الفئة الثالثة: الموظفون الميدانيون، وهم من سيستخدم النظام يوميًا. ولذلك اعتبرنا سهولة الاستخدام متطلَّبًا لا تحسينًا. الموظف الذي كان يدوّن في ثلاثة دفاتر يعمل الآن على شاشة واحدة، بعربية واضحة، وبوقت أقلّ وأخطاء أقلّ.
الفئة الرابعة، وهي الأهمّ وإن كانت لا تلمس النظام: اللاجئون أنفسهم. مكسبهم أن حقّهم صار مسجَّلًا لا يسقط بضياع ورقة، وأن دورهم محفوظ لا يعتمد على من يعرف ومن لا يعرف.
وهذه خلاصة الشريحة، وهي في الشريط الأسفل: المستفيد النهائي واحد، وهو الأسرة التي تنتظر دورها. وكل مستوى فوقها — منظمة أو إدارة أو موظف — إنما يخدم وصول الخدمة إليها في وقتها وبإنصاف.
[أداء] ارفع نبرتك قليلًا عند الفئة الرابعة، فهي التي تُبقي المشروع في ذهن اللجنة. الزمن: دقيقة ونصف.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ننتقل إلى ما يفعله النظام عمليًا. خمس وحدات تغطّي دورة حياة الخدمة داخل المخيم.
الأولى: التسجيل. ملفّ لكل فرد وأسرة، برقم وثيقة فريد. ومعه بحث يفهم العربية بصورها المختلفة، لأن الاسم العربي يُكتب بأكثر من إملاء، ومن هنا تحديدًا تتسرّب السجلّات المكرَّرة.
الثانية: السكن. خريطة للوحدات وسعتها وإشغالها. ونقطة نعتزّ بها هنا: النظام لا يكتفي بتسجيل التجاوز ثم التنبيه إليه، بل يمنعه ابتداءً. فإن كانت الوحدة ممتلئة، تُرفض عملية التسكين ويُشرح السبب.
الثالثة: المساعدات. من استلم، وماذا، ومتى، ومن أي جهة. وهذا هو السجلّ الذي يُظهر المكرَّر والمحروم في آنٍ واحد.
الرابعة: الأمن والحركة. دخول وخروج مسجَّلان عند البوابة، فيُعرف من هو داخل المخيم الآن. وهذه معلومة أمنية وإنسانية معًا: تلزم في الطوارئ كما تلزم في المتابعة اليومية.
الخامسة: السجلّ الطبي. الخدمات المقدَّمة والحالات المزمنة، بخصوصية مشدَّدة لا يصل إليها إلا الكادر الطبي.
لكن الجملة التي أودّ أن تبقى من هذه الشريحة هي في الأسفل: القيمة ليست في الوحدات منفردة، بل في ترابطها. أي نظام يستطيع تسجيل الأسماء؛ لكن أن يجتمع في ملفّ واحد سكنُ الشخص وأسرته ومساعداته وحركته وسجلّه الطبي — هذا ما يحوّل البيانات إلى قرار. فسؤال مثل «هل استلمت هذه الأسرة حصّتها هذا الشهر؟» يُجاب من الشاشة نفسها، لا بمراجعة خمسة دفاتر عند خمسة موظفين.
[أداء] لا تُطل في سرد الوحدات؛ اجعل وقتك في جملة الترابط. الزمن: دقيقة ونصف.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عن الميزة التي نعتبرها الأبرز في المشروع: المساعد الذكي.
الفكرة بسيطة في وصفها: الموظف يكتب سؤاله بالعربية كما يتكلّم، فيأتيه الجواب. لا قوائم متشعّبة، ولا مرشِّحات، ولا طلب تقرير.
انظروا إلى الأمثلة على اليمين، وكلّها أسئلة يفهمها النظام فعلًا: كم عدد السكان في مخيم السلام؟ أين يسكن أحمد الحسن؟ هل هو داخل المخيم الآن؟ ماذا استلمت الأسرة من مساعدات؟ كم وحدة سكنية فارغة؟
هذه أسئلة إدارية يومية، وكلٌّ منها في الطريقة التقليدية يعني مراجعة سجلّ أو انتظار تقرير.
وأودّ أن أقف عند أربعة مكاسب.
الأول: المعلومة في ثوانٍ. أثرها ليس في السرعة وحدها، بل في أن السؤال صار رخيصًا. فحين يكلّف السؤالُ ساعةً من العمل، لا يُسأل إلا عند الضرورة؛ وحين يكلّف ثوانيَ، تُسأل الأسئلة التي تكشف الخلل مبكرًا.
الثاني: لا يحتاج تدريبًا تقنيًا. من يُحسن الكتابة بالعربية يُحسن استخدامه. وهذا شرط عملي في بيئة المخيمات، حيث الكادر متغيّر ووقت التدريب ضيّق.
الثالث، وهو أهمّها من ناحية الثقة: لا يخترع رقمًا. يجيب من قاعدة بيانات النظام فقط. وإن لم يجد إجابة، قال ذلك صراحةً واقترح كيف يُضيَّق السؤال — ولم يعطِ رقمًا قريبًا يظنّه السائل جوابًا. ونعدّ هذا شرطًا أخلاقيًا لا تحسينًا تقنيًا: في السياق الإنساني، الجواب الخاطئ بثقة أسوأ من عدم الجواب.
الرابع: يحترم صلاحية السائل. المساعد ليس بابًا خلفيًا يلتفّ على الصلاحيات؛ فالموظف لا يصل عبره إلى ما لا يصل إليه من الشاشات.
والخلاصة الإدارية في الشريط الأسفل: المعلومة تتحرّر من الموظف الذي يعرف مكانها، وتصبح متاحة لكل من يحقّ له الاطّلاع عليها.
[سؤال متوقّع] «هل هذا ذكاء اصطناعي؟ وهل تُرسَل البيانات إلى خدمة خارجية؟» — الجواب: لا نستخدم نموذجًا لغويًا خارجيًا، والبيانات لا تغادر خادم النظام. والآلية مشروحة في الشريحة الاحتياطية الثانية إن أحببتم التفصيل.
[أداء] لا تسترسل في التقني هنا مهما أغراك السؤال؛ أحِل إلى الشريحة الاحتياطية. الزمن: دقيقتان.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ما بنيناه هذا الفصل نعتبره أساسًا صالحًا للبناء عليه، لا نهاية الطريق. والرؤية على أربع مراحل.
قريب المدى: تطبيق ميداني على الجهاز المحمول. لأن الموظف عند البوابة أو عند نقطة التوزيع لا يقف أمام حاسوب. ومعه شرط عملي: أن يواصل العمل عند انقطاع الشبكة ثم يزامن ما سجّله، فالاتصال في المخيمات غير مضمون.
متوسط المدى، وهو الأثقل قيمة: التكامل المباشر مع المنظمات الإنسانية. اليوم تُرسل الكشوف يدويًا وتُدخَل مرة أخرى عند الطرف الآخر، وفي كل نقل احتمال خطأ. قناة تبادل آمنة تُلغي هذه الخطوة كلها.
ومعه المؤشرات والإنذار المبكر: أن ينتقل النظام من الإخبار بما حدث إلى التنبيه بما يوشك أن يحدث — اكتظاظ يقترب، أو أسرة تأخّرت مساعدتها عن المعتاد.
بعيد المدى: التوسّع ليخدم عدة مخيمات تحت إدارة واحدة، وواجهات بلغات إضافية تخدم الكادر الدولي العامل في هذه البيئات.
أما الاستدامة فنبني عليها ثلاث حجج، وهي في الشريط الأسفل. الأولى: كلفة التشغيل منخفضة، فالنظام مبنيّ على أدوات مفتوحة المصدر ويعمل على خادم متواضع — وهذا شرط في مؤسسات تعتمد على التبرّعات. الثانية: التوسعة بالوحدات، فإضافة وحدة جديدة لا تستدعي إعادة بناء ما قبلها. الثالثة: لا يعتمد على خدمة خارجية، فبيانات اللاجئين الحسّاسة تبقى داخل خادم الجهة المشغِّلة ولا تغادره.
[أداء] لا تَعِد بما لا تستطيع؛ قدّم هذه بوصفها خارطة طريق مدروسة لا أمنيات. الزمن: دقيقة ونصف.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نختم بثلاث جمل.
الأولى: المشكلة حقيقية وليست مفترضة. إدارة تعتمد على الورق في بيئة المخيمات تُضيّع الحقوق وتُبطئ القرار، وأثر ذلك يقع على من هم أقلّ قدرة على تحمّله.
الثانية: الحلّ الذي قدّمناه عملي وقابل للتطبيق. سجلّ مركزي واحد يرافق اللاجئ من لحظة تسجيله إلى كل خدمة يتلقّاها، ومعه مساعد يجعل الوصول إلى المعلومة في متناول كل موظف بالعربية.
الثالثة: الأثر إنساني قبل أن يكون إداريًا. إنصاف في التوزيع، وسرعة في الاستجابة، وخصوصية محفوظة لبيانات لا يجوز التفريط بها.
ونودّ أن نكون صادقين في جملة أخيرة، وهي المكتوبة أمامكم: النظام لا يصنع الحلّ وحده. لن يبني وحدات سكنية ولن يوفّر مساعدات. لكنه يمنح من يديرون المخيم ما يحتاجونه ليتّخذوا قرارًا عادلًا في وقته — وهذا في هذا السياق ليس بالقليل.
ونشكر المهندسة لبنى الأنيس على إشرافها ومتابعتها طوال الفصل، ونشكر جامعة الشمال الخاصة، ونشكر لجنتنا الموقّرة على وقتها. ويسعدنا الآن أن نستمع إلى أسئلتكم وملاحظاتكم.
[أداء] احفظ هذه الخاتمة عن ظهر قلب وقلها من غير نظر إلى الشاشة. ثم اصمت وانتظر الأسئلة من غير ارتباك، ولا تملأ الصمت بكلام زائد. الزمن: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شريحة احتياطية، نعرضها إن سألتم عن الجانب التقني.
النظام تطبيق ويب مبني بإطار Laravel بلغة PHP، وقاعدة بياناته MySQL — وهي قاعدة علائقية، أي أن ترابط السجلّات محفوظ في القاعدة نفسها لا في الكود، فلا يمكن أن يبقى سجلّ مساعدة معلَّقًا بلا لاجئ.
الواجهة صفحات ويب عربية بالكامل باتجاه من اليمين إلى اليسار، لأن المستخدم النهائي موظف عربي.
وإدارة الأكواد بـ Git و GitHub، مع فحص آلي يعمل عند كل تعديل.
أما ما يدعم الموثوقية فثلاثة أرقام: سبعة أدوار بصلاحيات منفصلة، وخمس وحدات وظيفية مترابطة، وثلاثمئة وسبعة وأربعون اختبارًا آليًا تعمل عند كل تعديل على الكود. وهذه الاختبارات هي ما يجعلنا نقول إن ما عرضناه يعمل فعلًا، لا أنه ادّعاء في عرض تقديمي.
والنقطة الأخيرة عملية: كل هذه الأدوات مفتوحة المصدر ومجانية الترخيص، ولا يعتمد النظام على أي خدمة خارجية مدفوعة. وهذا ليس تفصيلًا تقنيًا؛ إنه شرط بقاء في مؤسسة تعمل بتمويل الجهات المانحة.
[أداء] لا تفتح هذه الشريحة من تلقاء نفسك. انتظر السؤال.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احتياطية ثانية، للسؤال المتوقّع: كيف يفهم المساعد السؤال؟
بأربع مراحل.
الأولى: توحيد صورة النص. العربية تُكتب بأكثر من صورة — بالهمزة وبغيرها، بالتشكيل وبغيره، بالأرقام العربية والهندية. فنوحّد الصورة أولًا حتى يصير «اين يسكن احمد» و«أين يسكن أحمد» سؤالًا واحدًا داخل النظام.
الثانية: مطابقة النيّة. لدينا سبع عشرة نيّة معرَّفة مسبقًا، وكل واحدة تفحص السؤال وتجيب عن سؤال واحد: هل هذا السؤال يخصّني؟
الثالثة، وهي ألطف جزئية في التصميم: النيّة لا تجيب بنعم أو لا، بل بدرجة ثقة. ثم تفوز صاحبة الدرجة الأعلى. ولهذا فائدة عملية: جملة «أين يسكن أحمد» وجملة «كم شخصًا بلا سكن» تشتركان في كلمة «سكن»، ولو أخذنا أول تطابق لأجاب النظام إجابة خاطئة بثقة تامة. النقاط هي ما يجعل السؤال يذهب إلى صاحبه.
الرابعة: تنفيذ استعلام جاهز كتبه مطوّر ويغطّيه اختبار. فالنظام لا يولّد استعلامًا من عنده.
وأهمّ ما في هذه الشريحة هو الشريط الأسفل: هذا ليس نموذجًا لغويًا خارجيًا. بيانات اللاجئين لا تغادر خادم النظام، والسؤال لا يُرسَل إلى أي جهة. وهذا اختيار متعمَّد لا قصور في الإمكانات: بيانات اللاجئين لا يجوز أن تمرّ بخدمة لا نملكها.
وأخيرًا: إن لم يفهم المساعد السؤال، لا يقابله بصمت ولا برسالة خطأ. يمرّره إلى بحث شامل، ثم يعرض أمثلة يفهمها. فالمستخدم يخرج من كل سؤال بخطوة تالية.
[أداء] هذه أقوى شريحة تملكها أمام لجنة هندسية. لا تعرضها إلا إن سُئلت، وحين تعرضها تحدّث بثقة.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وهذه شريحة احتياطية ثالثة، نعرضها من تلقاء أنفسنا إن اتّسع الوقت، أو حين يُسأل عن حدود المشروع.
الحدّ الأول، وهو الأهمّ: البيانات التي نعرضها اختبارية. النظام لم يُشغَّل في مخيم حقيقي بعد. وما بنيناه هو نظام عامل ومختبَر، لكنه لم يمرّ بتجربة ميدانية. والخطوة التالية تجربة محدودة مع جهة واحدة قبل أي توسّع.
الحدّ الثاني: النظام يتطلّب اتصالًا بالخادم. والاتصال في بيئة المخيمات غير مضمون، وهذا قيد حقيقي على الاستخدام الميداني. والخطوة التالية هي التطبيق المحمول القادر على العمل ثم المزامنة.
الحدّ الثالث: لا يوجد تكامل آلي مع المنظمات بعد؛ التقارير تُصدَّر يدويًا.
الحدّ الرابع: المساعد يفهم ما عُرِّف له من أسئلة، وما خرج عن ذلك يُحال إلى البحث الشامل. وهو ليس نظامًا يفهم كل جملة عربية، ولا ندّعي ذلك.
ولماذا نعرض هذه الشريحة أصلًا؟ لأن معرفة حدود ما بنيناه جزء من فهمه. ونفضّل أن نذكرها نحن بدقّة، ومعها الخطوة التالية لكل حدّ، على أن تُكتشف في سؤال فنبدو كمن لم ينتبه إليها.
[أداء] إن عرضتها فاعرضها بثقة لا باعتذار. الصياغة الصحيحة: «هذه حدود واعية، ولكلٍّ منها خطوة تالية محدَّدة».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1554480" y="2651760"/>
            <a:ext cx="5486400" cy="5486400"/>
          </a:xfrm>
          <a:prstGeom prst="ellipse">
            <a:avLst/>
          </a:prstGeom>
          <a:solidFill>
            <a:srgbClr val="113E48"/>
          </a:solidFill>
          <a:ln/>
        </p:spPr>
      </p:sp>
      <p:sp>
        <p:nvSpPr>
          <p:cNvPr id="3" name="Shape 1"/>
          <p:cNvSpPr/>
          <p:nvPr/>
        </p:nvSpPr>
        <p:spPr>
          <a:xfrm>
            <a:off x="658368" y="1298448"/>
            <a:ext cx="2468880" cy="2468880"/>
          </a:xfrm>
          <a:prstGeom prst="ellipse">
            <a:avLst/>
          </a:prstGeom>
          <a:solidFill>
            <a:srgbClr val="02717D"/>
          </a:solidFill>
          <a:ln/>
        </p:spPr>
      </p:sp>
      <p:pic>
        <p:nvPicPr>
          <p:cNvPr id="4" name="Image 0" descr="preencoded.png">    </p:cNvPr>
          <p:cNvPicPr>
            <a:picLocks noChangeAspect="1"/>
          </p:cNvPicPr>
          <p:nvPr/>
        </p:nvPicPr>
        <p:blipFill>
          <a:blip r:embed="rId1"/>
          <a:stretch>
            <a:fillRect/>
          </a:stretch>
        </p:blipFill>
        <p:spPr>
          <a:xfrm>
            <a:off x="1481328" y="2121408"/>
            <a:ext cx="877824" cy="877824"/>
          </a:xfrm>
          <a:prstGeom prst="rect">
            <a:avLst/>
          </a:prstGeom>
        </p:spPr>
      </p:pic>
      <p:sp>
        <p:nvSpPr>
          <p:cNvPr id="5" name="Shape 2"/>
          <p:cNvSpPr/>
          <p:nvPr/>
        </p:nvSpPr>
        <p:spPr>
          <a:xfrm>
            <a:off x="11588191" y="1060704"/>
            <a:ext cx="54864" cy="274320"/>
          </a:xfrm>
          <a:prstGeom prst="rect">
            <a:avLst/>
          </a:prstGeom>
          <a:solidFill>
            <a:srgbClr val="00A896"/>
          </a:solidFill>
          <a:ln/>
        </p:spPr>
      </p:sp>
      <p:sp>
        <p:nvSpPr>
          <p:cNvPr id="6" name="Text 3"/>
          <p:cNvSpPr txBox="1"/>
          <p:nvPr/>
        </p:nvSpPr>
        <p:spPr>
          <a:xfrm>
            <a:off x="4160520" y="1033272"/>
            <a:ext cx="7299655" cy="292608"/>
          </a:xfrm>
          <a:prstGeom prst="rect">
            <a:avLst/>
          </a:prstGeom>
          <a:noFill/>
          <a:ln/>
        </p:spPr>
        <p:txBody>
          <a:bodyPr wrap="square" lIns="0" tIns="0" rIns="0" bIns="0" rtlCol="0" anchor="ctr"/>
          <a:lstStyle/>
          <a:p>
            <a:pPr rtl="1" algn="r" indent="0" marL="0">
              <a:buNone/>
            </a:pPr>
            <a:r>
              <a:rPr lang="en-US" sz="1350" b="1" spc="200" kern="0" dirty="0">
                <a:solidFill>
                  <a:srgbClr val="00A896"/>
                </a:solidFill>
                <a:latin typeface="Arial" pitchFamily="34" charset="0"/>
                <a:ea typeface="Arial" pitchFamily="34" charset="-122"/>
                <a:cs typeface="Arial" pitchFamily="34" charset="-120"/>
              </a:rPr>
              <a:t>مشروع فصلي</a:t>
            </a:r>
            <a:endParaRPr lang="en-US" sz="1350" dirty="0"/>
          </a:p>
        </p:txBody>
      </p:sp>
      <p:sp>
        <p:nvSpPr>
          <p:cNvPr id="7" name="Text 4"/>
          <p:cNvSpPr txBox="1"/>
          <p:nvPr/>
        </p:nvSpPr>
        <p:spPr>
          <a:xfrm>
            <a:off x="4160520" y="1371600"/>
            <a:ext cx="7482535" cy="896112"/>
          </a:xfrm>
          <a:prstGeom prst="rect">
            <a:avLst/>
          </a:prstGeom>
          <a:noFill/>
          <a:ln/>
        </p:spPr>
        <p:txBody>
          <a:bodyPr wrap="square" lIns="0" tIns="0" rIns="0" bIns="0" rtlCol="0" anchor="ctr"/>
          <a:lstStyle/>
          <a:p>
            <a:pPr rtl="1" algn="r" indent="0" marL="0">
              <a:buNone/>
            </a:pPr>
            <a:r>
              <a:rPr lang="en-US" sz="4700" b="1" dirty="0">
                <a:solidFill>
                  <a:srgbClr val="FFFFFF"/>
                </a:solidFill>
                <a:latin typeface="Arial" pitchFamily="34" charset="0"/>
                <a:ea typeface="Arial" pitchFamily="34" charset="-122"/>
                <a:cs typeface="Arial" pitchFamily="34" charset="-120"/>
              </a:rPr>
              <a:t>نظام إدارة المخيمات</a:t>
            </a:r>
            <a:endParaRPr lang="en-US" sz="4700" dirty="0"/>
          </a:p>
        </p:txBody>
      </p:sp>
      <p:sp>
        <p:nvSpPr>
          <p:cNvPr id="8" name="Text 5"/>
          <p:cNvSpPr txBox="1"/>
          <p:nvPr/>
        </p:nvSpPr>
        <p:spPr>
          <a:xfrm>
            <a:off x="4160520" y="2286000"/>
            <a:ext cx="7482535" cy="365760"/>
          </a:xfrm>
          <a:prstGeom prst="rect">
            <a:avLst/>
          </a:prstGeom>
          <a:noFill/>
          <a:ln/>
        </p:spPr>
        <p:txBody>
          <a:bodyPr wrap="square" lIns="0" tIns="0" rIns="0" bIns="0" rtlCol="0" anchor="ctr"/>
          <a:lstStyle/>
          <a:p>
            <a:pPr algn="r" indent="0" marL="0">
              <a:buNone/>
            </a:pPr>
            <a:r>
              <a:rPr lang="en-US" sz="1900" dirty="0">
                <a:solidFill>
                  <a:srgbClr val="BFD4D7"/>
                </a:solidFill>
                <a:latin typeface="Arial" pitchFamily="34" charset="0"/>
                <a:ea typeface="Arial" pitchFamily="34" charset="-122"/>
                <a:cs typeface="Arial" pitchFamily="34" charset="-120"/>
              </a:rPr>
              <a:t>Camp Management System</a:t>
            </a:r>
            <a:endParaRPr lang="en-US" sz="1900" dirty="0"/>
          </a:p>
        </p:txBody>
      </p:sp>
      <p:sp>
        <p:nvSpPr>
          <p:cNvPr id="9" name="Shape 6"/>
          <p:cNvSpPr/>
          <p:nvPr/>
        </p:nvSpPr>
        <p:spPr>
          <a:xfrm>
            <a:off x="4160520" y="2798064"/>
            <a:ext cx="7482535" cy="16459"/>
          </a:xfrm>
          <a:prstGeom prst="rect">
            <a:avLst/>
          </a:prstGeom>
          <a:solidFill>
            <a:srgbClr val="17505C"/>
          </a:solidFill>
          <a:ln/>
        </p:spPr>
      </p:sp>
      <p:sp>
        <p:nvSpPr>
          <p:cNvPr id="10" name="Text 7"/>
          <p:cNvSpPr txBox="1"/>
          <p:nvPr/>
        </p:nvSpPr>
        <p:spPr>
          <a:xfrm>
            <a:off x="4160520" y="2962656"/>
            <a:ext cx="7482535" cy="402336"/>
          </a:xfrm>
          <a:prstGeom prst="rect">
            <a:avLst/>
          </a:prstGeom>
          <a:noFill/>
          <a:ln/>
        </p:spPr>
        <p:txBody>
          <a:bodyPr wrap="square" lIns="0" tIns="0" rIns="0" bIns="0" rtlCol="0" anchor="ctr"/>
          <a:lstStyle/>
          <a:p>
            <a:pPr rtl="1" algn="r" indent="0" marL="0">
              <a:buNone/>
            </a:pPr>
            <a:r>
              <a:rPr lang="en-US" sz="1600" b="1" dirty="0">
                <a:solidFill>
                  <a:srgbClr val="00A896"/>
                </a:solidFill>
                <a:latin typeface="Arial" pitchFamily="34" charset="0"/>
                <a:ea typeface="Arial" pitchFamily="34" charset="-122"/>
                <a:cs typeface="Arial" pitchFamily="34" charset="-120"/>
              </a:rPr>
              <a:t>من السجل الورقي المبعثر إلى قرار إداري مبني على معلومة لحظية</a:t>
            </a:r>
            <a:endParaRPr lang="en-US" sz="1600" dirty="0"/>
          </a:p>
        </p:txBody>
      </p:sp>
      <p:sp>
        <p:nvSpPr>
          <p:cNvPr id="11" name="Text 8"/>
          <p:cNvSpPr txBox="1"/>
          <p:nvPr/>
        </p:nvSpPr>
        <p:spPr>
          <a:xfrm>
            <a:off x="4160520" y="3712464"/>
            <a:ext cx="7482535" cy="274320"/>
          </a:xfrm>
          <a:prstGeom prst="rect">
            <a:avLst/>
          </a:prstGeom>
          <a:noFill/>
          <a:ln/>
        </p:spPr>
        <p:txBody>
          <a:bodyPr wrap="square" lIns="0" tIns="0" rIns="0" bIns="0" rtlCol="0" anchor="ctr"/>
          <a:lstStyle/>
          <a:p>
            <a:pPr rtl="1" algn="r" indent="0" marL="0">
              <a:buNone/>
            </a:pPr>
            <a:r>
              <a:rPr lang="en-US" sz="1150" b="1" spc="150" kern="0" dirty="0">
                <a:solidFill>
                  <a:srgbClr val="5C7378"/>
                </a:solidFill>
                <a:latin typeface="Arial" pitchFamily="34" charset="0"/>
                <a:ea typeface="Arial" pitchFamily="34" charset="-122"/>
                <a:cs typeface="Arial" pitchFamily="34" charset="-120"/>
              </a:rPr>
              <a:t>إعداد الطلاب</a:t>
            </a:r>
            <a:endParaRPr lang="en-US" sz="1150" dirty="0"/>
          </a:p>
        </p:txBody>
      </p:sp>
      <p:sp>
        <p:nvSpPr>
          <p:cNvPr id="12" name="Text 9"/>
          <p:cNvSpPr txBox="1"/>
          <p:nvPr/>
        </p:nvSpPr>
        <p:spPr>
          <a:xfrm>
            <a:off x="4160520" y="4041648"/>
            <a:ext cx="7482535" cy="329184"/>
          </a:xfrm>
          <a:prstGeom prst="rect">
            <a:avLst/>
          </a:prstGeom>
          <a:noFill/>
          <a:ln/>
        </p:spPr>
        <p:txBody>
          <a:bodyPr wrap="square" lIns="0" tIns="0" rIns="0" bIns="0" rtlCol="0" anchor="ctr"/>
          <a:lstStyle/>
          <a:p>
            <a:pPr rtl="1" algn="r" indent="0" marL="0">
              <a:buNone/>
            </a:pPr>
            <a:r>
              <a:rPr lang="en-US" sz="1500" b="1" dirty="0">
                <a:solidFill>
                  <a:srgbClr val="FFFFFF"/>
                </a:solidFill>
                <a:latin typeface="Arial" pitchFamily="34" charset="0"/>
                <a:ea typeface="Arial" pitchFamily="34" charset="-122"/>
                <a:cs typeface="Arial" pitchFamily="34" charset="-120"/>
              </a:rPr>
              <a:t>عبد الله أحمد البكور</a:t>
            </a:r>
            <a:endParaRPr lang="en-US" sz="1500" dirty="0"/>
          </a:p>
        </p:txBody>
      </p:sp>
      <p:sp>
        <p:nvSpPr>
          <p:cNvPr id="13" name="Text 10"/>
          <p:cNvSpPr txBox="1"/>
          <p:nvPr/>
        </p:nvSpPr>
        <p:spPr>
          <a:xfrm>
            <a:off x="4160520" y="4407408"/>
            <a:ext cx="7482535" cy="329184"/>
          </a:xfrm>
          <a:prstGeom prst="rect">
            <a:avLst/>
          </a:prstGeom>
          <a:noFill/>
          <a:ln/>
        </p:spPr>
        <p:txBody>
          <a:bodyPr wrap="square" lIns="0" tIns="0" rIns="0" bIns="0" rtlCol="0" anchor="ctr"/>
          <a:lstStyle/>
          <a:p>
            <a:pPr rtl="1" algn="r" indent="0" marL="0">
              <a:buNone/>
            </a:pPr>
            <a:r>
              <a:rPr lang="en-US" sz="1500" b="1" dirty="0">
                <a:solidFill>
                  <a:srgbClr val="FFFFFF"/>
                </a:solidFill>
                <a:latin typeface="Arial" pitchFamily="34" charset="0"/>
                <a:ea typeface="Arial" pitchFamily="34" charset="-122"/>
                <a:cs typeface="Arial" pitchFamily="34" charset="-120"/>
              </a:rPr>
              <a:t>أحمد خالد الفاضل</a:t>
            </a:r>
            <a:endParaRPr lang="en-US" sz="1500" dirty="0"/>
          </a:p>
        </p:txBody>
      </p:sp>
      <p:sp>
        <p:nvSpPr>
          <p:cNvPr id="14" name="Text 11"/>
          <p:cNvSpPr txBox="1"/>
          <p:nvPr/>
        </p:nvSpPr>
        <p:spPr>
          <a:xfrm>
            <a:off x="4160520" y="4773168"/>
            <a:ext cx="7482535" cy="329184"/>
          </a:xfrm>
          <a:prstGeom prst="rect">
            <a:avLst/>
          </a:prstGeom>
          <a:noFill/>
          <a:ln/>
        </p:spPr>
        <p:txBody>
          <a:bodyPr wrap="square" lIns="0" tIns="0" rIns="0" bIns="0" rtlCol="0" anchor="ctr"/>
          <a:lstStyle/>
          <a:p>
            <a:pPr rtl="1" algn="r" indent="0" marL="0">
              <a:buNone/>
            </a:pPr>
            <a:r>
              <a:rPr lang="en-US" sz="1500" b="1" dirty="0">
                <a:solidFill>
                  <a:srgbClr val="FFFFFF"/>
                </a:solidFill>
                <a:latin typeface="Arial" pitchFamily="34" charset="0"/>
                <a:ea typeface="Arial" pitchFamily="34" charset="-122"/>
                <a:cs typeface="Arial" pitchFamily="34" charset="-120"/>
              </a:rPr>
              <a:t>محمد أحمد خطيب</a:t>
            </a:r>
            <a:endParaRPr lang="en-US" sz="1500" dirty="0"/>
          </a:p>
        </p:txBody>
      </p:sp>
      <p:sp>
        <p:nvSpPr>
          <p:cNvPr id="15" name="Shape 12"/>
          <p:cNvSpPr/>
          <p:nvPr/>
        </p:nvSpPr>
        <p:spPr>
          <a:xfrm>
            <a:off x="4160520" y="5248656"/>
            <a:ext cx="7482535" cy="16459"/>
          </a:xfrm>
          <a:prstGeom prst="rect">
            <a:avLst/>
          </a:prstGeom>
          <a:solidFill>
            <a:srgbClr val="17505C"/>
          </a:solidFill>
          <a:ln/>
        </p:spPr>
      </p:sp>
      <p:sp>
        <p:nvSpPr>
          <p:cNvPr id="16" name="Text 13"/>
          <p:cNvSpPr txBox="1"/>
          <p:nvPr/>
        </p:nvSpPr>
        <p:spPr>
          <a:xfrm>
            <a:off x="4160520" y="5413248"/>
            <a:ext cx="7482535" cy="292608"/>
          </a:xfrm>
          <a:prstGeom prst="rect">
            <a:avLst/>
          </a:prstGeom>
          <a:noFill/>
          <a:ln/>
        </p:spPr>
        <p:txBody>
          <a:bodyPr wrap="square" lIns="0" tIns="0" rIns="0" bIns="0" rtlCol="0" anchor="ctr"/>
          <a:lstStyle/>
          <a:p>
            <a:pPr rtl="1" algn="r" indent="0" marL="0">
              <a:buNone/>
            </a:pPr>
            <a:r>
              <a:rPr lang="en-US" sz="1400" dirty="0">
                <a:solidFill>
                  <a:srgbClr val="BFD4D7"/>
                </a:solidFill>
                <a:latin typeface="Arial" pitchFamily="34" charset="0"/>
                <a:ea typeface="Arial" pitchFamily="34" charset="-122"/>
                <a:cs typeface="Arial" pitchFamily="34" charset="-120"/>
              </a:rPr>
              <a:t>إشراف: المهندسة لبنى الأنيس</a:t>
            </a:r>
            <a:endParaRPr lang="en-US" sz="1400" dirty="0"/>
          </a:p>
        </p:txBody>
      </p:sp>
      <p:sp>
        <p:nvSpPr>
          <p:cNvPr id="17" name="Text 14"/>
          <p:cNvSpPr txBox="1"/>
          <p:nvPr/>
        </p:nvSpPr>
        <p:spPr>
          <a:xfrm>
            <a:off x="4160520" y="5760720"/>
            <a:ext cx="7482535" cy="274320"/>
          </a:xfrm>
          <a:prstGeom prst="rect">
            <a:avLst/>
          </a:prstGeom>
          <a:noFill/>
          <a:ln/>
        </p:spPr>
        <p:txBody>
          <a:bodyPr wrap="square" lIns="0" tIns="0" rIns="0" bIns="0" rtlCol="0" anchor="ctr"/>
          <a:lstStyle/>
          <a:p>
            <a:pPr rtl="1" algn="r" indent="0" marL="0">
              <a:buNone/>
            </a:pPr>
            <a:r>
              <a:rPr lang="en-US" sz="1300" dirty="0">
                <a:solidFill>
                  <a:srgbClr val="BFD4D7"/>
                </a:solidFill>
                <a:latin typeface="Arial" pitchFamily="34" charset="0"/>
                <a:ea typeface="Arial" pitchFamily="34" charset="-122"/>
                <a:cs typeface="Arial" pitchFamily="34" charset="-120"/>
              </a:rPr>
              <a:t>جامعة الشمال الخاصة</a:t>
            </a:r>
            <a:endParaRPr lang="en-US" sz="1300" dirty="0"/>
          </a:p>
        </p:txBody>
      </p:sp>
      <p:sp>
        <p:nvSpPr>
          <p:cNvPr id="18" name="Shape 15"/>
          <p:cNvSpPr/>
          <p:nvPr/>
        </p:nvSpPr>
        <p:spPr>
          <a:xfrm>
            <a:off x="10454335" y="6217920"/>
            <a:ext cx="1188720" cy="365760"/>
          </a:xfrm>
          <a:prstGeom prst="roundRect">
            <a:avLst>
              <a:gd name="adj" fmla="val 50000"/>
            </a:avLst>
          </a:prstGeom>
          <a:solidFill>
            <a:srgbClr val="113E48"/>
          </a:solidFill>
          <a:ln w="12700">
            <a:solidFill>
              <a:srgbClr val="17505C"/>
            </a:solidFill>
            <a:prstDash val="solid"/>
          </a:ln>
        </p:spPr>
      </p:sp>
      <p:sp>
        <p:nvSpPr>
          <p:cNvPr id="19" name="Text 16"/>
          <p:cNvSpPr txBox="1"/>
          <p:nvPr/>
        </p:nvSpPr>
        <p:spPr>
          <a:xfrm>
            <a:off x="10454335" y="6217920"/>
            <a:ext cx="1188720" cy="365760"/>
          </a:xfrm>
          <a:prstGeom prst="rect">
            <a:avLst/>
          </a:prstGeom>
          <a:noFill/>
          <a:ln/>
        </p:spPr>
        <p:txBody>
          <a:bodyPr wrap="square" lIns="0" tIns="0" rIns="0" bIns="0" rtlCol="0" anchor="ctr"/>
          <a:lstStyle/>
          <a:p>
            <a:pPr algn="ctr" indent="0" marL="0">
              <a:buNone/>
            </a:pPr>
            <a:r>
              <a:rPr lang="en-US" sz="1100" b="1" dirty="0">
                <a:solidFill>
                  <a:srgbClr val="BFD4D7"/>
                </a:solidFill>
                <a:latin typeface="Arial" pitchFamily="34" charset="0"/>
                <a:ea typeface="Arial" pitchFamily="34" charset="-122"/>
                <a:cs typeface="Arial" pitchFamily="34" charset="-120"/>
              </a:rPr>
              <a:t>Laravel</a:t>
            </a:r>
            <a:endParaRPr lang="en-US" sz="1100" dirty="0"/>
          </a:p>
        </p:txBody>
      </p:sp>
      <p:sp>
        <p:nvSpPr>
          <p:cNvPr id="20" name="Shape 17"/>
          <p:cNvSpPr/>
          <p:nvPr/>
        </p:nvSpPr>
        <p:spPr>
          <a:xfrm>
            <a:off x="9119311" y="6217920"/>
            <a:ext cx="1188720" cy="365760"/>
          </a:xfrm>
          <a:prstGeom prst="roundRect">
            <a:avLst>
              <a:gd name="adj" fmla="val 50000"/>
            </a:avLst>
          </a:prstGeom>
          <a:solidFill>
            <a:srgbClr val="113E48"/>
          </a:solidFill>
          <a:ln w="12700">
            <a:solidFill>
              <a:srgbClr val="17505C"/>
            </a:solidFill>
            <a:prstDash val="solid"/>
          </a:ln>
        </p:spPr>
      </p:sp>
      <p:sp>
        <p:nvSpPr>
          <p:cNvPr id="21" name="Text 18"/>
          <p:cNvSpPr txBox="1"/>
          <p:nvPr/>
        </p:nvSpPr>
        <p:spPr>
          <a:xfrm>
            <a:off x="9119311" y="6217920"/>
            <a:ext cx="1188720" cy="365760"/>
          </a:xfrm>
          <a:prstGeom prst="rect">
            <a:avLst/>
          </a:prstGeom>
          <a:noFill/>
          <a:ln/>
        </p:spPr>
        <p:txBody>
          <a:bodyPr wrap="square" lIns="0" tIns="0" rIns="0" bIns="0" rtlCol="0" anchor="ctr"/>
          <a:lstStyle/>
          <a:p>
            <a:pPr algn="ctr" indent="0" marL="0">
              <a:buNone/>
            </a:pPr>
            <a:r>
              <a:rPr lang="en-US" sz="1100" b="1" dirty="0">
                <a:solidFill>
                  <a:srgbClr val="BFD4D7"/>
                </a:solidFill>
                <a:latin typeface="Arial" pitchFamily="34" charset="0"/>
                <a:ea typeface="Arial" pitchFamily="34" charset="-122"/>
                <a:cs typeface="Arial" pitchFamily="34" charset="-120"/>
              </a:rPr>
              <a:t>MySQL</a:t>
            </a:r>
            <a:endParaRPr lang="en-US" sz="1100" dirty="0"/>
          </a:p>
        </p:txBody>
      </p:sp>
      <p:sp>
        <p:nvSpPr>
          <p:cNvPr id="22" name="Shape 19"/>
          <p:cNvSpPr/>
          <p:nvPr/>
        </p:nvSpPr>
        <p:spPr>
          <a:xfrm>
            <a:off x="7784287" y="6217920"/>
            <a:ext cx="1188720" cy="365760"/>
          </a:xfrm>
          <a:prstGeom prst="roundRect">
            <a:avLst>
              <a:gd name="adj" fmla="val 50000"/>
            </a:avLst>
          </a:prstGeom>
          <a:solidFill>
            <a:srgbClr val="113E48"/>
          </a:solidFill>
          <a:ln w="12700">
            <a:solidFill>
              <a:srgbClr val="17505C"/>
            </a:solidFill>
            <a:prstDash val="solid"/>
          </a:ln>
        </p:spPr>
      </p:sp>
      <p:sp>
        <p:nvSpPr>
          <p:cNvPr id="23" name="Text 20"/>
          <p:cNvSpPr txBox="1"/>
          <p:nvPr/>
        </p:nvSpPr>
        <p:spPr>
          <a:xfrm>
            <a:off x="7784287" y="6217920"/>
            <a:ext cx="1188720" cy="365760"/>
          </a:xfrm>
          <a:prstGeom prst="rect">
            <a:avLst/>
          </a:prstGeom>
          <a:noFill/>
          <a:ln/>
        </p:spPr>
        <p:txBody>
          <a:bodyPr wrap="square" lIns="0" tIns="0" rIns="0" bIns="0" rtlCol="0" anchor="ctr"/>
          <a:lstStyle/>
          <a:p>
            <a:pPr algn="ctr" indent="0" marL="0">
              <a:buNone/>
            </a:pPr>
            <a:r>
              <a:rPr lang="en-US" sz="1100" b="1" dirty="0">
                <a:solidFill>
                  <a:srgbClr val="BFD4D7"/>
                </a:solidFill>
                <a:latin typeface="Arial" pitchFamily="34" charset="0"/>
                <a:ea typeface="Arial" pitchFamily="34" charset="-122"/>
                <a:cs typeface="Arial" pitchFamily="34" charset="-120"/>
              </a:rPr>
              <a:t>Web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8"/>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02717D"/>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02717D"/>
                </a:solidFill>
                <a:latin typeface="Arial" pitchFamily="34" charset="0"/>
                <a:ea typeface="Arial" pitchFamily="34" charset="-122"/>
                <a:cs typeface="Arial" pitchFamily="34" charset="-120"/>
              </a:rPr>
              <a:t>خريطة الطريق</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محاور العرض</a:t>
            </a:r>
            <a:endParaRPr lang="en-US" sz="3400" dirty="0"/>
          </a:p>
        </p:txBody>
      </p:sp>
      <p:sp>
        <p:nvSpPr>
          <p:cNvPr id="5" name="Shape 3"/>
          <p:cNvSpPr/>
          <p:nvPr/>
        </p:nvSpPr>
        <p:spPr>
          <a:xfrm>
            <a:off x="548640" y="1408176"/>
            <a:ext cx="11094415" cy="16459"/>
          </a:xfrm>
          <a:prstGeom prst="rect">
            <a:avLst/>
          </a:prstGeom>
          <a:solidFill>
            <a:srgbClr val="DCE6E7"/>
          </a:solidFill>
          <a:ln/>
        </p:spPr>
      </p:sp>
      <p:sp>
        <p:nvSpPr>
          <p:cNvPr id="6" name="Shape 4"/>
          <p:cNvSpPr/>
          <p:nvPr/>
        </p:nvSpPr>
        <p:spPr>
          <a:xfrm>
            <a:off x="9047759" y="1792224"/>
            <a:ext cx="2595296" cy="2615184"/>
          </a:xfrm>
          <a:prstGeom prst="roundRect">
            <a:avLst>
              <a:gd name="adj" fmla="val 3171"/>
            </a:avLst>
          </a:prstGeom>
          <a:solidFill>
            <a:srgbClr val="FFFFFF"/>
          </a:solidFill>
          <a:ln/>
          <a:effectLst>
            <a:outerShdw sx="100000" sy="100000" kx="0" ky="0" algn="bl" rotWithShape="0" blurRad="127000" dist="25400" dir="5400000">
              <a:srgbClr val="0A2E36">
                <a:alpha val="10000"/>
              </a:srgbClr>
            </a:outerShdw>
          </a:effectLst>
        </p:spPr>
      </p:sp>
      <p:sp>
        <p:nvSpPr>
          <p:cNvPr id="7" name="Shape 5"/>
          <p:cNvSpPr/>
          <p:nvPr/>
        </p:nvSpPr>
        <p:spPr>
          <a:xfrm>
            <a:off x="10710367" y="2029968"/>
            <a:ext cx="676656" cy="676656"/>
          </a:xfrm>
          <a:prstGeom prst="ellipse">
            <a:avLst/>
          </a:prstGeom>
          <a:solidFill>
            <a:srgbClr val="02717D"/>
          </a:solidFill>
          <a:ln/>
        </p:spPr>
      </p:sp>
      <p:sp>
        <p:nvSpPr>
          <p:cNvPr id="8" name="Text 6"/>
          <p:cNvSpPr txBox="1"/>
          <p:nvPr/>
        </p:nvSpPr>
        <p:spPr>
          <a:xfrm>
            <a:off x="10710367" y="2029968"/>
            <a:ext cx="676656" cy="676656"/>
          </a:xfrm>
          <a:prstGeom prst="rect">
            <a:avLst/>
          </a:prstGeom>
          <a:noFill/>
          <a:ln/>
        </p:spPr>
        <p:txBody>
          <a:bodyPr wrap="square" lIns="0" tIns="0" rIns="0" bIns="0" rtlCol="0" anchor="ctr"/>
          <a:lstStyle/>
          <a:p>
            <a:pPr rtl="1" algn="ctr" indent="0" marL="0">
              <a:buNone/>
            </a:pPr>
            <a:r>
              <a:rPr lang="en-US" sz="2400" b="1" dirty="0">
                <a:solidFill>
                  <a:srgbClr val="FFFFFF"/>
                </a:solidFill>
                <a:latin typeface="Arial" pitchFamily="34" charset="0"/>
                <a:ea typeface="Arial" pitchFamily="34" charset="-122"/>
                <a:cs typeface="Arial" pitchFamily="34" charset="-120"/>
              </a:rPr>
              <a:t>١</a:t>
            </a:r>
            <a:endParaRPr lang="en-US" sz="2400" dirty="0"/>
          </a:p>
        </p:txBody>
      </p:sp>
      <p:sp>
        <p:nvSpPr>
          <p:cNvPr id="9" name="Shape 7"/>
          <p:cNvSpPr/>
          <p:nvPr/>
        </p:nvSpPr>
        <p:spPr>
          <a:xfrm>
            <a:off x="9303791" y="2176272"/>
            <a:ext cx="960120" cy="329184"/>
          </a:xfrm>
          <a:prstGeom prst="roundRect">
            <a:avLst>
              <a:gd name="adj" fmla="val 16667"/>
            </a:avLst>
          </a:prstGeom>
          <a:solidFill>
            <a:srgbClr val="ECF4F4"/>
          </a:solidFill>
          <a:ln/>
        </p:spPr>
      </p:sp>
      <p:sp>
        <p:nvSpPr>
          <p:cNvPr id="10" name="Text 8"/>
          <p:cNvSpPr txBox="1"/>
          <p:nvPr/>
        </p:nvSpPr>
        <p:spPr>
          <a:xfrm>
            <a:off x="9303791" y="2176272"/>
            <a:ext cx="960120" cy="329184"/>
          </a:xfrm>
          <a:prstGeom prst="rect">
            <a:avLst/>
          </a:prstGeom>
          <a:noFill/>
          <a:ln/>
        </p:spPr>
        <p:txBody>
          <a:bodyPr wrap="square" lIns="0" tIns="0" rIns="0" bIns="0" rtlCol="0" anchor="ctr"/>
          <a:lstStyle/>
          <a:p>
            <a:pPr rtl="1" algn="ctr" indent="0" marL="0">
              <a:buNone/>
            </a:pPr>
            <a:r>
              <a:rPr lang="en-US" sz="900" b="1" dirty="0">
                <a:solidFill>
                  <a:srgbClr val="02717D"/>
                </a:solidFill>
                <a:latin typeface="Arial" pitchFamily="34" charset="0"/>
                <a:ea typeface="Arial" pitchFamily="34" charset="-122"/>
                <a:cs typeface="Arial" pitchFamily="34" charset="-120"/>
              </a:rPr>
              <a:t>شريحة ٣ و٤</a:t>
            </a:r>
            <a:endParaRPr lang="en-US" sz="900" dirty="0"/>
          </a:p>
        </p:txBody>
      </p:sp>
      <p:sp>
        <p:nvSpPr>
          <p:cNvPr id="11" name="Text 9"/>
          <p:cNvSpPr txBox="1"/>
          <p:nvPr/>
        </p:nvSpPr>
        <p:spPr>
          <a:xfrm>
            <a:off x="9303791" y="2926080"/>
            <a:ext cx="2083232" cy="384048"/>
          </a:xfrm>
          <a:prstGeom prst="rect">
            <a:avLst/>
          </a:prstGeom>
          <a:noFill/>
          <a:ln/>
        </p:spPr>
        <p:txBody>
          <a:bodyPr wrap="square" lIns="0" tIns="0" rIns="0" bIns="0" rtlCol="0" anchor="ctr"/>
          <a:lstStyle/>
          <a:p>
            <a:pPr rtl="1" algn="r" indent="0" marL="0">
              <a:buNone/>
            </a:pPr>
            <a:r>
              <a:rPr lang="en-US" sz="1900" b="1" dirty="0">
                <a:solidFill>
                  <a:srgbClr val="16292E"/>
                </a:solidFill>
                <a:latin typeface="Arial" pitchFamily="34" charset="0"/>
                <a:ea typeface="Arial" pitchFamily="34" charset="-122"/>
                <a:cs typeface="Arial" pitchFamily="34" charset="-120"/>
              </a:rPr>
              <a:t>الإطار</a:t>
            </a:r>
            <a:endParaRPr lang="en-US" sz="1900" dirty="0"/>
          </a:p>
        </p:txBody>
      </p:sp>
      <p:sp>
        <p:nvSpPr>
          <p:cNvPr id="12" name="Text 10"/>
          <p:cNvSpPr txBox="1"/>
          <p:nvPr/>
        </p:nvSpPr>
        <p:spPr>
          <a:xfrm>
            <a:off x="9303791" y="3383280"/>
            <a:ext cx="2083232" cy="786384"/>
          </a:xfrm>
          <a:prstGeom prst="rect">
            <a:avLst/>
          </a:prstGeom>
          <a:noFill/>
          <a:ln/>
        </p:spPr>
        <p:txBody>
          <a:bodyPr wrap="square" lIns="0" tIns="0" rIns="0" bIns="0" rtlCol="0" anchor="ctr"/>
          <a:lstStyle/>
          <a:p>
            <a:pPr rtl="1" algn="r" indent="0" marL="0">
              <a:lnSpc>
                <a:spcPts val="1600"/>
              </a:lnSpc>
              <a:buNone/>
            </a:pPr>
            <a:r>
              <a:rPr lang="en-US" sz="1150" dirty="0">
                <a:solidFill>
                  <a:srgbClr val="5C7378"/>
                </a:solidFill>
                <a:latin typeface="Arial" pitchFamily="34" charset="0"/>
                <a:ea typeface="Arial" pitchFamily="34" charset="-122"/>
                <a:cs typeface="Arial" pitchFamily="34" charset="-120"/>
              </a:rPr>
              <a:t>المشكلة في إدارة المخيمات، والفكرة التي نقترحها</a:t>
            </a:r>
            <a:endParaRPr lang="en-US" sz="1150" dirty="0"/>
          </a:p>
        </p:txBody>
      </p:sp>
      <p:sp>
        <p:nvSpPr>
          <p:cNvPr id="13" name="Shape 11"/>
          <p:cNvSpPr/>
          <p:nvPr/>
        </p:nvSpPr>
        <p:spPr>
          <a:xfrm>
            <a:off x="6214720" y="1792224"/>
            <a:ext cx="2595296" cy="2615184"/>
          </a:xfrm>
          <a:prstGeom prst="roundRect">
            <a:avLst>
              <a:gd name="adj" fmla="val 3171"/>
            </a:avLst>
          </a:prstGeom>
          <a:solidFill>
            <a:srgbClr val="FFFFFF"/>
          </a:solidFill>
          <a:ln/>
          <a:effectLst>
            <a:outerShdw sx="100000" sy="100000" kx="0" ky="0" algn="bl" rotWithShape="0" blurRad="127000" dist="25400" dir="5400000">
              <a:srgbClr val="0A2E36">
                <a:alpha val="10000"/>
              </a:srgbClr>
            </a:outerShdw>
          </a:effectLst>
        </p:spPr>
      </p:sp>
      <p:sp>
        <p:nvSpPr>
          <p:cNvPr id="14" name="Shape 12"/>
          <p:cNvSpPr/>
          <p:nvPr/>
        </p:nvSpPr>
        <p:spPr>
          <a:xfrm>
            <a:off x="7877327" y="2029968"/>
            <a:ext cx="676656" cy="676656"/>
          </a:xfrm>
          <a:prstGeom prst="ellipse">
            <a:avLst/>
          </a:prstGeom>
          <a:solidFill>
            <a:srgbClr val="02717D"/>
          </a:solidFill>
          <a:ln/>
        </p:spPr>
      </p:sp>
      <p:sp>
        <p:nvSpPr>
          <p:cNvPr id="15" name="Text 13"/>
          <p:cNvSpPr txBox="1"/>
          <p:nvPr/>
        </p:nvSpPr>
        <p:spPr>
          <a:xfrm>
            <a:off x="7877327" y="2029968"/>
            <a:ext cx="676656" cy="676656"/>
          </a:xfrm>
          <a:prstGeom prst="rect">
            <a:avLst/>
          </a:prstGeom>
          <a:noFill/>
          <a:ln/>
        </p:spPr>
        <p:txBody>
          <a:bodyPr wrap="square" lIns="0" tIns="0" rIns="0" bIns="0" rtlCol="0" anchor="ctr"/>
          <a:lstStyle/>
          <a:p>
            <a:pPr rtl="1" algn="ctr" indent="0" marL="0">
              <a:buNone/>
            </a:pPr>
            <a:r>
              <a:rPr lang="en-US" sz="2400" b="1" dirty="0">
                <a:solidFill>
                  <a:srgbClr val="FFFFFF"/>
                </a:solidFill>
                <a:latin typeface="Arial" pitchFamily="34" charset="0"/>
                <a:ea typeface="Arial" pitchFamily="34" charset="-122"/>
                <a:cs typeface="Arial" pitchFamily="34" charset="-120"/>
              </a:rPr>
              <a:t>٢</a:t>
            </a:r>
            <a:endParaRPr lang="en-US" sz="2400" dirty="0"/>
          </a:p>
        </p:txBody>
      </p:sp>
      <p:sp>
        <p:nvSpPr>
          <p:cNvPr id="16" name="Shape 14"/>
          <p:cNvSpPr/>
          <p:nvPr/>
        </p:nvSpPr>
        <p:spPr>
          <a:xfrm>
            <a:off x="6470752" y="2176272"/>
            <a:ext cx="960120" cy="329184"/>
          </a:xfrm>
          <a:prstGeom prst="roundRect">
            <a:avLst>
              <a:gd name="adj" fmla="val 16667"/>
            </a:avLst>
          </a:prstGeom>
          <a:solidFill>
            <a:srgbClr val="ECF4F4"/>
          </a:solidFill>
          <a:ln/>
        </p:spPr>
      </p:sp>
      <p:sp>
        <p:nvSpPr>
          <p:cNvPr id="17" name="Text 15"/>
          <p:cNvSpPr txBox="1"/>
          <p:nvPr/>
        </p:nvSpPr>
        <p:spPr>
          <a:xfrm>
            <a:off x="6470752" y="2176272"/>
            <a:ext cx="960120" cy="329184"/>
          </a:xfrm>
          <a:prstGeom prst="rect">
            <a:avLst/>
          </a:prstGeom>
          <a:noFill/>
          <a:ln/>
        </p:spPr>
        <p:txBody>
          <a:bodyPr wrap="square" lIns="0" tIns="0" rIns="0" bIns="0" rtlCol="0" anchor="ctr"/>
          <a:lstStyle/>
          <a:p>
            <a:pPr rtl="1" algn="ctr" indent="0" marL="0">
              <a:buNone/>
            </a:pPr>
            <a:r>
              <a:rPr lang="en-US" sz="900" b="1" dirty="0">
                <a:solidFill>
                  <a:srgbClr val="02717D"/>
                </a:solidFill>
                <a:latin typeface="Arial" pitchFamily="34" charset="0"/>
                <a:ea typeface="Arial" pitchFamily="34" charset="-122"/>
                <a:cs typeface="Arial" pitchFamily="34" charset="-120"/>
              </a:rPr>
              <a:t>شريحة ٥ و٦</a:t>
            </a:r>
            <a:endParaRPr lang="en-US" sz="900" dirty="0"/>
          </a:p>
        </p:txBody>
      </p:sp>
      <p:sp>
        <p:nvSpPr>
          <p:cNvPr id="18" name="Text 16"/>
          <p:cNvSpPr txBox="1"/>
          <p:nvPr/>
        </p:nvSpPr>
        <p:spPr>
          <a:xfrm>
            <a:off x="6470752" y="2926080"/>
            <a:ext cx="2083232" cy="384048"/>
          </a:xfrm>
          <a:prstGeom prst="rect">
            <a:avLst/>
          </a:prstGeom>
          <a:noFill/>
          <a:ln/>
        </p:spPr>
        <p:txBody>
          <a:bodyPr wrap="square" lIns="0" tIns="0" rIns="0" bIns="0" rtlCol="0" anchor="ctr"/>
          <a:lstStyle/>
          <a:p>
            <a:pPr rtl="1" algn="r" indent="0" marL="0">
              <a:buNone/>
            </a:pPr>
            <a:r>
              <a:rPr lang="en-US" sz="1900" b="1" dirty="0">
                <a:solidFill>
                  <a:srgbClr val="16292E"/>
                </a:solidFill>
                <a:latin typeface="Arial" pitchFamily="34" charset="0"/>
                <a:ea typeface="Arial" pitchFamily="34" charset="-122"/>
                <a:cs typeface="Arial" pitchFamily="34" charset="-120"/>
              </a:rPr>
              <a:t>القيمة</a:t>
            </a:r>
            <a:endParaRPr lang="en-US" sz="1900" dirty="0"/>
          </a:p>
        </p:txBody>
      </p:sp>
      <p:sp>
        <p:nvSpPr>
          <p:cNvPr id="19" name="Text 17"/>
          <p:cNvSpPr txBox="1"/>
          <p:nvPr/>
        </p:nvSpPr>
        <p:spPr>
          <a:xfrm>
            <a:off x="6470752" y="3383280"/>
            <a:ext cx="2083232" cy="786384"/>
          </a:xfrm>
          <a:prstGeom prst="rect">
            <a:avLst/>
          </a:prstGeom>
          <a:noFill/>
          <a:ln/>
        </p:spPr>
        <p:txBody>
          <a:bodyPr wrap="square" lIns="0" tIns="0" rIns="0" bIns="0" rtlCol="0" anchor="ctr"/>
          <a:lstStyle/>
          <a:p>
            <a:pPr rtl="1" algn="r" indent="0" marL="0">
              <a:lnSpc>
                <a:spcPts val="1600"/>
              </a:lnSpc>
              <a:buNone/>
            </a:pPr>
            <a:r>
              <a:rPr lang="en-US" sz="1150" dirty="0">
                <a:solidFill>
                  <a:srgbClr val="5C7378"/>
                </a:solidFill>
                <a:latin typeface="Arial" pitchFamily="34" charset="0"/>
                <a:ea typeface="Arial" pitchFamily="34" charset="-122"/>
                <a:cs typeface="Arial" pitchFamily="34" charset="-120"/>
              </a:rPr>
              <a:t>ما الذي يتغيّر فعلًا، ومن المستفيد منه</a:t>
            </a:r>
            <a:endParaRPr lang="en-US" sz="1150" dirty="0"/>
          </a:p>
        </p:txBody>
      </p:sp>
      <p:sp>
        <p:nvSpPr>
          <p:cNvPr id="20" name="Shape 18"/>
          <p:cNvSpPr/>
          <p:nvPr/>
        </p:nvSpPr>
        <p:spPr>
          <a:xfrm>
            <a:off x="3381680" y="1792224"/>
            <a:ext cx="2595296" cy="2615184"/>
          </a:xfrm>
          <a:prstGeom prst="roundRect">
            <a:avLst>
              <a:gd name="adj" fmla="val 3171"/>
            </a:avLst>
          </a:prstGeom>
          <a:solidFill>
            <a:srgbClr val="FFFFFF"/>
          </a:solidFill>
          <a:ln/>
          <a:effectLst>
            <a:outerShdw sx="100000" sy="100000" kx="0" ky="0" algn="bl" rotWithShape="0" blurRad="127000" dist="25400" dir="5400000">
              <a:srgbClr val="0A2E36">
                <a:alpha val="10000"/>
              </a:srgbClr>
            </a:outerShdw>
          </a:effectLst>
        </p:spPr>
      </p:sp>
      <p:sp>
        <p:nvSpPr>
          <p:cNvPr id="21" name="Shape 19"/>
          <p:cNvSpPr/>
          <p:nvPr/>
        </p:nvSpPr>
        <p:spPr>
          <a:xfrm>
            <a:off x="5044288" y="2029968"/>
            <a:ext cx="676656" cy="676656"/>
          </a:xfrm>
          <a:prstGeom prst="ellipse">
            <a:avLst/>
          </a:prstGeom>
          <a:solidFill>
            <a:srgbClr val="E9A13B"/>
          </a:solidFill>
          <a:ln/>
        </p:spPr>
      </p:sp>
      <p:sp>
        <p:nvSpPr>
          <p:cNvPr id="22" name="Text 20"/>
          <p:cNvSpPr txBox="1"/>
          <p:nvPr/>
        </p:nvSpPr>
        <p:spPr>
          <a:xfrm>
            <a:off x="5044288" y="2029968"/>
            <a:ext cx="676656" cy="676656"/>
          </a:xfrm>
          <a:prstGeom prst="rect">
            <a:avLst/>
          </a:prstGeom>
          <a:noFill/>
          <a:ln/>
        </p:spPr>
        <p:txBody>
          <a:bodyPr wrap="square" lIns="0" tIns="0" rIns="0" bIns="0" rtlCol="0" anchor="ctr"/>
          <a:lstStyle/>
          <a:p>
            <a:pPr rtl="1" algn="ctr" indent="0" marL="0">
              <a:buNone/>
            </a:pPr>
            <a:r>
              <a:rPr lang="en-US" sz="2400" b="1" dirty="0">
                <a:solidFill>
                  <a:srgbClr val="FFFFFF"/>
                </a:solidFill>
                <a:latin typeface="Arial" pitchFamily="34" charset="0"/>
                <a:ea typeface="Arial" pitchFamily="34" charset="-122"/>
                <a:cs typeface="Arial" pitchFamily="34" charset="-120"/>
              </a:rPr>
              <a:t>٣</a:t>
            </a:r>
            <a:endParaRPr lang="en-US" sz="2400" dirty="0"/>
          </a:p>
        </p:txBody>
      </p:sp>
      <p:sp>
        <p:nvSpPr>
          <p:cNvPr id="23" name="Shape 21"/>
          <p:cNvSpPr/>
          <p:nvPr/>
        </p:nvSpPr>
        <p:spPr>
          <a:xfrm>
            <a:off x="3637712" y="2176272"/>
            <a:ext cx="960120" cy="329184"/>
          </a:xfrm>
          <a:prstGeom prst="roundRect">
            <a:avLst>
              <a:gd name="adj" fmla="val 16667"/>
            </a:avLst>
          </a:prstGeom>
          <a:solidFill>
            <a:srgbClr val="ECF4F4"/>
          </a:solidFill>
          <a:ln/>
        </p:spPr>
      </p:sp>
      <p:sp>
        <p:nvSpPr>
          <p:cNvPr id="24" name="Text 22"/>
          <p:cNvSpPr txBox="1"/>
          <p:nvPr/>
        </p:nvSpPr>
        <p:spPr>
          <a:xfrm>
            <a:off x="3637712" y="2176272"/>
            <a:ext cx="960120" cy="329184"/>
          </a:xfrm>
          <a:prstGeom prst="rect">
            <a:avLst/>
          </a:prstGeom>
          <a:noFill/>
          <a:ln/>
        </p:spPr>
        <p:txBody>
          <a:bodyPr wrap="square" lIns="0" tIns="0" rIns="0" bIns="0" rtlCol="0" anchor="ctr"/>
          <a:lstStyle/>
          <a:p>
            <a:pPr rtl="1" algn="ctr" indent="0" marL="0">
              <a:buNone/>
            </a:pPr>
            <a:r>
              <a:rPr lang="en-US" sz="900" b="1" dirty="0">
                <a:solidFill>
                  <a:srgbClr val="02717D"/>
                </a:solidFill>
                <a:latin typeface="Arial" pitchFamily="34" charset="0"/>
                <a:ea typeface="Arial" pitchFamily="34" charset="-122"/>
                <a:cs typeface="Arial" pitchFamily="34" charset="-120"/>
              </a:rPr>
              <a:t>شريحة ٧ و٨</a:t>
            </a:r>
            <a:endParaRPr lang="en-US" sz="900" dirty="0"/>
          </a:p>
        </p:txBody>
      </p:sp>
      <p:sp>
        <p:nvSpPr>
          <p:cNvPr id="25" name="Text 23"/>
          <p:cNvSpPr txBox="1"/>
          <p:nvPr/>
        </p:nvSpPr>
        <p:spPr>
          <a:xfrm>
            <a:off x="3637712" y="2926080"/>
            <a:ext cx="2083232" cy="384048"/>
          </a:xfrm>
          <a:prstGeom prst="rect">
            <a:avLst/>
          </a:prstGeom>
          <a:noFill/>
          <a:ln/>
        </p:spPr>
        <p:txBody>
          <a:bodyPr wrap="square" lIns="0" tIns="0" rIns="0" bIns="0" rtlCol="0" anchor="ctr"/>
          <a:lstStyle/>
          <a:p>
            <a:pPr rtl="1" algn="r" indent="0" marL="0">
              <a:buNone/>
            </a:pPr>
            <a:r>
              <a:rPr lang="en-US" sz="1900" b="1" dirty="0">
                <a:solidFill>
                  <a:srgbClr val="16292E"/>
                </a:solidFill>
                <a:latin typeface="Arial" pitchFamily="34" charset="0"/>
                <a:ea typeface="Arial" pitchFamily="34" charset="-122"/>
                <a:cs typeface="Arial" pitchFamily="34" charset="-120"/>
              </a:rPr>
              <a:t>النظام</a:t>
            </a:r>
            <a:endParaRPr lang="en-US" sz="1900" dirty="0"/>
          </a:p>
        </p:txBody>
      </p:sp>
      <p:sp>
        <p:nvSpPr>
          <p:cNvPr id="26" name="Text 24"/>
          <p:cNvSpPr txBox="1"/>
          <p:nvPr/>
        </p:nvSpPr>
        <p:spPr>
          <a:xfrm>
            <a:off x="3637712" y="3383280"/>
            <a:ext cx="2083232" cy="786384"/>
          </a:xfrm>
          <a:prstGeom prst="rect">
            <a:avLst/>
          </a:prstGeom>
          <a:noFill/>
          <a:ln/>
        </p:spPr>
        <p:txBody>
          <a:bodyPr wrap="square" lIns="0" tIns="0" rIns="0" bIns="0" rtlCol="0" anchor="ctr"/>
          <a:lstStyle/>
          <a:p>
            <a:pPr rtl="1" algn="r" indent="0" marL="0">
              <a:lnSpc>
                <a:spcPts val="1600"/>
              </a:lnSpc>
              <a:buNone/>
            </a:pPr>
            <a:r>
              <a:rPr lang="en-US" sz="1150" dirty="0">
                <a:solidFill>
                  <a:srgbClr val="5C7378"/>
                </a:solidFill>
                <a:latin typeface="Arial" pitchFamily="34" charset="0"/>
                <a:ea typeface="Arial" pitchFamily="34" charset="-122"/>
                <a:cs typeface="Arial" pitchFamily="34" charset="-120"/>
              </a:rPr>
              <a:t>ما يفعله عمليًا، والميزة التي تميّزه</a:t>
            </a:r>
            <a:endParaRPr lang="en-US" sz="1150" dirty="0"/>
          </a:p>
        </p:txBody>
      </p:sp>
      <p:sp>
        <p:nvSpPr>
          <p:cNvPr id="27" name="Shape 25"/>
          <p:cNvSpPr/>
          <p:nvPr/>
        </p:nvSpPr>
        <p:spPr>
          <a:xfrm>
            <a:off x="548640" y="1792224"/>
            <a:ext cx="2595296" cy="2615184"/>
          </a:xfrm>
          <a:prstGeom prst="roundRect">
            <a:avLst>
              <a:gd name="adj" fmla="val 3171"/>
            </a:avLst>
          </a:prstGeom>
          <a:solidFill>
            <a:srgbClr val="FFFFFF"/>
          </a:solidFill>
          <a:ln/>
          <a:effectLst>
            <a:outerShdw sx="100000" sy="100000" kx="0" ky="0" algn="bl" rotWithShape="0" blurRad="127000" dist="25400" dir="5400000">
              <a:srgbClr val="0A2E36">
                <a:alpha val="10000"/>
              </a:srgbClr>
            </a:outerShdw>
          </a:effectLst>
        </p:spPr>
      </p:sp>
      <p:sp>
        <p:nvSpPr>
          <p:cNvPr id="28" name="Shape 26"/>
          <p:cNvSpPr/>
          <p:nvPr/>
        </p:nvSpPr>
        <p:spPr>
          <a:xfrm>
            <a:off x="2211248" y="2029968"/>
            <a:ext cx="676656" cy="676656"/>
          </a:xfrm>
          <a:prstGeom prst="ellipse">
            <a:avLst/>
          </a:prstGeom>
          <a:solidFill>
            <a:srgbClr val="E9A13B"/>
          </a:solidFill>
          <a:ln/>
        </p:spPr>
      </p:sp>
      <p:sp>
        <p:nvSpPr>
          <p:cNvPr id="29" name="Text 27"/>
          <p:cNvSpPr txBox="1"/>
          <p:nvPr/>
        </p:nvSpPr>
        <p:spPr>
          <a:xfrm>
            <a:off x="2211248" y="2029968"/>
            <a:ext cx="676656" cy="676656"/>
          </a:xfrm>
          <a:prstGeom prst="rect">
            <a:avLst/>
          </a:prstGeom>
          <a:noFill/>
          <a:ln/>
        </p:spPr>
        <p:txBody>
          <a:bodyPr wrap="square" lIns="0" tIns="0" rIns="0" bIns="0" rtlCol="0" anchor="ctr"/>
          <a:lstStyle/>
          <a:p>
            <a:pPr rtl="1" algn="ctr" indent="0" marL="0">
              <a:buNone/>
            </a:pPr>
            <a:r>
              <a:rPr lang="en-US" sz="2400" b="1" dirty="0">
                <a:solidFill>
                  <a:srgbClr val="FFFFFF"/>
                </a:solidFill>
                <a:latin typeface="Arial" pitchFamily="34" charset="0"/>
                <a:ea typeface="Arial" pitchFamily="34" charset="-122"/>
                <a:cs typeface="Arial" pitchFamily="34" charset="-120"/>
              </a:rPr>
              <a:t>٤</a:t>
            </a:r>
            <a:endParaRPr lang="en-US" sz="2400" dirty="0"/>
          </a:p>
        </p:txBody>
      </p:sp>
      <p:sp>
        <p:nvSpPr>
          <p:cNvPr id="30" name="Shape 28"/>
          <p:cNvSpPr/>
          <p:nvPr/>
        </p:nvSpPr>
        <p:spPr>
          <a:xfrm>
            <a:off x="804672" y="2176272"/>
            <a:ext cx="960120" cy="329184"/>
          </a:xfrm>
          <a:prstGeom prst="roundRect">
            <a:avLst>
              <a:gd name="adj" fmla="val 16667"/>
            </a:avLst>
          </a:prstGeom>
          <a:solidFill>
            <a:srgbClr val="ECF4F4"/>
          </a:solidFill>
          <a:ln/>
        </p:spPr>
      </p:sp>
      <p:sp>
        <p:nvSpPr>
          <p:cNvPr id="31" name="Text 29"/>
          <p:cNvSpPr txBox="1"/>
          <p:nvPr/>
        </p:nvSpPr>
        <p:spPr>
          <a:xfrm>
            <a:off x="804672" y="2176272"/>
            <a:ext cx="960120" cy="329184"/>
          </a:xfrm>
          <a:prstGeom prst="rect">
            <a:avLst/>
          </a:prstGeom>
          <a:noFill/>
          <a:ln/>
        </p:spPr>
        <p:txBody>
          <a:bodyPr wrap="square" lIns="0" tIns="0" rIns="0" bIns="0" rtlCol="0" anchor="ctr"/>
          <a:lstStyle/>
          <a:p>
            <a:pPr rtl="1" algn="ctr" indent="0" marL="0">
              <a:buNone/>
            </a:pPr>
            <a:r>
              <a:rPr lang="en-US" sz="900" b="1" dirty="0">
                <a:solidFill>
                  <a:srgbClr val="02717D"/>
                </a:solidFill>
                <a:latin typeface="Arial" pitchFamily="34" charset="0"/>
                <a:ea typeface="Arial" pitchFamily="34" charset="-122"/>
                <a:cs typeface="Arial" pitchFamily="34" charset="-120"/>
              </a:rPr>
              <a:t>شريحة ٩ و١٠</a:t>
            </a:r>
            <a:endParaRPr lang="en-US" sz="900" dirty="0"/>
          </a:p>
        </p:txBody>
      </p:sp>
      <p:sp>
        <p:nvSpPr>
          <p:cNvPr id="32" name="Text 30"/>
          <p:cNvSpPr txBox="1"/>
          <p:nvPr/>
        </p:nvSpPr>
        <p:spPr>
          <a:xfrm>
            <a:off x="804672" y="2926080"/>
            <a:ext cx="2083232" cy="384048"/>
          </a:xfrm>
          <a:prstGeom prst="rect">
            <a:avLst/>
          </a:prstGeom>
          <a:noFill/>
          <a:ln/>
        </p:spPr>
        <p:txBody>
          <a:bodyPr wrap="square" lIns="0" tIns="0" rIns="0" bIns="0" rtlCol="0" anchor="ctr"/>
          <a:lstStyle/>
          <a:p>
            <a:pPr rtl="1" algn="r" indent="0" marL="0">
              <a:buNone/>
            </a:pPr>
            <a:r>
              <a:rPr lang="en-US" sz="1900" b="1" dirty="0">
                <a:solidFill>
                  <a:srgbClr val="16292E"/>
                </a:solidFill>
                <a:latin typeface="Arial" pitchFamily="34" charset="0"/>
                <a:ea typeface="Arial" pitchFamily="34" charset="-122"/>
                <a:cs typeface="Arial" pitchFamily="34" charset="-120"/>
              </a:rPr>
              <a:t>المستقبل</a:t>
            </a:r>
            <a:endParaRPr lang="en-US" sz="1900" dirty="0"/>
          </a:p>
        </p:txBody>
      </p:sp>
      <p:sp>
        <p:nvSpPr>
          <p:cNvPr id="33" name="Text 31"/>
          <p:cNvSpPr txBox="1"/>
          <p:nvPr/>
        </p:nvSpPr>
        <p:spPr>
          <a:xfrm>
            <a:off x="804672" y="3383280"/>
            <a:ext cx="2083232" cy="786384"/>
          </a:xfrm>
          <a:prstGeom prst="rect">
            <a:avLst/>
          </a:prstGeom>
          <a:noFill/>
          <a:ln/>
        </p:spPr>
        <p:txBody>
          <a:bodyPr wrap="square" lIns="0" tIns="0" rIns="0" bIns="0" rtlCol="0" anchor="ctr"/>
          <a:lstStyle/>
          <a:p>
            <a:pPr rtl="1" algn="r" indent="0" marL="0">
              <a:lnSpc>
                <a:spcPts val="1600"/>
              </a:lnSpc>
              <a:buNone/>
            </a:pPr>
            <a:r>
              <a:rPr lang="en-US" sz="1150" dirty="0">
                <a:solidFill>
                  <a:srgbClr val="5C7378"/>
                </a:solidFill>
                <a:latin typeface="Arial" pitchFamily="34" charset="0"/>
                <a:ea typeface="Arial" pitchFamily="34" charset="-122"/>
                <a:cs typeface="Arial" pitchFamily="34" charset="-120"/>
              </a:rPr>
              <a:t>الرؤية والاستدامة، ثم الخاتمة</a:t>
            </a:r>
            <a:endParaRPr lang="en-US" sz="1150" dirty="0"/>
          </a:p>
        </p:txBody>
      </p:sp>
      <p:sp>
        <p:nvSpPr>
          <p:cNvPr id="34" name="Shape 32"/>
          <p:cNvSpPr/>
          <p:nvPr/>
        </p:nvSpPr>
        <p:spPr>
          <a:xfrm>
            <a:off x="548640" y="4791456"/>
            <a:ext cx="11094415" cy="1280160"/>
          </a:xfrm>
          <a:prstGeom prst="roundRect">
            <a:avLst>
              <a:gd name="adj" fmla="val 7143"/>
            </a:avLst>
          </a:prstGeom>
          <a:solidFill>
            <a:srgbClr val="0A2E36"/>
          </a:solidFill>
          <a:ln/>
        </p:spPr>
      </p:sp>
      <p:sp>
        <p:nvSpPr>
          <p:cNvPr id="35" name="Text 33"/>
          <p:cNvSpPr txBox="1"/>
          <p:nvPr/>
        </p:nvSpPr>
        <p:spPr>
          <a:xfrm>
            <a:off x="914400" y="4974336"/>
            <a:ext cx="10362895" cy="402336"/>
          </a:xfrm>
          <a:prstGeom prst="rect">
            <a:avLst/>
          </a:prstGeom>
          <a:noFill/>
          <a:ln/>
        </p:spPr>
        <p:txBody>
          <a:bodyPr wrap="square" lIns="0" tIns="0" rIns="0" bIns="0" rtlCol="0" anchor="ctr"/>
          <a:lstStyle/>
          <a:p>
            <a:pPr rtl="1" algn="ctr" indent="0" marL="0">
              <a:buNone/>
            </a:pPr>
            <a:r>
              <a:rPr lang="en-US" sz="1300" b="1" dirty="0">
                <a:solidFill>
                  <a:srgbClr val="00A896"/>
                </a:solidFill>
                <a:latin typeface="Arial" pitchFamily="34" charset="0"/>
                <a:ea typeface="Arial" pitchFamily="34" charset="-122"/>
                <a:cs typeface="Arial" pitchFamily="34" charset="-120"/>
              </a:rPr>
              <a:t>ثلاث شرائح احتياطية في آخر العرض للجانب التقني: التقنيات المستخدمة، وآلية عمل المساعد، وحدود المشروع الحالية</a:t>
            </a:r>
            <a:endParaRPr lang="en-US" sz="1300" dirty="0"/>
          </a:p>
        </p:txBody>
      </p:sp>
      <p:sp>
        <p:nvSpPr>
          <p:cNvPr id="36" name="Text 34"/>
          <p:cNvSpPr txBox="1"/>
          <p:nvPr/>
        </p:nvSpPr>
        <p:spPr>
          <a:xfrm>
            <a:off x="914400" y="5431536"/>
            <a:ext cx="10362895" cy="365760"/>
          </a:xfrm>
          <a:prstGeom prst="rect">
            <a:avLst/>
          </a:prstGeom>
          <a:noFill/>
          <a:ln/>
        </p:spPr>
        <p:txBody>
          <a:bodyPr wrap="square" lIns="0" tIns="0" rIns="0" bIns="0" rtlCol="0" anchor="ctr"/>
          <a:lstStyle/>
          <a:p>
            <a:pPr rtl="1" algn="ctr" indent="0" marL="0">
              <a:buNone/>
            </a:pPr>
            <a:r>
              <a:rPr lang="en-US" sz="1150" dirty="0">
                <a:solidFill>
                  <a:srgbClr val="BFD4D7"/>
                </a:solidFill>
                <a:latin typeface="Arial" pitchFamily="34" charset="0"/>
                <a:ea typeface="Arial" pitchFamily="34" charset="-122"/>
                <a:cs typeface="Arial" pitchFamily="34" charset="-120"/>
              </a:rPr>
              <a:t>الزمن التقديري للعرض: ثلاث عشرة دقيقة، ثم الأسئلة</a:t>
            </a:r>
            <a:endParaRPr lang="en-US" sz="1150" dirty="0"/>
          </a:p>
        </p:txBody>
      </p:sp>
      <p:sp>
        <p:nvSpPr>
          <p:cNvPr id="37" name="Shape 35"/>
          <p:cNvSpPr/>
          <p:nvPr/>
        </p:nvSpPr>
        <p:spPr>
          <a:xfrm>
            <a:off x="548640" y="6364224"/>
            <a:ext cx="11094415" cy="16459"/>
          </a:xfrm>
          <a:prstGeom prst="rect">
            <a:avLst/>
          </a:prstGeom>
          <a:solidFill>
            <a:srgbClr val="DCE6E7"/>
          </a:solidFill>
          <a:ln/>
        </p:spPr>
      </p:sp>
      <p:sp>
        <p:nvSpPr>
          <p:cNvPr id="38" name="Text 36"/>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39" name="Text 37"/>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02717D"/>
                </a:solidFill>
                <a:latin typeface="Arial" pitchFamily="34" charset="0"/>
                <a:ea typeface="Arial" pitchFamily="34" charset="-122"/>
                <a:cs typeface="Arial" pitchFamily="34" charset="-120"/>
              </a:rPr>
              <a:t>١٠ / ٢</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8"/>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02717D"/>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02717D"/>
                </a:solidFill>
                <a:latin typeface="Arial" pitchFamily="34" charset="0"/>
                <a:ea typeface="Arial" pitchFamily="34" charset="-122"/>
                <a:cs typeface="Arial" pitchFamily="34" charset="-120"/>
              </a:rPr>
              <a:t>المحور الأول · لماذا هذا المشروع</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المشكلة والحاجة الملحّة</a:t>
            </a:r>
            <a:endParaRPr lang="en-US" sz="3400" dirty="0"/>
          </a:p>
        </p:txBody>
      </p:sp>
      <p:sp>
        <p:nvSpPr>
          <p:cNvPr id="5" name="Shape 3"/>
          <p:cNvSpPr/>
          <p:nvPr/>
        </p:nvSpPr>
        <p:spPr>
          <a:xfrm>
            <a:off x="548640" y="1408176"/>
            <a:ext cx="11094415" cy="16459"/>
          </a:xfrm>
          <a:prstGeom prst="rect">
            <a:avLst/>
          </a:prstGeom>
          <a:solidFill>
            <a:srgbClr val="DCE6E7"/>
          </a:solidFill>
          <a:ln/>
        </p:spPr>
      </p:sp>
      <p:sp>
        <p:nvSpPr>
          <p:cNvPr id="6" name="Shape 4"/>
          <p:cNvSpPr/>
          <p:nvPr/>
        </p:nvSpPr>
        <p:spPr>
          <a:xfrm>
            <a:off x="9034043" y="1609344"/>
            <a:ext cx="2609012" cy="2286000"/>
          </a:xfrm>
          <a:prstGeom prst="roundRect">
            <a:avLst>
              <a:gd name="adj" fmla="val 3600"/>
            </a:avLst>
          </a:prstGeom>
          <a:solidFill>
            <a:srgbClr val="FFFFFF"/>
          </a:solidFill>
          <a:ln/>
          <a:effectLst>
            <a:outerShdw sx="100000" sy="100000" kx="0" ky="0" algn="bl" rotWithShape="0" blurRad="127000" dist="25400" dir="5400000">
              <a:srgbClr val="0A2E36">
                <a:alpha val="10000"/>
              </a:srgbClr>
            </a:outerShdw>
          </a:effectLst>
        </p:spPr>
      </p:sp>
      <p:sp>
        <p:nvSpPr>
          <p:cNvPr id="7" name="Shape 5"/>
          <p:cNvSpPr/>
          <p:nvPr/>
        </p:nvSpPr>
        <p:spPr>
          <a:xfrm>
            <a:off x="10820095" y="1847088"/>
            <a:ext cx="493776" cy="493776"/>
          </a:xfrm>
          <a:prstGeom prst="ellipse">
            <a:avLst/>
          </a:prstGeom>
          <a:solidFill>
            <a:srgbClr val="C2603F"/>
          </a:solidFill>
          <a:ln/>
        </p:spPr>
      </p:sp>
      <p:pic>
        <p:nvPicPr>
          <p:cNvPr id="8" name="Image 0" descr="preencoded.png">    </p:cNvPr>
          <p:cNvPicPr>
            <a:picLocks noChangeAspect="1"/>
          </p:cNvPicPr>
          <p:nvPr/>
        </p:nvPicPr>
        <p:blipFill>
          <a:blip r:embed="rId1"/>
          <a:stretch>
            <a:fillRect/>
          </a:stretch>
        </p:blipFill>
        <p:spPr>
          <a:xfrm>
            <a:off x="10938967" y="1965960"/>
            <a:ext cx="256032" cy="256032"/>
          </a:xfrm>
          <a:prstGeom prst="rect">
            <a:avLst/>
          </a:prstGeom>
        </p:spPr>
      </p:pic>
      <p:sp>
        <p:nvSpPr>
          <p:cNvPr id="9" name="Text 6"/>
          <p:cNvSpPr txBox="1"/>
          <p:nvPr/>
        </p:nvSpPr>
        <p:spPr>
          <a:xfrm>
            <a:off x="9253499" y="1901952"/>
            <a:ext cx="1530020" cy="384048"/>
          </a:xfrm>
          <a:prstGeom prst="rect">
            <a:avLst/>
          </a:prstGeom>
          <a:noFill/>
          <a:ln/>
        </p:spPr>
        <p:txBody>
          <a:bodyPr wrap="square" lIns="0" tIns="0" rIns="0" bIns="0" rtlCol="0" anchor="ctr"/>
          <a:lstStyle/>
          <a:p>
            <a:pPr rtl="1" algn="r" indent="0" marL="0">
              <a:lnSpc>
                <a:spcPts val="1700"/>
              </a:lnSpc>
              <a:buNone/>
            </a:pPr>
            <a:r>
              <a:rPr lang="en-US" sz="1350" b="1" dirty="0">
                <a:solidFill>
                  <a:srgbClr val="16292E"/>
                </a:solidFill>
                <a:latin typeface="Arial" pitchFamily="34" charset="0"/>
                <a:ea typeface="Arial" pitchFamily="34" charset="-122"/>
                <a:cs typeface="Arial" pitchFamily="34" charset="-120"/>
              </a:rPr>
              <a:t>سجلّات ورقية مبعثرة</a:t>
            </a:r>
            <a:endParaRPr lang="en-US" sz="1350" dirty="0"/>
          </a:p>
        </p:txBody>
      </p:sp>
      <p:sp>
        <p:nvSpPr>
          <p:cNvPr id="10" name="Text 7"/>
          <p:cNvSpPr txBox="1"/>
          <p:nvPr/>
        </p:nvSpPr>
        <p:spPr>
          <a:xfrm>
            <a:off x="9253499" y="2395728"/>
            <a:ext cx="2170100" cy="1316736"/>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دفاتر وجداول متفرقة لا يعرف أحد أيّها الأحدث، وسجلّ واحد تالف يعني أسرة بلا إثبات وجود</a:t>
            </a:r>
            <a:endParaRPr lang="en-US" sz="1100" dirty="0"/>
          </a:p>
        </p:txBody>
      </p:sp>
      <p:sp>
        <p:nvSpPr>
          <p:cNvPr id="11" name="Shape 8"/>
          <p:cNvSpPr/>
          <p:nvPr/>
        </p:nvSpPr>
        <p:spPr>
          <a:xfrm>
            <a:off x="6205576" y="1609344"/>
            <a:ext cx="2609012" cy="2286000"/>
          </a:xfrm>
          <a:prstGeom prst="roundRect">
            <a:avLst>
              <a:gd name="adj" fmla="val 3600"/>
            </a:avLst>
          </a:prstGeom>
          <a:solidFill>
            <a:srgbClr val="FFFFFF"/>
          </a:solidFill>
          <a:ln/>
          <a:effectLst>
            <a:outerShdw sx="100000" sy="100000" kx="0" ky="0" algn="bl" rotWithShape="0" blurRad="127000" dist="25400" dir="5400000">
              <a:srgbClr val="0A2E36">
                <a:alpha val="10000"/>
              </a:srgbClr>
            </a:outerShdw>
          </a:effectLst>
        </p:spPr>
      </p:sp>
      <p:sp>
        <p:nvSpPr>
          <p:cNvPr id="12" name="Shape 9"/>
          <p:cNvSpPr/>
          <p:nvPr/>
        </p:nvSpPr>
        <p:spPr>
          <a:xfrm>
            <a:off x="7991627" y="1847088"/>
            <a:ext cx="493776" cy="493776"/>
          </a:xfrm>
          <a:prstGeom prst="ellipse">
            <a:avLst/>
          </a:prstGeom>
          <a:solidFill>
            <a:srgbClr val="C2603F"/>
          </a:solidFill>
          <a:ln/>
        </p:spPr>
      </p:sp>
      <p:pic>
        <p:nvPicPr>
          <p:cNvPr id="13" name="Image 1" descr="preencoded.png">    </p:cNvPr>
          <p:cNvPicPr>
            <a:picLocks noChangeAspect="1"/>
          </p:cNvPicPr>
          <p:nvPr/>
        </p:nvPicPr>
        <p:blipFill>
          <a:blip r:embed="rId2"/>
          <a:stretch>
            <a:fillRect/>
          </a:stretch>
        </p:blipFill>
        <p:spPr>
          <a:xfrm>
            <a:off x="8110499" y="1965960"/>
            <a:ext cx="256032" cy="256032"/>
          </a:xfrm>
          <a:prstGeom prst="rect">
            <a:avLst/>
          </a:prstGeom>
        </p:spPr>
      </p:pic>
      <p:sp>
        <p:nvSpPr>
          <p:cNvPr id="14" name="Text 10"/>
          <p:cNvSpPr txBox="1"/>
          <p:nvPr/>
        </p:nvSpPr>
        <p:spPr>
          <a:xfrm>
            <a:off x="6425032" y="1901952"/>
            <a:ext cx="1530020" cy="384048"/>
          </a:xfrm>
          <a:prstGeom prst="rect">
            <a:avLst/>
          </a:prstGeom>
          <a:noFill/>
          <a:ln/>
        </p:spPr>
        <p:txBody>
          <a:bodyPr wrap="square" lIns="0" tIns="0" rIns="0" bIns="0" rtlCol="0" anchor="ctr"/>
          <a:lstStyle/>
          <a:p>
            <a:pPr rtl="1" algn="r" indent="0" marL="0">
              <a:lnSpc>
                <a:spcPts val="1700"/>
              </a:lnSpc>
              <a:buNone/>
            </a:pPr>
            <a:r>
              <a:rPr lang="en-US" sz="1350" b="1" dirty="0">
                <a:solidFill>
                  <a:srgbClr val="16292E"/>
                </a:solidFill>
                <a:latin typeface="Arial" pitchFamily="34" charset="0"/>
                <a:ea typeface="Arial" pitchFamily="34" charset="-122"/>
                <a:cs typeface="Arial" pitchFamily="34" charset="-120"/>
              </a:rPr>
              <a:t>ازدواجية وتضارب</a:t>
            </a:r>
            <a:endParaRPr lang="en-US" sz="1350" dirty="0"/>
          </a:p>
        </p:txBody>
      </p:sp>
      <p:sp>
        <p:nvSpPr>
          <p:cNvPr id="15" name="Text 11"/>
          <p:cNvSpPr txBox="1"/>
          <p:nvPr/>
        </p:nvSpPr>
        <p:spPr>
          <a:xfrm>
            <a:off x="6425032" y="2395728"/>
            <a:ext cx="2170100" cy="1316736"/>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الأسرة الواحدة تُسجَّل مرتين باسمين مختلفين، فتُحسب مرتين في التقارير ومرة واحدة عند التوزيع</a:t>
            </a:r>
            <a:endParaRPr lang="en-US" sz="1100" dirty="0"/>
          </a:p>
        </p:txBody>
      </p:sp>
      <p:sp>
        <p:nvSpPr>
          <p:cNvPr id="16" name="Shape 12"/>
          <p:cNvSpPr/>
          <p:nvPr/>
        </p:nvSpPr>
        <p:spPr>
          <a:xfrm>
            <a:off x="3377108" y="1609344"/>
            <a:ext cx="2609012" cy="2286000"/>
          </a:xfrm>
          <a:prstGeom prst="roundRect">
            <a:avLst>
              <a:gd name="adj" fmla="val 3600"/>
            </a:avLst>
          </a:prstGeom>
          <a:solidFill>
            <a:srgbClr val="FFFFFF"/>
          </a:solidFill>
          <a:ln/>
          <a:effectLst>
            <a:outerShdw sx="100000" sy="100000" kx="0" ky="0" algn="bl" rotWithShape="0" blurRad="127000" dist="25400" dir="5400000">
              <a:srgbClr val="0A2E36">
                <a:alpha val="10000"/>
              </a:srgbClr>
            </a:outerShdw>
          </a:effectLst>
        </p:spPr>
      </p:sp>
      <p:sp>
        <p:nvSpPr>
          <p:cNvPr id="17" name="Shape 13"/>
          <p:cNvSpPr/>
          <p:nvPr/>
        </p:nvSpPr>
        <p:spPr>
          <a:xfrm>
            <a:off x="5163160" y="1847088"/>
            <a:ext cx="493776" cy="493776"/>
          </a:xfrm>
          <a:prstGeom prst="ellipse">
            <a:avLst/>
          </a:prstGeom>
          <a:solidFill>
            <a:srgbClr val="E9A13B"/>
          </a:solidFill>
          <a:ln/>
        </p:spPr>
      </p:sp>
      <p:pic>
        <p:nvPicPr>
          <p:cNvPr id="18" name="Image 2" descr="preencoded.png">    </p:cNvPr>
          <p:cNvPicPr>
            <a:picLocks noChangeAspect="1"/>
          </p:cNvPicPr>
          <p:nvPr/>
        </p:nvPicPr>
        <p:blipFill>
          <a:blip r:embed="rId3"/>
          <a:stretch>
            <a:fillRect/>
          </a:stretch>
        </p:blipFill>
        <p:spPr>
          <a:xfrm>
            <a:off x="5282032" y="1965960"/>
            <a:ext cx="256032" cy="256032"/>
          </a:xfrm>
          <a:prstGeom prst="rect">
            <a:avLst/>
          </a:prstGeom>
        </p:spPr>
      </p:pic>
      <p:sp>
        <p:nvSpPr>
          <p:cNvPr id="19" name="Text 14"/>
          <p:cNvSpPr txBox="1"/>
          <p:nvPr/>
        </p:nvSpPr>
        <p:spPr>
          <a:xfrm>
            <a:off x="3596564" y="1901952"/>
            <a:ext cx="1530020" cy="384048"/>
          </a:xfrm>
          <a:prstGeom prst="rect">
            <a:avLst/>
          </a:prstGeom>
          <a:noFill/>
          <a:ln/>
        </p:spPr>
        <p:txBody>
          <a:bodyPr wrap="square" lIns="0" tIns="0" rIns="0" bIns="0" rtlCol="0" anchor="ctr"/>
          <a:lstStyle/>
          <a:p>
            <a:pPr rtl="1" algn="r" indent="0" marL="0">
              <a:lnSpc>
                <a:spcPts val="1700"/>
              </a:lnSpc>
              <a:buNone/>
            </a:pPr>
            <a:r>
              <a:rPr lang="en-US" sz="1350" b="1" dirty="0">
                <a:solidFill>
                  <a:srgbClr val="16292E"/>
                </a:solidFill>
                <a:latin typeface="Arial" pitchFamily="34" charset="0"/>
                <a:ea typeface="Arial" pitchFamily="34" charset="-122"/>
                <a:cs typeface="Arial" pitchFamily="34" charset="-120"/>
              </a:rPr>
              <a:t>غياب الصورة اللحظية</a:t>
            </a:r>
            <a:endParaRPr lang="en-US" sz="1350" dirty="0"/>
          </a:p>
        </p:txBody>
      </p:sp>
      <p:sp>
        <p:nvSpPr>
          <p:cNvPr id="20" name="Text 15"/>
          <p:cNvSpPr txBox="1"/>
          <p:nvPr/>
        </p:nvSpPr>
        <p:spPr>
          <a:xfrm>
            <a:off x="3596564" y="2395728"/>
            <a:ext cx="2170100" cy="1316736"/>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سؤال بسيط كـ«كم شخصًا في المخيم الآن؟» يحتاج ساعات من الجرد اليدوي، وجوابه قديم فور صدوره</a:t>
            </a:r>
            <a:endParaRPr lang="en-US" sz="1100" dirty="0"/>
          </a:p>
        </p:txBody>
      </p:sp>
      <p:sp>
        <p:nvSpPr>
          <p:cNvPr id="21" name="Shape 16"/>
          <p:cNvSpPr/>
          <p:nvPr/>
        </p:nvSpPr>
        <p:spPr>
          <a:xfrm>
            <a:off x="548640" y="1609344"/>
            <a:ext cx="2609012" cy="2286000"/>
          </a:xfrm>
          <a:prstGeom prst="roundRect">
            <a:avLst>
              <a:gd name="adj" fmla="val 3600"/>
            </a:avLst>
          </a:prstGeom>
          <a:solidFill>
            <a:srgbClr val="FFFFFF"/>
          </a:solidFill>
          <a:ln/>
          <a:effectLst>
            <a:outerShdw sx="100000" sy="100000" kx="0" ky="0" algn="bl" rotWithShape="0" blurRad="127000" dist="25400" dir="5400000">
              <a:srgbClr val="0A2E36">
                <a:alpha val="10000"/>
              </a:srgbClr>
            </a:outerShdw>
          </a:effectLst>
        </p:spPr>
      </p:sp>
      <p:sp>
        <p:nvSpPr>
          <p:cNvPr id="22" name="Shape 17"/>
          <p:cNvSpPr/>
          <p:nvPr/>
        </p:nvSpPr>
        <p:spPr>
          <a:xfrm>
            <a:off x="2334692" y="1847088"/>
            <a:ext cx="493776" cy="493776"/>
          </a:xfrm>
          <a:prstGeom prst="ellipse">
            <a:avLst/>
          </a:prstGeom>
          <a:solidFill>
            <a:srgbClr val="E9A13B"/>
          </a:solidFill>
          <a:ln/>
        </p:spPr>
      </p:sp>
      <p:pic>
        <p:nvPicPr>
          <p:cNvPr id="23" name="Image 3" descr="preencoded.png">    </p:cNvPr>
          <p:cNvPicPr>
            <a:picLocks noChangeAspect="1"/>
          </p:cNvPicPr>
          <p:nvPr/>
        </p:nvPicPr>
        <p:blipFill>
          <a:blip r:embed="rId4"/>
          <a:stretch>
            <a:fillRect/>
          </a:stretch>
        </p:blipFill>
        <p:spPr>
          <a:xfrm>
            <a:off x="2453564" y="1965960"/>
            <a:ext cx="256032" cy="256032"/>
          </a:xfrm>
          <a:prstGeom prst="rect">
            <a:avLst/>
          </a:prstGeom>
        </p:spPr>
      </p:pic>
      <p:sp>
        <p:nvSpPr>
          <p:cNvPr id="24" name="Text 18"/>
          <p:cNvSpPr txBox="1"/>
          <p:nvPr/>
        </p:nvSpPr>
        <p:spPr>
          <a:xfrm>
            <a:off x="768096" y="1901952"/>
            <a:ext cx="1530020" cy="384048"/>
          </a:xfrm>
          <a:prstGeom prst="rect">
            <a:avLst/>
          </a:prstGeom>
          <a:noFill/>
          <a:ln/>
        </p:spPr>
        <p:txBody>
          <a:bodyPr wrap="square" lIns="0" tIns="0" rIns="0" bIns="0" rtlCol="0" anchor="ctr"/>
          <a:lstStyle/>
          <a:p>
            <a:pPr rtl="1" algn="r" indent="0" marL="0">
              <a:lnSpc>
                <a:spcPts val="1700"/>
              </a:lnSpc>
              <a:buNone/>
            </a:pPr>
            <a:r>
              <a:rPr lang="en-US" sz="1350" b="1" dirty="0">
                <a:solidFill>
                  <a:srgbClr val="16292E"/>
                </a:solidFill>
                <a:latin typeface="Arial" pitchFamily="34" charset="0"/>
                <a:ea typeface="Arial" pitchFamily="34" charset="-122"/>
                <a:cs typeface="Arial" pitchFamily="34" charset="-120"/>
              </a:rPr>
              <a:t>توزيع بلا سجلّ موثوق</a:t>
            </a:r>
            <a:endParaRPr lang="en-US" sz="1350" dirty="0"/>
          </a:p>
        </p:txBody>
      </p:sp>
      <p:sp>
        <p:nvSpPr>
          <p:cNvPr id="25" name="Text 19"/>
          <p:cNvSpPr txBox="1"/>
          <p:nvPr/>
        </p:nvSpPr>
        <p:spPr>
          <a:xfrm>
            <a:off x="768096" y="2395728"/>
            <a:ext cx="2170100" cy="1316736"/>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لا سبيل لمعرفة من استلم ومن لم يستلم، فيتكرّر العطاء على البعض ويُحرم منه الأشدّ حاجة</a:t>
            </a:r>
            <a:endParaRPr lang="en-US" sz="1100" dirty="0"/>
          </a:p>
        </p:txBody>
      </p:sp>
      <p:sp>
        <p:nvSpPr>
          <p:cNvPr id="26" name="Shape 20"/>
          <p:cNvSpPr/>
          <p:nvPr/>
        </p:nvSpPr>
        <p:spPr>
          <a:xfrm>
            <a:off x="548640" y="4078224"/>
            <a:ext cx="11094415" cy="1481328"/>
          </a:xfrm>
          <a:prstGeom prst="roundRect">
            <a:avLst>
              <a:gd name="adj" fmla="val 6173"/>
            </a:avLst>
          </a:prstGeom>
          <a:solidFill>
            <a:srgbClr val="0A2E36"/>
          </a:solidFill>
          <a:ln/>
        </p:spPr>
      </p:sp>
      <p:sp>
        <p:nvSpPr>
          <p:cNvPr id="27" name="Text 21"/>
          <p:cNvSpPr txBox="1"/>
          <p:nvPr/>
        </p:nvSpPr>
        <p:spPr>
          <a:xfrm>
            <a:off x="914400" y="4224528"/>
            <a:ext cx="10362895" cy="310896"/>
          </a:xfrm>
          <a:prstGeom prst="rect">
            <a:avLst/>
          </a:prstGeom>
          <a:noFill/>
          <a:ln/>
        </p:spPr>
        <p:txBody>
          <a:bodyPr wrap="square" lIns="0" tIns="0" rIns="0" bIns="0" rtlCol="0" anchor="ctr"/>
          <a:lstStyle/>
          <a:p>
            <a:pPr rtl="1" algn="r" indent="0" marL="0">
              <a:buNone/>
            </a:pPr>
            <a:r>
              <a:rPr lang="en-US" sz="1350" b="1" dirty="0">
                <a:solidFill>
                  <a:srgbClr val="00A896"/>
                </a:solidFill>
                <a:latin typeface="Arial" pitchFamily="34" charset="0"/>
                <a:ea typeface="Arial" pitchFamily="34" charset="-122"/>
                <a:cs typeface="Arial" pitchFamily="34" charset="-120"/>
              </a:rPr>
              <a:t>وما يترتّب على ذلك ليس خللًا إداريًا فحسب</a:t>
            </a:r>
            <a:endParaRPr lang="en-US" sz="1350" dirty="0"/>
          </a:p>
        </p:txBody>
      </p:sp>
      <p:sp>
        <p:nvSpPr>
          <p:cNvPr id="28" name="Shape 22"/>
          <p:cNvSpPr/>
          <p:nvPr/>
        </p:nvSpPr>
        <p:spPr>
          <a:xfrm>
            <a:off x="8892311" y="4626864"/>
            <a:ext cx="2384984" cy="768096"/>
          </a:xfrm>
          <a:prstGeom prst="roundRect">
            <a:avLst>
              <a:gd name="adj" fmla="val 9524"/>
            </a:avLst>
          </a:prstGeom>
          <a:solidFill>
            <a:srgbClr val="113E48"/>
          </a:solidFill>
          <a:ln/>
        </p:spPr>
      </p:sp>
      <p:sp>
        <p:nvSpPr>
          <p:cNvPr id="29" name="Text 23"/>
          <p:cNvSpPr txBox="1"/>
          <p:nvPr/>
        </p:nvSpPr>
        <p:spPr>
          <a:xfrm>
            <a:off x="9075191" y="4700016"/>
            <a:ext cx="2019224" cy="274320"/>
          </a:xfrm>
          <a:prstGeom prst="rect">
            <a:avLst/>
          </a:prstGeom>
          <a:noFill/>
          <a:ln/>
        </p:spPr>
        <p:txBody>
          <a:bodyPr wrap="square" lIns="0" tIns="0" rIns="0" bIns="0" rtlCol="0" anchor="ctr"/>
          <a:lstStyle/>
          <a:p>
            <a:pPr rtl="1" algn="r" indent="0" marL="0">
              <a:buNone/>
            </a:pPr>
            <a:r>
              <a:rPr lang="en-US" sz="1250" b="1" dirty="0">
                <a:solidFill>
                  <a:srgbClr val="FFFFFF"/>
                </a:solidFill>
                <a:latin typeface="Arial" pitchFamily="34" charset="0"/>
                <a:ea typeface="Arial" pitchFamily="34" charset="-122"/>
                <a:cs typeface="Arial" pitchFamily="34" charset="-120"/>
              </a:rPr>
              <a:t>حقوق تضيع</a:t>
            </a:r>
            <a:endParaRPr lang="en-US" sz="1250" dirty="0"/>
          </a:p>
        </p:txBody>
      </p:sp>
      <p:sp>
        <p:nvSpPr>
          <p:cNvPr id="30" name="Text 24"/>
          <p:cNvSpPr txBox="1"/>
          <p:nvPr/>
        </p:nvSpPr>
        <p:spPr>
          <a:xfrm>
            <a:off x="9075191" y="4974336"/>
            <a:ext cx="2019224" cy="347472"/>
          </a:xfrm>
          <a:prstGeom prst="rect">
            <a:avLst/>
          </a:prstGeom>
          <a:noFill/>
          <a:ln/>
        </p:spPr>
        <p:txBody>
          <a:bodyPr wrap="square" lIns="0" tIns="0" rIns="0" bIns="0" rtlCol="0" anchor="ctr"/>
          <a:lstStyle/>
          <a:p>
            <a:pPr rtl="1" algn="r" indent="0" marL="0">
              <a:lnSpc>
                <a:spcPts val="1300"/>
              </a:lnSpc>
              <a:buNone/>
            </a:pPr>
            <a:r>
              <a:rPr lang="en-US" sz="1000" dirty="0">
                <a:solidFill>
                  <a:srgbClr val="BFD4D7"/>
                </a:solidFill>
                <a:latin typeface="Arial" pitchFamily="34" charset="0"/>
                <a:ea typeface="Arial" pitchFamily="34" charset="-122"/>
                <a:cs typeface="Arial" pitchFamily="34" charset="-120"/>
              </a:rPr>
              <a:t>من لا يظهر في السجلّ لا يصله شيء</a:t>
            </a:r>
            <a:endParaRPr lang="en-US" sz="1000" dirty="0"/>
          </a:p>
        </p:txBody>
      </p:sp>
      <p:sp>
        <p:nvSpPr>
          <p:cNvPr id="31" name="Shape 25"/>
          <p:cNvSpPr/>
          <p:nvPr/>
        </p:nvSpPr>
        <p:spPr>
          <a:xfrm>
            <a:off x="6233008" y="4626864"/>
            <a:ext cx="2384984" cy="768096"/>
          </a:xfrm>
          <a:prstGeom prst="roundRect">
            <a:avLst>
              <a:gd name="adj" fmla="val 9524"/>
            </a:avLst>
          </a:prstGeom>
          <a:solidFill>
            <a:srgbClr val="113E48"/>
          </a:solidFill>
          <a:ln/>
        </p:spPr>
      </p:sp>
      <p:sp>
        <p:nvSpPr>
          <p:cNvPr id="32" name="Text 26"/>
          <p:cNvSpPr txBox="1"/>
          <p:nvPr/>
        </p:nvSpPr>
        <p:spPr>
          <a:xfrm>
            <a:off x="6415888" y="4700016"/>
            <a:ext cx="2019224" cy="274320"/>
          </a:xfrm>
          <a:prstGeom prst="rect">
            <a:avLst/>
          </a:prstGeom>
          <a:noFill/>
          <a:ln/>
        </p:spPr>
        <p:txBody>
          <a:bodyPr wrap="square" lIns="0" tIns="0" rIns="0" bIns="0" rtlCol="0" anchor="ctr"/>
          <a:lstStyle/>
          <a:p>
            <a:pPr rtl="1" algn="r" indent="0" marL="0">
              <a:buNone/>
            </a:pPr>
            <a:r>
              <a:rPr lang="en-US" sz="1250" b="1" dirty="0">
                <a:solidFill>
                  <a:srgbClr val="FFFFFF"/>
                </a:solidFill>
                <a:latin typeface="Arial" pitchFamily="34" charset="0"/>
                <a:ea typeface="Arial" pitchFamily="34" charset="-122"/>
                <a:cs typeface="Arial" pitchFamily="34" charset="-120"/>
              </a:rPr>
              <a:t>قرارات على التخمين</a:t>
            </a:r>
            <a:endParaRPr lang="en-US" sz="1250" dirty="0"/>
          </a:p>
        </p:txBody>
      </p:sp>
      <p:sp>
        <p:nvSpPr>
          <p:cNvPr id="33" name="Text 27"/>
          <p:cNvSpPr txBox="1"/>
          <p:nvPr/>
        </p:nvSpPr>
        <p:spPr>
          <a:xfrm>
            <a:off x="6415888" y="4974336"/>
            <a:ext cx="2019224" cy="347472"/>
          </a:xfrm>
          <a:prstGeom prst="rect">
            <a:avLst/>
          </a:prstGeom>
          <a:noFill/>
          <a:ln/>
        </p:spPr>
        <p:txBody>
          <a:bodyPr wrap="square" lIns="0" tIns="0" rIns="0" bIns="0" rtlCol="0" anchor="ctr"/>
          <a:lstStyle/>
          <a:p>
            <a:pPr rtl="1" algn="r" indent="0" marL="0">
              <a:lnSpc>
                <a:spcPts val="1300"/>
              </a:lnSpc>
              <a:buNone/>
            </a:pPr>
            <a:r>
              <a:rPr lang="en-US" sz="1000" dirty="0">
                <a:solidFill>
                  <a:srgbClr val="BFD4D7"/>
                </a:solidFill>
                <a:latin typeface="Arial" pitchFamily="34" charset="0"/>
                <a:ea typeface="Arial" pitchFamily="34" charset="-122"/>
                <a:cs typeface="Arial" pitchFamily="34" charset="-120"/>
              </a:rPr>
              <a:t>الاحتياج يُقدَّر تقديرًا لا يُحسب</a:t>
            </a:r>
            <a:endParaRPr lang="en-US" sz="1000" dirty="0"/>
          </a:p>
        </p:txBody>
      </p:sp>
      <p:sp>
        <p:nvSpPr>
          <p:cNvPr id="34" name="Shape 28"/>
          <p:cNvSpPr/>
          <p:nvPr/>
        </p:nvSpPr>
        <p:spPr>
          <a:xfrm>
            <a:off x="3573704" y="4626864"/>
            <a:ext cx="2384984" cy="768096"/>
          </a:xfrm>
          <a:prstGeom prst="roundRect">
            <a:avLst>
              <a:gd name="adj" fmla="val 9524"/>
            </a:avLst>
          </a:prstGeom>
          <a:solidFill>
            <a:srgbClr val="113E48"/>
          </a:solidFill>
          <a:ln/>
        </p:spPr>
      </p:sp>
      <p:sp>
        <p:nvSpPr>
          <p:cNvPr id="35" name="Text 29"/>
          <p:cNvSpPr txBox="1"/>
          <p:nvPr/>
        </p:nvSpPr>
        <p:spPr>
          <a:xfrm>
            <a:off x="3756584" y="4700016"/>
            <a:ext cx="2019224" cy="274320"/>
          </a:xfrm>
          <a:prstGeom prst="rect">
            <a:avLst/>
          </a:prstGeom>
          <a:noFill/>
          <a:ln/>
        </p:spPr>
        <p:txBody>
          <a:bodyPr wrap="square" lIns="0" tIns="0" rIns="0" bIns="0" rtlCol="0" anchor="ctr"/>
          <a:lstStyle/>
          <a:p>
            <a:pPr rtl="1" algn="r" indent="0" marL="0">
              <a:buNone/>
            </a:pPr>
            <a:r>
              <a:rPr lang="en-US" sz="1250" b="1" dirty="0">
                <a:solidFill>
                  <a:srgbClr val="FFFFFF"/>
                </a:solidFill>
                <a:latin typeface="Arial" pitchFamily="34" charset="0"/>
                <a:ea typeface="Arial" pitchFamily="34" charset="-122"/>
                <a:cs typeface="Arial" pitchFamily="34" charset="-120"/>
              </a:rPr>
              <a:t>بطء في الطوارئ</a:t>
            </a:r>
            <a:endParaRPr lang="en-US" sz="1250" dirty="0"/>
          </a:p>
        </p:txBody>
      </p:sp>
      <p:sp>
        <p:nvSpPr>
          <p:cNvPr id="36" name="Text 30"/>
          <p:cNvSpPr txBox="1"/>
          <p:nvPr/>
        </p:nvSpPr>
        <p:spPr>
          <a:xfrm>
            <a:off x="3756584" y="4974336"/>
            <a:ext cx="2019224" cy="347472"/>
          </a:xfrm>
          <a:prstGeom prst="rect">
            <a:avLst/>
          </a:prstGeom>
          <a:noFill/>
          <a:ln/>
        </p:spPr>
        <p:txBody>
          <a:bodyPr wrap="square" lIns="0" tIns="0" rIns="0" bIns="0" rtlCol="0" anchor="ctr"/>
          <a:lstStyle/>
          <a:p>
            <a:pPr rtl="1" algn="r" indent="0" marL="0">
              <a:lnSpc>
                <a:spcPts val="1300"/>
              </a:lnSpc>
              <a:buNone/>
            </a:pPr>
            <a:r>
              <a:rPr lang="en-US" sz="1000" dirty="0">
                <a:solidFill>
                  <a:srgbClr val="BFD4D7"/>
                </a:solidFill>
                <a:latin typeface="Arial" pitchFamily="34" charset="0"/>
                <a:ea typeface="Arial" pitchFamily="34" charset="-122"/>
                <a:cs typeface="Arial" pitchFamily="34" charset="-120"/>
              </a:rPr>
              <a:t>ساعات تُهدر في البحث عن معلومة</a:t>
            </a:r>
            <a:endParaRPr lang="en-US" sz="1000" dirty="0"/>
          </a:p>
        </p:txBody>
      </p:sp>
      <p:sp>
        <p:nvSpPr>
          <p:cNvPr id="37" name="Shape 31"/>
          <p:cNvSpPr/>
          <p:nvPr/>
        </p:nvSpPr>
        <p:spPr>
          <a:xfrm>
            <a:off x="914400" y="4626864"/>
            <a:ext cx="2384984" cy="768096"/>
          </a:xfrm>
          <a:prstGeom prst="roundRect">
            <a:avLst>
              <a:gd name="adj" fmla="val 9524"/>
            </a:avLst>
          </a:prstGeom>
          <a:solidFill>
            <a:srgbClr val="113E48"/>
          </a:solidFill>
          <a:ln/>
        </p:spPr>
      </p:sp>
      <p:sp>
        <p:nvSpPr>
          <p:cNvPr id="38" name="Text 32"/>
          <p:cNvSpPr txBox="1"/>
          <p:nvPr/>
        </p:nvSpPr>
        <p:spPr>
          <a:xfrm>
            <a:off x="1097280" y="4700016"/>
            <a:ext cx="2019224" cy="274320"/>
          </a:xfrm>
          <a:prstGeom prst="rect">
            <a:avLst/>
          </a:prstGeom>
          <a:noFill/>
          <a:ln/>
        </p:spPr>
        <p:txBody>
          <a:bodyPr wrap="square" lIns="0" tIns="0" rIns="0" bIns="0" rtlCol="0" anchor="ctr"/>
          <a:lstStyle/>
          <a:p>
            <a:pPr rtl="1" algn="r" indent="0" marL="0">
              <a:buNone/>
            </a:pPr>
            <a:r>
              <a:rPr lang="en-US" sz="1250" b="1" dirty="0">
                <a:solidFill>
                  <a:srgbClr val="FFFFFF"/>
                </a:solidFill>
                <a:latin typeface="Arial" pitchFamily="34" charset="0"/>
                <a:ea typeface="Arial" pitchFamily="34" charset="-122"/>
                <a:cs typeface="Arial" pitchFamily="34" charset="-120"/>
              </a:rPr>
              <a:t>ثقة مهزوزة</a:t>
            </a:r>
            <a:endParaRPr lang="en-US" sz="1250" dirty="0"/>
          </a:p>
        </p:txBody>
      </p:sp>
      <p:sp>
        <p:nvSpPr>
          <p:cNvPr id="39" name="Text 33"/>
          <p:cNvSpPr txBox="1"/>
          <p:nvPr/>
        </p:nvSpPr>
        <p:spPr>
          <a:xfrm>
            <a:off x="1097280" y="4974336"/>
            <a:ext cx="2019224" cy="347472"/>
          </a:xfrm>
          <a:prstGeom prst="rect">
            <a:avLst/>
          </a:prstGeom>
          <a:noFill/>
          <a:ln/>
        </p:spPr>
        <p:txBody>
          <a:bodyPr wrap="square" lIns="0" tIns="0" rIns="0" bIns="0" rtlCol="0" anchor="ctr"/>
          <a:lstStyle/>
          <a:p>
            <a:pPr rtl="1" algn="r" indent="0" marL="0">
              <a:lnSpc>
                <a:spcPts val="1300"/>
              </a:lnSpc>
              <a:buNone/>
            </a:pPr>
            <a:r>
              <a:rPr lang="en-US" sz="1000" dirty="0">
                <a:solidFill>
                  <a:srgbClr val="BFD4D7"/>
                </a:solidFill>
                <a:latin typeface="Arial" pitchFamily="34" charset="0"/>
                <a:ea typeface="Arial" pitchFamily="34" charset="-122"/>
                <a:cs typeface="Arial" pitchFamily="34" charset="-120"/>
              </a:rPr>
              <a:t>المانح يريد أثرًا موثَّقًا لا وعودًا</a:t>
            </a:r>
            <a:endParaRPr lang="en-US" sz="1000" dirty="0"/>
          </a:p>
        </p:txBody>
      </p:sp>
      <p:sp>
        <p:nvSpPr>
          <p:cNvPr id="40" name="Text 34"/>
          <p:cNvSpPr txBox="1"/>
          <p:nvPr/>
        </p:nvSpPr>
        <p:spPr>
          <a:xfrm>
            <a:off x="548640" y="5742432"/>
            <a:ext cx="11094415" cy="420624"/>
          </a:xfrm>
          <a:prstGeom prst="rect">
            <a:avLst/>
          </a:prstGeom>
          <a:noFill/>
          <a:ln/>
        </p:spPr>
        <p:txBody>
          <a:bodyPr wrap="square" lIns="0" tIns="0" rIns="0" bIns="0" rtlCol="0" anchor="ctr"/>
          <a:lstStyle/>
          <a:p>
            <a:pPr rtl="1" algn="ctr" indent="0" marL="0">
              <a:lnSpc>
                <a:spcPts val="1700"/>
              </a:lnSpc>
              <a:buNone/>
            </a:pPr>
            <a:r>
              <a:rPr lang="en-US" sz="1250" dirty="0">
                <a:solidFill>
                  <a:srgbClr val="16292E"/>
                </a:solidFill>
                <a:latin typeface="Arial" pitchFamily="34" charset="0"/>
                <a:ea typeface="Arial" pitchFamily="34" charset="-122"/>
                <a:cs typeface="Arial" pitchFamily="34" charset="-120"/>
              </a:rPr>
              <a:t>المخيم ليس مكانًا للإقامة فحسب؛ هو منظومة خدمات يومية. وأي منظومة خدمات بلا بيانات موثوقة تتحوّل إلى اجتهاد فردي</a:t>
            </a:r>
            <a:endParaRPr lang="en-US" sz="1250" dirty="0"/>
          </a:p>
        </p:txBody>
      </p:sp>
      <p:sp>
        <p:nvSpPr>
          <p:cNvPr id="41" name="Shape 35"/>
          <p:cNvSpPr/>
          <p:nvPr/>
        </p:nvSpPr>
        <p:spPr>
          <a:xfrm>
            <a:off x="548640" y="6364224"/>
            <a:ext cx="11094415" cy="16459"/>
          </a:xfrm>
          <a:prstGeom prst="rect">
            <a:avLst/>
          </a:prstGeom>
          <a:solidFill>
            <a:srgbClr val="DCE6E7"/>
          </a:solidFill>
          <a:ln/>
        </p:spPr>
      </p:sp>
      <p:sp>
        <p:nvSpPr>
          <p:cNvPr id="42" name="Text 36"/>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43" name="Text 37"/>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02717D"/>
                </a:solidFill>
                <a:latin typeface="Arial" pitchFamily="34" charset="0"/>
                <a:ea typeface="Arial" pitchFamily="34" charset="-122"/>
                <a:cs typeface="Arial" pitchFamily="34" charset="-120"/>
              </a:rPr>
              <a:t>١٠ / ٣</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8"/>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02717D"/>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02717D"/>
                </a:solidFill>
                <a:latin typeface="Arial" pitchFamily="34" charset="0"/>
                <a:ea typeface="Arial" pitchFamily="34" charset="-122"/>
                <a:cs typeface="Arial" pitchFamily="34" charset="-120"/>
              </a:rPr>
              <a:t>المحور الأول · ما الحلّ الذي نقدّمه</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فكرة المشروع</a:t>
            </a:r>
            <a:endParaRPr lang="en-US" sz="3400" dirty="0"/>
          </a:p>
        </p:txBody>
      </p:sp>
      <p:sp>
        <p:nvSpPr>
          <p:cNvPr id="5" name="Shape 3"/>
          <p:cNvSpPr/>
          <p:nvPr/>
        </p:nvSpPr>
        <p:spPr>
          <a:xfrm>
            <a:off x="548640" y="1408176"/>
            <a:ext cx="11094415" cy="16459"/>
          </a:xfrm>
          <a:prstGeom prst="rect">
            <a:avLst/>
          </a:prstGeom>
          <a:solidFill>
            <a:srgbClr val="DCE6E7"/>
          </a:solidFill>
          <a:ln/>
        </p:spPr>
      </p:sp>
      <p:sp>
        <p:nvSpPr>
          <p:cNvPr id="6" name="Shape 4"/>
          <p:cNvSpPr/>
          <p:nvPr/>
        </p:nvSpPr>
        <p:spPr>
          <a:xfrm>
            <a:off x="548640" y="1609344"/>
            <a:ext cx="11094415" cy="859536"/>
          </a:xfrm>
          <a:prstGeom prst="roundRect">
            <a:avLst>
              <a:gd name="adj" fmla="val 10638"/>
            </a:avLst>
          </a:prstGeom>
          <a:solidFill>
            <a:srgbClr val="0A2E36"/>
          </a:solidFill>
          <a:ln/>
        </p:spPr>
      </p:sp>
      <p:sp>
        <p:nvSpPr>
          <p:cNvPr id="7" name="Text 5"/>
          <p:cNvSpPr txBox="1"/>
          <p:nvPr/>
        </p:nvSpPr>
        <p:spPr>
          <a:xfrm>
            <a:off x="914400" y="1609344"/>
            <a:ext cx="10362895" cy="859536"/>
          </a:xfrm>
          <a:prstGeom prst="rect">
            <a:avLst/>
          </a:prstGeom>
          <a:noFill/>
          <a:ln/>
        </p:spPr>
        <p:txBody>
          <a:bodyPr wrap="square" lIns="0" tIns="0" rIns="0" bIns="0" rtlCol="0" anchor="ctr"/>
          <a:lstStyle/>
          <a:p>
            <a:pPr rtl="1" algn="ctr" indent="0" marL="0">
              <a:buNone/>
            </a:pPr>
            <a:r>
              <a:rPr lang="en-US" sz="1900" b="1" dirty="0">
                <a:solidFill>
                  <a:srgbClr val="FFFFFF"/>
                </a:solidFill>
                <a:latin typeface="Arial" pitchFamily="34" charset="0"/>
                <a:ea typeface="Arial" pitchFamily="34" charset="-122"/>
                <a:cs typeface="Arial" pitchFamily="34" charset="-120"/>
              </a:rPr>
              <a:t>سجلّ مركزي واحد يرافق اللاجئ من لحظة وصوله إلى كل خدمة يتلقّاها</a:t>
            </a:r>
            <a:endParaRPr lang="en-US" sz="1900" dirty="0"/>
          </a:p>
        </p:txBody>
      </p:sp>
      <p:sp>
        <p:nvSpPr>
          <p:cNvPr id="8" name="Shape 6"/>
          <p:cNvSpPr/>
          <p:nvPr/>
        </p:nvSpPr>
        <p:spPr>
          <a:xfrm>
            <a:off x="8127797" y="2651760"/>
            <a:ext cx="3515258" cy="2139696"/>
          </a:xfrm>
          <a:prstGeom prst="roundRect">
            <a:avLst>
              <a:gd name="adj" fmla="val 3846"/>
            </a:avLst>
          </a:prstGeom>
          <a:solidFill>
            <a:srgbClr val="FFFFFF"/>
          </a:solidFill>
          <a:ln/>
          <a:effectLst>
            <a:outerShdw sx="100000" sy="100000" kx="0" ky="0" algn="bl" rotWithShape="0" blurRad="127000" dist="25400" dir="5400000">
              <a:srgbClr val="0A2E36">
                <a:alpha val="10000"/>
              </a:srgbClr>
            </a:outerShdw>
          </a:effectLst>
        </p:spPr>
      </p:sp>
      <p:sp>
        <p:nvSpPr>
          <p:cNvPr id="9" name="Shape 7"/>
          <p:cNvSpPr/>
          <p:nvPr/>
        </p:nvSpPr>
        <p:spPr>
          <a:xfrm>
            <a:off x="10838383" y="2834640"/>
            <a:ext cx="566928" cy="566928"/>
          </a:xfrm>
          <a:prstGeom prst="ellipse">
            <a:avLst/>
          </a:prstGeom>
          <a:solidFill>
            <a:srgbClr val="02717D"/>
          </a:solidFill>
          <a:ln/>
        </p:spPr>
      </p:sp>
      <p:pic>
        <p:nvPicPr>
          <p:cNvPr id="10" name="Image 0" descr="preencoded.png">    </p:cNvPr>
          <p:cNvPicPr>
            <a:picLocks noChangeAspect="1"/>
          </p:cNvPicPr>
          <p:nvPr/>
        </p:nvPicPr>
        <p:blipFill>
          <a:blip r:embed="rId1"/>
          <a:stretch>
            <a:fillRect/>
          </a:stretch>
        </p:blipFill>
        <p:spPr>
          <a:xfrm>
            <a:off x="10975543" y="2980944"/>
            <a:ext cx="292608" cy="292608"/>
          </a:xfrm>
          <a:prstGeom prst="rect">
            <a:avLst/>
          </a:prstGeom>
        </p:spPr>
      </p:pic>
      <p:sp>
        <p:nvSpPr>
          <p:cNvPr id="11" name="Text 8"/>
          <p:cNvSpPr txBox="1"/>
          <p:nvPr/>
        </p:nvSpPr>
        <p:spPr>
          <a:xfrm>
            <a:off x="8365541" y="3493008"/>
            <a:ext cx="3039770" cy="347472"/>
          </a:xfrm>
          <a:prstGeom prst="rect">
            <a:avLst/>
          </a:prstGeom>
          <a:noFill/>
          <a:ln/>
        </p:spPr>
        <p:txBody>
          <a:bodyPr wrap="square" lIns="0" tIns="0" rIns="0" bIns="0" rtlCol="0" anchor="ctr"/>
          <a:lstStyle/>
          <a:p>
            <a:pPr rtl="1" algn="r" indent="0" marL="0">
              <a:buNone/>
            </a:pPr>
            <a:r>
              <a:rPr lang="en-US" sz="1500" b="1" dirty="0">
                <a:solidFill>
                  <a:srgbClr val="16292E"/>
                </a:solidFill>
                <a:latin typeface="Arial" pitchFamily="34" charset="0"/>
                <a:ea typeface="Arial" pitchFamily="34" charset="-122"/>
                <a:cs typeface="Arial" pitchFamily="34" charset="-120"/>
              </a:rPr>
              <a:t>هوية واحدة لا تتكرّر</a:t>
            </a:r>
            <a:endParaRPr lang="en-US" sz="1500" dirty="0"/>
          </a:p>
        </p:txBody>
      </p:sp>
      <p:sp>
        <p:nvSpPr>
          <p:cNvPr id="12" name="Text 9"/>
          <p:cNvSpPr txBox="1"/>
          <p:nvPr/>
        </p:nvSpPr>
        <p:spPr>
          <a:xfrm>
            <a:off x="8365541" y="3877056"/>
            <a:ext cx="3039770" cy="786384"/>
          </a:xfrm>
          <a:prstGeom prst="rect">
            <a:avLst/>
          </a:prstGeom>
          <a:noFill/>
          <a:ln/>
        </p:spPr>
        <p:txBody>
          <a:bodyPr wrap="square" lIns="0" tIns="0" rIns="0" bIns="0" rtlCol="0" anchor="ctr"/>
          <a:lstStyle/>
          <a:p>
            <a:pPr rtl="1" algn="r" indent="0" marL="0">
              <a:lnSpc>
                <a:spcPts val="1700"/>
              </a:lnSpc>
              <a:buNone/>
            </a:pPr>
            <a:r>
              <a:rPr lang="en-US" sz="1150" dirty="0">
                <a:solidFill>
                  <a:srgbClr val="5C7378"/>
                </a:solidFill>
                <a:latin typeface="Arial" pitchFamily="34" charset="0"/>
                <a:ea typeface="Arial" pitchFamily="34" charset="-122"/>
                <a:cs typeface="Arial" pitchFamily="34" charset="-120"/>
              </a:rPr>
              <a:t>يُسجَّل الشخص مرة واحدة برقم وثيقة فريد، ويُبنى عليه كل ما يليه: سكنه وأسرته ومساعداته وحركته. فلا نسخة ثانية ولا سجلّ يتيم</a:t>
            </a:r>
            <a:endParaRPr lang="en-US" sz="1150" dirty="0"/>
          </a:p>
        </p:txBody>
      </p:sp>
      <p:sp>
        <p:nvSpPr>
          <p:cNvPr id="13" name="Shape 10"/>
          <p:cNvSpPr/>
          <p:nvPr/>
        </p:nvSpPr>
        <p:spPr>
          <a:xfrm>
            <a:off x="4338218" y="2651760"/>
            <a:ext cx="3515258" cy="2139696"/>
          </a:xfrm>
          <a:prstGeom prst="roundRect">
            <a:avLst>
              <a:gd name="adj" fmla="val 3846"/>
            </a:avLst>
          </a:prstGeom>
          <a:solidFill>
            <a:srgbClr val="FFFFFF"/>
          </a:solidFill>
          <a:ln/>
          <a:effectLst>
            <a:outerShdw sx="100000" sy="100000" kx="0" ky="0" algn="bl" rotWithShape="0" blurRad="127000" dist="25400" dir="5400000">
              <a:srgbClr val="0A2E36">
                <a:alpha val="10000"/>
              </a:srgbClr>
            </a:outerShdw>
          </a:effectLst>
        </p:spPr>
      </p:sp>
      <p:sp>
        <p:nvSpPr>
          <p:cNvPr id="14" name="Shape 11"/>
          <p:cNvSpPr/>
          <p:nvPr/>
        </p:nvSpPr>
        <p:spPr>
          <a:xfrm>
            <a:off x="7048805" y="2834640"/>
            <a:ext cx="566928" cy="566928"/>
          </a:xfrm>
          <a:prstGeom prst="ellipse">
            <a:avLst/>
          </a:prstGeom>
          <a:solidFill>
            <a:srgbClr val="02717D"/>
          </a:solidFill>
          <a:ln/>
        </p:spPr>
      </p:sp>
      <p:pic>
        <p:nvPicPr>
          <p:cNvPr id="15" name="Image 1" descr="preencoded.png">    </p:cNvPr>
          <p:cNvPicPr>
            <a:picLocks noChangeAspect="1"/>
          </p:cNvPicPr>
          <p:nvPr/>
        </p:nvPicPr>
        <p:blipFill>
          <a:blip r:embed="rId2"/>
          <a:stretch>
            <a:fillRect/>
          </a:stretch>
        </p:blipFill>
        <p:spPr>
          <a:xfrm>
            <a:off x="7185965" y="2980944"/>
            <a:ext cx="292608" cy="292608"/>
          </a:xfrm>
          <a:prstGeom prst="rect">
            <a:avLst/>
          </a:prstGeom>
        </p:spPr>
      </p:pic>
      <p:sp>
        <p:nvSpPr>
          <p:cNvPr id="16" name="Text 12"/>
          <p:cNvSpPr txBox="1"/>
          <p:nvPr/>
        </p:nvSpPr>
        <p:spPr>
          <a:xfrm>
            <a:off x="4575962" y="3493008"/>
            <a:ext cx="3039770" cy="347472"/>
          </a:xfrm>
          <a:prstGeom prst="rect">
            <a:avLst/>
          </a:prstGeom>
          <a:noFill/>
          <a:ln/>
        </p:spPr>
        <p:txBody>
          <a:bodyPr wrap="square" lIns="0" tIns="0" rIns="0" bIns="0" rtlCol="0" anchor="ctr"/>
          <a:lstStyle/>
          <a:p>
            <a:pPr rtl="1" algn="r" indent="0" marL="0">
              <a:buNone/>
            </a:pPr>
            <a:r>
              <a:rPr lang="en-US" sz="1500" b="1" dirty="0">
                <a:solidFill>
                  <a:srgbClr val="16292E"/>
                </a:solidFill>
                <a:latin typeface="Arial" pitchFamily="34" charset="0"/>
                <a:ea typeface="Arial" pitchFamily="34" charset="-122"/>
                <a:cs typeface="Arial" pitchFamily="34" charset="-120"/>
              </a:rPr>
              <a:t>عمليات يومية مرقمنة</a:t>
            </a:r>
            <a:endParaRPr lang="en-US" sz="1500" dirty="0"/>
          </a:p>
        </p:txBody>
      </p:sp>
      <p:sp>
        <p:nvSpPr>
          <p:cNvPr id="17" name="Text 13"/>
          <p:cNvSpPr txBox="1"/>
          <p:nvPr/>
        </p:nvSpPr>
        <p:spPr>
          <a:xfrm>
            <a:off x="4575962" y="3877056"/>
            <a:ext cx="3039770" cy="786384"/>
          </a:xfrm>
          <a:prstGeom prst="rect">
            <a:avLst/>
          </a:prstGeom>
          <a:noFill/>
          <a:ln/>
        </p:spPr>
        <p:txBody>
          <a:bodyPr wrap="square" lIns="0" tIns="0" rIns="0" bIns="0" rtlCol="0" anchor="ctr"/>
          <a:lstStyle/>
          <a:p>
            <a:pPr rtl="1" algn="r" indent="0" marL="0">
              <a:lnSpc>
                <a:spcPts val="1700"/>
              </a:lnSpc>
              <a:buNone/>
            </a:pPr>
            <a:r>
              <a:rPr lang="en-US" sz="1150" dirty="0">
                <a:solidFill>
                  <a:srgbClr val="5C7378"/>
                </a:solidFill>
                <a:latin typeface="Arial" pitchFamily="34" charset="0"/>
                <a:ea typeface="Arial" pitchFamily="34" charset="-122"/>
                <a:cs typeface="Arial" pitchFamily="34" charset="-120"/>
              </a:rPr>
              <a:t>التسكين والتوزيع والدخول والخروج تُسجَّل لحظة حدوثها، لا تُدوَّن آخر النهار. فالصورة التي تراها الإدارة هي صورة اللحظة</a:t>
            </a:r>
            <a:endParaRPr lang="en-US" sz="1150" dirty="0"/>
          </a:p>
        </p:txBody>
      </p:sp>
      <p:sp>
        <p:nvSpPr>
          <p:cNvPr id="18" name="Shape 14"/>
          <p:cNvSpPr/>
          <p:nvPr/>
        </p:nvSpPr>
        <p:spPr>
          <a:xfrm>
            <a:off x="548640" y="2651760"/>
            <a:ext cx="3515258" cy="2139696"/>
          </a:xfrm>
          <a:prstGeom prst="roundRect">
            <a:avLst>
              <a:gd name="adj" fmla="val 3846"/>
            </a:avLst>
          </a:prstGeom>
          <a:solidFill>
            <a:srgbClr val="FFFFFF"/>
          </a:solidFill>
          <a:ln/>
          <a:effectLst>
            <a:outerShdw sx="100000" sy="100000" kx="0" ky="0" algn="bl" rotWithShape="0" blurRad="127000" dist="25400" dir="5400000">
              <a:srgbClr val="0A2E36">
                <a:alpha val="10000"/>
              </a:srgbClr>
            </a:outerShdw>
          </a:effectLst>
        </p:spPr>
      </p:sp>
      <p:sp>
        <p:nvSpPr>
          <p:cNvPr id="19" name="Shape 15"/>
          <p:cNvSpPr/>
          <p:nvPr/>
        </p:nvSpPr>
        <p:spPr>
          <a:xfrm>
            <a:off x="3259226" y="2834640"/>
            <a:ext cx="566928" cy="566928"/>
          </a:xfrm>
          <a:prstGeom prst="ellipse">
            <a:avLst/>
          </a:prstGeom>
          <a:solidFill>
            <a:srgbClr val="E9A13B"/>
          </a:solidFill>
          <a:ln/>
        </p:spPr>
      </p:sp>
      <p:pic>
        <p:nvPicPr>
          <p:cNvPr id="20" name="Image 2" descr="preencoded.png">    </p:cNvPr>
          <p:cNvPicPr>
            <a:picLocks noChangeAspect="1"/>
          </p:cNvPicPr>
          <p:nvPr/>
        </p:nvPicPr>
        <p:blipFill>
          <a:blip r:embed="rId3"/>
          <a:stretch>
            <a:fillRect/>
          </a:stretch>
        </p:blipFill>
        <p:spPr>
          <a:xfrm>
            <a:off x="3396386" y="2980944"/>
            <a:ext cx="292608" cy="292608"/>
          </a:xfrm>
          <a:prstGeom prst="rect">
            <a:avLst/>
          </a:prstGeom>
        </p:spPr>
      </p:pic>
      <p:sp>
        <p:nvSpPr>
          <p:cNvPr id="21" name="Text 16"/>
          <p:cNvSpPr txBox="1"/>
          <p:nvPr/>
        </p:nvSpPr>
        <p:spPr>
          <a:xfrm>
            <a:off x="786384" y="3493008"/>
            <a:ext cx="3039770" cy="347472"/>
          </a:xfrm>
          <a:prstGeom prst="rect">
            <a:avLst/>
          </a:prstGeom>
          <a:noFill/>
          <a:ln/>
        </p:spPr>
        <p:txBody>
          <a:bodyPr wrap="square" lIns="0" tIns="0" rIns="0" bIns="0" rtlCol="0" anchor="ctr"/>
          <a:lstStyle/>
          <a:p>
            <a:pPr rtl="1" algn="r" indent="0" marL="0">
              <a:buNone/>
            </a:pPr>
            <a:r>
              <a:rPr lang="en-US" sz="1500" b="1" dirty="0">
                <a:solidFill>
                  <a:srgbClr val="16292E"/>
                </a:solidFill>
                <a:latin typeface="Arial" pitchFamily="34" charset="0"/>
                <a:ea typeface="Arial" pitchFamily="34" charset="-122"/>
                <a:cs typeface="Arial" pitchFamily="34" charset="-120"/>
              </a:rPr>
              <a:t>معلومة عند الطلب بالعربية</a:t>
            </a:r>
            <a:endParaRPr lang="en-US" sz="1500" dirty="0"/>
          </a:p>
        </p:txBody>
      </p:sp>
      <p:sp>
        <p:nvSpPr>
          <p:cNvPr id="22" name="Text 17"/>
          <p:cNvSpPr txBox="1"/>
          <p:nvPr/>
        </p:nvSpPr>
        <p:spPr>
          <a:xfrm>
            <a:off x="786384" y="3877056"/>
            <a:ext cx="3039770" cy="786384"/>
          </a:xfrm>
          <a:prstGeom prst="rect">
            <a:avLst/>
          </a:prstGeom>
          <a:noFill/>
          <a:ln/>
        </p:spPr>
        <p:txBody>
          <a:bodyPr wrap="square" lIns="0" tIns="0" rIns="0" bIns="0" rtlCol="0" anchor="ctr"/>
          <a:lstStyle/>
          <a:p>
            <a:pPr rtl="1" algn="r" indent="0" marL="0">
              <a:lnSpc>
                <a:spcPts val="1700"/>
              </a:lnSpc>
              <a:buNone/>
            </a:pPr>
            <a:r>
              <a:rPr lang="en-US" sz="1150" dirty="0">
                <a:solidFill>
                  <a:srgbClr val="5C7378"/>
                </a:solidFill>
                <a:latin typeface="Arial" pitchFamily="34" charset="0"/>
                <a:ea typeface="Arial" pitchFamily="34" charset="-122"/>
                <a:cs typeface="Arial" pitchFamily="34" charset="-120"/>
              </a:rPr>
              <a:t>الوصول إلى المعلومة لا يمرّ بتقرير يُطلب من قسم آخر؛ سؤال مكتوب بالعربية يكفي، وجوابه من بيانات النظام نفسها</a:t>
            </a:r>
            <a:endParaRPr lang="en-US" sz="1150" dirty="0"/>
          </a:p>
        </p:txBody>
      </p:sp>
      <p:sp>
        <p:nvSpPr>
          <p:cNvPr id="23" name="Text 18"/>
          <p:cNvSpPr txBox="1"/>
          <p:nvPr/>
        </p:nvSpPr>
        <p:spPr>
          <a:xfrm>
            <a:off x="548640" y="4956048"/>
            <a:ext cx="11094415" cy="274320"/>
          </a:xfrm>
          <a:prstGeom prst="rect">
            <a:avLst/>
          </a:prstGeom>
          <a:noFill/>
          <a:ln/>
        </p:spPr>
        <p:txBody>
          <a:bodyPr wrap="square" lIns="0" tIns="0" rIns="0" bIns="0" rtlCol="0" anchor="ctr"/>
          <a:lstStyle/>
          <a:p>
            <a:pPr rtl="1" algn="ctr" indent="0" marL="0">
              <a:buNone/>
            </a:pPr>
            <a:r>
              <a:rPr lang="en-US" sz="1300" b="1" dirty="0">
                <a:solidFill>
                  <a:srgbClr val="02717D"/>
                </a:solidFill>
                <a:latin typeface="Arial" pitchFamily="34" charset="0"/>
                <a:ea typeface="Arial" pitchFamily="34" charset="-122"/>
                <a:cs typeface="Arial" pitchFamily="34" charset="-120"/>
              </a:rPr>
              <a:t>ما الذي يتغيّر جذريًا</a:t>
            </a:r>
            <a:endParaRPr lang="en-US" sz="1300" dirty="0"/>
          </a:p>
        </p:txBody>
      </p:sp>
      <p:sp>
        <p:nvSpPr>
          <p:cNvPr id="24" name="Shape 19"/>
          <p:cNvSpPr/>
          <p:nvPr/>
        </p:nvSpPr>
        <p:spPr>
          <a:xfrm>
            <a:off x="8127797" y="5303520"/>
            <a:ext cx="3515258" cy="822960"/>
          </a:xfrm>
          <a:prstGeom prst="roundRect">
            <a:avLst>
              <a:gd name="adj" fmla="val 8889"/>
            </a:avLst>
          </a:prstGeom>
          <a:solidFill>
            <a:srgbClr val="ECF4F4"/>
          </a:solidFill>
          <a:ln/>
        </p:spPr>
      </p:sp>
      <p:sp>
        <p:nvSpPr>
          <p:cNvPr id="25" name="Text 20"/>
          <p:cNvSpPr txBox="1"/>
          <p:nvPr/>
        </p:nvSpPr>
        <p:spPr>
          <a:xfrm>
            <a:off x="8347253" y="5394960"/>
            <a:ext cx="3076346" cy="274320"/>
          </a:xfrm>
          <a:prstGeom prst="rect">
            <a:avLst/>
          </a:prstGeom>
          <a:noFill/>
          <a:ln/>
        </p:spPr>
        <p:txBody>
          <a:bodyPr wrap="square" lIns="0" tIns="0" rIns="0" bIns="0" rtlCol="0" anchor="ctr"/>
          <a:lstStyle/>
          <a:p>
            <a:pPr rtl="1" algn="r" indent="0" marL="0">
              <a:buNone/>
            </a:pPr>
            <a:r>
              <a:rPr lang="en-US" sz="1050" dirty="0">
                <a:solidFill>
                  <a:srgbClr val="5C7378"/>
                </a:solidFill>
                <a:latin typeface="Arial" pitchFamily="34" charset="0"/>
                <a:ea typeface="Arial" pitchFamily="34" charset="-122"/>
                <a:cs typeface="Arial" pitchFamily="34" charset="-120"/>
              </a:rPr>
              <a:t>من الدفتر</a:t>
            </a:r>
            <a:endParaRPr lang="en-US" sz="1050" dirty="0"/>
          </a:p>
        </p:txBody>
      </p:sp>
      <p:pic>
        <p:nvPicPr>
          <p:cNvPr id="26" name="Image 3" descr="preencoded.png">    </p:cNvPr>
          <p:cNvPicPr>
            <a:picLocks noChangeAspect="1"/>
          </p:cNvPicPr>
          <p:nvPr/>
        </p:nvPicPr>
        <p:blipFill>
          <a:blip r:embed="rId4"/>
          <a:stretch>
            <a:fillRect/>
          </a:stretch>
        </p:blipFill>
        <p:spPr>
          <a:xfrm>
            <a:off x="11240719" y="5760720"/>
            <a:ext cx="182880" cy="146304"/>
          </a:xfrm>
          <a:prstGeom prst="rect">
            <a:avLst/>
          </a:prstGeom>
        </p:spPr>
      </p:pic>
      <p:sp>
        <p:nvSpPr>
          <p:cNvPr id="27" name="Text 21"/>
          <p:cNvSpPr txBox="1"/>
          <p:nvPr/>
        </p:nvSpPr>
        <p:spPr>
          <a:xfrm>
            <a:off x="8347253" y="5669280"/>
            <a:ext cx="2838602" cy="310896"/>
          </a:xfrm>
          <a:prstGeom prst="rect">
            <a:avLst/>
          </a:prstGeom>
          <a:noFill/>
          <a:ln/>
        </p:spPr>
        <p:txBody>
          <a:bodyPr wrap="square" lIns="0" tIns="0" rIns="0" bIns="0" rtlCol="0" anchor="ctr"/>
          <a:lstStyle/>
          <a:p>
            <a:pPr rtl="1" algn="r" indent="0" marL="0">
              <a:buNone/>
            </a:pPr>
            <a:r>
              <a:rPr lang="en-US" sz="1200" b="1" dirty="0">
                <a:solidFill>
                  <a:srgbClr val="02717D"/>
                </a:solidFill>
                <a:latin typeface="Arial" pitchFamily="34" charset="0"/>
                <a:ea typeface="Arial" pitchFamily="34" charset="-122"/>
                <a:cs typeface="Arial" pitchFamily="34" charset="-120"/>
              </a:rPr>
              <a:t>إلى قاعدة بيانات واحدة</a:t>
            </a:r>
            <a:endParaRPr lang="en-US" sz="1200" dirty="0"/>
          </a:p>
        </p:txBody>
      </p:sp>
      <p:sp>
        <p:nvSpPr>
          <p:cNvPr id="28" name="Shape 22"/>
          <p:cNvSpPr/>
          <p:nvPr/>
        </p:nvSpPr>
        <p:spPr>
          <a:xfrm>
            <a:off x="4338218" y="5303520"/>
            <a:ext cx="3515258" cy="822960"/>
          </a:xfrm>
          <a:prstGeom prst="roundRect">
            <a:avLst>
              <a:gd name="adj" fmla="val 8889"/>
            </a:avLst>
          </a:prstGeom>
          <a:solidFill>
            <a:srgbClr val="ECF4F4"/>
          </a:solidFill>
          <a:ln/>
        </p:spPr>
      </p:sp>
      <p:sp>
        <p:nvSpPr>
          <p:cNvPr id="29" name="Text 23"/>
          <p:cNvSpPr txBox="1"/>
          <p:nvPr/>
        </p:nvSpPr>
        <p:spPr>
          <a:xfrm>
            <a:off x="4557674" y="5394960"/>
            <a:ext cx="3076346" cy="274320"/>
          </a:xfrm>
          <a:prstGeom prst="rect">
            <a:avLst/>
          </a:prstGeom>
          <a:noFill/>
          <a:ln/>
        </p:spPr>
        <p:txBody>
          <a:bodyPr wrap="square" lIns="0" tIns="0" rIns="0" bIns="0" rtlCol="0" anchor="ctr"/>
          <a:lstStyle/>
          <a:p>
            <a:pPr rtl="1" algn="r" indent="0" marL="0">
              <a:buNone/>
            </a:pPr>
            <a:r>
              <a:rPr lang="en-US" sz="1050" dirty="0">
                <a:solidFill>
                  <a:srgbClr val="5C7378"/>
                </a:solidFill>
                <a:latin typeface="Arial" pitchFamily="34" charset="0"/>
                <a:ea typeface="Arial" pitchFamily="34" charset="-122"/>
                <a:cs typeface="Arial" pitchFamily="34" charset="-120"/>
              </a:rPr>
              <a:t>من الجرد اليدوي</a:t>
            </a:r>
            <a:endParaRPr lang="en-US" sz="1050" dirty="0"/>
          </a:p>
        </p:txBody>
      </p:sp>
      <p:pic>
        <p:nvPicPr>
          <p:cNvPr id="30" name="Image 4" descr="preencoded.png">    </p:cNvPr>
          <p:cNvPicPr>
            <a:picLocks noChangeAspect="1"/>
          </p:cNvPicPr>
          <p:nvPr/>
        </p:nvPicPr>
        <p:blipFill>
          <a:blip r:embed="rId5"/>
          <a:stretch>
            <a:fillRect/>
          </a:stretch>
        </p:blipFill>
        <p:spPr>
          <a:xfrm>
            <a:off x="7451141" y="5760720"/>
            <a:ext cx="182880" cy="146304"/>
          </a:xfrm>
          <a:prstGeom prst="rect">
            <a:avLst/>
          </a:prstGeom>
        </p:spPr>
      </p:pic>
      <p:sp>
        <p:nvSpPr>
          <p:cNvPr id="31" name="Text 24"/>
          <p:cNvSpPr txBox="1"/>
          <p:nvPr/>
        </p:nvSpPr>
        <p:spPr>
          <a:xfrm>
            <a:off x="4557674" y="5669280"/>
            <a:ext cx="2838602" cy="310896"/>
          </a:xfrm>
          <a:prstGeom prst="rect">
            <a:avLst/>
          </a:prstGeom>
          <a:noFill/>
          <a:ln/>
        </p:spPr>
        <p:txBody>
          <a:bodyPr wrap="square" lIns="0" tIns="0" rIns="0" bIns="0" rtlCol="0" anchor="ctr"/>
          <a:lstStyle/>
          <a:p>
            <a:pPr rtl="1" algn="r" indent="0" marL="0">
              <a:buNone/>
            </a:pPr>
            <a:r>
              <a:rPr lang="en-US" sz="1200" b="1" dirty="0">
                <a:solidFill>
                  <a:srgbClr val="02717D"/>
                </a:solidFill>
                <a:latin typeface="Arial" pitchFamily="34" charset="0"/>
                <a:ea typeface="Arial" pitchFamily="34" charset="-122"/>
                <a:cs typeface="Arial" pitchFamily="34" charset="-120"/>
              </a:rPr>
              <a:t>إلى رقم محدَّث لحظيًا</a:t>
            </a:r>
            <a:endParaRPr lang="en-US" sz="1200" dirty="0"/>
          </a:p>
        </p:txBody>
      </p:sp>
      <p:sp>
        <p:nvSpPr>
          <p:cNvPr id="32" name="Shape 25"/>
          <p:cNvSpPr/>
          <p:nvPr/>
        </p:nvSpPr>
        <p:spPr>
          <a:xfrm>
            <a:off x="548640" y="5303520"/>
            <a:ext cx="3515258" cy="822960"/>
          </a:xfrm>
          <a:prstGeom prst="roundRect">
            <a:avLst>
              <a:gd name="adj" fmla="val 8889"/>
            </a:avLst>
          </a:prstGeom>
          <a:solidFill>
            <a:srgbClr val="ECF4F4"/>
          </a:solidFill>
          <a:ln/>
        </p:spPr>
      </p:sp>
      <p:sp>
        <p:nvSpPr>
          <p:cNvPr id="33" name="Text 26"/>
          <p:cNvSpPr txBox="1"/>
          <p:nvPr/>
        </p:nvSpPr>
        <p:spPr>
          <a:xfrm>
            <a:off x="768096" y="5394960"/>
            <a:ext cx="3076346" cy="274320"/>
          </a:xfrm>
          <a:prstGeom prst="rect">
            <a:avLst/>
          </a:prstGeom>
          <a:noFill/>
          <a:ln/>
        </p:spPr>
        <p:txBody>
          <a:bodyPr wrap="square" lIns="0" tIns="0" rIns="0" bIns="0" rtlCol="0" anchor="ctr"/>
          <a:lstStyle/>
          <a:p>
            <a:pPr rtl="1" algn="r" indent="0" marL="0">
              <a:buNone/>
            </a:pPr>
            <a:r>
              <a:rPr lang="en-US" sz="1050" dirty="0">
                <a:solidFill>
                  <a:srgbClr val="5C7378"/>
                </a:solidFill>
                <a:latin typeface="Arial" pitchFamily="34" charset="0"/>
                <a:ea typeface="Arial" pitchFamily="34" charset="-122"/>
                <a:cs typeface="Arial" pitchFamily="34" charset="-120"/>
              </a:rPr>
              <a:t>من الاجتهاد الفردي</a:t>
            </a:r>
            <a:endParaRPr lang="en-US" sz="1050" dirty="0"/>
          </a:p>
        </p:txBody>
      </p:sp>
      <p:pic>
        <p:nvPicPr>
          <p:cNvPr id="34" name="Image 5" descr="preencoded.png">    </p:cNvPr>
          <p:cNvPicPr>
            <a:picLocks noChangeAspect="1"/>
          </p:cNvPicPr>
          <p:nvPr/>
        </p:nvPicPr>
        <p:blipFill>
          <a:blip r:embed="rId6"/>
          <a:stretch>
            <a:fillRect/>
          </a:stretch>
        </p:blipFill>
        <p:spPr>
          <a:xfrm>
            <a:off x="3661562" y="5760720"/>
            <a:ext cx="182880" cy="146304"/>
          </a:xfrm>
          <a:prstGeom prst="rect">
            <a:avLst/>
          </a:prstGeom>
        </p:spPr>
      </p:pic>
      <p:sp>
        <p:nvSpPr>
          <p:cNvPr id="35" name="Text 27"/>
          <p:cNvSpPr txBox="1"/>
          <p:nvPr/>
        </p:nvSpPr>
        <p:spPr>
          <a:xfrm>
            <a:off x="768096" y="5669280"/>
            <a:ext cx="2838602" cy="310896"/>
          </a:xfrm>
          <a:prstGeom prst="rect">
            <a:avLst/>
          </a:prstGeom>
          <a:noFill/>
          <a:ln/>
        </p:spPr>
        <p:txBody>
          <a:bodyPr wrap="square" lIns="0" tIns="0" rIns="0" bIns="0" rtlCol="0" anchor="ctr"/>
          <a:lstStyle/>
          <a:p>
            <a:pPr rtl="1" algn="r" indent="0" marL="0">
              <a:buNone/>
            </a:pPr>
            <a:r>
              <a:rPr lang="en-US" sz="1200" b="1" dirty="0">
                <a:solidFill>
                  <a:srgbClr val="02717D"/>
                </a:solidFill>
                <a:latin typeface="Arial" pitchFamily="34" charset="0"/>
                <a:ea typeface="Arial" pitchFamily="34" charset="-122"/>
                <a:cs typeface="Arial" pitchFamily="34" charset="-120"/>
              </a:rPr>
              <a:t>إلى قاعدة يطبّقها النظام</a:t>
            </a:r>
            <a:endParaRPr lang="en-US" sz="1200" dirty="0"/>
          </a:p>
        </p:txBody>
      </p:sp>
      <p:sp>
        <p:nvSpPr>
          <p:cNvPr id="36" name="Shape 28"/>
          <p:cNvSpPr/>
          <p:nvPr/>
        </p:nvSpPr>
        <p:spPr>
          <a:xfrm>
            <a:off x="548640" y="6364224"/>
            <a:ext cx="11094415" cy="16459"/>
          </a:xfrm>
          <a:prstGeom prst="rect">
            <a:avLst/>
          </a:prstGeom>
          <a:solidFill>
            <a:srgbClr val="DCE6E7"/>
          </a:solidFill>
          <a:ln/>
        </p:spPr>
      </p:sp>
      <p:sp>
        <p:nvSpPr>
          <p:cNvPr id="37" name="Text 29"/>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38" name="Text 30"/>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02717D"/>
                </a:solidFill>
                <a:latin typeface="Arial" pitchFamily="34" charset="0"/>
                <a:ea typeface="Arial" pitchFamily="34" charset="-122"/>
                <a:cs typeface="Arial" pitchFamily="34" charset="-120"/>
              </a:rPr>
              <a:t>١٠ / ٤</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8"/>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02717D"/>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02717D"/>
                </a:solidFill>
                <a:latin typeface="Arial" pitchFamily="34" charset="0"/>
                <a:ea typeface="Arial" pitchFamily="34" charset="-122"/>
                <a:cs typeface="Arial" pitchFamily="34" charset="-120"/>
              </a:rPr>
              <a:t>المحور الثاني · ماذا يتغيّر فعلًا</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أهمية المشروع والقيمة المضافة</a:t>
            </a:r>
            <a:endParaRPr lang="en-US" sz="3400" dirty="0"/>
          </a:p>
        </p:txBody>
      </p:sp>
      <p:sp>
        <p:nvSpPr>
          <p:cNvPr id="5" name="Shape 3"/>
          <p:cNvSpPr/>
          <p:nvPr/>
        </p:nvSpPr>
        <p:spPr>
          <a:xfrm>
            <a:off x="548640" y="1408176"/>
            <a:ext cx="11094415" cy="16459"/>
          </a:xfrm>
          <a:prstGeom prst="rect">
            <a:avLst/>
          </a:prstGeom>
          <a:solidFill>
            <a:srgbClr val="DCE6E7"/>
          </a:solidFill>
          <a:ln/>
        </p:spPr>
      </p:sp>
      <p:sp>
        <p:nvSpPr>
          <p:cNvPr id="6" name="Text 4"/>
          <p:cNvSpPr txBox="1"/>
          <p:nvPr/>
        </p:nvSpPr>
        <p:spPr>
          <a:xfrm>
            <a:off x="5114239" y="1554480"/>
            <a:ext cx="3703320" cy="256032"/>
          </a:xfrm>
          <a:prstGeom prst="rect">
            <a:avLst/>
          </a:prstGeom>
          <a:noFill/>
          <a:ln/>
        </p:spPr>
        <p:txBody>
          <a:bodyPr wrap="square" lIns="0" tIns="0" rIns="0" bIns="0" rtlCol="0" anchor="ctr"/>
          <a:lstStyle/>
          <a:p>
            <a:pPr rtl="1" algn="ctr" indent="0" marL="0">
              <a:buNone/>
            </a:pPr>
            <a:r>
              <a:rPr lang="en-US" sz="1050" b="1" spc="50" kern="0" dirty="0">
                <a:solidFill>
                  <a:srgbClr val="5C7378"/>
                </a:solidFill>
                <a:latin typeface="Arial" pitchFamily="34" charset="0"/>
                <a:ea typeface="Arial" pitchFamily="34" charset="-122"/>
                <a:cs typeface="Arial" pitchFamily="34" charset="-120"/>
              </a:rPr>
              <a:t>الحال اليوم</a:t>
            </a:r>
            <a:endParaRPr lang="en-US" sz="1050" dirty="0"/>
          </a:p>
        </p:txBody>
      </p:sp>
      <p:sp>
        <p:nvSpPr>
          <p:cNvPr id="7" name="Text 5"/>
          <p:cNvSpPr txBox="1"/>
          <p:nvPr/>
        </p:nvSpPr>
        <p:spPr>
          <a:xfrm>
            <a:off x="990295" y="1554480"/>
            <a:ext cx="3703320" cy="256032"/>
          </a:xfrm>
          <a:prstGeom prst="rect">
            <a:avLst/>
          </a:prstGeom>
          <a:noFill/>
          <a:ln/>
        </p:spPr>
        <p:txBody>
          <a:bodyPr wrap="square" lIns="0" tIns="0" rIns="0" bIns="0" rtlCol="0" anchor="ctr"/>
          <a:lstStyle/>
          <a:p>
            <a:pPr rtl="1" algn="ctr" indent="0" marL="0">
              <a:buNone/>
            </a:pPr>
            <a:r>
              <a:rPr lang="en-US" sz="1050" b="1" spc="50" kern="0" dirty="0">
                <a:solidFill>
                  <a:srgbClr val="02717D"/>
                </a:solidFill>
                <a:latin typeface="Arial" pitchFamily="34" charset="0"/>
                <a:ea typeface="Arial" pitchFamily="34" charset="-122"/>
                <a:cs typeface="Arial" pitchFamily="34" charset="-120"/>
              </a:rPr>
              <a:t>مع النظام</a:t>
            </a:r>
            <a:endParaRPr lang="en-US" sz="1050" dirty="0"/>
          </a:p>
        </p:txBody>
      </p:sp>
      <p:sp>
        <p:nvSpPr>
          <p:cNvPr id="8" name="Shape 6"/>
          <p:cNvSpPr/>
          <p:nvPr/>
        </p:nvSpPr>
        <p:spPr>
          <a:xfrm>
            <a:off x="548640" y="1901952"/>
            <a:ext cx="11094415" cy="914400"/>
          </a:xfrm>
          <a:prstGeom prst="roundRect">
            <a:avLst>
              <a:gd name="adj" fmla="val 9000"/>
            </a:avLst>
          </a:prstGeom>
          <a:solidFill>
            <a:srgbClr val="FFFFFF"/>
          </a:solidFill>
          <a:ln/>
          <a:effectLst>
            <a:outerShdw sx="100000" sy="100000" kx="0" ky="0" algn="bl" rotWithShape="0" blurRad="127000" dist="25400" dir="5400000">
              <a:srgbClr val="0A2E36">
                <a:alpha val="10000"/>
              </a:srgbClr>
            </a:outerShdw>
          </a:effectLst>
        </p:spPr>
      </p:sp>
      <p:sp>
        <p:nvSpPr>
          <p:cNvPr id="9" name="Shape 7"/>
          <p:cNvSpPr/>
          <p:nvPr/>
        </p:nvSpPr>
        <p:spPr>
          <a:xfrm>
            <a:off x="11002975" y="2148840"/>
            <a:ext cx="420624" cy="420624"/>
          </a:xfrm>
          <a:prstGeom prst="ellipse">
            <a:avLst/>
          </a:prstGeom>
          <a:solidFill>
            <a:srgbClr val="02717D"/>
          </a:solidFill>
          <a:ln/>
        </p:spPr>
      </p:sp>
      <p:pic>
        <p:nvPicPr>
          <p:cNvPr id="10" name="Image 0" descr="preencoded.png">    </p:cNvPr>
          <p:cNvPicPr>
            <a:picLocks noChangeAspect="1"/>
          </p:cNvPicPr>
          <p:nvPr/>
        </p:nvPicPr>
        <p:blipFill>
          <a:blip r:embed="rId1"/>
          <a:stretch>
            <a:fillRect/>
          </a:stretch>
        </p:blipFill>
        <p:spPr>
          <a:xfrm>
            <a:off x="11103559" y="2249424"/>
            <a:ext cx="219456" cy="219456"/>
          </a:xfrm>
          <a:prstGeom prst="rect">
            <a:avLst/>
          </a:prstGeom>
        </p:spPr>
      </p:pic>
      <p:sp>
        <p:nvSpPr>
          <p:cNvPr id="11" name="Text 8"/>
          <p:cNvSpPr txBox="1"/>
          <p:nvPr/>
        </p:nvSpPr>
        <p:spPr>
          <a:xfrm>
            <a:off x="9037015" y="1901952"/>
            <a:ext cx="1801368" cy="914400"/>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منع الازدواجية</a:t>
            </a:r>
            <a:endParaRPr lang="en-US" sz="1450" dirty="0"/>
          </a:p>
        </p:txBody>
      </p:sp>
      <p:sp>
        <p:nvSpPr>
          <p:cNvPr id="12" name="Shape 9"/>
          <p:cNvSpPr/>
          <p:nvPr/>
        </p:nvSpPr>
        <p:spPr>
          <a:xfrm>
            <a:off x="5114239" y="2039112"/>
            <a:ext cx="3703320" cy="640080"/>
          </a:xfrm>
          <a:prstGeom prst="roundRect">
            <a:avLst>
              <a:gd name="adj" fmla="val 10000"/>
            </a:avLst>
          </a:prstGeom>
          <a:solidFill>
            <a:srgbClr val="FDF3E3"/>
          </a:solidFill>
          <a:ln/>
        </p:spPr>
      </p:sp>
      <p:sp>
        <p:nvSpPr>
          <p:cNvPr id="13" name="Text 10"/>
          <p:cNvSpPr txBox="1"/>
          <p:nvPr/>
        </p:nvSpPr>
        <p:spPr>
          <a:xfrm>
            <a:off x="5278831" y="2039112"/>
            <a:ext cx="3374136" cy="640080"/>
          </a:xfrm>
          <a:prstGeom prst="rect">
            <a:avLst/>
          </a:prstGeom>
          <a:noFill/>
          <a:ln/>
        </p:spPr>
        <p:txBody>
          <a:bodyPr wrap="square" lIns="0" tIns="0" rIns="0" bIns="0" rtlCol="0" anchor="ctr"/>
          <a:lstStyle/>
          <a:p>
            <a:pPr rtl="1" algn="r" indent="0" marL="0">
              <a:lnSpc>
                <a:spcPts val="1400"/>
              </a:lnSpc>
              <a:buNone/>
            </a:pPr>
            <a:r>
              <a:rPr lang="en-US" sz="1050" dirty="0">
                <a:solidFill>
                  <a:srgbClr val="A0532F"/>
                </a:solidFill>
                <a:latin typeface="Arial" pitchFamily="34" charset="0"/>
                <a:ea typeface="Arial" pitchFamily="34" charset="-122"/>
                <a:cs typeface="Arial" pitchFamily="34" charset="-120"/>
              </a:rPr>
              <a:t>اسمان لشخص واحد، وحصّتان لأسرة واحدة</a:t>
            </a:r>
            <a:endParaRPr lang="en-US" sz="1050" dirty="0"/>
          </a:p>
        </p:txBody>
      </p:sp>
      <p:pic>
        <p:nvPicPr>
          <p:cNvPr id="14" name="Image 1" descr="preencoded.png">    </p:cNvPr>
          <p:cNvPicPr>
            <a:picLocks noChangeAspect="1"/>
          </p:cNvPicPr>
          <p:nvPr/>
        </p:nvPicPr>
        <p:blipFill>
          <a:blip r:embed="rId2"/>
          <a:stretch>
            <a:fillRect/>
          </a:stretch>
        </p:blipFill>
        <p:spPr>
          <a:xfrm>
            <a:off x="4803343" y="2286000"/>
            <a:ext cx="201168" cy="164592"/>
          </a:xfrm>
          <a:prstGeom prst="rect">
            <a:avLst/>
          </a:prstGeom>
        </p:spPr>
      </p:pic>
      <p:sp>
        <p:nvSpPr>
          <p:cNvPr id="15" name="Shape 11"/>
          <p:cNvSpPr/>
          <p:nvPr/>
        </p:nvSpPr>
        <p:spPr>
          <a:xfrm>
            <a:off x="990295" y="2039112"/>
            <a:ext cx="3703320" cy="640080"/>
          </a:xfrm>
          <a:prstGeom prst="roundRect">
            <a:avLst>
              <a:gd name="adj" fmla="val 10000"/>
            </a:avLst>
          </a:prstGeom>
          <a:solidFill>
            <a:srgbClr val="ECF4F4"/>
          </a:solidFill>
          <a:ln/>
        </p:spPr>
      </p:sp>
      <p:sp>
        <p:nvSpPr>
          <p:cNvPr id="16" name="Text 12"/>
          <p:cNvSpPr txBox="1"/>
          <p:nvPr/>
        </p:nvSpPr>
        <p:spPr>
          <a:xfrm>
            <a:off x="1154887" y="2039112"/>
            <a:ext cx="3374136" cy="640080"/>
          </a:xfrm>
          <a:prstGeom prst="rect">
            <a:avLst/>
          </a:prstGeom>
          <a:noFill/>
          <a:ln/>
        </p:spPr>
        <p:txBody>
          <a:bodyPr wrap="square" lIns="0" tIns="0" rIns="0" bIns="0" rtlCol="0" anchor="ctr"/>
          <a:lstStyle/>
          <a:p>
            <a:pPr rtl="1" algn="r" indent="0" marL="0">
              <a:lnSpc>
                <a:spcPts val="1400"/>
              </a:lnSpc>
              <a:buNone/>
            </a:pPr>
            <a:r>
              <a:rPr lang="en-US" sz="1050" b="1" dirty="0">
                <a:solidFill>
                  <a:srgbClr val="145A62"/>
                </a:solidFill>
                <a:latin typeface="Arial" pitchFamily="34" charset="0"/>
                <a:ea typeface="Arial" pitchFamily="34" charset="-122"/>
                <a:cs typeface="Arial" pitchFamily="34" charset="-120"/>
              </a:rPr>
              <a:t>رقم وثيقة فريد يرفض التكرار، وبحث عربي يجد «احمد» حين تُكتب «أحمد»</a:t>
            </a:r>
            <a:endParaRPr lang="en-US" sz="1050" dirty="0"/>
          </a:p>
        </p:txBody>
      </p:sp>
      <p:sp>
        <p:nvSpPr>
          <p:cNvPr id="17" name="Shape 13"/>
          <p:cNvSpPr/>
          <p:nvPr/>
        </p:nvSpPr>
        <p:spPr>
          <a:xfrm>
            <a:off x="548640" y="2962656"/>
            <a:ext cx="11094415" cy="914400"/>
          </a:xfrm>
          <a:prstGeom prst="roundRect">
            <a:avLst>
              <a:gd name="adj" fmla="val 9000"/>
            </a:avLst>
          </a:prstGeom>
          <a:solidFill>
            <a:srgbClr val="FFFFFF"/>
          </a:solidFill>
          <a:ln/>
          <a:effectLst>
            <a:outerShdw sx="100000" sy="100000" kx="0" ky="0" algn="bl" rotWithShape="0" blurRad="127000" dist="25400" dir="5400000">
              <a:srgbClr val="0A2E36">
                <a:alpha val="10000"/>
              </a:srgbClr>
            </a:outerShdw>
          </a:effectLst>
        </p:spPr>
      </p:sp>
      <p:sp>
        <p:nvSpPr>
          <p:cNvPr id="18" name="Shape 14"/>
          <p:cNvSpPr/>
          <p:nvPr/>
        </p:nvSpPr>
        <p:spPr>
          <a:xfrm>
            <a:off x="11002975" y="3209544"/>
            <a:ext cx="420624" cy="420624"/>
          </a:xfrm>
          <a:prstGeom prst="ellipse">
            <a:avLst/>
          </a:prstGeom>
          <a:solidFill>
            <a:srgbClr val="E9A13B"/>
          </a:solidFill>
          <a:ln/>
        </p:spPr>
      </p:sp>
      <p:pic>
        <p:nvPicPr>
          <p:cNvPr id="19" name="Image 2" descr="preencoded.png">    </p:cNvPr>
          <p:cNvPicPr>
            <a:picLocks noChangeAspect="1"/>
          </p:cNvPicPr>
          <p:nvPr/>
        </p:nvPicPr>
        <p:blipFill>
          <a:blip r:embed="rId3"/>
          <a:stretch>
            <a:fillRect/>
          </a:stretch>
        </p:blipFill>
        <p:spPr>
          <a:xfrm>
            <a:off x="11103559" y="3310128"/>
            <a:ext cx="219456" cy="219456"/>
          </a:xfrm>
          <a:prstGeom prst="rect">
            <a:avLst/>
          </a:prstGeom>
        </p:spPr>
      </p:pic>
      <p:sp>
        <p:nvSpPr>
          <p:cNvPr id="20" name="Text 15"/>
          <p:cNvSpPr txBox="1"/>
          <p:nvPr/>
        </p:nvSpPr>
        <p:spPr>
          <a:xfrm>
            <a:off x="9037015" y="2962656"/>
            <a:ext cx="1801368" cy="914400"/>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العدالة في التوزيع</a:t>
            </a:r>
            <a:endParaRPr lang="en-US" sz="1450" dirty="0"/>
          </a:p>
        </p:txBody>
      </p:sp>
      <p:sp>
        <p:nvSpPr>
          <p:cNvPr id="21" name="Shape 16"/>
          <p:cNvSpPr/>
          <p:nvPr/>
        </p:nvSpPr>
        <p:spPr>
          <a:xfrm>
            <a:off x="5114239" y="3099816"/>
            <a:ext cx="3703320" cy="640080"/>
          </a:xfrm>
          <a:prstGeom prst="roundRect">
            <a:avLst>
              <a:gd name="adj" fmla="val 10000"/>
            </a:avLst>
          </a:prstGeom>
          <a:solidFill>
            <a:srgbClr val="FDF3E3"/>
          </a:solidFill>
          <a:ln/>
        </p:spPr>
      </p:sp>
      <p:sp>
        <p:nvSpPr>
          <p:cNvPr id="22" name="Text 17"/>
          <p:cNvSpPr txBox="1"/>
          <p:nvPr/>
        </p:nvSpPr>
        <p:spPr>
          <a:xfrm>
            <a:off x="5278831" y="3099816"/>
            <a:ext cx="3374136" cy="640080"/>
          </a:xfrm>
          <a:prstGeom prst="rect">
            <a:avLst/>
          </a:prstGeom>
          <a:noFill/>
          <a:ln/>
        </p:spPr>
        <p:txBody>
          <a:bodyPr wrap="square" lIns="0" tIns="0" rIns="0" bIns="0" rtlCol="0" anchor="ctr"/>
          <a:lstStyle/>
          <a:p>
            <a:pPr rtl="1" algn="r" indent="0" marL="0">
              <a:lnSpc>
                <a:spcPts val="1400"/>
              </a:lnSpc>
              <a:buNone/>
            </a:pPr>
            <a:r>
              <a:rPr lang="en-US" sz="1050" dirty="0">
                <a:solidFill>
                  <a:srgbClr val="A0532F"/>
                </a:solidFill>
                <a:latin typeface="Arial" pitchFamily="34" charset="0"/>
                <a:ea typeface="Arial" pitchFamily="34" charset="-122"/>
                <a:cs typeface="Arial" pitchFamily="34" charset="-120"/>
              </a:rPr>
              <a:t>من يصل أولًا يأخذ، ومن لا يعرف يُحرم</a:t>
            </a:r>
            <a:endParaRPr lang="en-US" sz="1050" dirty="0"/>
          </a:p>
        </p:txBody>
      </p:sp>
      <p:pic>
        <p:nvPicPr>
          <p:cNvPr id="23" name="Image 3" descr="preencoded.png">    </p:cNvPr>
          <p:cNvPicPr>
            <a:picLocks noChangeAspect="1"/>
          </p:cNvPicPr>
          <p:nvPr/>
        </p:nvPicPr>
        <p:blipFill>
          <a:blip r:embed="rId4"/>
          <a:stretch>
            <a:fillRect/>
          </a:stretch>
        </p:blipFill>
        <p:spPr>
          <a:xfrm>
            <a:off x="4803343" y="3346704"/>
            <a:ext cx="201168" cy="164592"/>
          </a:xfrm>
          <a:prstGeom prst="rect">
            <a:avLst/>
          </a:prstGeom>
        </p:spPr>
      </p:pic>
      <p:sp>
        <p:nvSpPr>
          <p:cNvPr id="24" name="Shape 18"/>
          <p:cNvSpPr/>
          <p:nvPr/>
        </p:nvSpPr>
        <p:spPr>
          <a:xfrm>
            <a:off x="990295" y="3099816"/>
            <a:ext cx="3703320" cy="640080"/>
          </a:xfrm>
          <a:prstGeom prst="roundRect">
            <a:avLst>
              <a:gd name="adj" fmla="val 10000"/>
            </a:avLst>
          </a:prstGeom>
          <a:solidFill>
            <a:srgbClr val="ECF4F4"/>
          </a:solidFill>
          <a:ln/>
        </p:spPr>
      </p:sp>
      <p:sp>
        <p:nvSpPr>
          <p:cNvPr id="25" name="Text 19"/>
          <p:cNvSpPr txBox="1"/>
          <p:nvPr/>
        </p:nvSpPr>
        <p:spPr>
          <a:xfrm>
            <a:off x="1154887" y="3099816"/>
            <a:ext cx="3374136" cy="640080"/>
          </a:xfrm>
          <a:prstGeom prst="rect">
            <a:avLst/>
          </a:prstGeom>
          <a:noFill/>
          <a:ln/>
        </p:spPr>
        <p:txBody>
          <a:bodyPr wrap="square" lIns="0" tIns="0" rIns="0" bIns="0" rtlCol="0" anchor="ctr"/>
          <a:lstStyle/>
          <a:p>
            <a:pPr rtl="1" algn="r" indent="0" marL="0">
              <a:lnSpc>
                <a:spcPts val="1400"/>
              </a:lnSpc>
              <a:buNone/>
            </a:pPr>
            <a:r>
              <a:rPr lang="en-US" sz="1050" b="1" dirty="0">
                <a:solidFill>
                  <a:srgbClr val="145A62"/>
                </a:solidFill>
                <a:latin typeface="Arial" pitchFamily="34" charset="0"/>
                <a:ea typeface="Arial" pitchFamily="34" charset="-122"/>
                <a:cs typeface="Arial" pitchFamily="34" charset="-120"/>
              </a:rPr>
              <a:t>سجلّ استلام لكل فرد وأسرة، فيظهر المحروم قبل أن يشتكي</a:t>
            </a:r>
            <a:endParaRPr lang="en-US" sz="1050" dirty="0"/>
          </a:p>
        </p:txBody>
      </p:sp>
      <p:sp>
        <p:nvSpPr>
          <p:cNvPr id="26" name="Shape 20"/>
          <p:cNvSpPr/>
          <p:nvPr/>
        </p:nvSpPr>
        <p:spPr>
          <a:xfrm>
            <a:off x="548640" y="4023360"/>
            <a:ext cx="11094415" cy="914400"/>
          </a:xfrm>
          <a:prstGeom prst="roundRect">
            <a:avLst>
              <a:gd name="adj" fmla="val 9000"/>
            </a:avLst>
          </a:prstGeom>
          <a:solidFill>
            <a:srgbClr val="FFFFFF"/>
          </a:solidFill>
          <a:ln/>
          <a:effectLst>
            <a:outerShdw sx="100000" sy="100000" kx="0" ky="0" algn="bl" rotWithShape="0" blurRad="127000" dist="25400" dir="5400000">
              <a:srgbClr val="0A2E36">
                <a:alpha val="10000"/>
              </a:srgbClr>
            </a:outerShdw>
          </a:effectLst>
        </p:spPr>
      </p:sp>
      <p:sp>
        <p:nvSpPr>
          <p:cNvPr id="27" name="Shape 21"/>
          <p:cNvSpPr/>
          <p:nvPr/>
        </p:nvSpPr>
        <p:spPr>
          <a:xfrm>
            <a:off x="11002975" y="4270248"/>
            <a:ext cx="420624" cy="420624"/>
          </a:xfrm>
          <a:prstGeom prst="ellipse">
            <a:avLst/>
          </a:prstGeom>
          <a:solidFill>
            <a:srgbClr val="02717D"/>
          </a:solidFill>
          <a:ln/>
        </p:spPr>
      </p:sp>
      <p:pic>
        <p:nvPicPr>
          <p:cNvPr id="28" name="Image 4" descr="preencoded.png">    </p:cNvPr>
          <p:cNvPicPr>
            <a:picLocks noChangeAspect="1"/>
          </p:cNvPicPr>
          <p:nvPr/>
        </p:nvPicPr>
        <p:blipFill>
          <a:blip r:embed="rId5"/>
          <a:stretch>
            <a:fillRect/>
          </a:stretch>
        </p:blipFill>
        <p:spPr>
          <a:xfrm>
            <a:off x="11103559" y="4370832"/>
            <a:ext cx="219456" cy="219456"/>
          </a:xfrm>
          <a:prstGeom prst="rect">
            <a:avLst/>
          </a:prstGeom>
        </p:spPr>
      </p:pic>
      <p:sp>
        <p:nvSpPr>
          <p:cNvPr id="29" name="Text 22"/>
          <p:cNvSpPr txBox="1"/>
          <p:nvPr/>
        </p:nvSpPr>
        <p:spPr>
          <a:xfrm>
            <a:off x="9037015" y="4023360"/>
            <a:ext cx="1801368" cy="914400"/>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السرعة في القرار</a:t>
            </a:r>
            <a:endParaRPr lang="en-US" sz="1450" dirty="0"/>
          </a:p>
        </p:txBody>
      </p:sp>
      <p:sp>
        <p:nvSpPr>
          <p:cNvPr id="30" name="Shape 23"/>
          <p:cNvSpPr/>
          <p:nvPr/>
        </p:nvSpPr>
        <p:spPr>
          <a:xfrm>
            <a:off x="5114239" y="4160520"/>
            <a:ext cx="3703320" cy="640080"/>
          </a:xfrm>
          <a:prstGeom prst="roundRect">
            <a:avLst>
              <a:gd name="adj" fmla="val 10000"/>
            </a:avLst>
          </a:prstGeom>
          <a:solidFill>
            <a:srgbClr val="FDF3E3"/>
          </a:solidFill>
          <a:ln/>
        </p:spPr>
      </p:sp>
      <p:sp>
        <p:nvSpPr>
          <p:cNvPr id="31" name="Text 24"/>
          <p:cNvSpPr txBox="1"/>
          <p:nvPr/>
        </p:nvSpPr>
        <p:spPr>
          <a:xfrm>
            <a:off x="5278831" y="4160520"/>
            <a:ext cx="3374136" cy="640080"/>
          </a:xfrm>
          <a:prstGeom prst="rect">
            <a:avLst/>
          </a:prstGeom>
          <a:noFill/>
          <a:ln/>
        </p:spPr>
        <p:txBody>
          <a:bodyPr wrap="square" lIns="0" tIns="0" rIns="0" bIns="0" rtlCol="0" anchor="ctr"/>
          <a:lstStyle/>
          <a:p>
            <a:pPr rtl="1" algn="r" indent="0" marL="0">
              <a:lnSpc>
                <a:spcPts val="1400"/>
              </a:lnSpc>
              <a:buNone/>
            </a:pPr>
            <a:r>
              <a:rPr lang="en-US" sz="1050" dirty="0">
                <a:solidFill>
                  <a:srgbClr val="A0532F"/>
                </a:solidFill>
                <a:latin typeface="Arial" pitchFamily="34" charset="0"/>
                <a:ea typeface="Arial" pitchFamily="34" charset="-122"/>
                <a:cs typeface="Arial" pitchFamily="34" charset="-120"/>
              </a:rPr>
              <a:t>ساعات جرد للإجابة عن سؤال واحد</a:t>
            </a:r>
            <a:endParaRPr lang="en-US" sz="1050" dirty="0"/>
          </a:p>
        </p:txBody>
      </p:sp>
      <p:pic>
        <p:nvPicPr>
          <p:cNvPr id="32" name="Image 5" descr="preencoded.png">    </p:cNvPr>
          <p:cNvPicPr>
            <a:picLocks noChangeAspect="1"/>
          </p:cNvPicPr>
          <p:nvPr/>
        </p:nvPicPr>
        <p:blipFill>
          <a:blip r:embed="rId6"/>
          <a:stretch>
            <a:fillRect/>
          </a:stretch>
        </p:blipFill>
        <p:spPr>
          <a:xfrm>
            <a:off x="4803343" y="4407408"/>
            <a:ext cx="201168" cy="164592"/>
          </a:xfrm>
          <a:prstGeom prst="rect">
            <a:avLst/>
          </a:prstGeom>
        </p:spPr>
      </p:pic>
      <p:sp>
        <p:nvSpPr>
          <p:cNvPr id="33" name="Shape 25"/>
          <p:cNvSpPr/>
          <p:nvPr/>
        </p:nvSpPr>
        <p:spPr>
          <a:xfrm>
            <a:off x="990295" y="4160520"/>
            <a:ext cx="3703320" cy="640080"/>
          </a:xfrm>
          <a:prstGeom prst="roundRect">
            <a:avLst>
              <a:gd name="adj" fmla="val 10000"/>
            </a:avLst>
          </a:prstGeom>
          <a:solidFill>
            <a:srgbClr val="ECF4F4"/>
          </a:solidFill>
          <a:ln/>
        </p:spPr>
      </p:sp>
      <p:sp>
        <p:nvSpPr>
          <p:cNvPr id="34" name="Text 26"/>
          <p:cNvSpPr txBox="1"/>
          <p:nvPr/>
        </p:nvSpPr>
        <p:spPr>
          <a:xfrm>
            <a:off x="1154887" y="4160520"/>
            <a:ext cx="3374136" cy="640080"/>
          </a:xfrm>
          <a:prstGeom prst="rect">
            <a:avLst/>
          </a:prstGeom>
          <a:noFill/>
          <a:ln/>
        </p:spPr>
        <p:txBody>
          <a:bodyPr wrap="square" lIns="0" tIns="0" rIns="0" bIns="0" rtlCol="0" anchor="ctr"/>
          <a:lstStyle/>
          <a:p>
            <a:pPr rtl="1" algn="r" indent="0" marL="0">
              <a:lnSpc>
                <a:spcPts val="1400"/>
              </a:lnSpc>
              <a:buNone/>
            </a:pPr>
            <a:r>
              <a:rPr lang="en-US" sz="1050" b="1" dirty="0">
                <a:solidFill>
                  <a:srgbClr val="145A62"/>
                </a:solidFill>
                <a:latin typeface="Arial" pitchFamily="34" charset="0"/>
                <a:ea typeface="Arial" pitchFamily="34" charset="-122"/>
                <a:cs typeface="Arial" pitchFamily="34" charset="-120"/>
              </a:rPr>
              <a:t>الرقم حاضر لحظة السؤال، فيصير وقت الموظف للخدمة لا للعدّ</a:t>
            </a:r>
            <a:endParaRPr lang="en-US" sz="1050" dirty="0"/>
          </a:p>
        </p:txBody>
      </p:sp>
      <p:sp>
        <p:nvSpPr>
          <p:cNvPr id="35" name="Shape 27"/>
          <p:cNvSpPr/>
          <p:nvPr/>
        </p:nvSpPr>
        <p:spPr>
          <a:xfrm>
            <a:off x="548640" y="5084064"/>
            <a:ext cx="11094415" cy="914400"/>
          </a:xfrm>
          <a:prstGeom prst="roundRect">
            <a:avLst>
              <a:gd name="adj" fmla="val 9000"/>
            </a:avLst>
          </a:prstGeom>
          <a:solidFill>
            <a:srgbClr val="FFFFFF"/>
          </a:solidFill>
          <a:ln/>
          <a:effectLst>
            <a:outerShdw sx="100000" sy="100000" kx="0" ky="0" algn="bl" rotWithShape="0" blurRad="127000" dist="25400" dir="5400000">
              <a:srgbClr val="0A2E36">
                <a:alpha val="10000"/>
              </a:srgbClr>
            </a:outerShdw>
          </a:effectLst>
        </p:spPr>
      </p:sp>
      <p:sp>
        <p:nvSpPr>
          <p:cNvPr id="36" name="Shape 28"/>
          <p:cNvSpPr/>
          <p:nvPr/>
        </p:nvSpPr>
        <p:spPr>
          <a:xfrm>
            <a:off x="11002975" y="5330952"/>
            <a:ext cx="420624" cy="420624"/>
          </a:xfrm>
          <a:prstGeom prst="ellipse">
            <a:avLst/>
          </a:prstGeom>
          <a:solidFill>
            <a:srgbClr val="E9A13B"/>
          </a:solidFill>
          <a:ln/>
        </p:spPr>
      </p:sp>
      <p:pic>
        <p:nvPicPr>
          <p:cNvPr id="37" name="Image 6" descr="preencoded.png">    </p:cNvPr>
          <p:cNvPicPr>
            <a:picLocks noChangeAspect="1"/>
          </p:cNvPicPr>
          <p:nvPr/>
        </p:nvPicPr>
        <p:blipFill>
          <a:blip r:embed="rId7"/>
          <a:stretch>
            <a:fillRect/>
          </a:stretch>
        </p:blipFill>
        <p:spPr>
          <a:xfrm>
            <a:off x="11103559" y="5431536"/>
            <a:ext cx="219456" cy="219456"/>
          </a:xfrm>
          <a:prstGeom prst="rect">
            <a:avLst/>
          </a:prstGeom>
        </p:spPr>
      </p:pic>
      <p:sp>
        <p:nvSpPr>
          <p:cNvPr id="38" name="Text 29"/>
          <p:cNvSpPr txBox="1"/>
          <p:nvPr/>
        </p:nvSpPr>
        <p:spPr>
          <a:xfrm>
            <a:off x="9037015" y="5084064"/>
            <a:ext cx="1801368" cy="914400"/>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الأمان والخصوصية</a:t>
            </a:r>
            <a:endParaRPr lang="en-US" sz="1450" dirty="0"/>
          </a:p>
        </p:txBody>
      </p:sp>
      <p:sp>
        <p:nvSpPr>
          <p:cNvPr id="39" name="Shape 30"/>
          <p:cNvSpPr/>
          <p:nvPr/>
        </p:nvSpPr>
        <p:spPr>
          <a:xfrm>
            <a:off x="5114239" y="5221224"/>
            <a:ext cx="3703320" cy="640080"/>
          </a:xfrm>
          <a:prstGeom prst="roundRect">
            <a:avLst>
              <a:gd name="adj" fmla="val 10000"/>
            </a:avLst>
          </a:prstGeom>
          <a:solidFill>
            <a:srgbClr val="FDF3E3"/>
          </a:solidFill>
          <a:ln/>
        </p:spPr>
      </p:sp>
      <p:sp>
        <p:nvSpPr>
          <p:cNvPr id="40" name="Text 31"/>
          <p:cNvSpPr txBox="1"/>
          <p:nvPr/>
        </p:nvSpPr>
        <p:spPr>
          <a:xfrm>
            <a:off x="5278831" y="5221224"/>
            <a:ext cx="3374136" cy="640080"/>
          </a:xfrm>
          <a:prstGeom prst="rect">
            <a:avLst/>
          </a:prstGeom>
          <a:noFill/>
          <a:ln/>
        </p:spPr>
        <p:txBody>
          <a:bodyPr wrap="square" lIns="0" tIns="0" rIns="0" bIns="0" rtlCol="0" anchor="ctr"/>
          <a:lstStyle/>
          <a:p>
            <a:pPr rtl="1" algn="r" indent="0" marL="0">
              <a:lnSpc>
                <a:spcPts val="1400"/>
              </a:lnSpc>
              <a:buNone/>
            </a:pPr>
            <a:r>
              <a:rPr lang="en-US" sz="1050" dirty="0">
                <a:solidFill>
                  <a:srgbClr val="A0532F"/>
                </a:solidFill>
                <a:latin typeface="Arial" pitchFamily="34" charset="0"/>
                <a:ea typeface="Arial" pitchFamily="34" charset="-122"/>
                <a:cs typeface="Arial" pitchFamily="34" charset="-120"/>
              </a:rPr>
              <a:t>الدفتر مفتوح لمن وصل إليه</a:t>
            </a:r>
            <a:endParaRPr lang="en-US" sz="1050" dirty="0"/>
          </a:p>
        </p:txBody>
      </p:sp>
      <p:pic>
        <p:nvPicPr>
          <p:cNvPr id="41" name="Image 7" descr="preencoded.png">    </p:cNvPr>
          <p:cNvPicPr>
            <a:picLocks noChangeAspect="1"/>
          </p:cNvPicPr>
          <p:nvPr/>
        </p:nvPicPr>
        <p:blipFill>
          <a:blip r:embed="rId8"/>
          <a:stretch>
            <a:fillRect/>
          </a:stretch>
        </p:blipFill>
        <p:spPr>
          <a:xfrm>
            <a:off x="4803343" y="5468112"/>
            <a:ext cx="201168" cy="164592"/>
          </a:xfrm>
          <a:prstGeom prst="rect">
            <a:avLst/>
          </a:prstGeom>
        </p:spPr>
      </p:pic>
      <p:sp>
        <p:nvSpPr>
          <p:cNvPr id="42" name="Shape 32"/>
          <p:cNvSpPr/>
          <p:nvPr/>
        </p:nvSpPr>
        <p:spPr>
          <a:xfrm>
            <a:off x="990295" y="5221224"/>
            <a:ext cx="3703320" cy="640080"/>
          </a:xfrm>
          <a:prstGeom prst="roundRect">
            <a:avLst>
              <a:gd name="adj" fmla="val 10000"/>
            </a:avLst>
          </a:prstGeom>
          <a:solidFill>
            <a:srgbClr val="ECF4F4"/>
          </a:solidFill>
          <a:ln/>
        </p:spPr>
      </p:sp>
      <p:sp>
        <p:nvSpPr>
          <p:cNvPr id="43" name="Text 33"/>
          <p:cNvSpPr txBox="1"/>
          <p:nvPr/>
        </p:nvSpPr>
        <p:spPr>
          <a:xfrm>
            <a:off x="1154887" y="5221224"/>
            <a:ext cx="3374136" cy="640080"/>
          </a:xfrm>
          <a:prstGeom prst="rect">
            <a:avLst/>
          </a:prstGeom>
          <a:noFill/>
          <a:ln/>
        </p:spPr>
        <p:txBody>
          <a:bodyPr wrap="square" lIns="0" tIns="0" rIns="0" bIns="0" rtlCol="0" anchor="ctr"/>
          <a:lstStyle/>
          <a:p>
            <a:pPr rtl="1" algn="r" indent="0" marL="0">
              <a:lnSpc>
                <a:spcPts val="1400"/>
              </a:lnSpc>
              <a:buNone/>
            </a:pPr>
            <a:r>
              <a:rPr lang="en-US" sz="1050" b="1" dirty="0">
                <a:solidFill>
                  <a:srgbClr val="145A62"/>
                </a:solidFill>
                <a:latin typeface="Arial" pitchFamily="34" charset="0"/>
                <a:ea typeface="Arial" pitchFamily="34" charset="-122"/>
                <a:cs typeface="Arial" pitchFamily="34" charset="-120"/>
              </a:rPr>
              <a:t>كل موظف يرى ما يخصّ عمله فقط، وكل تعديل حسّاس مُوثَّق بصاحبه</a:t>
            </a:r>
            <a:endParaRPr lang="en-US" sz="1050" dirty="0"/>
          </a:p>
        </p:txBody>
      </p:sp>
      <p:sp>
        <p:nvSpPr>
          <p:cNvPr id="44" name="Shape 34"/>
          <p:cNvSpPr/>
          <p:nvPr/>
        </p:nvSpPr>
        <p:spPr>
          <a:xfrm>
            <a:off x="548640" y="6364224"/>
            <a:ext cx="11094415" cy="16459"/>
          </a:xfrm>
          <a:prstGeom prst="rect">
            <a:avLst/>
          </a:prstGeom>
          <a:solidFill>
            <a:srgbClr val="DCE6E7"/>
          </a:solidFill>
          <a:ln/>
        </p:spPr>
      </p:sp>
      <p:sp>
        <p:nvSpPr>
          <p:cNvPr id="45" name="Text 35"/>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46" name="Text 36"/>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02717D"/>
                </a:solidFill>
                <a:latin typeface="Arial" pitchFamily="34" charset="0"/>
                <a:ea typeface="Arial" pitchFamily="34" charset="-122"/>
                <a:cs typeface="Arial" pitchFamily="34" charset="-120"/>
              </a:rPr>
              <a:t>١٠ / ٥</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E9A13B"/>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E9A13B"/>
                </a:solidFill>
                <a:latin typeface="Arial" pitchFamily="34" charset="0"/>
                <a:ea typeface="Arial" pitchFamily="34" charset="-122"/>
                <a:cs typeface="Arial" pitchFamily="34" charset="-120"/>
              </a:rPr>
              <a:t>المحور الثاني · لمن بُني هذا النظام</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FFFFFF"/>
                </a:solidFill>
                <a:latin typeface="Arial" pitchFamily="34" charset="0"/>
                <a:ea typeface="Arial" pitchFamily="34" charset="-122"/>
                <a:cs typeface="Arial" pitchFamily="34" charset="-120"/>
              </a:rPr>
              <a:t>الجمهور المستهدف والمستفيدون</a:t>
            </a:r>
            <a:endParaRPr lang="en-US" sz="3400" dirty="0"/>
          </a:p>
        </p:txBody>
      </p:sp>
      <p:sp>
        <p:nvSpPr>
          <p:cNvPr id="5" name="Shape 3"/>
          <p:cNvSpPr/>
          <p:nvPr/>
        </p:nvSpPr>
        <p:spPr>
          <a:xfrm>
            <a:off x="548640" y="1408176"/>
            <a:ext cx="11094415" cy="16459"/>
          </a:xfrm>
          <a:prstGeom prst="rect">
            <a:avLst/>
          </a:prstGeom>
          <a:solidFill>
            <a:srgbClr val="17505C"/>
          </a:solidFill>
          <a:ln/>
        </p:spPr>
      </p:sp>
      <p:sp>
        <p:nvSpPr>
          <p:cNvPr id="6" name="Shape 4"/>
          <p:cNvSpPr/>
          <p:nvPr/>
        </p:nvSpPr>
        <p:spPr>
          <a:xfrm>
            <a:off x="9047759" y="1609344"/>
            <a:ext cx="2595296" cy="3529584"/>
          </a:xfrm>
          <a:prstGeom prst="roundRect">
            <a:avLst>
              <a:gd name="adj" fmla="val 3523"/>
            </a:avLst>
          </a:prstGeom>
          <a:solidFill>
            <a:srgbClr val="113E48"/>
          </a:solidFill>
          <a:ln/>
        </p:spPr>
      </p:sp>
      <p:sp>
        <p:nvSpPr>
          <p:cNvPr id="7" name="Shape 5"/>
          <p:cNvSpPr/>
          <p:nvPr/>
        </p:nvSpPr>
        <p:spPr>
          <a:xfrm>
            <a:off x="9961359" y="1883664"/>
            <a:ext cx="768096" cy="768096"/>
          </a:xfrm>
          <a:prstGeom prst="ellipse">
            <a:avLst/>
          </a:prstGeom>
          <a:solidFill>
            <a:srgbClr val="00A896"/>
          </a:solidFill>
          <a:ln/>
        </p:spPr>
      </p:sp>
      <p:pic>
        <p:nvPicPr>
          <p:cNvPr id="8" name="Image 0" descr="preencoded.png">    </p:cNvPr>
          <p:cNvPicPr>
            <a:picLocks noChangeAspect="1"/>
          </p:cNvPicPr>
          <p:nvPr/>
        </p:nvPicPr>
        <p:blipFill>
          <a:blip r:embed="rId1"/>
          <a:stretch>
            <a:fillRect/>
          </a:stretch>
        </p:blipFill>
        <p:spPr>
          <a:xfrm>
            <a:off x="10162527" y="2084832"/>
            <a:ext cx="365760" cy="365760"/>
          </a:xfrm>
          <a:prstGeom prst="rect">
            <a:avLst/>
          </a:prstGeom>
        </p:spPr>
      </p:pic>
      <p:sp>
        <p:nvSpPr>
          <p:cNvPr id="9" name="Text 6"/>
          <p:cNvSpPr txBox="1"/>
          <p:nvPr/>
        </p:nvSpPr>
        <p:spPr>
          <a:xfrm>
            <a:off x="9230639" y="2798064"/>
            <a:ext cx="2229536" cy="457200"/>
          </a:xfrm>
          <a:prstGeom prst="rect">
            <a:avLst/>
          </a:prstGeom>
          <a:noFill/>
          <a:ln/>
        </p:spPr>
        <p:txBody>
          <a:bodyPr wrap="square" lIns="0" tIns="0" rIns="0" bIns="0" rtlCol="0" anchor="ctr"/>
          <a:lstStyle/>
          <a:p>
            <a:pPr rtl="1" algn="ctr" indent="0" marL="0">
              <a:lnSpc>
                <a:spcPts val="1900"/>
              </a:lnSpc>
              <a:buNone/>
            </a:pPr>
            <a:r>
              <a:rPr lang="en-US" sz="1500" b="1" dirty="0">
                <a:solidFill>
                  <a:srgbClr val="FFFFFF"/>
                </a:solidFill>
                <a:latin typeface="Arial" pitchFamily="34" charset="0"/>
                <a:ea typeface="Arial" pitchFamily="34" charset="-122"/>
                <a:cs typeface="Arial" pitchFamily="34" charset="-120"/>
              </a:rPr>
              <a:t>المنظمات الإنسانية</a:t>
            </a:r>
            <a:endParaRPr lang="en-US" sz="1500" dirty="0"/>
          </a:p>
        </p:txBody>
      </p:sp>
      <p:sp>
        <p:nvSpPr>
          <p:cNvPr id="10" name="Shape 7"/>
          <p:cNvSpPr/>
          <p:nvPr/>
        </p:nvSpPr>
        <p:spPr>
          <a:xfrm>
            <a:off x="9230639" y="3383280"/>
            <a:ext cx="2229536" cy="768096"/>
          </a:xfrm>
          <a:prstGeom prst="roundRect">
            <a:avLst>
              <a:gd name="adj" fmla="val 8333"/>
            </a:avLst>
          </a:prstGeom>
          <a:solidFill>
            <a:srgbClr val="17505C"/>
          </a:solidFill>
          <a:ln/>
        </p:spPr>
      </p:sp>
      <p:sp>
        <p:nvSpPr>
          <p:cNvPr id="11" name="Text 8"/>
          <p:cNvSpPr txBox="1"/>
          <p:nvPr/>
        </p:nvSpPr>
        <p:spPr>
          <a:xfrm>
            <a:off x="9358655" y="3383280"/>
            <a:ext cx="1973504" cy="768096"/>
          </a:xfrm>
          <a:prstGeom prst="rect">
            <a:avLst/>
          </a:prstGeom>
          <a:noFill/>
          <a:ln/>
        </p:spPr>
        <p:txBody>
          <a:bodyPr wrap="square" lIns="0" tIns="0" rIns="0" bIns="0" rtlCol="0" anchor="ctr"/>
          <a:lstStyle/>
          <a:p>
            <a:pPr rtl="1" algn="r" indent="0" marL="0">
              <a:lnSpc>
                <a:spcPts val="1500"/>
              </a:lnSpc>
              <a:buNone/>
            </a:pPr>
            <a:r>
              <a:rPr lang="en-US" sz="1100" dirty="0">
                <a:solidFill>
                  <a:srgbClr val="FFFFFF"/>
                </a:solidFill>
                <a:latin typeface="Arial" pitchFamily="34" charset="0"/>
                <a:ea typeface="Arial" pitchFamily="34" charset="-122"/>
                <a:cs typeface="Arial" pitchFamily="34" charset="-120"/>
              </a:rPr>
              <a:t>تقارير موثَّقة عن التوزيع والتغطية</a:t>
            </a:r>
            <a:endParaRPr lang="en-US" sz="1100" dirty="0"/>
          </a:p>
        </p:txBody>
      </p:sp>
      <p:sp>
        <p:nvSpPr>
          <p:cNvPr id="12" name="Text 9"/>
          <p:cNvSpPr txBox="1"/>
          <p:nvPr/>
        </p:nvSpPr>
        <p:spPr>
          <a:xfrm>
            <a:off x="9303791" y="4261104"/>
            <a:ext cx="2083232" cy="731520"/>
          </a:xfrm>
          <a:prstGeom prst="rect">
            <a:avLst/>
          </a:prstGeom>
          <a:noFill/>
          <a:ln/>
        </p:spPr>
        <p:txBody>
          <a:bodyPr wrap="square" lIns="0" tIns="0" rIns="0" bIns="0" rtlCol="0" anchor="ctr"/>
          <a:lstStyle/>
          <a:p>
            <a:pPr rtl="1" algn="r" indent="0" marL="0">
              <a:lnSpc>
                <a:spcPts val="1500"/>
              </a:lnSpc>
              <a:buNone/>
            </a:pPr>
            <a:r>
              <a:rPr lang="en-US" sz="1050" dirty="0">
                <a:solidFill>
                  <a:srgbClr val="BFD4D7"/>
                </a:solidFill>
                <a:latin typeface="Arial" pitchFamily="34" charset="0"/>
                <a:ea typeface="Arial" pitchFamily="34" charset="-122"/>
                <a:cs typeface="Arial" pitchFamily="34" charset="-120"/>
              </a:rPr>
              <a:t>أثر يُبرَّر أمام المانحين، لا تقديرات</a:t>
            </a:r>
            <a:endParaRPr lang="en-US" sz="1050" dirty="0"/>
          </a:p>
        </p:txBody>
      </p:sp>
      <p:sp>
        <p:nvSpPr>
          <p:cNvPr id="13" name="Shape 10"/>
          <p:cNvSpPr/>
          <p:nvPr/>
        </p:nvSpPr>
        <p:spPr>
          <a:xfrm>
            <a:off x="6214720" y="1609344"/>
            <a:ext cx="2595296" cy="3529584"/>
          </a:xfrm>
          <a:prstGeom prst="roundRect">
            <a:avLst>
              <a:gd name="adj" fmla="val 3523"/>
            </a:avLst>
          </a:prstGeom>
          <a:solidFill>
            <a:srgbClr val="113E48"/>
          </a:solidFill>
          <a:ln/>
        </p:spPr>
      </p:sp>
      <p:sp>
        <p:nvSpPr>
          <p:cNvPr id="14" name="Shape 11"/>
          <p:cNvSpPr/>
          <p:nvPr/>
        </p:nvSpPr>
        <p:spPr>
          <a:xfrm>
            <a:off x="7128319" y="1883664"/>
            <a:ext cx="768096" cy="768096"/>
          </a:xfrm>
          <a:prstGeom prst="ellipse">
            <a:avLst/>
          </a:prstGeom>
          <a:solidFill>
            <a:srgbClr val="00A896"/>
          </a:solidFill>
          <a:ln/>
        </p:spPr>
      </p:sp>
      <p:pic>
        <p:nvPicPr>
          <p:cNvPr id="15" name="Image 1" descr="preencoded.png">    </p:cNvPr>
          <p:cNvPicPr>
            <a:picLocks noChangeAspect="1"/>
          </p:cNvPicPr>
          <p:nvPr/>
        </p:nvPicPr>
        <p:blipFill>
          <a:blip r:embed="rId2"/>
          <a:stretch>
            <a:fillRect/>
          </a:stretch>
        </p:blipFill>
        <p:spPr>
          <a:xfrm>
            <a:off x="7329488" y="2084832"/>
            <a:ext cx="365760" cy="365760"/>
          </a:xfrm>
          <a:prstGeom prst="rect">
            <a:avLst/>
          </a:prstGeom>
        </p:spPr>
      </p:pic>
      <p:sp>
        <p:nvSpPr>
          <p:cNvPr id="16" name="Text 12"/>
          <p:cNvSpPr txBox="1"/>
          <p:nvPr/>
        </p:nvSpPr>
        <p:spPr>
          <a:xfrm>
            <a:off x="6397600" y="2798064"/>
            <a:ext cx="2229536" cy="457200"/>
          </a:xfrm>
          <a:prstGeom prst="rect">
            <a:avLst/>
          </a:prstGeom>
          <a:noFill/>
          <a:ln/>
        </p:spPr>
        <p:txBody>
          <a:bodyPr wrap="square" lIns="0" tIns="0" rIns="0" bIns="0" rtlCol="0" anchor="ctr"/>
          <a:lstStyle/>
          <a:p>
            <a:pPr rtl="1" algn="ctr" indent="0" marL="0">
              <a:lnSpc>
                <a:spcPts val="1900"/>
              </a:lnSpc>
              <a:buNone/>
            </a:pPr>
            <a:r>
              <a:rPr lang="en-US" sz="1500" b="1" dirty="0">
                <a:solidFill>
                  <a:srgbClr val="FFFFFF"/>
                </a:solidFill>
                <a:latin typeface="Arial" pitchFamily="34" charset="0"/>
                <a:ea typeface="Arial" pitchFamily="34" charset="-122"/>
                <a:cs typeface="Arial" pitchFamily="34" charset="-120"/>
              </a:rPr>
              <a:t>إدارة المخيم</a:t>
            </a:r>
            <a:endParaRPr lang="en-US" sz="1500" dirty="0"/>
          </a:p>
        </p:txBody>
      </p:sp>
      <p:sp>
        <p:nvSpPr>
          <p:cNvPr id="17" name="Shape 13"/>
          <p:cNvSpPr/>
          <p:nvPr/>
        </p:nvSpPr>
        <p:spPr>
          <a:xfrm>
            <a:off x="6397600" y="3383280"/>
            <a:ext cx="2229536" cy="768096"/>
          </a:xfrm>
          <a:prstGeom prst="roundRect">
            <a:avLst>
              <a:gd name="adj" fmla="val 8333"/>
            </a:avLst>
          </a:prstGeom>
          <a:solidFill>
            <a:srgbClr val="17505C"/>
          </a:solidFill>
          <a:ln/>
        </p:spPr>
      </p:sp>
      <p:sp>
        <p:nvSpPr>
          <p:cNvPr id="18" name="Text 14"/>
          <p:cNvSpPr txBox="1"/>
          <p:nvPr/>
        </p:nvSpPr>
        <p:spPr>
          <a:xfrm>
            <a:off x="6525616" y="3383280"/>
            <a:ext cx="1973504" cy="768096"/>
          </a:xfrm>
          <a:prstGeom prst="rect">
            <a:avLst/>
          </a:prstGeom>
          <a:noFill/>
          <a:ln/>
        </p:spPr>
        <p:txBody>
          <a:bodyPr wrap="square" lIns="0" tIns="0" rIns="0" bIns="0" rtlCol="0" anchor="ctr"/>
          <a:lstStyle/>
          <a:p>
            <a:pPr rtl="1" algn="r" indent="0" marL="0">
              <a:lnSpc>
                <a:spcPts val="1500"/>
              </a:lnSpc>
              <a:buNone/>
            </a:pPr>
            <a:r>
              <a:rPr lang="en-US" sz="1100" dirty="0">
                <a:solidFill>
                  <a:srgbClr val="FFFFFF"/>
                </a:solidFill>
                <a:latin typeface="Arial" pitchFamily="34" charset="0"/>
                <a:ea typeface="Arial" pitchFamily="34" charset="-122"/>
                <a:cs typeface="Arial" pitchFamily="34" charset="-120"/>
              </a:rPr>
              <a:t>صورة لحظية للسكان والسكن والمخزون</a:t>
            </a:r>
            <a:endParaRPr lang="en-US" sz="1100" dirty="0"/>
          </a:p>
        </p:txBody>
      </p:sp>
      <p:sp>
        <p:nvSpPr>
          <p:cNvPr id="19" name="Text 15"/>
          <p:cNvSpPr txBox="1"/>
          <p:nvPr/>
        </p:nvSpPr>
        <p:spPr>
          <a:xfrm>
            <a:off x="6470752" y="4261104"/>
            <a:ext cx="2083232" cy="731520"/>
          </a:xfrm>
          <a:prstGeom prst="rect">
            <a:avLst/>
          </a:prstGeom>
          <a:noFill/>
          <a:ln/>
        </p:spPr>
        <p:txBody>
          <a:bodyPr wrap="square" lIns="0" tIns="0" rIns="0" bIns="0" rtlCol="0" anchor="ctr"/>
          <a:lstStyle/>
          <a:p>
            <a:pPr rtl="1" algn="r" indent="0" marL="0">
              <a:lnSpc>
                <a:spcPts val="1500"/>
              </a:lnSpc>
              <a:buNone/>
            </a:pPr>
            <a:r>
              <a:rPr lang="en-US" sz="1050" dirty="0">
                <a:solidFill>
                  <a:srgbClr val="BFD4D7"/>
                </a:solidFill>
                <a:latin typeface="Arial" pitchFamily="34" charset="0"/>
                <a:ea typeface="Arial" pitchFamily="34" charset="-122"/>
                <a:cs typeface="Arial" pitchFamily="34" charset="-120"/>
              </a:rPr>
              <a:t>تخطيط قائم على أرقام لا على انطباعات</a:t>
            </a:r>
            <a:endParaRPr lang="en-US" sz="1050" dirty="0"/>
          </a:p>
        </p:txBody>
      </p:sp>
      <p:sp>
        <p:nvSpPr>
          <p:cNvPr id="20" name="Shape 16"/>
          <p:cNvSpPr/>
          <p:nvPr/>
        </p:nvSpPr>
        <p:spPr>
          <a:xfrm>
            <a:off x="3381680" y="1609344"/>
            <a:ext cx="2595296" cy="3529584"/>
          </a:xfrm>
          <a:prstGeom prst="roundRect">
            <a:avLst>
              <a:gd name="adj" fmla="val 3523"/>
            </a:avLst>
          </a:prstGeom>
          <a:solidFill>
            <a:srgbClr val="113E48"/>
          </a:solidFill>
          <a:ln/>
        </p:spPr>
      </p:sp>
      <p:sp>
        <p:nvSpPr>
          <p:cNvPr id="21" name="Shape 17"/>
          <p:cNvSpPr/>
          <p:nvPr/>
        </p:nvSpPr>
        <p:spPr>
          <a:xfrm>
            <a:off x="4295280" y="1883664"/>
            <a:ext cx="768096" cy="768096"/>
          </a:xfrm>
          <a:prstGeom prst="ellipse">
            <a:avLst/>
          </a:prstGeom>
          <a:solidFill>
            <a:srgbClr val="E9A13B"/>
          </a:solidFill>
          <a:ln/>
        </p:spPr>
      </p:sp>
      <p:pic>
        <p:nvPicPr>
          <p:cNvPr id="22" name="Image 2" descr="preencoded.png">    </p:cNvPr>
          <p:cNvPicPr>
            <a:picLocks noChangeAspect="1"/>
          </p:cNvPicPr>
          <p:nvPr/>
        </p:nvPicPr>
        <p:blipFill>
          <a:blip r:embed="rId3"/>
          <a:stretch>
            <a:fillRect/>
          </a:stretch>
        </p:blipFill>
        <p:spPr>
          <a:xfrm>
            <a:off x="4496448" y="2084832"/>
            <a:ext cx="365760" cy="365760"/>
          </a:xfrm>
          <a:prstGeom prst="rect">
            <a:avLst/>
          </a:prstGeom>
        </p:spPr>
      </p:pic>
      <p:sp>
        <p:nvSpPr>
          <p:cNvPr id="23" name="Text 18"/>
          <p:cNvSpPr txBox="1"/>
          <p:nvPr/>
        </p:nvSpPr>
        <p:spPr>
          <a:xfrm>
            <a:off x="3564560" y="2798064"/>
            <a:ext cx="2229536" cy="457200"/>
          </a:xfrm>
          <a:prstGeom prst="rect">
            <a:avLst/>
          </a:prstGeom>
          <a:noFill/>
          <a:ln/>
        </p:spPr>
        <p:txBody>
          <a:bodyPr wrap="square" lIns="0" tIns="0" rIns="0" bIns="0" rtlCol="0" anchor="ctr"/>
          <a:lstStyle/>
          <a:p>
            <a:pPr rtl="1" algn="ctr" indent="0" marL="0">
              <a:lnSpc>
                <a:spcPts val="1900"/>
              </a:lnSpc>
              <a:buNone/>
            </a:pPr>
            <a:r>
              <a:rPr lang="en-US" sz="1500" b="1" dirty="0">
                <a:solidFill>
                  <a:srgbClr val="FFFFFF"/>
                </a:solidFill>
                <a:latin typeface="Arial" pitchFamily="34" charset="0"/>
                <a:ea typeface="Arial" pitchFamily="34" charset="-122"/>
                <a:cs typeface="Arial" pitchFamily="34" charset="-120"/>
              </a:rPr>
              <a:t>الموظفون الميدانيون</a:t>
            </a:r>
            <a:endParaRPr lang="en-US" sz="1500" dirty="0"/>
          </a:p>
        </p:txBody>
      </p:sp>
      <p:sp>
        <p:nvSpPr>
          <p:cNvPr id="24" name="Shape 19"/>
          <p:cNvSpPr/>
          <p:nvPr/>
        </p:nvSpPr>
        <p:spPr>
          <a:xfrm>
            <a:off x="3564560" y="3383280"/>
            <a:ext cx="2229536" cy="768096"/>
          </a:xfrm>
          <a:prstGeom prst="roundRect">
            <a:avLst>
              <a:gd name="adj" fmla="val 8333"/>
            </a:avLst>
          </a:prstGeom>
          <a:solidFill>
            <a:srgbClr val="17505C"/>
          </a:solidFill>
          <a:ln/>
        </p:spPr>
      </p:sp>
      <p:sp>
        <p:nvSpPr>
          <p:cNvPr id="25" name="Text 20"/>
          <p:cNvSpPr txBox="1"/>
          <p:nvPr/>
        </p:nvSpPr>
        <p:spPr>
          <a:xfrm>
            <a:off x="3692576" y="3383280"/>
            <a:ext cx="1973504" cy="768096"/>
          </a:xfrm>
          <a:prstGeom prst="rect">
            <a:avLst/>
          </a:prstGeom>
          <a:noFill/>
          <a:ln/>
        </p:spPr>
        <p:txBody>
          <a:bodyPr wrap="square" lIns="0" tIns="0" rIns="0" bIns="0" rtlCol="0" anchor="ctr"/>
          <a:lstStyle/>
          <a:p>
            <a:pPr rtl="1" algn="r" indent="0" marL="0">
              <a:lnSpc>
                <a:spcPts val="1500"/>
              </a:lnSpc>
              <a:buNone/>
            </a:pPr>
            <a:r>
              <a:rPr lang="en-US" sz="1100" dirty="0">
                <a:solidFill>
                  <a:srgbClr val="FFFFFF"/>
                </a:solidFill>
                <a:latin typeface="Arial" pitchFamily="34" charset="0"/>
                <a:ea typeface="Arial" pitchFamily="34" charset="-122"/>
                <a:cs typeface="Arial" pitchFamily="34" charset="-120"/>
              </a:rPr>
              <a:t>شاشة واحدة بدل دفاتر متعددة</a:t>
            </a:r>
            <a:endParaRPr lang="en-US" sz="1100" dirty="0"/>
          </a:p>
        </p:txBody>
      </p:sp>
      <p:sp>
        <p:nvSpPr>
          <p:cNvPr id="26" name="Text 21"/>
          <p:cNvSpPr txBox="1"/>
          <p:nvPr/>
        </p:nvSpPr>
        <p:spPr>
          <a:xfrm>
            <a:off x="3637712" y="4261104"/>
            <a:ext cx="2083232" cy="731520"/>
          </a:xfrm>
          <a:prstGeom prst="rect">
            <a:avLst/>
          </a:prstGeom>
          <a:noFill/>
          <a:ln/>
        </p:spPr>
        <p:txBody>
          <a:bodyPr wrap="square" lIns="0" tIns="0" rIns="0" bIns="0" rtlCol="0" anchor="ctr"/>
          <a:lstStyle/>
          <a:p>
            <a:pPr rtl="1" algn="r" indent="0" marL="0">
              <a:lnSpc>
                <a:spcPts val="1500"/>
              </a:lnSpc>
              <a:buNone/>
            </a:pPr>
            <a:r>
              <a:rPr lang="en-US" sz="1050" dirty="0">
                <a:solidFill>
                  <a:srgbClr val="BFD4D7"/>
                </a:solidFill>
                <a:latin typeface="Arial" pitchFamily="34" charset="0"/>
                <a:ea typeface="Arial" pitchFamily="34" charset="-122"/>
                <a:cs typeface="Arial" pitchFamily="34" charset="-120"/>
              </a:rPr>
              <a:t>وقت أقلّ في التدوين، وأخطاء أقلّ</a:t>
            </a:r>
            <a:endParaRPr lang="en-US" sz="1050" dirty="0"/>
          </a:p>
        </p:txBody>
      </p:sp>
      <p:sp>
        <p:nvSpPr>
          <p:cNvPr id="27" name="Shape 22"/>
          <p:cNvSpPr/>
          <p:nvPr/>
        </p:nvSpPr>
        <p:spPr>
          <a:xfrm>
            <a:off x="548640" y="1609344"/>
            <a:ext cx="2595296" cy="3529584"/>
          </a:xfrm>
          <a:prstGeom prst="roundRect">
            <a:avLst>
              <a:gd name="adj" fmla="val 3523"/>
            </a:avLst>
          </a:prstGeom>
          <a:solidFill>
            <a:srgbClr val="113E48"/>
          </a:solidFill>
          <a:ln/>
        </p:spPr>
      </p:sp>
      <p:sp>
        <p:nvSpPr>
          <p:cNvPr id="28" name="Shape 23"/>
          <p:cNvSpPr/>
          <p:nvPr/>
        </p:nvSpPr>
        <p:spPr>
          <a:xfrm>
            <a:off x="1462240" y="1883664"/>
            <a:ext cx="768096" cy="768096"/>
          </a:xfrm>
          <a:prstGeom prst="ellipse">
            <a:avLst/>
          </a:prstGeom>
          <a:solidFill>
            <a:srgbClr val="E9A13B"/>
          </a:solidFill>
          <a:ln/>
        </p:spPr>
      </p:sp>
      <p:pic>
        <p:nvPicPr>
          <p:cNvPr id="29" name="Image 3" descr="preencoded.png">    </p:cNvPr>
          <p:cNvPicPr>
            <a:picLocks noChangeAspect="1"/>
          </p:cNvPicPr>
          <p:nvPr/>
        </p:nvPicPr>
        <p:blipFill>
          <a:blip r:embed="rId4"/>
          <a:stretch>
            <a:fillRect/>
          </a:stretch>
        </p:blipFill>
        <p:spPr>
          <a:xfrm>
            <a:off x="1663408" y="2084832"/>
            <a:ext cx="365760" cy="365760"/>
          </a:xfrm>
          <a:prstGeom prst="rect">
            <a:avLst/>
          </a:prstGeom>
        </p:spPr>
      </p:pic>
      <p:sp>
        <p:nvSpPr>
          <p:cNvPr id="30" name="Text 24"/>
          <p:cNvSpPr txBox="1"/>
          <p:nvPr/>
        </p:nvSpPr>
        <p:spPr>
          <a:xfrm>
            <a:off x="731520" y="2798064"/>
            <a:ext cx="2229536" cy="457200"/>
          </a:xfrm>
          <a:prstGeom prst="rect">
            <a:avLst/>
          </a:prstGeom>
          <a:noFill/>
          <a:ln/>
        </p:spPr>
        <p:txBody>
          <a:bodyPr wrap="square" lIns="0" tIns="0" rIns="0" bIns="0" rtlCol="0" anchor="ctr"/>
          <a:lstStyle/>
          <a:p>
            <a:pPr rtl="1" algn="ctr" indent="0" marL="0">
              <a:lnSpc>
                <a:spcPts val="1900"/>
              </a:lnSpc>
              <a:buNone/>
            </a:pPr>
            <a:r>
              <a:rPr lang="en-US" sz="1500" b="1" dirty="0">
                <a:solidFill>
                  <a:srgbClr val="FFFFFF"/>
                </a:solidFill>
                <a:latin typeface="Arial" pitchFamily="34" charset="0"/>
                <a:ea typeface="Arial" pitchFamily="34" charset="-122"/>
                <a:cs typeface="Arial" pitchFamily="34" charset="-120"/>
              </a:rPr>
              <a:t>اللاجئون أنفسهم</a:t>
            </a:r>
            <a:endParaRPr lang="en-US" sz="1500" dirty="0"/>
          </a:p>
        </p:txBody>
      </p:sp>
      <p:sp>
        <p:nvSpPr>
          <p:cNvPr id="31" name="Shape 25"/>
          <p:cNvSpPr/>
          <p:nvPr/>
        </p:nvSpPr>
        <p:spPr>
          <a:xfrm>
            <a:off x="731520" y="3383280"/>
            <a:ext cx="2229536" cy="768096"/>
          </a:xfrm>
          <a:prstGeom prst="roundRect">
            <a:avLst>
              <a:gd name="adj" fmla="val 8333"/>
            </a:avLst>
          </a:prstGeom>
          <a:solidFill>
            <a:srgbClr val="17505C"/>
          </a:solidFill>
          <a:ln/>
        </p:spPr>
      </p:sp>
      <p:sp>
        <p:nvSpPr>
          <p:cNvPr id="32" name="Text 26"/>
          <p:cNvSpPr txBox="1"/>
          <p:nvPr/>
        </p:nvSpPr>
        <p:spPr>
          <a:xfrm>
            <a:off x="859536" y="3383280"/>
            <a:ext cx="1973504" cy="768096"/>
          </a:xfrm>
          <a:prstGeom prst="rect">
            <a:avLst/>
          </a:prstGeom>
          <a:noFill/>
          <a:ln/>
        </p:spPr>
        <p:txBody>
          <a:bodyPr wrap="square" lIns="0" tIns="0" rIns="0" bIns="0" rtlCol="0" anchor="ctr"/>
          <a:lstStyle/>
          <a:p>
            <a:pPr rtl="1" algn="r" indent="0" marL="0">
              <a:lnSpc>
                <a:spcPts val="1500"/>
              </a:lnSpc>
              <a:buNone/>
            </a:pPr>
            <a:r>
              <a:rPr lang="en-US" sz="1100" dirty="0">
                <a:solidFill>
                  <a:srgbClr val="FFFFFF"/>
                </a:solidFill>
                <a:latin typeface="Arial" pitchFamily="34" charset="0"/>
                <a:ea typeface="Arial" pitchFamily="34" charset="-122"/>
                <a:cs typeface="Arial" pitchFamily="34" charset="-120"/>
              </a:rPr>
              <a:t>حقّ مسجَّل لا يسقط بضياع ورقة</a:t>
            </a:r>
            <a:endParaRPr lang="en-US" sz="1100" dirty="0"/>
          </a:p>
        </p:txBody>
      </p:sp>
      <p:sp>
        <p:nvSpPr>
          <p:cNvPr id="33" name="Text 27"/>
          <p:cNvSpPr txBox="1"/>
          <p:nvPr/>
        </p:nvSpPr>
        <p:spPr>
          <a:xfrm>
            <a:off x="804672" y="4261104"/>
            <a:ext cx="2083232" cy="731520"/>
          </a:xfrm>
          <a:prstGeom prst="rect">
            <a:avLst/>
          </a:prstGeom>
          <a:noFill/>
          <a:ln/>
        </p:spPr>
        <p:txBody>
          <a:bodyPr wrap="square" lIns="0" tIns="0" rIns="0" bIns="0" rtlCol="0" anchor="ctr"/>
          <a:lstStyle/>
          <a:p>
            <a:pPr rtl="1" algn="r" indent="0" marL="0">
              <a:lnSpc>
                <a:spcPts val="1500"/>
              </a:lnSpc>
              <a:buNone/>
            </a:pPr>
            <a:r>
              <a:rPr lang="en-US" sz="1050" dirty="0">
                <a:solidFill>
                  <a:srgbClr val="BFD4D7"/>
                </a:solidFill>
                <a:latin typeface="Arial" pitchFamily="34" charset="0"/>
                <a:ea typeface="Arial" pitchFamily="34" charset="-122"/>
                <a:cs typeface="Arial" pitchFamily="34" charset="-120"/>
              </a:rPr>
              <a:t>خدمة أسرع، وإنصاف في الدور</a:t>
            </a:r>
            <a:endParaRPr lang="en-US" sz="1050" dirty="0"/>
          </a:p>
        </p:txBody>
      </p:sp>
      <p:sp>
        <p:nvSpPr>
          <p:cNvPr id="34" name="Shape 28"/>
          <p:cNvSpPr/>
          <p:nvPr/>
        </p:nvSpPr>
        <p:spPr>
          <a:xfrm>
            <a:off x="548640" y="5321808"/>
            <a:ext cx="11094415" cy="859536"/>
          </a:xfrm>
          <a:prstGeom prst="roundRect">
            <a:avLst>
              <a:gd name="adj" fmla="val 10638"/>
            </a:avLst>
          </a:prstGeom>
          <a:solidFill>
            <a:srgbClr val="113E48"/>
          </a:solidFill>
          <a:ln w="12700">
            <a:solidFill>
              <a:srgbClr val="02717D"/>
            </a:solidFill>
            <a:prstDash val="solid"/>
          </a:ln>
        </p:spPr>
      </p:sp>
      <p:sp>
        <p:nvSpPr>
          <p:cNvPr id="35" name="Text 29"/>
          <p:cNvSpPr txBox="1"/>
          <p:nvPr/>
        </p:nvSpPr>
        <p:spPr>
          <a:xfrm>
            <a:off x="914400" y="5321808"/>
            <a:ext cx="10362895" cy="859536"/>
          </a:xfrm>
          <a:prstGeom prst="rect">
            <a:avLst/>
          </a:prstGeom>
          <a:noFill/>
          <a:ln/>
        </p:spPr>
        <p:txBody>
          <a:bodyPr wrap="square" lIns="0" tIns="0" rIns="0" bIns="0" rtlCol="0" anchor="ctr"/>
          <a:lstStyle/>
          <a:p>
            <a:pPr rtl="1" algn="ctr" indent="0" marL="0">
              <a:buNone/>
            </a:pPr>
            <a:r>
              <a:rPr lang="en-US" sz="1350" dirty="0">
                <a:solidFill>
                  <a:srgbClr val="00A896"/>
                </a:solidFill>
                <a:latin typeface="Arial" pitchFamily="34" charset="0"/>
                <a:ea typeface="Arial" pitchFamily="34" charset="-122"/>
                <a:cs typeface="Arial" pitchFamily="34" charset="-120"/>
              </a:rPr>
              <a:t>المستفيد النهائي واحد: الأسرة التي تنتظر دورها. وكل مستوى فوقها إنما يخدم وصول الخدمة إليها في وقتها وبإنصاف</a:t>
            </a:r>
            <a:endParaRPr lang="en-US" sz="1350" dirty="0"/>
          </a:p>
        </p:txBody>
      </p:sp>
      <p:sp>
        <p:nvSpPr>
          <p:cNvPr id="36" name="Shape 30"/>
          <p:cNvSpPr/>
          <p:nvPr/>
        </p:nvSpPr>
        <p:spPr>
          <a:xfrm>
            <a:off x="548640" y="6364224"/>
            <a:ext cx="11094415" cy="16459"/>
          </a:xfrm>
          <a:prstGeom prst="rect">
            <a:avLst/>
          </a:prstGeom>
          <a:solidFill>
            <a:srgbClr val="17505C"/>
          </a:solidFill>
          <a:ln/>
        </p:spPr>
      </p:sp>
      <p:sp>
        <p:nvSpPr>
          <p:cNvPr id="37" name="Text 31"/>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38" name="Text 32"/>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BFD4D7"/>
                </a:solidFill>
                <a:latin typeface="Arial" pitchFamily="34" charset="0"/>
                <a:ea typeface="Arial" pitchFamily="34" charset="-122"/>
                <a:cs typeface="Arial" pitchFamily="34" charset="-120"/>
              </a:rPr>
              <a:t>١٠ / ٦</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8"/>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02717D"/>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02717D"/>
                </a:solidFill>
                <a:latin typeface="Arial" pitchFamily="34" charset="0"/>
                <a:ea typeface="Arial" pitchFamily="34" charset="-122"/>
                <a:cs typeface="Arial" pitchFamily="34" charset="-120"/>
              </a:rPr>
              <a:t>المحور الثالث · ماذا يفعل النظام</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الوظائف الأساسية للنظام</a:t>
            </a:r>
            <a:endParaRPr lang="en-US" sz="3400" dirty="0"/>
          </a:p>
        </p:txBody>
      </p:sp>
      <p:sp>
        <p:nvSpPr>
          <p:cNvPr id="5" name="Shape 3"/>
          <p:cNvSpPr/>
          <p:nvPr/>
        </p:nvSpPr>
        <p:spPr>
          <a:xfrm>
            <a:off x="548640" y="1408176"/>
            <a:ext cx="11094415" cy="16459"/>
          </a:xfrm>
          <a:prstGeom prst="rect">
            <a:avLst/>
          </a:prstGeom>
          <a:solidFill>
            <a:srgbClr val="DCE6E7"/>
          </a:solidFill>
          <a:ln/>
        </p:spPr>
      </p:sp>
      <p:sp>
        <p:nvSpPr>
          <p:cNvPr id="6" name="Shape 4"/>
          <p:cNvSpPr/>
          <p:nvPr/>
        </p:nvSpPr>
        <p:spPr>
          <a:xfrm>
            <a:off x="9585107" y="1609344"/>
            <a:ext cx="2057949" cy="2926080"/>
          </a:xfrm>
          <a:prstGeom prst="roundRect">
            <a:avLst>
              <a:gd name="adj" fmla="val 3999"/>
            </a:avLst>
          </a:prstGeom>
          <a:solidFill>
            <a:srgbClr val="FFFFFF"/>
          </a:solidFill>
          <a:ln/>
          <a:effectLst>
            <a:outerShdw sx="100000" sy="100000" kx="0" ky="0" algn="bl" rotWithShape="0" blurRad="127000" dist="25400" dir="5400000">
              <a:srgbClr val="0A2E36">
                <a:alpha val="10000"/>
              </a:srgbClr>
            </a:outerShdw>
          </a:effectLst>
        </p:spPr>
      </p:sp>
      <p:sp>
        <p:nvSpPr>
          <p:cNvPr id="7" name="Shape 5"/>
          <p:cNvSpPr/>
          <p:nvPr/>
        </p:nvSpPr>
        <p:spPr>
          <a:xfrm>
            <a:off x="10284897" y="1865376"/>
            <a:ext cx="658368" cy="658368"/>
          </a:xfrm>
          <a:prstGeom prst="ellipse">
            <a:avLst/>
          </a:prstGeom>
          <a:solidFill>
            <a:srgbClr val="02717D"/>
          </a:solidFill>
          <a:ln/>
        </p:spPr>
      </p:sp>
      <p:pic>
        <p:nvPicPr>
          <p:cNvPr id="8" name="Image 0" descr="preencoded.png">    </p:cNvPr>
          <p:cNvPicPr>
            <a:picLocks noChangeAspect="1"/>
          </p:cNvPicPr>
          <p:nvPr/>
        </p:nvPicPr>
        <p:blipFill>
          <a:blip r:embed="rId1"/>
          <a:stretch>
            <a:fillRect/>
          </a:stretch>
        </p:blipFill>
        <p:spPr>
          <a:xfrm>
            <a:off x="10458633" y="2029968"/>
            <a:ext cx="310896" cy="310896"/>
          </a:xfrm>
          <a:prstGeom prst="rect">
            <a:avLst/>
          </a:prstGeom>
        </p:spPr>
      </p:pic>
      <p:sp>
        <p:nvSpPr>
          <p:cNvPr id="9" name="Text 6"/>
          <p:cNvSpPr txBox="1"/>
          <p:nvPr/>
        </p:nvSpPr>
        <p:spPr>
          <a:xfrm>
            <a:off x="9749699" y="2706624"/>
            <a:ext cx="1728765" cy="329184"/>
          </a:xfrm>
          <a:prstGeom prst="rect">
            <a:avLst/>
          </a:prstGeom>
          <a:noFill/>
          <a:ln/>
        </p:spPr>
        <p:txBody>
          <a:bodyPr wrap="square" lIns="0" tIns="0" rIns="0" bIns="0" rtlCol="0" anchor="ctr"/>
          <a:lstStyle/>
          <a:p>
            <a:pPr rtl="1" algn="ctr" indent="0" marL="0">
              <a:buNone/>
            </a:pPr>
            <a:r>
              <a:rPr lang="en-US" sz="1550" b="1" dirty="0">
                <a:solidFill>
                  <a:srgbClr val="16292E"/>
                </a:solidFill>
                <a:latin typeface="Arial" pitchFamily="34" charset="0"/>
                <a:ea typeface="Arial" pitchFamily="34" charset="-122"/>
                <a:cs typeface="Arial" pitchFamily="34" charset="-120"/>
              </a:rPr>
              <a:t>التسجيل</a:t>
            </a:r>
            <a:endParaRPr lang="en-US" sz="1550" dirty="0"/>
          </a:p>
        </p:txBody>
      </p:sp>
      <p:sp>
        <p:nvSpPr>
          <p:cNvPr id="10" name="Text 7"/>
          <p:cNvSpPr txBox="1"/>
          <p:nvPr/>
        </p:nvSpPr>
        <p:spPr>
          <a:xfrm>
            <a:off x="9786275" y="3127248"/>
            <a:ext cx="1655613" cy="1188720"/>
          </a:xfrm>
          <a:prstGeom prst="rect">
            <a:avLst/>
          </a:prstGeom>
          <a:noFill/>
          <a:ln/>
        </p:spPr>
        <p:txBody>
          <a:bodyPr wrap="square" lIns="0" tIns="0" rIns="0" bIns="0" rtlCol="0" anchor="ctr"/>
          <a:lstStyle/>
          <a:p>
            <a:pPr rtl="1" algn="ctr" indent="0" marL="0">
              <a:lnSpc>
                <a:spcPts val="1600"/>
              </a:lnSpc>
              <a:buNone/>
            </a:pPr>
            <a:r>
              <a:rPr lang="en-US" sz="1100" dirty="0">
                <a:solidFill>
                  <a:srgbClr val="5C7378"/>
                </a:solidFill>
                <a:latin typeface="Arial" pitchFamily="34" charset="0"/>
                <a:ea typeface="Arial" pitchFamily="34" charset="-122"/>
                <a:cs typeface="Arial" pitchFamily="34" charset="-120"/>
              </a:rPr>
              <a:t>ملفّ لكل فرد وأسرة برقم وثيقة فريد، وبحث عربي يجد الاسم مهما اختلف إملاؤه</a:t>
            </a:r>
            <a:endParaRPr lang="en-US" sz="1100" dirty="0"/>
          </a:p>
        </p:txBody>
      </p:sp>
      <p:sp>
        <p:nvSpPr>
          <p:cNvPr id="11" name="Shape 8"/>
          <p:cNvSpPr/>
          <p:nvPr/>
        </p:nvSpPr>
        <p:spPr>
          <a:xfrm>
            <a:off x="7325990" y="1609344"/>
            <a:ext cx="2057949" cy="2926080"/>
          </a:xfrm>
          <a:prstGeom prst="roundRect">
            <a:avLst>
              <a:gd name="adj" fmla="val 3999"/>
            </a:avLst>
          </a:prstGeom>
          <a:solidFill>
            <a:srgbClr val="FFFFFF"/>
          </a:solidFill>
          <a:ln/>
          <a:effectLst>
            <a:outerShdw sx="100000" sy="100000" kx="0" ky="0" algn="bl" rotWithShape="0" blurRad="127000" dist="25400" dir="5400000">
              <a:srgbClr val="0A2E36">
                <a:alpha val="10000"/>
              </a:srgbClr>
            </a:outerShdw>
          </a:effectLst>
        </p:spPr>
      </p:sp>
      <p:sp>
        <p:nvSpPr>
          <p:cNvPr id="12" name="Shape 9"/>
          <p:cNvSpPr/>
          <p:nvPr/>
        </p:nvSpPr>
        <p:spPr>
          <a:xfrm>
            <a:off x="8025780" y="1865376"/>
            <a:ext cx="658368" cy="658368"/>
          </a:xfrm>
          <a:prstGeom prst="ellipse">
            <a:avLst/>
          </a:prstGeom>
          <a:solidFill>
            <a:srgbClr val="02717D"/>
          </a:solidFill>
          <a:ln/>
        </p:spPr>
      </p:sp>
      <p:pic>
        <p:nvPicPr>
          <p:cNvPr id="13" name="Image 1" descr="preencoded.png">    </p:cNvPr>
          <p:cNvPicPr>
            <a:picLocks noChangeAspect="1"/>
          </p:cNvPicPr>
          <p:nvPr/>
        </p:nvPicPr>
        <p:blipFill>
          <a:blip r:embed="rId2"/>
          <a:stretch>
            <a:fillRect/>
          </a:stretch>
        </p:blipFill>
        <p:spPr>
          <a:xfrm>
            <a:off x="8199516" y="2029968"/>
            <a:ext cx="310896" cy="310896"/>
          </a:xfrm>
          <a:prstGeom prst="rect">
            <a:avLst/>
          </a:prstGeom>
        </p:spPr>
      </p:pic>
      <p:sp>
        <p:nvSpPr>
          <p:cNvPr id="14" name="Text 10"/>
          <p:cNvSpPr txBox="1"/>
          <p:nvPr/>
        </p:nvSpPr>
        <p:spPr>
          <a:xfrm>
            <a:off x="7490582" y="2706624"/>
            <a:ext cx="1728765" cy="329184"/>
          </a:xfrm>
          <a:prstGeom prst="rect">
            <a:avLst/>
          </a:prstGeom>
          <a:noFill/>
          <a:ln/>
        </p:spPr>
        <p:txBody>
          <a:bodyPr wrap="square" lIns="0" tIns="0" rIns="0" bIns="0" rtlCol="0" anchor="ctr"/>
          <a:lstStyle/>
          <a:p>
            <a:pPr rtl="1" algn="ctr" indent="0" marL="0">
              <a:buNone/>
            </a:pPr>
            <a:r>
              <a:rPr lang="en-US" sz="1550" b="1" dirty="0">
                <a:solidFill>
                  <a:srgbClr val="16292E"/>
                </a:solidFill>
                <a:latin typeface="Arial" pitchFamily="34" charset="0"/>
                <a:ea typeface="Arial" pitchFamily="34" charset="-122"/>
                <a:cs typeface="Arial" pitchFamily="34" charset="-120"/>
              </a:rPr>
              <a:t>السكن</a:t>
            </a:r>
            <a:endParaRPr lang="en-US" sz="1550" dirty="0"/>
          </a:p>
        </p:txBody>
      </p:sp>
      <p:sp>
        <p:nvSpPr>
          <p:cNvPr id="15" name="Text 11"/>
          <p:cNvSpPr txBox="1"/>
          <p:nvPr/>
        </p:nvSpPr>
        <p:spPr>
          <a:xfrm>
            <a:off x="7527158" y="3127248"/>
            <a:ext cx="1655613" cy="1188720"/>
          </a:xfrm>
          <a:prstGeom prst="rect">
            <a:avLst/>
          </a:prstGeom>
          <a:noFill/>
          <a:ln/>
        </p:spPr>
        <p:txBody>
          <a:bodyPr wrap="square" lIns="0" tIns="0" rIns="0" bIns="0" rtlCol="0" anchor="ctr"/>
          <a:lstStyle/>
          <a:p>
            <a:pPr rtl="1" algn="ctr" indent="0" marL="0">
              <a:lnSpc>
                <a:spcPts val="1600"/>
              </a:lnSpc>
              <a:buNone/>
            </a:pPr>
            <a:r>
              <a:rPr lang="en-US" sz="1100" dirty="0">
                <a:solidFill>
                  <a:srgbClr val="5C7378"/>
                </a:solidFill>
                <a:latin typeface="Arial" pitchFamily="34" charset="0"/>
                <a:ea typeface="Arial" pitchFamily="34" charset="-122"/>
                <a:cs typeface="Arial" pitchFamily="34" charset="-120"/>
              </a:rPr>
              <a:t>خريطة الوحدات وسعتها وإشغالها، والنظام يمنع تجاوز السعة قبل وقوعه</a:t>
            </a:r>
            <a:endParaRPr lang="en-US" sz="1100" dirty="0"/>
          </a:p>
        </p:txBody>
      </p:sp>
      <p:sp>
        <p:nvSpPr>
          <p:cNvPr id="16" name="Shape 12"/>
          <p:cNvSpPr/>
          <p:nvPr/>
        </p:nvSpPr>
        <p:spPr>
          <a:xfrm>
            <a:off x="5066873" y="1609344"/>
            <a:ext cx="2057949" cy="2926080"/>
          </a:xfrm>
          <a:prstGeom prst="roundRect">
            <a:avLst>
              <a:gd name="adj" fmla="val 3999"/>
            </a:avLst>
          </a:prstGeom>
          <a:solidFill>
            <a:srgbClr val="FFFFFF"/>
          </a:solidFill>
          <a:ln/>
          <a:effectLst>
            <a:outerShdw sx="100000" sy="100000" kx="0" ky="0" algn="bl" rotWithShape="0" blurRad="127000" dist="25400" dir="5400000">
              <a:srgbClr val="0A2E36">
                <a:alpha val="10000"/>
              </a:srgbClr>
            </a:outerShdw>
          </a:effectLst>
        </p:spPr>
      </p:sp>
      <p:sp>
        <p:nvSpPr>
          <p:cNvPr id="17" name="Shape 13"/>
          <p:cNvSpPr/>
          <p:nvPr/>
        </p:nvSpPr>
        <p:spPr>
          <a:xfrm>
            <a:off x="5766664" y="1865376"/>
            <a:ext cx="658368" cy="658368"/>
          </a:xfrm>
          <a:prstGeom prst="ellipse">
            <a:avLst/>
          </a:prstGeom>
          <a:solidFill>
            <a:srgbClr val="E9A13B"/>
          </a:solidFill>
          <a:ln/>
        </p:spPr>
      </p:sp>
      <p:pic>
        <p:nvPicPr>
          <p:cNvPr id="18" name="Image 2" descr="preencoded.png">    </p:cNvPr>
          <p:cNvPicPr>
            <a:picLocks noChangeAspect="1"/>
          </p:cNvPicPr>
          <p:nvPr/>
        </p:nvPicPr>
        <p:blipFill>
          <a:blip r:embed="rId3"/>
          <a:stretch>
            <a:fillRect/>
          </a:stretch>
        </p:blipFill>
        <p:spPr>
          <a:xfrm>
            <a:off x="5940400" y="2029968"/>
            <a:ext cx="310896" cy="310896"/>
          </a:xfrm>
          <a:prstGeom prst="rect">
            <a:avLst/>
          </a:prstGeom>
        </p:spPr>
      </p:pic>
      <p:sp>
        <p:nvSpPr>
          <p:cNvPr id="19" name="Text 14"/>
          <p:cNvSpPr txBox="1"/>
          <p:nvPr/>
        </p:nvSpPr>
        <p:spPr>
          <a:xfrm>
            <a:off x="5231465" y="2706624"/>
            <a:ext cx="1728765" cy="329184"/>
          </a:xfrm>
          <a:prstGeom prst="rect">
            <a:avLst/>
          </a:prstGeom>
          <a:noFill/>
          <a:ln/>
        </p:spPr>
        <p:txBody>
          <a:bodyPr wrap="square" lIns="0" tIns="0" rIns="0" bIns="0" rtlCol="0" anchor="ctr"/>
          <a:lstStyle/>
          <a:p>
            <a:pPr rtl="1" algn="ctr" indent="0" marL="0">
              <a:buNone/>
            </a:pPr>
            <a:r>
              <a:rPr lang="en-US" sz="1550" b="1" dirty="0">
                <a:solidFill>
                  <a:srgbClr val="16292E"/>
                </a:solidFill>
                <a:latin typeface="Arial" pitchFamily="34" charset="0"/>
                <a:ea typeface="Arial" pitchFamily="34" charset="-122"/>
                <a:cs typeface="Arial" pitchFamily="34" charset="-120"/>
              </a:rPr>
              <a:t>المساعدات</a:t>
            </a:r>
            <a:endParaRPr lang="en-US" sz="1550" dirty="0"/>
          </a:p>
        </p:txBody>
      </p:sp>
      <p:sp>
        <p:nvSpPr>
          <p:cNvPr id="20" name="Text 15"/>
          <p:cNvSpPr txBox="1"/>
          <p:nvPr/>
        </p:nvSpPr>
        <p:spPr>
          <a:xfrm>
            <a:off x="5268041" y="3127248"/>
            <a:ext cx="1655613" cy="1188720"/>
          </a:xfrm>
          <a:prstGeom prst="rect">
            <a:avLst/>
          </a:prstGeom>
          <a:noFill/>
          <a:ln/>
        </p:spPr>
        <p:txBody>
          <a:bodyPr wrap="square" lIns="0" tIns="0" rIns="0" bIns="0" rtlCol="0" anchor="ctr"/>
          <a:lstStyle/>
          <a:p>
            <a:pPr rtl="1" algn="ctr" indent="0" marL="0">
              <a:lnSpc>
                <a:spcPts val="1600"/>
              </a:lnSpc>
              <a:buNone/>
            </a:pPr>
            <a:r>
              <a:rPr lang="en-US" sz="1100" dirty="0">
                <a:solidFill>
                  <a:srgbClr val="5C7378"/>
                </a:solidFill>
                <a:latin typeface="Arial" pitchFamily="34" charset="0"/>
                <a:ea typeface="Arial" pitchFamily="34" charset="-122"/>
                <a:cs typeface="Arial" pitchFamily="34" charset="-120"/>
              </a:rPr>
              <a:t>من استلم وماذا ومتى ومن أي جهة، فيظهر المكرَّر والمحروم معًا</a:t>
            </a:r>
            <a:endParaRPr lang="en-US" sz="1100" dirty="0"/>
          </a:p>
        </p:txBody>
      </p:sp>
      <p:sp>
        <p:nvSpPr>
          <p:cNvPr id="21" name="Shape 16"/>
          <p:cNvSpPr/>
          <p:nvPr/>
        </p:nvSpPr>
        <p:spPr>
          <a:xfrm>
            <a:off x="2807757" y="1609344"/>
            <a:ext cx="2057949" cy="2926080"/>
          </a:xfrm>
          <a:prstGeom prst="roundRect">
            <a:avLst>
              <a:gd name="adj" fmla="val 3999"/>
            </a:avLst>
          </a:prstGeom>
          <a:solidFill>
            <a:srgbClr val="FFFFFF"/>
          </a:solidFill>
          <a:ln/>
          <a:effectLst>
            <a:outerShdw sx="100000" sy="100000" kx="0" ky="0" algn="bl" rotWithShape="0" blurRad="127000" dist="25400" dir="5400000">
              <a:srgbClr val="0A2E36">
                <a:alpha val="10000"/>
              </a:srgbClr>
            </a:outerShdw>
          </a:effectLst>
        </p:spPr>
      </p:sp>
      <p:sp>
        <p:nvSpPr>
          <p:cNvPr id="22" name="Shape 17"/>
          <p:cNvSpPr/>
          <p:nvPr/>
        </p:nvSpPr>
        <p:spPr>
          <a:xfrm>
            <a:off x="3507547" y="1865376"/>
            <a:ext cx="658368" cy="658368"/>
          </a:xfrm>
          <a:prstGeom prst="ellipse">
            <a:avLst/>
          </a:prstGeom>
          <a:solidFill>
            <a:srgbClr val="E9A13B"/>
          </a:solidFill>
          <a:ln/>
        </p:spPr>
      </p:sp>
      <p:pic>
        <p:nvPicPr>
          <p:cNvPr id="23" name="Image 3" descr="preencoded.png">    </p:cNvPr>
          <p:cNvPicPr>
            <a:picLocks noChangeAspect="1"/>
          </p:cNvPicPr>
          <p:nvPr/>
        </p:nvPicPr>
        <p:blipFill>
          <a:blip r:embed="rId4"/>
          <a:stretch>
            <a:fillRect/>
          </a:stretch>
        </p:blipFill>
        <p:spPr>
          <a:xfrm>
            <a:off x="3681283" y="2029968"/>
            <a:ext cx="310896" cy="310896"/>
          </a:xfrm>
          <a:prstGeom prst="rect">
            <a:avLst/>
          </a:prstGeom>
        </p:spPr>
      </p:pic>
      <p:sp>
        <p:nvSpPr>
          <p:cNvPr id="24" name="Text 18"/>
          <p:cNvSpPr txBox="1"/>
          <p:nvPr/>
        </p:nvSpPr>
        <p:spPr>
          <a:xfrm>
            <a:off x="2972349" y="2706624"/>
            <a:ext cx="1728765" cy="329184"/>
          </a:xfrm>
          <a:prstGeom prst="rect">
            <a:avLst/>
          </a:prstGeom>
          <a:noFill/>
          <a:ln/>
        </p:spPr>
        <p:txBody>
          <a:bodyPr wrap="square" lIns="0" tIns="0" rIns="0" bIns="0" rtlCol="0" anchor="ctr"/>
          <a:lstStyle/>
          <a:p>
            <a:pPr rtl="1" algn="ctr" indent="0" marL="0">
              <a:buNone/>
            </a:pPr>
            <a:r>
              <a:rPr lang="en-US" sz="1550" b="1" dirty="0">
                <a:solidFill>
                  <a:srgbClr val="16292E"/>
                </a:solidFill>
                <a:latin typeface="Arial" pitchFamily="34" charset="0"/>
                <a:ea typeface="Arial" pitchFamily="34" charset="-122"/>
                <a:cs typeface="Arial" pitchFamily="34" charset="-120"/>
              </a:rPr>
              <a:t>الأمن والحركة</a:t>
            </a:r>
            <a:endParaRPr lang="en-US" sz="1550" dirty="0"/>
          </a:p>
        </p:txBody>
      </p:sp>
      <p:sp>
        <p:nvSpPr>
          <p:cNvPr id="25" name="Text 19"/>
          <p:cNvSpPr txBox="1"/>
          <p:nvPr/>
        </p:nvSpPr>
        <p:spPr>
          <a:xfrm>
            <a:off x="3008925" y="3127248"/>
            <a:ext cx="1655613" cy="1188720"/>
          </a:xfrm>
          <a:prstGeom prst="rect">
            <a:avLst/>
          </a:prstGeom>
          <a:noFill/>
          <a:ln/>
        </p:spPr>
        <p:txBody>
          <a:bodyPr wrap="square" lIns="0" tIns="0" rIns="0" bIns="0" rtlCol="0" anchor="ctr"/>
          <a:lstStyle/>
          <a:p>
            <a:pPr rtl="1" algn="ctr" indent="0" marL="0">
              <a:lnSpc>
                <a:spcPts val="1600"/>
              </a:lnSpc>
              <a:buNone/>
            </a:pPr>
            <a:r>
              <a:rPr lang="en-US" sz="1100" dirty="0">
                <a:solidFill>
                  <a:srgbClr val="5C7378"/>
                </a:solidFill>
                <a:latin typeface="Arial" pitchFamily="34" charset="0"/>
                <a:ea typeface="Arial" pitchFamily="34" charset="-122"/>
                <a:cs typeface="Arial" pitchFamily="34" charset="-120"/>
              </a:rPr>
              <a:t>دخول وخروج مسجَّلان عند البوابة، فيُعرف من في المخيم الآن</a:t>
            </a:r>
            <a:endParaRPr lang="en-US" sz="1100" dirty="0"/>
          </a:p>
        </p:txBody>
      </p:sp>
      <p:sp>
        <p:nvSpPr>
          <p:cNvPr id="26" name="Shape 20"/>
          <p:cNvSpPr/>
          <p:nvPr/>
        </p:nvSpPr>
        <p:spPr>
          <a:xfrm>
            <a:off x="548640" y="1609344"/>
            <a:ext cx="2057949" cy="2926080"/>
          </a:xfrm>
          <a:prstGeom prst="roundRect">
            <a:avLst>
              <a:gd name="adj" fmla="val 3999"/>
            </a:avLst>
          </a:prstGeom>
          <a:solidFill>
            <a:srgbClr val="FFFFFF"/>
          </a:solidFill>
          <a:ln/>
          <a:effectLst>
            <a:outerShdw sx="100000" sy="100000" kx="0" ky="0" algn="bl" rotWithShape="0" blurRad="127000" dist="25400" dir="5400000">
              <a:srgbClr val="0A2E36">
                <a:alpha val="10000"/>
              </a:srgbClr>
            </a:outerShdw>
          </a:effectLst>
        </p:spPr>
      </p:sp>
      <p:sp>
        <p:nvSpPr>
          <p:cNvPr id="27" name="Shape 21"/>
          <p:cNvSpPr/>
          <p:nvPr/>
        </p:nvSpPr>
        <p:spPr>
          <a:xfrm>
            <a:off x="1248430" y="1865376"/>
            <a:ext cx="658368" cy="658368"/>
          </a:xfrm>
          <a:prstGeom prst="ellipse">
            <a:avLst/>
          </a:prstGeom>
          <a:solidFill>
            <a:srgbClr val="02717D"/>
          </a:solidFill>
          <a:ln/>
        </p:spPr>
      </p:sp>
      <p:pic>
        <p:nvPicPr>
          <p:cNvPr id="28" name="Image 4" descr="preencoded.png">    </p:cNvPr>
          <p:cNvPicPr>
            <a:picLocks noChangeAspect="1"/>
          </p:cNvPicPr>
          <p:nvPr/>
        </p:nvPicPr>
        <p:blipFill>
          <a:blip r:embed="rId5"/>
          <a:stretch>
            <a:fillRect/>
          </a:stretch>
        </p:blipFill>
        <p:spPr>
          <a:xfrm>
            <a:off x="1422166" y="2029968"/>
            <a:ext cx="310896" cy="310896"/>
          </a:xfrm>
          <a:prstGeom prst="rect">
            <a:avLst/>
          </a:prstGeom>
        </p:spPr>
      </p:pic>
      <p:sp>
        <p:nvSpPr>
          <p:cNvPr id="29" name="Text 22"/>
          <p:cNvSpPr txBox="1"/>
          <p:nvPr/>
        </p:nvSpPr>
        <p:spPr>
          <a:xfrm>
            <a:off x="713232" y="2706624"/>
            <a:ext cx="1728765" cy="329184"/>
          </a:xfrm>
          <a:prstGeom prst="rect">
            <a:avLst/>
          </a:prstGeom>
          <a:noFill/>
          <a:ln/>
        </p:spPr>
        <p:txBody>
          <a:bodyPr wrap="square" lIns="0" tIns="0" rIns="0" bIns="0" rtlCol="0" anchor="ctr"/>
          <a:lstStyle/>
          <a:p>
            <a:pPr rtl="1" algn="ctr" indent="0" marL="0">
              <a:buNone/>
            </a:pPr>
            <a:r>
              <a:rPr lang="en-US" sz="1550" b="1" dirty="0">
                <a:solidFill>
                  <a:srgbClr val="16292E"/>
                </a:solidFill>
                <a:latin typeface="Arial" pitchFamily="34" charset="0"/>
                <a:ea typeface="Arial" pitchFamily="34" charset="-122"/>
                <a:cs typeface="Arial" pitchFamily="34" charset="-120"/>
              </a:rPr>
              <a:t>السجلّ الطبي</a:t>
            </a:r>
            <a:endParaRPr lang="en-US" sz="1550" dirty="0"/>
          </a:p>
        </p:txBody>
      </p:sp>
      <p:sp>
        <p:nvSpPr>
          <p:cNvPr id="30" name="Text 23"/>
          <p:cNvSpPr txBox="1"/>
          <p:nvPr/>
        </p:nvSpPr>
        <p:spPr>
          <a:xfrm>
            <a:off x="749808" y="3127248"/>
            <a:ext cx="1655613" cy="1188720"/>
          </a:xfrm>
          <a:prstGeom prst="rect">
            <a:avLst/>
          </a:prstGeom>
          <a:noFill/>
          <a:ln/>
        </p:spPr>
        <p:txBody>
          <a:bodyPr wrap="square" lIns="0" tIns="0" rIns="0" bIns="0" rtlCol="0" anchor="ctr"/>
          <a:lstStyle/>
          <a:p>
            <a:pPr rtl="1" algn="ctr" indent="0" marL="0">
              <a:lnSpc>
                <a:spcPts val="1600"/>
              </a:lnSpc>
              <a:buNone/>
            </a:pPr>
            <a:r>
              <a:rPr lang="en-US" sz="1100" dirty="0">
                <a:solidFill>
                  <a:srgbClr val="5C7378"/>
                </a:solidFill>
                <a:latin typeface="Arial" pitchFamily="34" charset="0"/>
                <a:ea typeface="Arial" pitchFamily="34" charset="-122"/>
                <a:cs typeface="Arial" pitchFamily="34" charset="-120"/>
              </a:rPr>
              <a:t>الخدمات والحالات المزمنة، بخصوصية لا يراها إلا الكادر الطبي</a:t>
            </a:r>
            <a:endParaRPr lang="en-US" sz="1100" dirty="0"/>
          </a:p>
        </p:txBody>
      </p:sp>
      <p:sp>
        <p:nvSpPr>
          <p:cNvPr id="31" name="Shape 24"/>
          <p:cNvSpPr/>
          <p:nvPr/>
        </p:nvSpPr>
        <p:spPr>
          <a:xfrm>
            <a:off x="548640" y="4754880"/>
            <a:ext cx="11094415" cy="1426464"/>
          </a:xfrm>
          <a:prstGeom prst="roundRect">
            <a:avLst>
              <a:gd name="adj" fmla="val 6410"/>
            </a:avLst>
          </a:prstGeom>
          <a:solidFill>
            <a:srgbClr val="0A2E36"/>
          </a:solidFill>
          <a:ln/>
        </p:spPr>
      </p:sp>
      <p:sp>
        <p:nvSpPr>
          <p:cNvPr id="32" name="Text 25"/>
          <p:cNvSpPr txBox="1"/>
          <p:nvPr/>
        </p:nvSpPr>
        <p:spPr>
          <a:xfrm>
            <a:off x="914400" y="4901184"/>
            <a:ext cx="10362895" cy="310896"/>
          </a:xfrm>
          <a:prstGeom prst="rect">
            <a:avLst/>
          </a:prstGeom>
          <a:noFill/>
          <a:ln/>
        </p:spPr>
        <p:txBody>
          <a:bodyPr wrap="square" lIns="0" tIns="0" rIns="0" bIns="0" rtlCol="0" anchor="ctr"/>
          <a:lstStyle/>
          <a:p>
            <a:pPr rtl="1" algn="ctr" indent="0" marL="0">
              <a:buNone/>
            </a:pPr>
            <a:r>
              <a:rPr lang="en-US" sz="1400" b="1" dirty="0">
                <a:solidFill>
                  <a:srgbClr val="00A896"/>
                </a:solidFill>
                <a:latin typeface="Arial" pitchFamily="34" charset="0"/>
                <a:ea typeface="Arial" pitchFamily="34" charset="-122"/>
                <a:cs typeface="Arial" pitchFamily="34" charset="-120"/>
              </a:rPr>
              <a:t>والقيمة ليست في الوحدات، بل في ترابطها</a:t>
            </a:r>
            <a:endParaRPr lang="en-US" sz="1400" dirty="0"/>
          </a:p>
        </p:txBody>
      </p:sp>
      <p:sp>
        <p:nvSpPr>
          <p:cNvPr id="33" name="Text 26"/>
          <p:cNvSpPr txBox="1"/>
          <p:nvPr/>
        </p:nvSpPr>
        <p:spPr>
          <a:xfrm>
            <a:off x="1188720" y="5266944"/>
            <a:ext cx="9814255" cy="786384"/>
          </a:xfrm>
          <a:prstGeom prst="rect">
            <a:avLst/>
          </a:prstGeom>
          <a:noFill/>
          <a:ln/>
        </p:spPr>
        <p:txBody>
          <a:bodyPr wrap="square" lIns="0" tIns="0" rIns="0" bIns="0" rtlCol="0" anchor="ctr"/>
          <a:lstStyle/>
          <a:p>
            <a:pPr rtl="1" algn="ctr" indent="0" marL="0">
              <a:lnSpc>
                <a:spcPts val="1900"/>
              </a:lnSpc>
              <a:buNone/>
            </a:pPr>
            <a:r>
              <a:rPr lang="en-US" sz="1250" dirty="0">
                <a:solidFill>
                  <a:srgbClr val="BFD4D7"/>
                </a:solidFill>
                <a:latin typeface="Arial" pitchFamily="34" charset="0"/>
                <a:ea typeface="Arial" pitchFamily="34" charset="-122"/>
                <a:cs typeface="Arial" pitchFamily="34" charset="-120"/>
              </a:rPr>
              <a:t>ملف اللاجئ الواحد يجمع سكنه وأسرته ومساعداته وحركته وسجلّه الطبي في مكان واحد. فسؤال مثل «هل استلمت هذه الأسرة حصّتها هذا الشهر؟» يُجاب من الشاشة نفسها، لا بمراجعة خمسة دفاتر عند خمسة موظفين</a:t>
            </a:r>
            <a:endParaRPr lang="en-US" sz="1250" dirty="0"/>
          </a:p>
        </p:txBody>
      </p:sp>
      <p:sp>
        <p:nvSpPr>
          <p:cNvPr id="34" name="Shape 27"/>
          <p:cNvSpPr/>
          <p:nvPr/>
        </p:nvSpPr>
        <p:spPr>
          <a:xfrm>
            <a:off x="548640" y="6364224"/>
            <a:ext cx="11094415" cy="16459"/>
          </a:xfrm>
          <a:prstGeom prst="rect">
            <a:avLst/>
          </a:prstGeom>
          <a:solidFill>
            <a:srgbClr val="DCE6E7"/>
          </a:solidFill>
          <a:ln/>
        </p:spPr>
      </p:sp>
      <p:sp>
        <p:nvSpPr>
          <p:cNvPr id="35" name="Text 28"/>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36" name="Text 29"/>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02717D"/>
                </a:solidFill>
                <a:latin typeface="Arial" pitchFamily="34" charset="0"/>
                <a:ea typeface="Arial" pitchFamily="34" charset="-122"/>
                <a:cs typeface="Arial" pitchFamily="34" charset="-120"/>
              </a:rPr>
              <a:t>١٠ / ٧</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8"/>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02717D"/>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02717D"/>
                </a:solidFill>
                <a:latin typeface="Arial" pitchFamily="34" charset="0"/>
                <a:ea typeface="Arial" pitchFamily="34" charset="-122"/>
                <a:cs typeface="Arial" pitchFamily="34" charset="-120"/>
              </a:rPr>
              <a:t>المحور الثالث · الميزة التي تميّز المشروع</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الابتكار: المساعد الذكي</a:t>
            </a:r>
            <a:endParaRPr lang="en-US" sz="3400" dirty="0"/>
          </a:p>
        </p:txBody>
      </p:sp>
      <p:sp>
        <p:nvSpPr>
          <p:cNvPr id="5" name="Shape 3"/>
          <p:cNvSpPr/>
          <p:nvPr/>
        </p:nvSpPr>
        <p:spPr>
          <a:xfrm>
            <a:off x="548640" y="1408176"/>
            <a:ext cx="11094415" cy="16459"/>
          </a:xfrm>
          <a:prstGeom prst="rect">
            <a:avLst/>
          </a:prstGeom>
          <a:solidFill>
            <a:srgbClr val="DCE6E7"/>
          </a:solidFill>
          <a:ln/>
        </p:spPr>
      </p:sp>
      <p:sp>
        <p:nvSpPr>
          <p:cNvPr id="6" name="Shape 4"/>
          <p:cNvSpPr/>
          <p:nvPr/>
        </p:nvSpPr>
        <p:spPr>
          <a:xfrm>
            <a:off x="6248095" y="1609344"/>
            <a:ext cx="5394960" cy="3712464"/>
          </a:xfrm>
          <a:prstGeom prst="roundRect">
            <a:avLst>
              <a:gd name="adj" fmla="val 2217"/>
            </a:avLst>
          </a:prstGeom>
          <a:solidFill>
            <a:srgbClr val="FFFFFF"/>
          </a:solidFill>
          <a:ln/>
          <a:effectLst>
            <a:outerShdw sx="100000" sy="100000" kx="0" ky="0" algn="bl" rotWithShape="0" blurRad="127000" dist="25400" dir="5400000">
              <a:srgbClr val="0A2E36">
                <a:alpha val="10000"/>
              </a:srgbClr>
            </a:outerShdw>
          </a:effectLst>
        </p:spPr>
      </p:sp>
      <p:sp>
        <p:nvSpPr>
          <p:cNvPr id="7" name="Text 5"/>
          <p:cNvSpPr txBox="1"/>
          <p:nvPr/>
        </p:nvSpPr>
        <p:spPr>
          <a:xfrm>
            <a:off x="6485839" y="1773936"/>
            <a:ext cx="4919472" cy="310896"/>
          </a:xfrm>
          <a:prstGeom prst="rect">
            <a:avLst/>
          </a:prstGeom>
          <a:noFill/>
          <a:ln/>
        </p:spPr>
        <p:txBody>
          <a:bodyPr wrap="square" lIns="0" tIns="0" rIns="0" bIns="0" rtlCol="0" anchor="ctr"/>
          <a:lstStyle/>
          <a:p>
            <a:pPr rtl="1" algn="r" indent="0" marL="0">
              <a:buNone/>
            </a:pPr>
            <a:r>
              <a:rPr lang="en-US" sz="1400" b="1" dirty="0">
                <a:solidFill>
                  <a:srgbClr val="02717D"/>
                </a:solidFill>
                <a:latin typeface="Arial" pitchFamily="34" charset="0"/>
                <a:ea typeface="Arial" pitchFamily="34" charset="-122"/>
                <a:cs typeface="Arial" pitchFamily="34" charset="-120"/>
              </a:rPr>
              <a:t>يسأل الموظف بالعربية كما يتكلّم</a:t>
            </a:r>
            <a:endParaRPr lang="en-US" sz="1400" dirty="0"/>
          </a:p>
        </p:txBody>
      </p:sp>
      <p:sp>
        <p:nvSpPr>
          <p:cNvPr id="8" name="Shape 6"/>
          <p:cNvSpPr/>
          <p:nvPr/>
        </p:nvSpPr>
        <p:spPr>
          <a:xfrm>
            <a:off x="6485839" y="2212848"/>
            <a:ext cx="4919472" cy="438912"/>
          </a:xfrm>
          <a:prstGeom prst="roundRect">
            <a:avLst>
              <a:gd name="adj" fmla="val 14583"/>
            </a:avLst>
          </a:prstGeom>
          <a:solidFill>
            <a:srgbClr val="FDF3E3"/>
          </a:solidFill>
          <a:ln/>
        </p:spPr>
      </p:sp>
      <p:sp>
        <p:nvSpPr>
          <p:cNvPr id="9" name="Text 7"/>
          <p:cNvSpPr txBox="1"/>
          <p:nvPr/>
        </p:nvSpPr>
        <p:spPr>
          <a:xfrm>
            <a:off x="6668719" y="2212848"/>
            <a:ext cx="4553712" cy="438912"/>
          </a:xfrm>
          <a:prstGeom prst="rect">
            <a:avLst/>
          </a:prstGeom>
          <a:noFill/>
          <a:ln/>
        </p:spPr>
        <p:txBody>
          <a:bodyPr wrap="square" lIns="0" tIns="0" rIns="0" bIns="0" rtlCol="0" anchor="ctr"/>
          <a:lstStyle/>
          <a:p>
            <a:pPr rtl="1" algn="r" indent="0" marL="0">
              <a:buNone/>
            </a:pPr>
            <a:r>
              <a:rPr lang="en-US" sz="1200" dirty="0">
                <a:solidFill>
                  <a:srgbClr val="16292E"/>
                </a:solidFill>
                <a:latin typeface="Arial" pitchFamily="34" charset="0"/>
                <a:ea typeface="Arial" pitchFamily="34" charset="-122"/>
                <a:cs typeface="Arial" pitchFamily="34" charset="-120"/>
              </a:rPr>
              <a:t>كم عدد السكان في مخيم السلام؟</a:t>
            </a:r>
            <a:endParaRPr lang="en-US" sz="1200" dirty="0"/>
          </a:p>
        </p:txBody>
      </p:sp>
      <p:sp>
        <p:nvSpPr>
          <p:cNvPr id="10" name="Shape 8"/>
          <p:cNvSpPr/>
          <p:nvPr/>
        </p:nvSpPr>
        <p:spPr>
          <a:xfrm>
            <a:off x="6485839" y="2743200"/>
            <a:ext cx="4919472" cy="438912"/>
          </a:xfrm>
          <a:prstGeom prst="roundRect">
            <a:avLst>
              <a:gd name="adj" fmla="val 14583"/>
            </a:avLst>
          </a:prstGeom>
          <a:solidFill>
            <a:srgbClr val="ECF4F4"/>
          </a:solidFill>
          <a:ln/>
        </p:spPr>
      </p:sp>
      <p:sp>
        <p:nvSpPr>
          <p:cNvPr id="11" name="Text 9"/>
          <p:cNvSpPr txBox="1"/>
          <p:nvPr/>
        </p:nvSpPr>
        <p:spPr>
          <a:xfrm>
            <a:off x="6668719" y="2743200"/>
            <a:ext cx="4553712" cy="438912"/>
          </a:xfrm>
          <a:prstGeom prst="rect">
            <a:avLst/>
          </a:prstGeom>
          <a:noFill/>
          <a:ln/>
        </p:spPr>
        <p:txBody>
          <a:bodyPr wrap="square" lIns="0" tIns="0" rIns="0" bIns="0" rtlCol="0" anchor="ctr"/>
          <a:lstStyle/>
          <a:p>
            <a:pPr rtl="1" algn="r" indent="0" marL="0">
              <a:buNone/>
            </a:pPr>
            <a:r>
              <a:rPr lang="en-US" sz="1200" dirty="0">
                <a:solidFill>
                  <a:srgbClr val="16292E"/>
                </a:solidFill>
                <a:latin typeface="Arial" pitchFamily="34" charset="0"/>
                <a:ea typeface="Arial" pitchFamily="34" charset="-122"/>
                <a:cs typeface="Arial" pitchFamily="34" charset="-120"/>
              </a:rPr>
              <a:t>أين يسكن أحمد الحسن؟</a:t>
            </a:r>
            <a:endParaRPr lang="en-US" sz="1200" dirty="0"/>
          </a:p>
        </p:txBody>
      </p:sp>
      <p:sp>
        <p:nvSpPr>
          <p:cNvPr id="12" name="Shape 10"/>
          <p:cNvSpPr/>
          <p:nvPr/>
        </p:nvSpPr>
        <p:spPr>
          <a:xfrm>
            <a:off x="6485839" y="3273552"/>
            <a:ext cx="4919472" cy="438912"/>
          </a:xfrm>
          <a:prstGeom prst="roundRect">
            <a:avLst>
              <a:gd name="adj" fmla="val 14583"/>
            </a:avLst>
          </a:prstGeom>
          <a:solidFill>
            <a:srgbClr val="FDF3E3"/>
          </a:solidFill>
          <a:ln/>
        </p:spPr>
      </p:sp>
      <p:sp>
        <p:nvSpPr>
          <p:cNvPr id="13" name="Text 11"/>
          <p:cNvSpPr txBox="1"/>
          <p:nvPr/>
        </p:nvSpPr>
        <p:spPr>
          <a:xfrm>
            <a:off x="6668719" y="3273552"/>
            <a:ext cx="4553712" cy="438912"/>
          </a:xfrm>
          <a:prstGeom prst="rect">
            <a:avLst/>
          </a:prstGeom>
          <a:noFill/>
          <a:ln/>
        </p:spPr>
        <p:txBody>
          <a:bodyPr wrap="square" lIns="0" tIns="0" rIns="0" bIns="0" rtlCol="0" anchor="ctr"/>
          <a:lstStyle/>
          <a:p>
            <a:pPr rtl="1" algn="r" indent="0" marL="0">
              <a:buNone/>
            </a:pPr>
            <a:r>
              <a:rPr lang="en-US" sz="1200" dirty="0">
                <a:solidFill>
                  <a:srgbClr val="16292E"/>
                </a:solidFill>
                <a:latin typeface="Arial" pitchFamily="34" charset="0"/>
                <a:ea typeface="Arial" pitchFamily="34" charset="-122"/>
                <a:cs typeface="Arial" pitchFamily="34" charset="-120"/>
              </a:rPr>
              <a:t>هل أحمد الحسن داخل المخيم الآن؟</a:t>
            </a:r>
            <a:endParaRPr lang="en-US" sz="1200" dirty="0"/>
          </a:p>
        </p:txBody>
      </p:sp>
      <p:sp>
        <p:nvSpPr>
          <p:cNvPr id="14" name="Shape 12"/>
          <p:cNvSpPr/>
          <p:nvPr/>
        </p:nvSpPr>
        <p:spPr>
          <a:xfrm>
            <a:off x="6485839" y="3803904"/>
            <a:ext cx="4919472" cy="438912"/>
          </a:xfrm>
          <a:prstGeom prst="roundRect">
            <a:avLst>
              <a:gd name="adj" fmla="val 14583"/>
            </a:avLst>
          </a:prstGeom>
          <a:solidFill>
            <a:srgbClr val="ECF4F4"/>
          </a:solidFill>
          <a:ln/>
        </p:spPr>
      </p:sp>
      <p:sp>
        <p:nvSpPr>
          <p:cNvPr id="15" name="Text 13"/>
          <p:cNvSpPr txBox="1"/>
          <p:nvPr/>
        </p:nvSpPr>
        <p:spPr>
          <a:xfrm>
            <a:off x="6668719" y="3803904"/>
            <a:ext cx="4553712" cy="438912"/>
          </a:xfrm>
          <a:prstGeom prst="rect">
            <a:avLst/>
          </a:prstGeom>
          <a:noFill/>
          <a:ln/>
        </p:spPr>
        <p:txBody>
          <a:bodyPr wrap="square" lIns="0" tIns="0" rIns="0" bIns="0" rtlCol="0" anchor="ctr"/>
          <a:lstStyle/>
          <a:p>
            <a:pPr rtl="1" algn="r" indent="0" marL="0">
              <a:buNone/>
            </a:pPr>
            <a:r>
              <a:rPr lang="en-US" sz="1200" dirty="0">
                <a:solidFill>
                  <a:srgbClr val="16292E"/>
                </a:solidFill>
                <a:latin typeface="Arial" pitchFamily="34" charset="0"/>
                <a:ea typeface="Arial" pitchFamily="34" charset="-122"/>
                <a:cs typeface="Arial" pitchFamily="34" charset="-120"/>
              </a:rPr>
              <a:t>ماذا استلمت الأسرة من مساعدات؟</a:t>
            </a:r>
            <a:endParaRPr lang="en-US" sz="1200" dirty="0"/>
          </a:p>
        </p:txBody>
      </p:sp>
      <p:sp>
        <p:nvSpPr>
          <p:cNvPr id="16" name="Shape 14"/>
          <p:cNvSpPr/>
          <p:nvPr/>
        </p:nvSpPr>
        <p:spPr>
          <a:xfrm>
            <a:off x="6485839" y="4334256"/>
            <a:ext cx="4919472" cy="438912"/>
          </a:xfrm>
          <a:prstGeom prst="roundRect">
            <a:avLst>
              <a:gd name="adj" fmla="val 14583"/>
            </a:avLst>
          </a:prstGeom>
          <a:solidFill>
            <a:srgbClr val="FDF3E3"/>
          </a:solidFill>
          <a:ln/>
        </p:spPr>
      </p:sp>
      <p:sp>
        <p:nvSpPr>
          <p:cNvPr id="17" name="Text 15"/>
          <p:cNvSpPr txBox="1"/>
          <p:nvPr/>
        </p:nvSpPr>
        <p:spPr>
          <a:xfrm>
            <a:off x="6668719" y="4334256"/>
            <a:ext cx="4553712" cy="438912"/>
          </a:xfrm>
          <a:prstGeom prst="rect">
            <a:avLst/>
          </a:prstGeom>
          <a:noFill/>
          <a:ln/>
        </p:spPr>
        <p:txBody>
          <a:bodyPr wrap="square" lIns="0" tIns="0" rIns="0" bIns="0" rtlCol="0" anchor="ctr"/>
          <a:lstStyle/>
          <a:p>
            <a:pPr rtl="1" algn="r" indent="0" marL="0">
              <a:buNone/>
            </a:pPr>
            <a:r>
              <a:rPr lang="en-US" sz="1200" dirty="0">
                <a:solidFill>
                  <a:srgbClr val="16292E"/>
                </a:solidFill>
                <a:latin typeface="Arial" pitchFamily="34" charset="0"/>
                <a:ea typeface="Arial" pitchFamily="34" charset="-122"/>
                <a:cs typeface="Arial" pitchFamily="34" charset="-120"/>
              </a:rPr>
              <a:t>كم وحدة سكنية فارغة؟</a:t>
            </a:r>
            <a:endParaRPr lang="en-US" sz="1200" dirty="0"/>
          </a:p>
        </p:txBody>
      </p:sp>
      <p:sp>
        <p:nvSpPr>
          <p:cNvPr id="18" name="Shape 16"/>
          <p:cNvSpPr/>
          <p:nvPr/>
        </p:nvSpPr>
        <p:spPr>
          <a:xfrm>
            <a:off x="6485839" y="4809744"/>
            <a:ext cx="4919472" cy="347472"/>
          </a:xfrm>
          <a:prstGeom prst="roundRect">
            <a:avLst>
              <a:gd name="adj" fmla="val 15789"/>
            </a:avLst>
          </a:prstGeom>
          <a:solidFill>
            <a:srgbClr val="0A2E36"/>
          </a:solidFill>
          <a:ln/>
        </p:spPr>
      </p:sp>
      <p:sp>
        <p:nvSpPr>
          <p:cNvPr id="19" name="Text 17"/>
          <p:cNvSpPr txBox="1"/>
          <p:nvPr/>
        </p:nvSpPr>
        <p:spPr>
          <a:xfrm>
            <a:off x="6613855" y="4809744"/>
            <a:ext cx="4663440" cy="347472"/>
          </a:xfrm>
          <a:prstGeom prst="rect">
            <a:avLst/>
          </a:prstGeom>
          <a:noFill/>
          <a:ln/>
        </p:spPr>
        <p:txBody>
          <a:bodyPr wrap="square" lIns="0" tIns="0" rIns="0" bIns="0" rtlCol="0" anchor="ctr"/>
          <a:lstStyle/>
          <a:p>
            <a:pPr rtl="1" algn="r" indent="0" marL="0">
              <a:buNone/>
            </a:pPr>
            <a:r>
              <a:rPr lang="en-US" sz="1050" dirty="0">
                <a:solidFill>
                  <a:srgbClr val="BFD4D7"/>
                </a:solidFill>
                <a:latin typeface="Arial" pitchFamily="34" charset="0"/>
                <a:ea typeface="Arial" pitchFamily="34" charset="-122"/>
                <a:cs typeface="Arial" pitchFamily="34" charset="-120"/>
              </a:rPr>
              <a:t>والجواب جملة عربية مفهومة، مبنية على بيانات النظام نفسها</a:t>
            </a:r>
            <a:endParaRPr lang="en-US" sz="1050" dirty="0"/>
          </a:p>
        </p:txBody>
      </p:sp>
      <p:sp>
        <p:nvSpPr>
          <p:cNvPr id="20" name="Shape 18"/>
          <p:cNvSpPr/>
          <p:nvPr/>
        </p:nvSpPr>
        <p:spPr>
          <a:xfrm>
            <a:off x="548640" y="1609344"/>
            <a:ext cx="5333695" cy="859536"/>
          </a:xfrm>
          <a:prstGeom prst="roundRect">
            <a:avLst>
              <a:gd name="adj" fmla="val 9574"/>
            </a:avLst>
          </a:prstGeom>
          <a:solidFill>
            <a:srgbClr val="FFFFFF"/>
          </a:solidFill>
          <a:ln/>
          <a:effectLst>
            <a:outerShdw sx="100000" sy="100000" kx="0" ky="0" algn="bl" rotWithShape="0" blurRad="127000" dist="25400" dir="5400000">
              <a:srgbClr val="0A2E36">
                <a:alpha val="10000"/>
              </a:srgbClr>
            </a:outerShdw>
          </a:effectLst>
        </p:spPr>
      </p:sp>
      <p:sp>
        <p:nvSpPr>
          <p:cNvPr id="21" name="Shape 19"/>
          <p:cNvSpPr/>
          <p:nvPr/>
        </p:nvSpPr>
        <p:spPr>
          <a:xfrm>
            <a:off x="5388559" y="1746504"/>
            <a:ext cx="292608" cy="292608"/>
          </a:xfrm>
          <a:prstGeom prst="ellipse">
            <a:avLst/>
          </a:prstGeom>
          <a:solidFill>
            <a:srgbClr val="02717D"/>
          </a:solidFill>
          <a:ln/>
        </p:spPr>
      </p:sp>
      <p:sp>
        <p:nvSpPr>
          <p:cNvPr id="22" name="Text 20"/>
          <p:cNvSpPr txBox="1"/>
          <p:nvPr/>
        </p:nvSpPr>
        <p:spPr>
          <a:xfrm>
            <a:off x="5388559" y="1746504"/>
            <a:ext cx="292608" cy="292608"/>
          </a:xfrm>
          <a:prstGeom prst="rect">
            <a:avLst/>
          </a:prstGeom>
          <a:noFill/>
          <a:ln/>
        </p:spPr>
        <p:txBody>
          <a:bodyPr wrap="square" lIns="0" tIns="0" rIns="0" bIns="0" rtlCol="0" anchor="ctr"/>
          <a:lstStyle/>
          <a:p>
            <a:pPr rtl="1"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3" name="Text 21"/>
          <p:cNvSpPr txBox="1"/>
          <p:nvPr/>
        </p:nvSpPr>
        <p:spPr>
          <a:xfrm>
            <a:off x="768096" y="1700784"/>
            <a:ext cx="4483303" cy="274320"/>
          </a:xfrm>
          <a:prstGeom prst="rect">
            <a:avLst/>
          </a:prstGeom>
          <a:noFill/>
          <a:ln/>
        </p:spPr>
        <p:txBody>
          <a:bodyPr wrap="square" lIns="0" tIns="0" rIns="0" bIns="0" rtlCol="0" anchor="ctr"/>
          <a:lstStyle/>
          <a:p>
            <a:pPr rtl="1" algn="r" indent="0" marL="0">
              <a:buNone/>
            </a:pPr>
            <a:r>
              <a:rPr lang="en-US" sz="1350" b="1" dirty="0">
                <a:solidFill>
                  <a:srgbClr val="16292E"/>
                </a:solidFill>
                <a:latin typeface="Arial" pitchFamily="34" charset="0"/>
                <a:ea typeface="Arial" pitchFamily="34" charset="-122"/>
                <a:cs typeface="Arial" pitchFamily="34" charset="-120"/>
              </a:rPr>
              <a:t>المعلومة في ثوانٍ</a:t>
            </a:r>
            <a:endParaRPr lang="en-US" sz="1350" dirty="0"/>
          </a:p>
        </p:txBody>
      </p:sp>
      <p:sp>
        <p:nvSpPr>
          <p:cNvPr id="24" name="Text 22"/>
          <p:cNvSpPr txBox="1"/>
          <p:nvPr/>
        </p:nvSpPr>
        <p:spPr>
          <a:xfrm>
            <a:off x="768096" y="1993392"/>
            <a:ext cx="4894783" cy="420624"/>
          </a:xfrm>
          <a:prstGeom prst="rect">
            <a:avLst/>
          </a:prstGeom>
          <a:noFill/>
          <a:ln/>
        </p:spPr>
        <p:txBody>
          <a:bodyPr wrap="square" lIns="0" tIns="0" rIns="0" bIns="0" rtlCol="0" anchor="ctr"/>
          <a:lstStyle/>
          <a:p>
            <a:pPr rtl="1" algn="r" indent="0" marL="0">
              <a:lnSpc>
                <a:spcPts val="1400"/>
              </a:lnSpc>
              <a:buNone/>
            </a:pPr>
            <a:r>
              <a:rPr lang="en-US" sz="1050" dirty="0">
                <a:solidFill>
                  <a:srgbClr val="5C7378"/>
                </a:solidFill>
                <a:latin typeface="Arial" pitchFamily="34" charset="0"/>
                <a:ea typeface="Arial" pitchFamily="34" charset="-122"/>
                <a:cs typeface="Arial" pitchFamily="34" charset="-120"/>
              </a:rPr>
              <a:t>لا انتظار لتقرير من قسم آخر، ولا جرد يدوي: السؤال يُطرح والجواب يأتي</a:t>
            </a:r>
            <a:endParaRPr lang="en-US" sz="1050" dirty="0"/>
          </a:p>
        </p:txBody>
      </p:sp>
      <p:sp>
        <p:nvSpPr>
          <p:cNvPr id="25" name="Shape 23"/>
          <p:cNvSpPr/>
          <p:nvPr/>
        </p:nvSpPr>
        <p:spPr>
          <a:xfrm>
            <a:off x="548640" y="2578608"/>
            <a:ext cx="5333695" cy="859536"/>
          </a:xfrm>
          <a:prstGeom prst="roundRect">
            <a:avLst>
              <a:gd name="adj" fmla="val 9574"/>
            </a:avLst>
          </a:prstGeom>
          <a:solidFill>
            <a:srgbClr val="FFFFFF"/>
          </a:solidFill>
          <a:ln/>
          <a:effectLst>
            <a:outerShdw sx="100000" sy="100000" kx="0" ky="0" algn="bl" rotWithShape="0" blurRad="127000" dist="25400" dir="5400000">
              <a:srgbClr val="0A2E36">
                <a:alpha val="10000"/>
              </a:srgbClr>
            </a:outerShdw>
          </a:effectLst>
        </p:spPr>
      </p:sp>
      <p:sp>
        <p:nvSpPr>
          <p:cNvPr id="26" name="Shape 24"/>
          <p:cNvSpPr/>
          <p:nvPr/>
        </p:nvSpPr>
        <p:spPr>
          <a:xfrm>
            <a:off x="5388559" y="2715768"/>
            <a:ext cx="292608" cy="292608"/>
          </a:xfrm>
          <a:prstGeom prst="ellipse">
            <a:avLst/>
          </a:prstGeom>
          <a:solidFill>
            <a:srgbClr val="02717D"/>
          </a:solidFill>
          <a:ln/>
        </p:spPr>
      </p:sp>
      <p:sp>
        <p:nvSpPr>
          <p:cNvPr id="27" name="Text 25"/>
          <p:cNvSpPr txBox="1"/>
          <p:nvPr/>
        </p:nvSpPr>
        <p:spPr>
          <a:xfrm>
            <a:off x="5388559" y="2715768"/>
            <a:ext cx="292608" cy="292608"/>
          </a:xfrm>
          <a:prstGeom prst="rect">
            <a:avLst/>
          </a:prstGeom>
          <a:noFill/>
          <a:ln/>
        </p:spPr>
        <p:txBody>
          <a:bodyPr wrap="square" lIns="0" tIns="0" rIns="0" bIns="0" rtlCol="0" anchor="ctr"/>
          <a:lstStyle/>
          <a:p>
            <a:pPr rtl="1"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8" name="Text 26"/>
          <p:cNvSpPr txBox="1"/>
          <p:nvPr/>
        </p:nvSpPr>
        <p:spPr>
          <a:xfrm>
            <a:off x="768096" y="2670048"/>
            <a:ext cx="4483303" cy="274320"/>
          </a:xfrm>
          <a:prstGeom prst="rect">
            <a:avLst/>
          </a:prstGeom>
          <a:noFill/>
          <a:ln/>
        </p:spPr>
        <p:txBody>
          <a:bodyPr wrap="square" lIns="0" tIns="0" rIns="0" bIns="0" rtlCol="0" anchor="ctr"/>
          <a:lstStyle/>
          <a:p>
            <a:pPr rtl="1" algn="r" indent="0" marL="0">
              <a:buNone/>
            </a:pPr>
            <a:r>
              <a:rPr lang="en-US" sz="1350" b="1" dirty="0">
                <a:solidFill>
                  <a:srgbClr val="16292E"/>
                </a:solidFill>
                <a:latin typeface="Arial" pitchFamily="34" charset="0"/>
                <a:ea typeface="Arial" pitchFamily="34" charset="-122"/>
                <a:cs typeface="Arial" pitchFamily="34" charset="-120"/>
              </a:rPr>
              <a:t>لا يحتاج تدريبًا تقنيًا</a:t>
            </a:r>
            <a:endParaRPr lang="en-US" sz="1350" dirty="0"/>
          </a:p>
        </p:txBody>
      </p:sp>
      <p:sp>
        <p:nvSpPr>
          <p:cNvPr id="29" name="Text 27"/>
          <p:cNvSpPr txBox="1"/>
          <p:nvPr/>
        </p:nvSpPr>
        <p:spPr>
          <a:xfrm>
            <a:off x="768096" y="2962656"/>
            <a:ext cx="4894783" cy="420624"/>
          </a:xfrm>
          <a:prstGeom prst="rect">
            <a:avLst/>
          </a:prstGeom>
          <a:noFill/>
          <a:ln/>
        </p:spPr>
        <p:txBody>
          <a:bodyPr wrap="square" lIns="0" tIns="0" rIns="0" bIns="0" rtlCol="0" anchor="ctr"/>
          <a:lstStyle/>
          <a:p>
            <a:pPr rtl="1" algn="r" indent="0" marL="0">
              <a:lnSpc>
                <a:spcPts val="1400"/>
              </a:lnSpc>
              <a:buNone/>
            </a:pPr>
            <a:r>
              <a:rPr lang="en-US" sz="1050" dirty="0">
                <a:solidFill>
                  <a:srgbClr val="5C7378"/>
                </a:solidFill>
                <a:latin typeface="Arial" pitchFamily="34" charset="0"/>
                <a:ea typeface="Arial" pitchFamily="34" charset="-122"/>
                <a:cs typeface="Arial" pitchFamily="34" charset="-120"/>
              </a:rPr>
              <a:t>من يُحسن الكتابة بالعربية يُحسن استخدامه؛ لا صيغ ولا رموز ولا قوائم متشعّبة</a:t>
            </a:r>
            <a:endParaRPr lang="en-US" sz="1050" dirty="0"/>
          </a:p>
        </p:txBody>
      </p:sp>
      <p:sp>
        <p:nvSpPr>
          <p:cNvPr id="30" name="Shape 28"/>
          <p:cNvSpPr/>
          <p:nvPr/>
        </p:nvSpPr>
        <p:spPr>
          <a:xfrm>
            <a:off x="548640" y="3547872"/>
            <a:ext cx="5333695" cy="859536"/>
          </a:xfrm>
          <a:prstGeom prst="roundRect">
            <a:avLst>
              <a:gd name="adj" fmla="val 9574"/>
            </a:avLst>
          </a:prstGeom>
          <a:solidFill>
            <a:srgbClr val="FFFFFF"/>
          </a:solidFill>
          <a:ln/>
          <a:effectLst>
            <a:outerShdw sx="100000" sy="100000" kx="0" ky="0" algn="bl" rotWithShape="0" blurRad="127000" dist="25400" dir="5400000">
              <a:srgbClr val="0A2E36">
                <a:alpha val="10000"/>
              </a:srgbClr>
            </a:outerShdw>
          </a:effectLst>
        </p:spPr>
      </p:sp>
      <p:sp>
        <p:nvSpPr>
          <p:cNvPr id="31" name="Shape 29"/>
          <p:cNvSpPr/>
          <p:nvPr/>
        </p:nvSpPr>
        <p:spPr>
          <a:xfrm>
            <a:off x="5388559" y="3685032"/>
            <a:ext cx="292608" cy="292608"/>
          </a:xfrm>
          <a:prstGeom prst="ellipse">
            <a:avLst/>
          </a:prstGeom>
          <a:solidFill>
            <a:srgbClr val="E9A13B"/>
          </a:solidFill>
          <a:ln/>
        </p:spPr>
      </p:sp>
      <p:sp>
        <p:nvSpPr>
          <p:cNvPr id="32" name="Text 30"/>
          <p:cNvSpPr txBox="1"/>
          <p:nvPr/>
        </p:nvSpPr>
        <p:spPr>
          <a:xfrm>
            <a:off x="5388559" y="3685032"/>
            <a:ext cx="292608" cy="292608"/>
          </a:xfrm>
          <a:prstGeom prst="rect">
            <a:avLst/>
          </a:prstGeom>
          <a:noFill/>
          <a:ln/>
        </p:spPr>
        <p:txBody>
          <a:bodyPr wrap="square" lIns="0" tIns="0" rIns="0" bIns="0" rtlCol="0" anchor="ctr"/>
          <a:lstStyle/>
          <a:p>
            <a:pPr rtl="1"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3" name="Text 31"/>
          <p:cNvSpPr txBox="1"/>
          <p:nvPr/>
        </p:nvSpPr>
        <p:spPr>
          <a:xfrm>
            <a:off x="768096" y="3639312"/>
            <a:ext cx="4483303" cy="274320"/>
          </a:xfrm>
          <a:prstGeom prst="rect">
            <a:avLst/>
          </a:prstGeom>
          <a:noFill/>
          <a:ln/>
        </p:spPr>
        <p:txBody>
          <a:bodyPr wrap="square" lIns="0" tIns="0" rIns="0" bIns="0" rtlCol="0" anchor="ctr"/>
          <a:lstStyle/>
          <a:p>
            <a:pPr rtl="1" algn="r" indent="0" marL="0">
              <a:buNone/>
            </a:pPr>
            <a:r>
              <a:rPr lang="en-US" sz="1350" b="1" dirty="0">
                <a:solidFill>
                  <a:srgbClr val="16292E"/>
                </a:solidFill>
                <a:latin typeface="Arial" pitchFamily="34" charset="0"/>
                <a:ea typeface="Arial" pitchFamily="34" charset="-122"/>
                <a:cs typeface="Arial" pitchFamily="34" charset="-120"/>
              </a:rPr>
              <a:t>لا يخترع رقمًا</a:t>
            </a:r>
            <a:endParaRPr lang="en-US" sz="1350" dirty="0"/>
          </a:p>
        </p:txBody>
      </p:sp>
      <p:sp>
        <p:nvSpPr>
          <p:cNvPr id="34" name="Text 32"/>
          <p:cNvSpPr txBox="1"/>
          <p:nvPr/>
        </p:nvSpPr>
        <p:spPr>
          <a:xfrm>
            <a:off x="768096" y="3931920"/>
            <a:ext cx="4894783" cy="420624"/>
          </a:xfrm>
          <a:prstGeom prst="rect">
            <a:avLst/>
          </a:prstGeom>
          <a:noFill/>
          <a:ln/>
        </p:spPr>
        <p:txBody>
          <a:bodyPr wrap="square" lIns="0" tIns="0" rIns="0" bIns="0" rtlCol="0" anchor="ctr"/>
          <a:lstStyle/>
          <a:p>
            <a:pPr rtl="1" algn="r" indent="0" marL="0">
              <a:lnSpc>
                <a:spcPts val="1400"/>
              </a:lnSpc>
              <a:buNone/>
            </a:pPr>
            <a:r>
              <a:rPr lang="en-US" sz="1050" dirty="0">
                <a:solidFill>
                  <a:srgbClr val="5C7378"/>
                </a:solidFill>
                <a:latin typeface="Arial" pitchFamily="34" charset="0"/>
                <a:ea typeface="Arial" pitchFamily="34" charset="-122"/>
                <a:cs typeface="Arial" pitchFamily="34" charset="-120"/>
              </a:rPr>
              <a:t>يجيب من قاعدة البيانات فقط. وإن لم يجد، قال ذلك صراحةً واقترح كيف يُضيَّق السؤال</a:t>
            </a:r>
            <a:endParaRPr lang="en-US" sz="1050" dirty="0"/>
          </a:p>
        </p:txBody>
      </p:sp>
      <p:sp>
        <p:nvSpPr>
          <p:cNvPr id="35" name="Shape 33"/>
          <p:cNvSpPr/>
          <p:nvPr/>
        </p:nvSpPr>
        <p:spPr>
          <a:xfrm>
            <a:off x="548640" y="4517136"/>
            <a:ext cx="5333695" cy="859536"/>
          </a:xfrm>
          <a:prstGeom prst="roundRect">
            <a:avLst>
              <a:gd name="adj" fmla="val 9574"/>
            </a:avLst>
          </a:prstGeom>
          <a:solidFill>
            <a:srgbClr val="FFFFFF"/>
          </a:solidFill>
          <a:ln/>
          <a:effectLst>
            <a:outerShdw sx="100000" sy="100000" kx="0" ky="0" algn="bl" rotWithShape="0" blurRad="127000" dist="25400" dir="5400000">
              <a:srgbClr val="0A2E36">
                <a:alpha val="10000"/>
              </a:srgbClr>
            </a:outerShdw>
          </a:effectLst>
        </p:spPr>
      </p:sp>
      <p:sp>
        <p:nvSpPr>
          <p:cNvPr id="36" name="Shape 34"/>
          <p:cNvSpPr/>
          <p:nvPr/>
        </p:nvSpPr>
        <p:spPr>
          <a:xfrm>
            <a:off x="5388559" y="4654296"/>
            <a:ext cx="292608" cy="292608"/>
          </a:xfrm>
          <a:prstGeom prst="ellipse">
            <a:avLst/>
          </a:prstGeom>
          <a:solidFill>
            <a:srgbClr val="E9A13B"/>
          </a:solidFill>
          <a:ln/>
        </p:spPr>
      </p:sp>
      <p:sp>
        <p:nvSpPr>
          <p:cNvPr id="37" name="Text 35"/>
          <p:cNvSpPr txBox="1"/>
          <p:nvPr/>
        </p:nvSpPr>
        <p:spPr>
          <a:xfrm>
            <a:off x="5388559" y="4654296"/>
            <a:ext cx="292608" cy="292608"/>
          </a:xfrm>
          <a:prstGeom prst="rect">
            <a:avLst/>
          </a:prstGeom>
          <a:noFill/>
          <a:ln/>
        </p:spPr>
        <p:txBody>
          <a:bodyPr wrap="square" lIns="0" tIns="0" rIns="0" bIns="0" rtlCol="0" anchor="ctr"/>
          <a:lstStyle/>
          <a:p>
            <a:pPr rtl="1"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8" name="Text 36"/>
          <p:cNvSpPr txBox="1"/>
          <p:nvPr/>
        </p:nvSpPr>
        <p:spPr>
          <a:xfrm>
            <a:off x="768096" y="4608576"/>
            <a:ext cx="4483303" cy="274320"/>
          </a:xfrm>
          <a:prstGeom prst="rect">
            <a:avLst/>
          </a:prstGeom>
          <a:noFill/>
          <a:ln/>
        </p:spPr>
        <p:txBody>
          <a:bodyPr wrap="square" lIns="0" tIns="0" rIns="0" bIns="0" rtlCol="0" anchor="ctr"/>
          <a:lstStyle/>
          <a:p>
            <a:pPr rtl="1" algn="r" indent="0" marL="0">
              <a:buNone/>
            </a:pPr>
            <a:r>
              <a:rPr lang="en-US" sz="1350" b="1" dirty="0">
                <a:solidFill>
                  <a:srgbClr val="16292E"/>
                </a:solidFill>
                <a:latin typeface="Arial" pitchFamily="34" charset="0"/>
                <a:ea typeface="Arial" pitchFamily="34" charset="-122"/>
                <a:cs typeface="Arial" pitchFamily="34" charset="-120"/>
              </a:rPr>
              <a:t>يحترم صلاحية السائل</a:t>
            </a:r>
            <a:endParaRPr lang="en-US" sz="1350" dirty="0"/>
          </a:p>
        </p:txBody>
      </p:sp>
      <p:sp>
        <p:nvSpPr>
          <p:cNvPr id="39" name="Text 37"/>
          <p:cNvSpPr txBox="1"/>
          <p:nvPr/>
        </p:nvSpPr>
        <p:spPr>
          <a:xfrm>
            <a:off x="768096" y="4901184"/>
            <a:ext cx="4894783" cy="420624"/>
          </a:xfrm>
          <a:prstGeom prst="rect">
            <a:avLst/>
          </a:prstGeom>
          <a:noFill/>
          <a:ln/>
        </p:spPr>
        <p:txBody>
          <a:bodyPr wrap="square" lIns="0" tIns="0" rIns="0" bIns="0" rtlCol="0" anchor="ctr"/>
          <a:lstStyle/>
          <a:p>
            <a:pPr rtl="1" algn="r" indent="0" marL="0">
              <a:lnSpc>
                <a:spcPts val="1400"/>
              </a:lnSpc>
              <a:buNone/>
            </a:pPr>
            <a:r>
              <a:rPr lang="en-US" sz="1050" dirty="0">
                <a:solidFill>
                  <a:srgbClr val="5C7378"/>
                </a:solidFill>
                <a:latin typeface="Arial" pitchFamily="34" charset="0"/>
                <a:ea typeface="Arial" pitchFamily="34" charset="-122"/>
                <a:cs typeface="Arial" pitchFamily="34" charset="-120"/>
              </a:rPr>
              <a:t>لا يكشف ما لا يخصّ عمل الموظف؛ الصلاحية نفسها تحكم المساعد كما تحكم الشاشات</a:t>
            </a:r>
            <a:endParaRPr lang="en-US" sz="1050" dirty="0"/>
          </a:p>
        </p:txBody>
      </p:sp>
      <p:sp>
        <p:nvSpPr>
          <p:cNvPr id="40" name="Shape 38"/>
          <p:cNvSpPr/>
          <p:nvPr/>
        </p:nvSpPr>
        <p:spPr>
          <a:xfrm>
            <a:off x="548640" y="5486400"/>
            <a:ext cx="11094415" cy="694944"/>
          </a:xfrm>
          <a:prstGeom prst="roundRect">
            <a:avLst>
              <a:gd name="adj" fmla="val 11842"/>
            </a:avLst>
          </a:prstGeom>
          <a:solidFill>
            <a:srgbClr val="0A2E36"/>
          </a:solidFill>
          <a:ln/>
        </p:spPr>
      </p:sp>
      <p:sp>
        <p:nvSpPr>
          <p:cNvPr id="41" name="Text 39"/>
          <p:cNvSpPr txBox="1"/>
          <p:nvPr/>
        </p:nvSpPr>
        <p:spPr>
          <a:xfrm>
            <a:off x="914400" y="5486400"/>
            <a:ext cx="10362895" cy="694944"/>
          </a:xfrm>
          <a:prstGeom prst="rect">
            <a:avLst/>
          </a:prstGeom>
          <a:noFill/>
          <a:ln/>
        </p:spPr>
        <p:txBody>
          <a:bodyPr wrap="square" lIns="0" tIns="0" rIns="0" bIns="0" rtlCol="0" anchor="ctr"/>
          <a:lstStyle/>
          <a:p>
            <a:pPr rtl="1" algn="ctr" indent="0" marL="0">
              <a:buNone/>
            </a:pPr>
            <a:r>
              <a:rPr lang="en-US" sz="1250" dirty="0">
                <a:solidFill>
                  <a:srgbClr val="BFD4D7"/>
                </a:solidFill>
                <a:latin typeface="Arial" pitchFamily="34" charset="0"/>
                <a:ea typeface="Arial" pitchFamily="34" charset="-122"/>
                <a:cs typeface="Arial" pitchFamily="34" charset="-120"/>
              </a:rPr>
              <a:t>المكسب الإداري باختصار: المعلومة تتحرّر من الموظف الذي يعرف مكانها، وتصبح متاحة لكل من يحقّ له الاطّلاع عليها</a:t>
            </a:r>
            <a:endParaRPr lang="en-US" sz="1250" dirty="0"/>
          </a:p>
        </p:txBody>
      </p:sp>
      <p:sp>
        <p:nvSpPr>
          <p:cNvPr id="42" name="Shape 40"/>
          <p:cNvSpPr/>
          <p:nvPr/>
        </p:nvSpPr>
        <p:spPr>
          <a:xfrm>
            <a:off x="548640" y="6364224"/>
            <a:ext cx="11094415" cy="16459"/>
          </a:xfrm>
          <a:prstGeom prst="rect">
            <a:avLst/>
          </a:prstGeom>
          <a:solidFill>
            <a:srgbClr val="DCE6E7"/>
          </a:solidFill>
          <a:ln/>
        </p:spPr>
      </p:sp>
      <p:sp>
        <p:nvSpPr>
          <p:cNvPr id="43" name="Text 41"/>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44" name="Text 42"/>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02717D"/>
                </a:solidFill>
                <a:latin typeface="Arial" pitchFamily="34" charset="0"/>
                <a:ea typeface="Arial" pitchFamily="34" charset="-122"/>
                <a:cs typeface="Arial" pitchFamily="34" charset="-120"/>
              </a:rPr>
              <a:t>١٠ / ٨</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8"/>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02717D"/>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02717D"/>
                </a:solidFill>
                <a:latin typeface="Arial" pitchFamily="34" charset="0"/>
                <a:ea typeface="Arial" pitchFamily="34" charset="-122"/>
                <a:cs typeface="Arial" pitchFamily="34" charset="-120"/>
              </a:rPr>
              <a:t>المحور الرابع · إلى أين يمضي المشروع</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الرؤية المستقبلية والاستدامة</a:t>
            </a:r>
            <a:endParaRPr lang="en-US" sz="3400" dirty="0"/>
          </a:p>
        </p:txBody>
      </p:sp>
      <p:sp>
        <p:nvSpPr>
          <p:cNvPr id="5" name="Shape 3"/>
          <p:cNvSpPr/>
          <p:nvPr/>
        </p:nvSpPr>
        <p:spPr>
          <a:xfrm>
            <a:off x="548640" y="1408176"/>
            <a:ext cx="11094415" cy="16459"/>
          </a:xfrm>
          <a:prstGeom prst="rect">
            <a:avLst/>
          </a:prstGeom>
          <a:solidFill>
            <a:srgbClr val="DCE6E7"/>
          </a:solidFill>
          <a:ln/>
        </p:spPr>
      </p:sp>
      <p:sp>
        <p:nvSpPr>
          <p:cNvPr id="6" name="Shape 4"/>
          <p:cNvSpPr/>
          <p:nvPr/>
        </p:nvSpPr>
        <p:spPr>
          <a:xfrm>
            <a:off x="9034043" y="1609344"/>
            <a:ext cx="2609012" cy="2651760"/>
          </a:xfrm>
          <a:prstGeom prst="roundRect">
            <a:avLst>
              <a:gd name="adj" fmla="val 3154"/>
            </a:avLst>
          </a:prstGeom>
          <a:solidFill>
            <a:srgbClr val="FFFFFF"/>
          </a:solidFill>
          <a:ln/>
          <a:effectLst>
            <a:outerShdw sx="100000" sy="100000" kx="0" ky="0" algn="bl" rotWithShape="0" blurRad="127000" dist="25400" dir="5400000">
              <a:srgbClr val="0A2E36">
                <a:alpha val="10000"/>
              </a:srgbClr>
            </a:outerShdw>
          </a:effectLst>
        </p:spPr>
      </p:sp>
      <p:sp>
        <p:nvSpPr>
          <p:cNvPr id="7" name="Shape 5"/>
          <p:cNvSpPr/>
          <p:nvPr/>
        </p:nvSpPr>
        <p:spPr>
          <a:xfrm>
            <a:off x="10874959" y="1810512"/>
            <a:ext cx="457200" cy="457200"/>
          </a:xfrm>
          <a:prstGeom prst="ellipse">
            <a:avLst/>
          </a:prstGeom>
          <a:solidFill>
            <a:srgbClr val="02717D"/>
          </a:solidFill>
          <a:ln/>
        </p:spPr>
      </p:sp>
      <p:pic>
        <p:nvPicPr>
          <p:cNvPr id="8" name="Image 0" descr="preencoded.png">    </p:cNvPr>
          <p:cNvPicPr>
            <a:picLocks noChangeAspect="1"/>
          </p:cNvPicPr>
          <p:nvPr/>
        </p:nvPicPr>
        <p:blipFill>
          <a:blip r:embed="rId1"/>
          <a:stretch>
            <a:fillRect/>
          </a:stretch>
        </p:blipFill>
        <p:spPr>
          <a:xfrm>
            <a:off x="10993831" y="1920240"/>
            <a:ext cx="219456" cy="219456"/>
          </a:xfrm>
          <a:prstGeom prst="rect">
            <a:avLst/>
          </a:prstGeom>
        </p:spPr>
      </p:pic>
      <p:sp>
        <p:nvSpPr>
          <p:cNvPr id="9" name="Text 6"/>
          <p:cNvSpPr txBox="1"/>
          <p:nvPr/>
        </p:nvSpPr>
        <p:spPr>
          <a:xfrm>
            <a:off x="9253499" y="1810512"/>
            <a:ext cx="1530020" cy="237744"/>
          </a:xfrm>
          <a:prstGeom prst="rect">
            <a:avLst/>
          </a:prstGeom>
          <a:noFill/>
          <a:ln/>
        </p:spPr>
        <p:txBody>
          <a:bodyPr wrap="square" lIns="0" tIns="0" rIns="0" bIns="0" rtlCol="0" anchor="ctr"/>
          <a:lstStyle/>
          <a:p>
            <a:pPr rtl="1" algn="r" indent="0" marL="0">
              <a:buNone/>
            </a:pPr>
            <a:r>
              <a:rPr lang="en-US" sz="950" b="1" spc="50" kern="0" dirty="0">
                <a:solidFill>
                  <a:srgbClr val="02717D"/>
                </a:solidFill>
                <a:latin typeface="Arial" pitchFamily="34" charset="0"/>
                <a:ea typeface="Arial" pitchFamily="34" charset="-122"/>
                <a:cs typeface="Arial" pitchFamily="34" charset="-120"/>
              </a:rPr>
              <a:t>قريب المدى</a:t>
            </a:r>
            <a:endParaRPr lang="en-US" sz="950" dirty="0"/>
          </a:p>
        </p:txBody>
      </p:sp>
      <p:sp>
        <p:nvSpPr>
          <p:cNvPr id="10" name="Text 7"/>
          <p:cNvSpPr txBox="1"/>
          <p:nvPr/>
        </p:nvSpPr>
        <p:spPr>
          <a:xfrm>
            <a:off x="9253499" y="2103120"/>
            <a:ext cx="1804340" cy="548640"/>
          </a:xfrm>
          <a:prstGeom prst="rect">
            <a:avLst/>
          </a:prstGeom>
          <a:noFill/>
          <a:ln/>
        </p:spPr>
        <p:txBody>
          <a:bodyPr wrap="square" lIns="0" tIns="0" rIns="0" bIns="0" rtlCol="0" anchor="ctr"/>
          <a:lstStyle/>
          <a:p>
            <a:pPr rtl="1" algn="r" indent="0" marL="0">
              <a:lnSpc>
                <a:spcPts val="1800"/>
              </a:lnSpc>
              <a:buNone/>
            </a:pPr>
            <a:r>
              <a:rPr lang="en-US" sz="1400" b="1" dirty="0">
                <a:solidFill>
                  <a:srgbClr val="16292E"/>
                </a:solidFill>
                <a:latin typeface="Arial" pitchFamily="34" charset="0"/>
                <a:ea typeface="Arial" pitchFamily="34" charset="-122"/>
                <a:cs typeface="Arial" pitchFamily="34" charset="-120"/>
              </a:rPr>
              <a:t>تطبيق ميداني</a:t>
            </a:r>
            <a:endParaRPr lang="en-US" sz="1400" dirty="0"/>
          </a:p>
        </p:txBody>
      </p:sp>
      <p:sp>
        <p:nvSpPr>
          <p:cNvPr id="11" name="Text 8"/>
          <p:cNvSpPr txBox="1"/>
          <p:nvPr/>
        </p:nvSpPr>
        <p:spPr>
          <a:xfrm>
            <a:off x="9253499" y="2706624"/>
            <a:ext cx="2170100" cy="1316736"/>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تسجيل الحركة والتوزيع من الجهاز المحمول عند البوابة ونقطة التوزيع، وعمل يستمرّ عند انقطاع الشبكة</a:t>
            </a:r>
            <a:endParaRPr lang="en-US" sz="1100" dirty="0"/>
          </a:p>
        </p:txBody>
      </p:sp>
      <p:sp>
        <p:nvSpPr>
          <p:cNvPr id="12" name="Shape 9"/>
          <p:cNvSpPr/>
          <p:nvPr/>
        </p:nvSpPr>
        <p:spPr>
          <a:xfrm>
            <a:off x="6205576" y="1609344"/>
            <a:ext cx="2609012" cy="2651760"/>
          </a:xfrm>
          <a:prstGeom prst="roundRect">
            <a:avLst>
              <a:gd name="adj" fmla="val 3154"/>
            </a:avLst>
          </a:prstGeom>
          <a:solidFill>
            <a:srgbClr val="FFFFFF"/>
          </a:solidFill>
          <a:ln/>
          <a:effectLst>
            <a:outerShdw sx="100000" sy="100000" kx="0" ky="0" algn="bl" rotWithShape="0" blurRad="127000" dist="25400" dir="5400000">
              <a:srgbClr val="0A2E36">
                <a:alpha val="10000"/>
              </a:srgbClr>
            </a:outerShdw>
          </a:effectLst>
        </p:spPr>
      </p:sp>
      <p:sp>
        <p:nvSpPr>
          <p:cNvPr id="13" name="Shape 10"/>
          <p:cNvSpPr/>
          <p:nvPr/>
        </p:nvSpPr>
        <p:spPr>
          <a:xfrm>
            <a:off x="8046491" y="1810512"/>
            <a:ext cx="457200" cy="457200"/>
          </a:xfrm>
          <a:prstGeom prst="ellipse">
            <a:avLst/>
          </a:prstGeom>
          <a:solidFill>
            <a:srgbClr val="E9A13B"/>
          </a:solidFill>
          <a:ln/>
        </p:spPr>
      </p:sp>
      <p:pic>
        <p:nvPicPr>
          <p:cNvPr id="14" name="Image 1" descr="preencoded.png">    </p:cNvPr>
          <p:cNvPicPr>
            <a:picLocks noChangeAspect="1"/>
          </p:cNvPicPr>
          <p:nvPr/>
        </p:nvPicPr>
        <p:blipFill>
          <a:blip r:embed="rId2"/>
          <a:stretch>
            <a:fillRect/>
          </a:stretch>
        </p:blipFill>
        <p:spPr>
          <a:xfrm>
            <a:off x="8165363" y="1920240"/>
            <a:ext cx="219456" cy="219456"/>
          </a:xfrm>
          <a:prstGeom prst="rect">
            <a:avLst/>
          </a:prstGeom>
        </p:spPr>
      </p:pic>
      <p:sp>
        <p:nvSpPr>
          <p:cNvPr id="15" name="Text 11"/>
          <p:cNvSpPr txBox="1"/>
          <p:nvPr/>
        </p:nvSpPr>
        <p:spPr>
          <a:xfrm>
            <a:off x="6425032" y="1810512"/>
            <a:ext cx="1530020" cy="237744"/>
          </a:xfrm>
          <a:prstGeom prst="rect">
            <a:avLst/>
          </a:prstGeom>
          <a:noFill/>
          <a:ln/>
        </p:spPr>
        <p:txBody>
          <a:bodyPr wrap="square" lIns="0" tIns="0" rIns="0" bIns="0" rtlCol="0" anchor="ctr"/>
          <a:lstStyle/>
          <a:p>
            <a:pPr rtl="1" algn="r" indent="0" marL="0">
              <a:buNone/>
            </a:pPr>
            <a:r>
              <a:rPr lang="en-US" sz="950" b="1" spc="50" kern="0" dirty="0">
                <a:solidFill>
                  <a:srgbClr val="E9A13B"/>
                </a:solidFill>
                <a:latin typeface="Arial" pitchFamily="34" charset="0"/>
                <a:ea typeface="Arial" pitchFamily="34" charset="-122"/>
                <a:cs typeface="Arial" pitchFamily="34" charset="-120"/>
              </a:rPr>
              <a:t>متوسط المدى</a:t>
            </a:r>
            <a:endParaRPr lang="en-US" sz="950" dirty="0"/>
          </a:p>
        </p:txBody>
      </p:sp>
      <p:sp>
        <p:nvSpPr>
          <p:cNvPr id="16" name="Text 12"/>
          <p:cNvSpPr txBox="1"/>
          <p:nvPr/>
        </p:nvSpPr>
        <p:spPr>
          <a:xfrm>
            <a:off x="6425032" y="2103120"/>
            <a:ext cx="1804340" cy="548640"/>
          </a:xfrm>
          <a:prstGeom prst="rect">
            <a:avLst/>
          </a:prstGeom>
          <a:noFill/>
          <a:ln/>
        </p:spPr>
        <p:txBody>
          <a:bodyPr wrap="square" lIns="0" tIns="0" rIns="0" bIns="0" rtlCol="0" anchor="ctr"/>
          <a:lstStyle/>
          <a:p>
            <a:pPr rtl="1" algn="r" indent="0" marL="0">
              <a:lnSpc>
                <a:spcPts val="1800"/>
              </a:lnSpc>
              <a:buNone/>
            </a:pPr>
            <a:r>
              <a:rPr lang="en-US" sz="1400" b="1" dirty="0">
                <a:solidFill>
                  <a:srgbClr val="16292E"/>
                </a:solidFill>
                <a:latin typeface="Arial" pitchFamily="34" charset="0"/>
                <a:ea typeface="Arial" pitchFamily="34" charset="-122"/>
                <a:cs typeface="Arial" pitchFamily="34" charset="-120"/>
              </a:rPr>
              <a:t>التكامل مع المنظمات</a:t>
            </a:r>
            <a:endParaRPr lang="en-US" sz="1400" dirty="0"/>
          </a:p>
        </p:txBody>
      </p:sp>
      <p:sp>
        <p:nvSpPr>
          <p:cNvPr id="17" name="Text 13"/>
          <p:cNvSpPr txBox="1"/>
          <p:nvPr/>
        </p:nvSpPr>
        <p:spPr>
          <a:xfrm>
            <a:off x="6425032" y="2706624"/>
            <a:ext cx="2170100" cy="1316736"/>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قناة تبادل آمنة تُغني عن الكشوف المرسلة يدويًا، فتصل التقارير جاهزة وموثَّقة</a:t>
            </a:r>
            <a:endParaRPr lang="en-US" sz="1100" dirty="0"/>
          </a:p>
        </p:txBody>
      </p:sp>
      <p:sp>
        <p:nvSpPr>
          <p:cNvPr id="18" name="Shape 14"/>
          <p:cNvSpPr/>
          <p:nvPr/>
        </p:nvSpPr>
        <p:spPr>
          <a:xfrm>
            <a:off x="3377108" y="1609344"/>
            <a:ext cx="2609012" cy="2651760"/>
          </a:xfrm>
          <a:prstGeom prst="roundRect">
            <a:avLst>
              <a:gd name="adj" fmla="val 3154"/>
            </a:avLst>
          </a:prstGeom>
          <a:solidFill>
            <a:srgbClr val="FFFFFF"/>
          </a:solidFill>
          <a:ln/>
          <a:effectLst>
            <a:outerShdw sx="100000" sy="100000" kx="0" ky="0" algn="bl" rotWithShape="0" blurRad="127000" dist="25400" dir="5400000">
              <a:srgbClr val="0A2E36">
                <a:alpha val="10000"/>
              </a:srgbClr>
            </a:outerShdw>
          </a:effectLst>
        </p:spPr>
      </p:sp>
      <p:sp>
        <p:nvSpPr>
          <p:cNvPr id="19" name="Shape 15"/>
          <p:cNvSpPr/>
          <p:nvPr/>
        </p:nvSpPr>
        <p:spPr>
          <a:xfrm>
            <a:off x="5218024" y="1810512"/>
            <a:ext cx="457200" cy="457200"/>
          </a:xfrm>
          <a:prstGeom prst="ellipse">
            <a:avLst/>
          </a:prstGeom>
          <a:solidFill>
            <a:srgbClr val="E9A13B"/>
          </a:solidFill>
          <a:ln/>
        </p:spPr>
      </p:sp>
      <p:pic>
        <p:nvPicPr>
          <p:cNvPr id="20" name="Image 2" descr="preencoded.png">    </p:cNvPr>
          <p:cNvPicPr>
            <a:picLocks noChangeAspect="1"/>
          </p:cNvPicPr>
          <p:nvPr/>
        </p:nvPicPr>
        <p:blipFill>
          <a:blip r:embed="rId3"/>
          <a:stretch>
            <a:fillRect/>
          </a:stretch>
        </p:blipFill>
        <p:spPr>
          <a:xfrm>
            <a:off x="5336896" y="1920240"/>
            <a:ext cx="219456" cy="219456"/>
          </a:xfrm>
          <a:prstGeom prst="rect">
            <a:avLst/>
          </a:prstGeom>
        </p:spPr>
      </p:pic>
      <p:sp>
        <p:nvSpPr>
          <p:cNvPr id="21" name="Text 16"/>
          <p:cNvSpPr txBox="1"/>
          <p:nvPr/>
        </p:nvSpPr>
        <p:spPr>
          <a:xfrm>
            <a:off x="3596564" y="1810512"/>
            <a:ext cx="1530020" cy="237744"/>
          </a:xfrm>
          <a:prstGeom prst="rect">
            <a:avLst/>
          </a:prstGeom>
          <a:noFill/>
          <a:ln/>
        </p:spPr>
        <p:txBody>
          <a:bodyPr wrap="square" lIns="0" tIns="0" rIns="0" bIns="0" rtlCol="0" anchor="ctr"/>
          <a:lstStyle/>
          <a:p>
            <a:pPr rtl="1" algn="r" indent="0" marL="0">
              <a:buNone/>
            </a:pPr>
            <a:r>
              <a:rPr lang="en-US" sz="950" b="1" spc="50" kern="0" dirty="0">
                <a:solidFill>
                  <a:srgbClr val="E9A13B"/>
                </a:solidFill>
                <a:latin typeface="Arial" pitchFamily="34" charset="0"/>
                <a:ea typeface="Arial" pitchFamily="34" charset="-122"/>
                <a:cs typeface="Arial" pitchFamily="34" charset="-120"/>
              </a:rPr>
              <a:t>متوسط المدى</a:t>
            </a:r>
            <a:endParaRPr lang="en-US" sz="950" dirty="0"/>
          </a:p>
        </p:txBody>
      </p:sp>
      <p:sp>
        <p:nvSpPr>
          <p:cNvPr id="22" name="Text 17"/>
          <p:cNvSpPr txBox="1"/>
          <p:nvPr/>
        </p:nvSpPr>
        <p:spPr>
          <a:xfrm>
            <a:off x="3596564" y="2103120"/>
            <a:ext cx="1804340" cy="548640"/>
          </a:xfrm>
          <a:prstGeom prst="rect">
            <a:avLst/>
          </a:prstGeom>
          <a:noFill/>
          <a:ln/>
        </p:spPr>
        <p:txBody>
          <a:bodyPr wrap="square" lIns="0" tIns="0" rIns="0" bIns="0" rtlCol="0" anchor="ctr"/>
          <a:lstStyle/>
          <a:p>
            <a:pPr rtl="1" algn="r" indent="0" marL="0">
              <a:lnSpc>
                <a:spcPts val="1800"/>
              </a:lnSpc>
              <a:buNone/>
            </a:pPr>
            <a:r>
              <a:rPr lang="en-US" sz="1400" b="1" dirty="0">
                <a:solidFill>
                  <a:srgbClr val="16292E"/>
                </a:solidFill>
                <a:latin typeface="Arial" pitchFamily="34" charset="0"/>
                <a:ea typeface="Arial" pitchFamily="34" charset="-122"/>
                <a:cs typeface="Arial" pitchFamily="34" charset="-120"/>
              </a:rPr>
              <a:t>مؤشرات الإنذار المبكر</a:t>
            </a:r>
            <a:endParaRPr lang="en-US" sz="1400" dirty="0"/>
          </a:p>
        </p:txBody>
      </p:sp>
      <p:sp>
        <p:nvSpPr>
          <p:cNvPr id="23" name="Text 18"/>
          <p:cNvSpPr txBox="1"/>
          <p:nvPr/>
        </p:nvSpPr>
        <p:spPr>
          <a:xfrm>
            <a:off x="3596564" y="2706624"/>
            <a:ext cx="2170100" cy="1316736"/>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تنبيه قبل وقوع المشكلة: اكتظاظ يقترب، أو أسرة تأخّرت مساعدتها، أو وحدة تجاوزت طاقتها</a:t>
            </a:r>
            <a:endParaRPr lang="en-US" sz="1100" dirty="0"/>
          </a:p>
        </p:txBody>
      </p:sp>
      <p:sp>
        <p:nvSpPr>
          <p:cNvPr id="24" name="Shape 19"/>
          <p:cNvSpPr/>
          <p:nvPr/>
        </p:nvSpPr>
        <p:spPr>
          <a:xfrm>
            <a:off x="548640" y="1609344"/>
            <a:ext cx="2609012" cy="2651760"/>
          </a:xfrm>
          <a:prstGeom prst="roundRect">
            <a:avLst>
              <a:gd name="adj" fmla="val 3154"/>
            </a:avLst>
          </a:prstGeom>
          <a:solidFill>
            <a:srgbClr val="FFFFFF"/>
          </a:solidFill>
          <a:ln/>
          <a:effectLst>
            <a:outerShdw sx="100000" sy="100000" kx="0" ky="0" algn="bl" rotWithShape="0" blurRad="127000" dist="25400" dir="5400000">
              <a:srgbClr val="0A2E36">
                <a:alpha val="10000"/>
              </a:srgbClr>
            </a:outerShdw>
          </a:effectLst>
        </p:spPr>
      </p:sp>
      <p:sp>
        <p:nvSpPr>
          <p:cNvPr id="25" name="Shape 20"/>
          <p:cNvSpPr/>
          <p:nvPr/>
        </p:nvSpPr>
        <p:spPr>
          <a:xfrm>
            <a:off x="2389556" y="1810512"/>
            <a:ext cx="457200" cy="457200"/>
          </a:xfrm>
          <a:prstGeom prst="ellipse">
            <a:avLst/>
          </a:prstGeom>
          <a:solidFill>
            <a:srgbClr val="02717D"/>
          </a:solidFill>
          <a:ln/>
        </p:spPr>
      </p:sp>
      <p:pic>
        <p:nvPicPr>
          <p:cNvPr id="26" name="Image 3" descr="preencoded.png">    </p:cNvPr>
          <p:cNvPicPr>
            <a:picLocks noChangeAspect="1"/>
          </p:cNvPicPr>
          <p:nvPr/>
        </p:nvPicPr>
        <p:blipFill>
          <a:blip r:embed="rId4"/>
          <a:stretch>
            <a:fillRect/>
          </a:stretch>
        </p:blipFill>
        <p:spPr>
          <a:xfrm>
            <a:off x="2508428" y="1920240"/>
            <a:ext cx="219456" cy="219456"/>
          </a:xfrm>
          <a:prstGeom prst="rect">
            <a:avLst/>
          </a:prstGeom>
        </p:spPr>
      </p:pic>
      <p:sp>
        <p:nvSpPr>
          <p:cNvPr id="27" name="Text 21"/>
          <p:cNvSpPr txBox="1"/>
          <p:nvPr/>
        </p:nvSpPr>
        <p:spPr>
          <a:xfrm>
            <a:off x="768096" y="1810512"/>
            <a:ext cx="1530020" cy="237744"/>
          </a:xfrm>
          <a:prstGeom prst="rect">
            <a:avLst/>
          </a:prstGeom>
          <a:noFill/>
          <a:ln/>
        </p:spPr>
        <p:txBody>
          <a:bodyPr wrap="square" lIns="0" tIns="0" rIns="0" bIns="0" rtlCol="0" anchor="ctr"/>
          <a:lstStyle/>
          <a:p>
            <a:pPr rtl="1" algn="r" indent="0" marL="0">
              <a:buNone/>
            </a:pPr>
            <a:r>
              <a:rPr lang="en-US" sz="950" b="1" spc="50" kern="0" dirty="0">
                <a:solidFill>
                  <a:srgbClr val="02717D"/>
                </a:solidFill>
                <a:latin typeface="Arial" pitchFamily="34" charset="0"/>
                <a:ea typeface="Arial" pitchFamily="34" charset="-122"/>
                <a:cs typeface="Arial" pitchFamily="34" charset="-120"/>
              </a:rPr>
              <a:t>بعيد المدى</a:t>
            </a:r>
            <a:endParaRPr lang="en-US" sz="950" dirty="0"/>
          </a:p>
        </p:txBody>
      </p:sp>
      <p:sp>
        <p:nvSpPr>
          <p:cNvPr id="28" name="Text 22"/>
          <p:cNvSpPr txBox="1"/>
          <p:nvPr/>
        </p:nvSpPr>
        <p:spPr>
          <a:xfrm>
            <a:off x="768096" y="2103120"/>
            <a:ext cx="1804340" cy="548640"/>
          </a:xfrm>
          <a:prstGeom prst="rect">
            <a:avLst/>
          </a:prstGeom>
          <a:noFill/>
          <a:ln/>
        </p:spPr>
        <p:txBody>
          <a:bodyPr wrap="square" lIns="0" tIns="0" rIns="0" bIns="0" rtlCol="0" anchor="ctr"/>
          <a:lstStyle/>
          <a:p>
            <a:pPr rtl="1" algn="r" indent="0" marL="0">
              <a:lnSpc>
                <a:spcPts val="1800"/>
              </a:lnSpc>
              <a:buNone/>
            </a:pPr>
            <a:r>
              <a:rPr lang="en-US" sz="1400" b="1" dirty="0">
                <a:solidFill>
                  <a:srgbClr val="16292E"/>
                </a:solidFill>
                <a:latin typeface="Arial" pitchFamily="34" charset="0"/>
                <a:ea typeface="Arial" pitchFamily="34" charset="-122"/>
                <a:cs typeface="Arial" pitchFamily="34" charset="-120"/>
              </a:rPr>
              <a:t>التوسّع والتعريب المتعدّد</a:t>
            </a:r>
            <a:endParaRPr lang="en-US" sz="1400" dirty="0"/>
          </a:p>
        </p:txBody>
      </p:sp>
      <p:sp>
        <p:nvSpPr>
          <p:cNvPr id="29" name="Text 23"/>
          <p:cNvSpPr txBox="1"/>
          <p:nvPr/>
        </p:nvSpPr>
        <p:spPr>
          <a:xfrm>
            <a:off x="768096" y="2706624"/>
            <a:ext cx="2170100" cy="1316736"/>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أكثر من مخيم تحت إدارة واحدة، وواجهات بلغات إضافية تخدم الكادر الدولي</a:t>
            </a:r>
            <a:endParaRPr lang="en-US" sz="1100" dirty="0"/>
          </a:p>
        </p:txBody>
      </p:sp>
      <p:sp>
        <p:nvSpPr>
          <p:cNvPr id="30" name="Shape 24"/>
          <p:cNvSpPr/>
          <p:nvPr/>
        </p:nvSpPr>
        <p:spPr>
          <a:xfrm>
            <a:off x="548640" y="4462272"/>
            <a:ext cx="11094415" cy="1700784"/>
          </a:xfrm>
          <a:prstGeom prst="roundRect">
            <a:avLst>
              <a:gd name="adj" fmla="val 5376"/>
            </a:avLst>
          </a:prstGeom>
          <a:solidFill>
            <a:srgbClr val="0A2E36"/>
          </a:solidFill>
          <a:ln/>
        </p:spPr>
      </p:sp>
      <p:sp>
        <p:nvSpPr>
          <p:cNvPr id="31" name="Text 25"/>
          <p:cNvSpPr txBox="1"/>
          <p:nvPr/>
        </p:nvSpPr>
        <p:spPr>
          <a:xfrm>
            <a:off x="914400" y="4626864"/>
            <a:ext cx="10362895" cy="292608"/>
          </a:xfrm>
          <a:prstGeom prst="rect">
            <a:avLst/>
          </a:prstGeom>
          <a:noFill/>
          <a:ln/>
        </p:spPr>
        <p:txBody>
          <a:bodyPr wrap="square" lIns="0" tIns="0" rIns="0" bIns="0" rtlCol="0" anchor="ctr"/>
          <a:lstStyle/>
          <a:p>
            <a:pPr rtl="1" algn="ctr" indent="0" marL="0">
              <a:buNone/>
            </a:pPr>
            <a:r>
              <a:rPr lang="en-US" sz="1350" b="1" dirty="0">
                <a:solidFill>
                  <a:srgbClr val="00A896"/>
                </a:solidFill>
                <a:latin typeface="Arial" pitchFamily="34" charset="0"/>
                <a:ea typeface="Arial" pitchFamily="34" charset="-122"/>
                <a:cs typeface="Arial" pitchFamily="34" charset="-120"/>
              </a:rPr>
              <a:t>ولماذا نعدّ المشروع قابلًا للاستدامة</a:t>
            </a:r>
            <a:endParaRPr lang="en-US" sz="1350" dirty="0"/>
          </a:p>
        </p:txBody>
      </p:sp>
      <p:sp>
        <p:nvSpPr>
          <p:cNvPr id="32" name="Shape 26"/>
          <p:cNvSpPr/>
          <p:nvPr/>
        </p:nvSpPr>
        <p:spPr>
          <a:xfrm>
            <a:off x="8005877" y="5047488"/>
            <a:ext cx="3271418" cy="896112"/>
          </a:xfrm>
          <a:prstGeom prst="roundRect">
            <a:avLst>
              <a:gd name="adj" fmla="val 8163"/>
            </a:avLst>
          </a:prstGeom>
          <a:solidFill>
            <a:srgbClr val="113E48"/>
          </a:solidFill>
          <a:ln/>
        </p:spPr>
      </p:sp>
      <p:sp>
        <p:nvSpPr>
          <p:cNvPr id="33" name="Text 27"/>
          <p:cNvSpPr txBox="1"/>
          <p:nvPr/>
        </p:nvSpPr>
        <p:spPr>
          <a:xfrm>
            <a:off x="8207045" y="5138928"/>
            <a:ext cx="2869082" cy="274320"/>
          </a:xfrm>
          <a:prstGeom prst="rect">
            <a:avLst/>
          </a:prstGeom>
          <a:noFill/>
          <a:ln/>
        </p:spPr>
        <p:txBody>
          <a:bodyPr wrap="square" lIns="0" tIns="0" rIns="0" bIns="0" rtlCol="0" anchor="ctr"/>
          <a:lstStyle/>
          <a:p>
            <a:pPr rtl="1" algn="r" indent="0" marL="0">
              <a:buNone/>
            </a:pPr>
            <a:r>
              <a:rPr lang="en-US" sz="1200" b="1" dirty="0">
                <a:solidFill>
                  <a:srgbClr val="FFFFFF"/>
                </a:solidFill>
                <a:latin typeface="Arial" pitchFamily="34" charset="0"/>
                <a:ea typeface="Arial" pitchFamily="34" charset="-122"/>
                <a:cs typeface="Arial" pitchFamily="34" charset="-120"/>
              </a:rPr>
              <a:t>كلفة تشغيل منخفضة</a:t>
            </a:r>
            <a:endParaRPr lang="en-US" sz="1200" dirty="0"/>
          </a:p>
        </p:txBody>
      </p:sp>
      <p:sp>
        <p:nvSpPr>
          <p:cNvPr id="34" name="Text 28"/>
          <p:cNvSpPr txBox="1"/>
          <p:nvPr/>
        </p:nvSpPr>
        <p:spPr>
          <a:xfrm>
            <a:off x="8207045" y="5431536"/>
            <a:ext cx="2869082" cy="420624"/>
          </a:xfrm>
          <a:prstGeom prst="rect">
            <a:avLst/>
          </a:prstGeom>
          <a:noFill/>
          <a:ln/>
        </p:spPr>
        <p:txBody>
          <a:bodyPr wrap="square" lIns="0" tIns="0" rIns="0" bIns="0" rtlCol="0" anchor="ctr"/>
          <a:lstStyle/>
          <a:p>
            <a:pPr rtl="1" algn="r" indent="0" marL="0">
              <a:lnSpc>
                <a:spcPts val="1300"/>
              </a:lnSpc>
              <a:buNone/>
            </a:pPr>
            <a:r>
              <a:rPr lang="en-US" sz="1000" dirty="0">
                <a:solidFill>
                  <a:srgbClr val="BFD4D7"/>
                </a:solidFill>
                <a:latin typeface="Arial" pitchFamily="34" charset="0"/>
                <a:ea typeface="Arial" pitchFamily="34" charset="-122"/>
                <a:cs typeface="Arial" pitchFamily="34" charset="-120"/>
              </a:rPr>
              <a:t>مبني على أدوات مفتوحة المصدر، ويعمل على خادم متواضع</a:t>
            </a:r>
            <a:endParaRPr lang="en-US" sz="1000" dirty="0"/>
          </a:p>
        </p:txBody>
      </p:sp>
      <p:sp>
        <p:nvSpPr>
          <p:cNvPr id="35" name="Shape 29"/>
          <p:cNvSpPr/>
          <p:nvPr/>
        </p:nvSpPr>
        <p:spPr>
          <a:xfrm>
            <a:off x="4460138" y="5047488"/>
            <a:ext cx="3271418" cy="896112"/>
          </a:xfrm>
          <a:prstGeom prst="roundRect">
            <a:avLst>
              <a:gd name="adj" fmla="val 8163"/>
            </a:avLst>
          </a:prstGeom>
          <a:solidFill>
            <a:srgbClr val="113E48"/>
          </a:solidFill>
          <a:ln/>
        </p:spPr>
      </p:sp>
      <p:sp>
        <p:nvSpPr>
          <p:cNvPr id="36" name="Text 30"/>
          <p:cNvSpPr txBox="1"/>
          <p:nvPr/>
        </p:nvSpPr>
        <p:spPr>
          <a:xfrm>
            <a:off x="4661306" y="5138928"/>
            <a:ext cx="2869082" cy="274320"/>
          </a:xfrm>
          <a:prstGeom prst="rect">
            <a:avLst/>
          </a:prstGeom>
          <a:noFill/>
          <a:ln/>
        </p:spPr>
        <p:txBody>
          <a:bodyPr wrap="square" lIns="0" tIns="0" rIns="0" bIns="0" rtlCol="0" anchor="ctr"/>
          <a:lstStyle/>
          <a:p>
            <a:pPr rtl="1" algn="r" indent="0" marL="0">
              <a:buNone/>
            </a:pPr>
            <a:r>
              <a:rPr lang="en-US" sz="1200" b="1" dirty="0">
                <a:solidFill>
                  <a:srgbClr val="FFFFFF"/>
                </a:solidFill>
                <a:latin typeface="Arial" pitchFamily="34" charset="0"/>
                <a:ea typeface="Arial" pitchFamily="34" charset="-122"/>
                <a:cs typeface="Arial" pitchFamily="34" charset="-120"/>
              </a:rPr>
              <a:t>قابل للتوسعة بالوحدات</a:t>
            </a:r>
            <a:endParaRPr lang="en-US" sz="1200" dirty="0"/>
          </a:p>
        </p:txBody>
      </p:sp>
      <p:sp>
        <p:nvSpPr>
          <p:cNvPr id="37" name="Text 31"/>
          <p:cNvSpPr txBox="1"/>
          <p:nvPr/>
        </p:nvSpPr>
        <p:spPr>
          <a:xfrm>
            <a:off x="4661306" y="5431536"/>
            <a:ext cx="2869082" cy="420624"/>
          </a:xfrm>
          <a:prstGeom prst="rect">
            <a:avLst/>
          </a:prstGeom>
          <a:noFill/>
          <a:ln/>
        </p:spPr>
        <p:txBody>
          <a:bodyPr wrap="square" lIns="0" tIns="0" rIns="0" bIns="0" rtlCol="0" anchor="ctr"/>
          <a:lstStyle/>
          <a:p>
            <a:pPr rtl="1" algn="r" indent="0" marL="0">
              <a:lnSpc>
                <a:spcPts val="1300"/>
              </a:lnSpc>
              <a:buNone/>
            </a:pPr>
            <a:r>
              <a:rPr lang="en-US" sz="1000" dirty="0">
                <a:solidFill>
                  <a:srgbClr val="BFD4D7"/>
                </a:solidFill>
                <a:latin typeface="Arial" pitchFamily="34" charset="0"/>
                <a:ea typeface="Arial" pitchFamily="34" charset="-122"/>
                <a:cs typeface="Arial" pitchFamily="34" charset="-120"/>
              </a:rPr>
              <a:t>إضافة وحدة جديدة لا تستدعي إعادة بناء ما قبلها</a:t>
            </a:r>
            <a:endParaRPr lang="en-US" sz="1000" dirty="0"/>
          </a:p>
        </p:txBody>
      </p:sp>
      <p:sp>
        <p:nvSpPr>
          <p:cNvPr id="38" name="Shape 32"/>
          <p:cNvSpPr/>
          <p:nvPr/>
        </p:nvSpPr>
        <p:spPr>
          <a:xfrm>
            <a:off x="914400" y="5047488"/>
            <a:ext cx="3271418" cy="896112"/>
          </a:xfrm>
          <a:prstGeom prst="roundRect">
            <a:avLst>
              <a:gd name="adj" fmla="val 8163"/>
            </a:avLst>
          </a:prstGeom>
          <a:solidFill>
            <a:srgbClr val="113E48"/>
          </a:solidFill>
          <a:ln/>
        </p:spPr>
      </p:sp>
      <p:sp>
        <p:nvSpPr>
          <p:cNvPr id="39" name="Text 33"/>
          <p:cNvSpPr txBox="1"/>
          <p:nvPr/>
        </p:nvSpPr>
        <p:spPr>
          <a:xfrm>
            <a:off x="1115568" y="5138928"/>
            <a:ext cx="2869082" cy="274320"/>
          </a:xfrm>
          <a:prstGeom prst="rect">
            <a:avLst/>
          </a:prstGeom>
          <a:noFill/>
          <a:ln/>
        </p:spPr>
        <p:txBody>
          <a:bodyPr wrap="square" lIns="0" tIns="0" rIns="0" bIns="0" rtlCol="0" anchor="ctr"/>
          <a:lstStyle/>
          <a:p>
            <a:pPr rtl="1" algn="r" indent="0" marL="0">
              <a:buNone/>
            </a:pPr>
            <a:r>
              <a:rPr lang="en-US" sz="1200" b="1" dirty="0">
                <a:solidFill>
                  <a:srgbClr val="FFFFFF"/>
                </a:solidFill>
                <a:latin typeface="Arial" pitchFamily="34" charset="0"/>
                <a:ea typeface="Arial" pitchFamily="34" charset="-122"/>
                <a:cs typeface="Arial" pitchFamily="34" charset="-120"/>
              </a:rPr>
              <a:t>لا يعتمد على خدمة خارجية</a:t>
            </a:r>
            <a:endParaRPr lang="en-US" sz="1200" dirty="0"/>
          </a:p>
        </p:txBody>
      </p:sp>
      <p:sp>
        <p:nvSpPr>
          <p:cNvPr id="40" name="Text 34"/>
          <p:cNvSpPr txBox="1"/>
          <p:nvPr/>
        </p:nvSpPr>
        <p:spPr>
          <a:xfrm>
            <a:off x="1115568" y="5431536"/>
            <a:ext cx="2869082" cy="420624"/>
          </a:xfrm>
          <a:prstGeom prst="rect">
            <a:avLst/>
          </a:prstGeom>
          <a:noFill/>
          <a:ln/>
        </p:spPr>
        <p:txBody>
          <a:bodyPr wrap="square" lIns="0" tIns="0" rIns="0" bIns="0" rtlCol="0" anchor="ctr"/>
          <a:lstStyle/>
          <a:p>
            <a:pPr rtl="1" algn="r" indent="0" marL="0">
              <a:lnSpc>
                <a:spcPts val="1300"/>
              </a:lnSpc>
              <a:buNone/>
            </a:pPr>
            <a:r>
              <a:rPr lang="en-US" sz="1000" dirty="0">
                <a:solidFill>
                  <a:srgbClr val="BFD4D7"/>
                </a:solidFill>
                <a:latin typeface="Arial" pitchFamily="34" charset="0"/>
                <a:ea typeface="Arial" pitchFamily="34" charset="-122"/>
                <a:cs typeface="Arial" pitchFamily="34" charset="-120"/>
              </a:rPr>
              <a:t>البيانات الحسّاسة تبقى داخل خادم الجهة المشغِّلة</a:t>
            </a:r>
            <a:endParaRPr lang="en-US" sz="1000" dirty="0"/>
          </a:p>
        </p:txBody>
      </p:sp>
      <p:sp>
        <p:nvSpPr>
          <p:cNvPr id="41" name="Shape 35"/>
          <p:cNvSpPr/>
          <p:nvPr/>
        </p:nvSpPr>
        <p:spPr>
          <a:xfrm>
            <a:off x="548640" y="6364224"/>
            <a:ext cx="11094415" cy="16459"/>
          </a:xfrm>
          <a:prstGeom prst="rect">
            <a:avLst/>
          </a:prstGeom>
          <a:solidFill>
            <a:srgbClr val="DCE6E7"/>
          </a:solidFill>
          <a:ln/>
        </p:spPr>
      </p:sp>
      <p:sp>
        <p:nvSpPr>
          <p:cNvPr id="42" name="Text 36"/>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43" name="Text 37"/>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02717D"/>
                </a:solidFill>
                <a:latin typeface="Arial" pitchFamily="34" charset="0"/>
                <a:ea typeface="Arial" pitchFamily="34" charset="-122"/>
                <a:cs typeface="Arial" pitchFamily="34" charset="-120"/>
              </a:rPr>
              <a:t>١٠ / ٩</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10241280" y="-2286000"/>
            <a:ext cx="3657600" cy="3657600"/>
          </a:xfrm>
          <a:prstGeom prst="ellipse">
            <a:avLst/>
          </a:prstGeom>
          <a:solidFill>
            <a:srgbClr val="113E48"/>
          </a:solidFill>
          <a:ln/>
        </p:spPr>
      </p:sp>
      <p:sp>
        <p:nvSpPr>
          <p:cNvPr id="3" name="Shape 1"/>
          <p:cNvSpPr/>
          <p:nvPr/>
        </p:nvSpPr>
        <p:spPr>
          <a:xfrm>
            <a:off x="11592763" y="457200"/>
            <a:ext cx="50292" cy="274320"/>
          </a:xfrm>
          <a:prstGeom prst="rect">
            <a:avLst/>
          </a:prstGeom>
          <a:solidFill>
            <a:srgbClr val="E9A13B"/>
          </a:solidFill>
          <a:ln/>
        </p:spPr>
      </p:sp>
      <p:sp>
        <p:nvSpPr>
          <p:cNvPr id="4" name="Text 2"/>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E9A13B"/>
                </a:solidFill>
                <a:latin typeface="Arial" pitchFamily="34" charset="0"/>
                <a:ea typeface="Arial" pitchFamily="34" charset="-122"/>
                <a:cs typeface="Arial" pitchFamily="34" charset="-120"/>
              </a:rPr>
              <a:t>الخلاصة</a:t>
            </a:r>
            <a:endParaRPr lang="en-US" sz="1250" dirty="0"/>
          </a:p>
        </p:txBody>
      </p:sp>
      <p:sp>
        <p:nvSpPr>
          <p:cNvPr id="5" name="Text 3"/>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FFFFFF"/>
                </a:solidFill>
                <a:latin typeface="Arial" pitchFamily="34" charset="0"/>
                <a:ea typeface="Arial" pitchFamily="34" charset="-122"/>
                <a:cs typeface="Arial" pitchFamily="34" charset="-120"/>
              </a:rPr>
              <a:t>خاتمة وشكر</a:t>
            </a:r>
            <a:endParaRPr lang="en-US" sz="3400" dirty="0"/>
          </a:p>
        </p:txBody>
      </p:sp>
      <p:sp>
        <p:nvSpPr>
          <p:cNvPr id="6" name="Shape 4"/>
          <p:cNvSpPr/>
          <p:nvPr/>
        </p:nvSpPr>
        <p:spPr>
          <a:xfrm>
            <a:off x="548640" y="1408176"/>
            <a:ext cx="11094415" cy="16459"/>
          </a:xfrm>
          <a:prstGeom prst="rect">
            <a:avLst/>
          </a:prstGeom>
          <a:solidFill>
            <a:srgbClr val="17505C"/>
          </a:solidFill>
          <a:ln/>
        </p:spPr>
      </p:sp>
      <p:sp>
        <p:nvSpPr>
          <p:cNvPr id="7" name="Shape 5"/>
          <p:cNvSpPr/>
          <p:nvPr/>
        </p:nvSpPr>
        <p:spPr>
          <a:xfrm>
            <a:off x="8127797" y="1572768"/>
            <a:ext cx="3515258" cy="1316736"/>
          </a:xfrm>
          <a:prstGeom prst="roundRect">
            <a:avLst>
              <a:gd name="adj" fmla="val 6944"/>
            </a:avLst>
          </a:prstGeom>
          <a:solidFill>
            <a:srgbClr val="113E48"/>
          </a:solidFill>
          <a:ln/>
        </p:spPr>
      </p:sp>
      <p:sp>
        <p:nvSpPr>
          <p:cNvPr id="8" name="Shape 6"/>
          <p:cNvSpPr/>
          <p:nvPr/>
        </p:nvSpPr>
        <p:spPr>
          <a:xfrm>
            <a:off x="11039551" y="1792224"/>
            <a:ext cx="365760" cy="365760"/>
          </a:xfrm>
          <a:prstGeom prst="ellipse">
            <a:avLst/>
          </a:prstGeom>
          <a:solidFill>
            <a:srgbClr val="00A896"/>
          </a:solidFill>
          <a:ln/>
        </p:spPr>
      </p:sp>
      <p:pic>
        <p:nvPicPr>
          <p:cNvPr id="9" name="Image 0" descr="preencoded.png">    </p:cNvPr>
          <p:cNvPicPr>
            <a:picLocks noChangeAspect="1"/>
          </p:cNvPicPr>
          <p:nvPr/>
        </p:nvPicPr>
        <p:blipFill>
          <a:blip r:embed="rId1"/>
          <a:stretch>
            <a:fillRect/>
          </a:stretch>
        </p:blipFill>
        <p:spPr>
          <a:xfrm>
            <a:off x="11130991" y="1883664"/>
            <a:ext cx="182880" cy="182880"/>
          </a:xfrm>
          <a:prstGeom prst="rect">
            <a:avLst/>
          </a:prstGeom>
        </p:spPr>
      </p:pic>
      <p:sp>
        <p:nvSpPr>
          <p:cNvPr id="10" name="Text 7"/>
          <p:cNvSpPr txBox="1"/>
          <p:nvPr/>
        </p:nvSpPr>
        <p:spPr>
          <a:xfrm>
            <a:off x="8347253" y="1773936"/>
            <a:ext cx="2619146" cy="310896"/>
          </a:xfrm>
          <a:prstGeom prst="rect">
            <a:avLst/>
          </a:prstGeom>
          <a:noFill/>
          <a:ln/>
        </p:spPr>
        <p:txBody>
          <a:bodyPr wrap="square" lIns="0" tIns="0" rIns="0" bIns="0" rtlCol="0" anchor="ctr"/>
          <a:lstStyle/>
          <a:p>
            <a:pPr rtl="1" algn="r" indent="0" marL="0">
              <a:buNone/>
            </a:pPr>
            <a:r>
              <a:rPr lang="en-US" sz="1500" b="1" dirty="0">
                <a:solidFill>
                  <a:srgbClr val="FFFFFF"/>
                </a:solidFill>
                <a:latin typeface="Arial" pitchFamily="34" charset="0"/>
                <a:ea typeface="Arial" pitchFamily="34" charset="-122"/>
                <a:cs typeface="Arial" pitchFamily="34" charset="-120"/>
              </a:rPr>
              <a:t>مشكلة حقيقية</a:t>
            </a:r>
            <a:endParaRPr lang="en-US" sz="1500" dirty="0"/>
          </a:p>
        </p:txBody>
      </p:sp>
      <p:sp>
        <p:nvSpPr>
          <p:cNvPr id="11" name="Text 8"/>
          <p:cNvSpPr txBox="1"/>
          <p:nvPr/>
        </p:nvSpPr>
        <p:spPr>
          <a:xfrm>
            <a:off x="8347253" y="2176272"/>
            <a:ext cx="3076346" cy="621792"/>
          </a:xfrm>
          <a:prstGeom prst="rect">
            <a:avLst/>
          </a:prstGeom>
          <a:noFill/>
          <a:ln/>
        </p:spPr>
        <p:txBody>
          <a:bodyPr wrap="square" lIns="0" tIns="0" rIns="0" bIns="0" rtlCol="0" anchor="ctr"/>
          <a:lstStyle/>
          <a:p>
            <a:pPr rtl="1" algn="r" indent="0" marL="0">
              <a:lnSpc>
                <a:spcPts val="1600"/>
              </a:lnSpc>
              <a:buNone/>
            </a:pPr>
            <a:r>
              <a:rPr lang="en-US" sz="1150" dirty="0">
                <a:solidFill>
                  <a:srgbClr val="BFD4D7"/>
                </a:solidFill>
                <a:latin typeface="Arial" pitchFamily="34" charset="0"/>
                <a:ea typeface="Arial" pitchFamily="34" charset="-122"/>
                <a:cs typeface="Arial" pitchFamily="34" charset="-120"/>
              </a:rPr>
              <a:t>إدارة تعتمد على الورق تُضيّع الحقوق وتُبطئ القرار</a:t>
            </a:r>
            <a:endParaRPr lang="en-US" sz="1150" dirty="0"/>
          </a:p>
        </p:txBody>
      </p:sp>
      <p:sp>
        <p:nvSpPr>
          <p:cNvPr id="12" name="Shape 9"/>
          <p:cNvSpPr/>
          <p:nvPr/>
        </p:nvSpPr>
        <p:spPr>
          <a:xfrm>
            <a:off x="4338218" y="1572768"/>
            <a:ext cx="3515258" cy="1316736"/>
          </a:xfrm>
          <a:prstGeom prst="roundRect">
            <a:avLst>
              <a:gd name="adj" fmla="val 6944"/>
            </a:avLst>
          </a:prstGeom>
          <a:solidFill>
            <a:srgbClr val="113E48"/>
          </a:solidFill>
          <a:ln/>
        </p:spPr>
      </p:sp>
      <p:sp>
        <p:nvSpPr>
          <p:cNvPr id="13" name="Shape 10"/>
          <p:cNvSpPr/>
          <p:nvPr/>
        </p:nvSpPr>
        <p:spPr>
          <a:xfrm>
            <a:off x="7249973" y="1792224"/>
            <a:ext cx="365760" cy="365760"/>
          </a:xfrm>
          <a:prstGeom prst="ellipse">
            <a:avLst/>
          </a:prstGeom>
          <a:solidFill>
            <a:srgbClr val="00A896"/>
          </a:solidFill>
          <a:ln/>
        </p:spPr>
      </p:sp>
      <p:pic>
        <p:nvPicPr>
          <p:cNvPr id="14" name="Image 1" descr="preencoded.png">    </p:cNvPr>
          <p:cNvPicPr>
            <a:picLocks noChangeAspect="1"/>
          </p:cNvPicPr>
          <p:nvPr/>
        </p:nvPicPr>
        <p:blipFill>
          <a:blip r:embed="rId2"/>
          <a:stretch>
            <a:fillRect/>
          </a:stretch>
        </p:blipFill>
        <p:spPr>
          <a:xfrm>
            <a:off x="7341413" y="1883664"/>
            <a:ext cx="182880" cy="182880"/>
          </a:xfrm>
          <a:prstGeom prst="rect">
            <a:avLst/>
          </a:prstGeom>
        </p:spPr>
      </p:pic>
      <p:sp>
        <p:nvSpPr>
          <p:cNvPr id="15" name="Text 11"/>
          <p:cNvSpPr txBox="1"/>
          <p:nvPr/>
        </p:nvSpPr>
        <p:spPr>
          <a:xfrm>
            <a:off x="4557674" y="1773936"/>
            <a:ext cx="2619146" cy="310896"/>
          </a:xfrm>
          <a:prstGeom prst="rect">
            <a:avLst/>
          </a:prstGeom>
          <a:noFill/>
          <a:ln/>
        </p:spPr>
        <p:txBody>
          <a:bodyPr wrap="square" lIns="0" tIns="0" rIns="0" bIns="0" rtlCol="0" anchor="ctr"/>
          <a:lstStyle/>
          <a:p>
            <a:pPr rtl="1" algn="r" indent="0" marL="0">
              <a:buNone/>
            </a:pPr>
            <a:r>
              <a:rPr lang="en-US" sz="1500" b="1" dirty="0">
                <a:solidFill>
                  <a:srgbClr val="FFFFFF"/>
                </a:solidFill>
                <a:latin typeface="Arial" pitchFamily="34" charset="0"/>
                <a:ea typeface="Arial" pitchFamily="34" charset="-122"/>
                <a:cs typeface="Arial" pitchFamily="34" charset="-120"/>
              </a:rPr>
              <a:t>حلّ عملي</a:t>
            </a:r>
            <a:endParaRPr lang="en-US" sz="1500" dirty="0"/>
          </a:p>
        </p:txBody>
      </p:sp>
      <p:sp>
        <p:nvSpPr>
          <p:cNvPr id="16" name="Text 12"/>
          <p:cNvSpPr txBox="1"/>
          <p:nvPr/>
        </p:nvSpPr>
        <p:spPr>
          <a:xfrm>
            <a:off x="4557674" y="2176272"/>
            <a:ext cx="3076346" cy="621792"/>
          </a:xfrm>
          <a:prstGeom prst="rect">
            <a:avLst/>
          </a:prstGeom>
          <a:noFill/>
          <a:ln/>
        </p:spPr>
        <p:txBody>
          <a:bodyPr wrap="square" lIns="0" tIns="0" rIns="0" bIns="0" rtlCol="0" anchor="ctr"/>
          <a:lstStyle/>
          <a:p>
            <a:pPr rtl="1" algn="r" indent="0" marL="0">
              <a:lnSpc>
                <a:spcPts val="1600"/>
              </a:lnSpc>
              <a:buNone/>
            </a:pPr>
            <a:r>
              <a:rPr lang="en-US" sz="1150" dirty="0">
                <a:solidFill>
                  <a:srgbClr val="BFD4D7"/>
                </a:solidFill>
                <a:latin typeface="Arial" pitchFamily="34" charset="0"/>
                <a:ea typeface="Arial" pitchFamily="34" charset="-122"/>
                <a:cs typeface="Arial" pitchFamily="34" charset="-120"/>
              </a:rPr>
              <a:t>سجلّ مركزي واحد يرافق اللاجئ من التسجيل إلى كل خدمة</a:t>
            </a:r>
            <a:endParaRPr lang="en-US" sz="1150" dirty="0"/>
          </a:p>
        </p:txBody>
      </p:sp>
      <p:sp>
        <p:nvSpPr>
          <p:cNvPr id="17" name="Shape 13"/>
          <p:cNvSpPr/>
          <p:nvPr/>
        </p:nvSpPr>
        <p:spPr>
          <a:xfrm>
            <a:off x="548640" y="1572768"/>
            <a:ext cx="3515258" cy="1316736"/>
          </a:xfrm>
          <a:prstGeom prst="roundRect">
            <a:avLst>
              <a:gd name="adj" fmla="val 6944"/>
            </a:avLst>
          </a:prstGeom>
          <a:solidFill>
            <a:srgbClr val="113E48"/>
          </a:solidFill>
          <a:ln/>
        </p:spPr>
      </p:sp>
      <p:sp>
        <p:nvSpPr>
          <p:cNvPr id="18" name="Shape 14"/>
          <p:cNvSpPr/>
          <p:nvPr/>
        </p:nvSpPr>
        <p:spPr>
          <a:xfrm>
            <a:off x="3460394" y="1792224"/>
            <a:ext cx="365760" cy="365760"/>
          </a:xfrm>
          <a:prstGeom prst="ellipse">
            <a:avLst/>
          </a:prstGeom>
          <a:solidFill>
            <a:srgbClr val="E9A13B"/>
          </a:solidFill>
          <a:ln/>
        </p:spPr>
      </p:sp>
      <p:pic>
        <p:nvPicPr>
          <p:cNvPr id="19" name="Image 2" descr="preencoded.png">    </p:cNvPr>
          <p:cNvPicPr>
            <a:picLocks noChangeAspect="1"/>
          </p:cNvPicPr>
          <p:nvPr/>
        </p:nvPicPr>
        <p:blipFill>
          <a:blip r:embed="rId3"/>
          <a:stretch>
            <a:fillRect/>
          </a:stretch>
        </p:blipFill>
        <p:spPr>
          <a:xfrm>
            <a:off x="3551834" y="1883664"/>
            <a:ext cx="182880" cy="182880"/>
          </a:xfrm>
          <a:prstGeom prst="rect">
            <a:avLst/>
          </a:prstGeom>
        </p:spPr>
      </p:pic>
      <p:sp>
        <p:nvSpPr>
          <p:cNvPr id="20" name="Text 15"/>
          <p:cNvSpPr txBox="1"/>
          <p:nvPr/>
        </p:nvSpPr>
        <p:spPr>
          <a:xfrm>
            <a:off x="768096" y="1773936"/>
            <a:ext cx="2619146" cy="310896"/>
          </a:xfrm>
          <a:prstGeom prst="rect">
            <a:avLst/>
          </a:prstGeom>
          <a:noFill/>
          <a:ln/>
        </p:spPr>
        <p:txBody>
          <a:bodyPr wrap="square" lIns="0" tIns="0" rIns="0" bIns="0" rtlCol="0" anchor="ctr"/>
          <a:lstStyle/>
          <a:p>
            <a:pPr rtl="1" algn="r" indent="0" marL="0">
              <a:buNone/>
            </a:pPr>
            <a:r>
              <a:rPr lang="en-US" sz="1500" b="1" dirty="0">
                <a:solidFill>
                  <a:srgbClr val="FFFFFF"/>
                </a:solidFill>
                <a:latin typeface="Arial" pitchFamily="34" charset="0"/>
                <a:ea typeface="Arial" pitchFamily="34" charset="-122"/>
                <a:cs typeface="Arial" pitchFamily="34" charset="-120"/>
              </a:rPr>
              <a:t>أثر إنساني</a:t>
            </a:r>
            <a:endParaRPr lang="en-US" sz="1500" dirty="0"/>
          </a:p>
        </p:txBody>
      </p:sp>
      <p:sp>
        <p:nvSpPr>
          <p:cNvPr id="21" name="Text 16"/>
          <p:cNvSpPr txBox="1"/>
          <p:nvPr/>
        </p:nvSpPr>
        <p:spPr>
          <a:xfrm>
            <a:off x="768096" y="2176272"/>
            <a:ext cx="3076346" cy="621792"/>
          </a:xfrm>
          <a:prstGeom prst="rect">
            <a:avLst/>
          </a:prstGeom>
          <a:noFill/>
          <a:ln/>
        </p:spPr>
        <p:txBody>
          <a:bodyPr wrap="square" lIns="0" tIns="0" rIns="0" bIns="0" rtlCol="0" anchor="ctr"/>
          <a:lstStyle/>
          <a:p>
            <a:pPr rtl="1" algn="r" indent="0" marL="0">
              <a:lnSpc>
                <a:spcPts val="1600"/>
              </a:lnSpc>
              <a:buNone/>
            </a:pPr>
            <a:r>
              <a:rPr lang="en-US" sz="1150" dirty="0">
                <a:solidFill>
                  <a:srgbClr val="BFD4D7"/>
                </a:solidFill>
                <a:latin typeface="Arial" pitchFamily="34" charset="0"/>
                <a:ea typeface="Arial" pitchFamily="34" charset="-122"/>
                <a:cs typeface="Arial" pitchFamily="34" charset="-120"/>
              </a:rPr>
              <a:t>إنصاف في التوزيع، وسرعة في الاستجابة، وخصوصية محفوظة</a:t>
            </a:r>
            <a:endParaRPr lang="en-US" sz="1150" dirty="0"/>
          </a:p>
        </p:txBody>
      </p:sp>
      <p:sp>
        <p:nvSpPr>
          <p:cNvPr id="22" name="Shape 17"/>
          <p:cNvSpPr/>
          <p:nvPr/>
        </p:nvSpPr>
        <p:spPr>
          <a:xfrm>
            <a:off x="548640" y="3072384"/>
            <a:ext cx="11094415" cy="786384"/>
          </a:xfrm>
          <a:prstGeom prst="roundRect">
            <a:avLst>
              <a:gd name="adj" fmla="val 11628"/>
            </a:avLst>
          </a:prstGeom>
          <a:solidFill>
            <a:srgbClr val="113E48"/>
          </a:solidFill>
          <a:ln w="12700">
            <a:solidFill>
              <a:srgbClr val="02717D"/>
            </a:solidFill>
            <a:prstDash val="solid"/>
          </a:ln>
        </p:spPr>
      </p:sp>
      <p:sp>
        <p:nvSpPr>
          <p:cNvPr id="23" name="Text 18"/>
          <p:cNvSpPr txBox="1"/>
          <p:nvPr/>
        </p:nvSpPr>
        <p:spPr>
          <a:xfrm>
            <a:off x="914400" y="3072384"/>
            <a:ext cx="10362895" cy="786384"/>
          </a:xfrm>
          <a:prstGeom prst="rect">
            <a:avLst/>
          </a:prstGeom>
          <a:noFill/>
          <a:ln/>
        </p:spPr>
        <p:txBody>
          <a:bodyPr wrap="square" lIns="0" tIns="0" rIns="0" bIns="0" rtlCol="0" anchor="ctr"/>
          <a:lstStyle/>
          <a:p>
            <a:pPr rtl="1" algn="ctr" indent="0" marL="0">
              <a:buNone/>
            </a:pPr>
            <a:r>
              <a:rPr lang="en-US" sz="1400" b="1" dirty="0">
                <a:solidFill>
                  <a:srgbClr val="00A896"/>
                </a:solidFill>
                <a:latin typeface="Arial" pitchFamily="34" charset="0"/>
                <a:ea typeface="Arial" pitchFamily="34" charset="-122"/>
                <a:cs typeface="Arial" pitchFamily="34" charset="-120"/>
              </a:rPr>
              <a:t>النظام لا يصنع الحلّ وحده؛ لكنه يمنح من يديرون المخيم ما يحتاجونه ليتّخذوا قرارًا عادلًا في وقته</a:t>
            </a:r>
            <a:endParaRPr lang="en-US" sz="1400" dirty="0"/>
          </a:p>
        </p:txBody>
      </p:sp>
      <p:sp>
        <p:nvSpPr>
          <p:cNvPr id="24" name="Text 19"/>
          <p:cNvSpPr txBox="1"/>
          <p:nvPr/>
        </p:nvSpPr>
        <p:spPr>
          <a:xfrm>
            <a:off x="548640" y="4224528"/>
            <a:ext cx="11094415" cy="676656"/>
          </a:xfrm>
          <a:prstGeom prst="rect">
            <a:avLst/>
          </a:prstGeom>
          <a:noFill/>
          <a:ln/>
        </p:spPr>
        <p:txBody>
          <a:bodyPr wrap="square" lIns="0" tIns="0" rIns="0" bIns="0" rtlCol="0" anchor="ctr"/>
          <a:lstStyle/>
          <a:p>
            <a:pPr rtl="1" algn="ctr" indent="0" marL="0">
              <a:buNone/>
            </a:pPr>
            <a:r>
              <a:rPr lang="en-US" sz="3400" b="1" dirty="0">
                <a:solidFill>
                  <a:srgbClr val="FFFFFF"/>
                </a:solidFill>
                <a:latin typeface="Arial" pitchFamily="34" charset="0"/>
                <a:ea typeface="Arial" pitchFamily="34" charset="-122"/>
                <a:cs typeface="Arial" pitchFamily="34" charset="-120"/>
              </a:rPr>
              <a:t>شكرًا لحسن استماعكم</a:t>
            </a:r>
            <a:endParaRPr lang="en-US" sz="3400" dirty="0"/>
          </a:p>
        </p:txBody>
      </p:sp>
      <p:sp>
        <p:nvSpPr>
          <p:cNvPr id="25" name="Text 20"/>
          <p:cNvSpPr txBox="1"/>
          <p:nvPr/>
        </p:nvSpPr>
        <p:spPr>
          <a:xfrm>
            <a:off x="548640" y="4919472"/>
            <a:ext cx="11094415" cy="365760"/>
          </a:xfrm>
          <a:prstGeom prst="rect">
            <a:avLst/>
          </a:prstGeom>
          <a:noFill/>
          <a:ln/>
        </p:spPr>
        <p:txBody>
          <a:bodyPr wrap="square" lIns="0" tIns="0" rIns="0" bIns="0" rtlCol="0" anchor="ctr"/>
          <a:lstStyle/>
          <a:p>
            <a:pPr rtl="1" algn="ctr" indent="0" marL="0">
              <a:buNone/>
            </a:pPr>
            <a:r>
              <a:rPr lang="en-US" sz="1400" dirty="0">
                <a:solidFill>
                  <a:srgbClr val="00A896"/>
                </a:solidFill>
                <a:latin typeface="Arial" pitchFamily="34" charset="0"/>
                <a:ea typeface="Arial" pitchFamily="34" charset="-122"/>
                <a:cs typeface="Arial" pitchFamily="34" charset="-120"/>
              </a:rPr>
              <a:t>ويسعدنا أن نستمع إلى أسئلتكم وملاحظاتكم</a:t>
            </a:r>
            <a:endParaRPr lang="en-US" sz="1400" dirty="0"/>
          </a:p>
        </p:txBody>
      </p:sp>
      <p:sp>
        <p:nvSpPr>
          <p:cNvPr id="26" name="Shape 21"/>
          <p:cNvSpPr/>
          <p:nvPr/>
        </p:nvSpPr>
        <p:spPr>
          <a:xfrm>
            <a:off x="548640" y="5394960"/>
            <a:ext cx="11094415" cy="822960"/>
          </a:xfrm>
          <a:prstGeom prst="roundRect">
            <a:avLst>
              <a:gd name="adj" fmla="val 11111"/>
            </a:avLst>
          </a:prstGeom>
          <a:solidFill>
            <a:srgbClr val="113E48"/>
          </a:solidFill>
          <a:ln/>
        </p:spPr>
      </p:sp>
      <p:sp>
        <p:nvSpPr>
          <p:cNvPr id="27" name="Text 22"/>
          <p:cNvSpPr txBox="1"/>
          <p:nvPr/>
        </p:nvSpPr>
        <p:spPr>
          <a:xfrm>
            <a:off x="914400" y="5486400"/>
            <a:ext cx="10362895" cy="310896"/>
          </a:xfrm>
          <a:prstGeom prst="rect">
            <a:avLst/>
          </a:prstGeom>
          <a:noFill/>
          <a:ln/>
        </p:spPr>
        <p:txBody>
          <a:bodyPr wrap="square" lIns="0" tIns="0" rIns="0" bIns="0" rtlCol="0" anchor="ctr"/>
          <a:lstStyle/>
          <a:p>
            <a:pPr rtl="1" algn="ctr" indent="0" marL="0">
              <a:buNone/>
            </a:pPr>
            <a:r>
              <a:rPr lang="en-US" sz="1350" b="1" dirty="0">
                <a:solidFill>
                  <a:srgbClr val="FFFFFF"/>
                </a:solidFill>
                <a:latin typeface="Arial" pitchFamily="34" charset="0"/>
                <a:ea typeface="Arial" pitchFamily="34" charset="-122"/>
                <a:cs typeface="Arial" pitchFamily="34" charset="-120"/>
              </a:rPr>
              <a:t>عبد الله أحمد البكور  ·  أحمد خالد الفاضل  ·  محمد أحمد خطيب</a:t>
            </a:r>
            <a:endParaRPr lang="en-US" sz="1350" dirty="0"/>
          </a:p>
        </p:txBody>
      </p:sp>
      <p:sp>
        <p:nvSpPr>
          <p:cNvPr id="28" name="Text 23"/>
          <p:cNvSpPr txBox="1"/>
          <p:nvPr/>
        </p:nvSpPr>
        <p:spPr>
          <a:xfrm>
            <a:off x="914400" y="5815584"/>
            <a:ext cx="10362895" cy="292608"/>
          </a:xfrm>
          <a:prstGeom prst="rect">
            <a:avLst/>
          </a:prstGeom>
          <a:noFill/>
          <a:ln/>
        </p:spPr>
        <p:txBody>
          <a:bodyPr wrap="square" lIns="0" tIns="0" rIns="0" bIns="0" rtlCol="0" anchor="ctr"/>
          <a:lstStyle/>
          <a:p>
            <a:pPr rtl="1" algn="ctr" indent="0" marL="0">
              <a:buNone/>
            </a:pPr>
            <a:r>
              <a:rPr lang="en-US" sz="1200" dirty="0">
                <a:solidFill>
                  <a:srgbClr val="BFD4D7"/>
                </a:solidFill>
                <a:latin typeface="Arial" pitchFamily="34" charset="0"/>
                <a:ea typeface="Arial" pitchFamily="34" charset="-122"/>
                <a:cs typeface="Arial" pitchFamily="34" charset="-120"/>
              </a:rPr>
              <a:t>إشراف: المهندسة لبنى الأنيس  —  جامعة الشمال الخاصة</a:t>
            </a:r>
            <a:endParaRPr lang="en-US" sz="1200" dirty="0"/>
          </a:p>
        </p:txBody>
      </p:sp>
      <p:sp>
        <p:nvSpPr>
          <p:cNvPr id="29" name="Shape 24"/>
          <p:cNvSpPr/>
          <p:nvPr/>
        </p:nvSpPr>
        <p:spPr>
          <a:xfrm>
            <a:off x="548640" y="6364224"/>
            <a:ext cx="11094415" cy="16459"/>
          </a:xfrm>
          <a:prstGeom prst="rect">
            <a:avLst/>
          </a:prstGeom>
          <a:solidFill>
            <a:srgbClr val="17505C"/>
          </a:solidFill>
          <a:ln/>
        </p:spPr>
      </p:sp>
      <p:sp>
        <p:nvSpPr>
          <p:cNvPr id="30" name="Text 25"/>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31" name="Text 26"/>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BFD4D7"/>
                </a:solidFill>
                <a:latin typeface="Arial" pitchFamily="34" charset="0"/>
                <a:ea typeface="Arial" pitchFamily="34" charset="-122"/>
                <a:cs typeface="Arial" pitchFamily="34" charset="-120"/>
              </a:rPr>
              <a:t>١٠ / ١٠</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8"/>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02717D"/>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02717D"/>
                </a:solidFill>
                <a:latin typeface="Arial" pitchFamily="34" charset="0"/>
                <a:ea typeface="Arial" pitchFamily="34" charset="-122"/>
                <a:cs typeface="Arial" pitchFamily="34" charset="-120"/>
              </a:rPr>
              <a:t>شريحة احتياطية · تُعرض عند السؤال</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التقنيات وبيئة التنفيذ</a:t>
            </a:r>
            <a:endParaRPr lang="en-US" sz="3400" dirty="0"/>
          </a:p>
        </p:txBody>
      </p:sp>
      <p:sp>
        <p:nvSpPr>
          <p:cNvPr id="5" name="Shape 3"/>
          <p:cNvSpPr/>
          <p:nvPr/>
        </p:nvSpPr>
        <p:spPr>
          <a:xfrm>
            <a:off x="548640" y="1408176"/>
            <a:ext cx="11094415" cy="16459"/>
          </a:xfrm>
          <a:prstGeom prst="rect">
            <a:avLst/>
          </a:prstGeom>
          <a:solidFill>
            <a:srgbClr val="DCE6E7"/>
          </a:solidFill>
          <a:ln/>
        </p:spPr>
      </p:sp>
      <p:sp>
        <p:nvSpPr>
          <p:cNvPr id="6" name="Shape 4"/>
          <p:cNvSpPr/>
          <p:nvPr/>
        </p:nvSpPr>
        <p:spPr>
          <a:xfrm>
            <a:off x="6278728" y="1609344"/>
            <a:ext cx="5364328" cy="566928"/>
          </a:xfrm>
          <a:prstGeom prst="roundRect">
            <a:avLst>
              <a:gd name="adj" fmla="val 14516"/>
            </a:avLst>
          </a:prstGeom>
          <a:solidFill>
            <a:srgbClr val="FFFFFF"/>
          </a:solidFill>
          <a:ln/>
          <a:effectLst>
            <a:outerShdw sx="100000" sy="100000" kx="0" ky="0" algn="bl" rotWithShape="0" blurRad="127000" dist="25400" dir="5400000">
              <a:srgbClr val="0A2E36">
                <a:alpha val="10000"/>
              </a:srgbClr>
            </a:outerShdw>
          </a:effectLst>
        </p:spPr>
      </p:sp>
      <p:sp>
        <p:nvSpPr>
          <p:cNvPr id="7" name="Text 5"/>
          <p:cNvSpPr txBox="1"/>
          <p:nvPr/>
        </p:nvSpPr>
        <p:spPr>
          <a:xfrm>
            <a:off x="6498184" y="1609344"/>
            <a:ext cx="1737360" cy="566928"/>
          </a:xfrm>
          <a:prstGeom prst="rect">
            <a:avLst/>
          </a:prstGeom>
          <a:noFill/>
          <a:ln/>
        </p:spPr>
        <p:txBody>
          <a:bodyPr wrap="square" lIns="0" tIns="0" rIns="0" bIns="0" rtlCol="0" anchor="ctr"/>
          <a:lstStyle/>
          <a:p>
            <a:pPr rtl="1" algn="r" indent="0" marL="0">
              <a:buNone/>
            </a:pPr>
            <a:r>
              <a:rPr lang="en-US" sz="1200" b="1" dirty="0">
                <a:solidFill>
                  <a:srgbClr val="02717D"/>
                </a:solidFill>
                <a:latin typeface="Arial" pitchFamily="34" charset="0"/>
                <a:ea typeface="Arial" pitchFamily="34" charset="-122"/>
                <a:cs typeface="Arial" pitchFamily="34" charset="-120"/>
              </a:rPr>
              <a:t>إطار العمل</a:t>
            </a:r>
            <a:endParaRPr lang="en-US" sz="1200" dirty="0"/>
          </a:p>
        </p:txBody>
      </p:sp>
      <p:sp>
        <p:nvSpPr>
          <p:cNvPr id="8" name="Text 6"/>
          <p:cNvSpPr txBox="1"/>
          <p:nvPr/>
        </p:nvSpPr>
        <p:spPr>
          <a:xfrm>
            <a:off x="8290408" y="1609344"/>
            <a:ext cx="3133192" cy="566928"/>
          </a:xfrm>
          <a:prstGeom prst="rect">
            <a:avLst/>
          </a:prstGeom>
          <a:noFill/>
          <a:ln/>
        </p:spPr>
        <p:txBody>
          <a:bodyPr wrap="square" lIns="0" tIns="0" rIns="0" bIns="0" rtlCol="0" anchor="ctr"/>
          <a:lstStyle/>
          <a:p>
            <a:pPr rtl="1" algn="r" indent="0" marL="0">
              <a:buNone/>
            </a:pPr>
            <a:r>
              <a:rPr lang="en-US" sz="1100" dirty="0">
                <a:solidFill>
                  <a:srgbClr val="5C7378"/>
                </a:solidFill>
                <a:latin typeface="Arial" pitchFamily="34" charset="0"/>
                <a:ea typeface="Arial" pitchFamily="34" charset="-122"/>
                <a:cs typeface="Arial" pitchFamily="34" charset="-120"/>
              </a:rPr>
              <a:t>⁦Laravel⁩ — إطار ويب مفتوح المصدر بلغة ⁦PHP⁩</a:t>
            </a:r>
            <a:endParaRPr lang="en-US" sz="1100" dirty="0"/>
          </a:p>
        </p:txBody>
      </p:sp>
      <p:sp>
        <p:nvSpPr>
          <p:cNvPr id="9" name="Shape 7"/>
          <p:cNvSpPr/>
          <p:nvPr/>
        </p:nvSpPr>
        <p:spPr>
          <a:xfrm>
            <a:off x="6278728" y="2267712"/>
            <a:ext cx="5364328" cy="566928"/>
          </a:xfrm>
          <a:prstGeom prst="roundRect">
            <a:avLst>
              <a:gd name="adj" fmla="val 14516"/>
            </a:avLst>
          </a:prstGeom>
          <a:solidFill>
            <a:srgbClr val="FFFFFF"/>
          </a:solidFill>
          <a:ln/>
          <a:effectLst>
            <a:outerShdw sx="100000" sy="100000" kx="0" ky="0" algn="bl" rotWithShape="0" blurRad="127000" dist="25400" dir="5400000">
              <a:srgbClr val="0A2E36">
                <a:alpha val="10000"/>
              </a:srgbClr>
            </a:outerShdw>
          </a:effectLst>
        </p:spPr>
      </p:sp>
      <p:sp>
        <p:nvSpPr>
          <p:cNvPr id="10" name="Text 8"/>
          <p:cNvSpPr txBox="1"/>
          <p:nvPr/>
        </p:nvSpPr>
        <p:spPr>
          <a:xfrm>
            <a:off x="6498184" y="2267712"/>
            <a:ext cx="1737360" cy="566928"/>
          </a:xfrm>
          <a:prstGeom prst="rect">
            <a:avLst/>
          </a:prstGeom>
          <a:noFill/>
          <a:ln/>
        </p:spPr>
        <p:txBody>
          <a:bodyPr wrap="square" lIns="0" tIns="0" rIns="0" bIns="0" rtlCol="0" anchor="ctr"/>
          <a:lstStyle/>
          <a:p>
            <a:pPr rtl="1" algn="r" indent="0" marL="0">
              <a:buNone/>
            </a:pPr>
            <a:r>
              <a:rPr lang="en-US" sz="1200" b="1" dirty="0">
                <a:solidFill>
                  <a:srgbClr val="02717D"/>
                </a:solidFill>
                <a:latin typeface="Arial" pitchFamily="34" charset="0"/>
                <a:ea typeface="Arial" pitchFamily="34" charset="-122"/>
                <a:cs typeface="Arial" pitchFamily="34" charset="-120"/>
              </a:rPr>
              <a:t>قاعدة البيانات</a:t>
            </a:r>
            <a:endParaRPr lang="en-US" sz="1200" dirty="0"/>
          </a:p>
        </p:txBody>
      </p:sp>
      <p:sp>
        <p:nvSpPr>
          <p:cNvPr id="11" name="Text 9"/>
          <p:cNvSpPr txBox="1"/>
          <p:nvPr/>
        </p:nvSpPr>
        <p:spPr>
          <a:xfrm>
            <a:off x="8290408" y="2267712"/>
            <a:ext cx="3133192" cy="566928"/>
          </a:xfrm>
          <a:prstGeom prst="rect">
            <a:avLst/>
          </a:prstGeom>
          <a:noFill/>
          <a:ln/>
        </p:spPr>
        <p:txBody>
          <a:bodyPr wrap="square" lIns="0" tIns="0" rIns="0" bIns="0" rtlCol="0" anchor="ctr"/>
          <a:lstStyle/>
          <a:p>
            <a:pPr rtl="1" algn="r" indent="0" marL="0">
              <a:buNone/>
            </a:pPr>
            <a:r>
              <a:rPr lang="en-US" sz="1100" dirty="0">
                <a:solidFill>
                  <a:srgbClr val="5C7378"/>
                </a:solidFill>
                <a:latin typeface="Arial" pitchFamily="34" charset="0"/>
                <a:ea typeface="Arial" pitchFamily="34" charset="-122"/>
                <a:cs typeface="Arial" pitchFamily="34" charset="-120"/>
              </a:rPr>
              <a:t>⁦MySQL⁩ — قاعدة علائقية تحفظ ترابط السجلّات</a:t>
            </a:r>
            <a:endParaRPr lang="en-US" sz="1100" dirty="0"/>
          </a:p>
        </p:txBody>
      </p:sp>
      <p:sp>
        <p:nvSpPr>
          <p:cNvPr id="12" name="Shape 10"/>
          <p:cNvSpPr/>
          <p:nvPr/>
        </p:nvSpPr>
        <p:spPr>
          <a:xfrm>
            <a:off x="6278728" y="2926080"/>
            <a:ext cx="5364328" cy="566928"/>
          </a:xfrm>
          <a:prstGeom prst="roundRect">
            <a:avLst>
              <a:gd name="adj" fmla="val 14516"/>
            </a:avLst>
          </a:prstGeom>
          <a:solidFill>
            <a:srgbClr val="FFFFFF"/>
          </a:solidFill>
          <a:ln/>
          <a:effectLst>
            <a:outerShdw sx="100000" sy="100000" kx="0" ky="0" algn="bl" rotWithShape="0" blurRad="127000" dist="25400" dir="5400000">
              <a:srgbClr val="0A2E36">
                <a:alpha val="10000"/>
              </a:srgbClr>
            </a:outerShdw>
          </a:effectLst>
        </p:spPr>
      </p:sp>
      <p:sp>
        <p:nvSpPr>
          <p:cNvPr id="13" name="Text 11"/>
          <p:cNvSpPr txBox="1"/>
          <p:nvPr/>
        </p:nvSpPr>
        <p:spPr>
          <a:xfrm>
            <a:off x="6498184" y="2926080"/>
            <a:ext cx="1737360" cy="566928"/>
          </a:xfrm>
          <a:prstGeom prst="rect">
            <a:avLst/>
          </a:prstGeom>
          <a:noFill/>
          <a:ln/>
        </p:spPr>
        <p:txBody>
          <a:bodyPr wrap="square" lIns="0" tIns="0" rIns="0" bIns="0" rtlCol="0" anchor="ctr"/>
          <a:lstStyle/>
          <a:p>
            <a:pPr rtl="1" algn="r" indent="0" marL="0">
              <a:buNone/>
            </a:pPr>
            <a:r>
              <a:rPr lang="en-US" sz="1200" b="1" dirty="0">
                <a:solidFill>
                  <a:srgbClr val="02717D"/>
                </a:solidFill>
                <a:latin typeface="Arial" pitchFamily="34" charset="0"/>
                <a:ea typeface="Arial" pitchFamily="34" charset="-122"/>
                <a:cs typeface="Arial" pitchFamily="34" charset="-120"/>
              </a:rPr>
              <a:t>الواجهة</a:t>
            </a:r>
            <a:endParaRPr lang="en-US" sz="1200" dirty="0"/>
          </a:p>
        </p:txBody>
      </p:sp>
      <p:sp>
        <p:nvSpPr>
          <p:cNvPr id="14" name="Text 12"/>
          <p:cNvSpPr txBox="1"/>
          <p:nvPr/>
        </p:nvSpPr>
        <p:spPr>
          <a:xfrm>
            <a:off x="8290408" y="2926080"/>
            <a:ext cx="3133192" cy="566928"/>
          </a:xfrm>
          <a:prstGeom prst="rect">
            <a:avLst/>
          </a:prstGeom>
          <a:noFill/>
          <a:ln/>
        </p:spPr>
        <p:txBody>
          <a:bodyPr wrap="square" lIns="0" tIns="0" rIns="0" bIns="0" rtlCol="0" anchor="ctr"/>
          <a:lstStyle/>
          <a:p>
            <a:pPr rtl="1" algn="r" indent="0" marL="0">
              <a:buNone/>
            </a:pPr>
            <a:r>
              <a:rPr lang="en-US" sz="1100" dirty="0">
                <a:solidFill>
                  <a:srgbClr val="5C7378"/>
                </a:solidFill>
                <a:latin typeface="Arial" pitchFamily="34" charset="0"/>
                <a:ea typeface="Arial" pitchFamily="34" charset="-122"/>
                <a:cs typeface="Arial" pitchFamily="34" charset="-120"/>
              </a:rPr>
              <a:t>صفحات ويب عربية بالكامل، باتجاه من اليمين إلى اليسار</a:t>
            </a:r>
            <a:endParaRPr lang="en-US" sz="1100" dirty="0"/>
          </a:p>
        </p:txBody>
      </p:sp>
      <p:sp>
        <p:nvSpPr>
          <p:cNvPr id="15" name="Shape 13"/>
          <p:cNvSpPr/>
          <p:nvPr/>
        </p:nvSpPr>
        <p:spPr>
          <a:xfrm>
            <a:off x="6278728" y="3584448"/>
            <a:ext cx="5364328" cy="566928"/>
          </a:xfrm>
          <a:prstGeom prst="roundRect">
            <a:avLst>
              <a:gd name="adj" fmla="val 14516"/>
            </a:avLst>
          </a:prstGeom>
          <a:solidFill>
            <a:srgbClr val="FFFFFF"/>
          </a:solidFill>
          <a:ln/>
          <a:effectLst>
            <a:outerShdw sx="100000" sy="100000" kx="0" ky="0" algn="bl" rotWithShape="0" blurRad="127000" dist="25400" dir="5400000">
              <a:srgbClr val="0A2E36">
                <a:alpha val="10000"/>
              </a:srgbClr>
            </a:outerShdw>
          </a:effectLst>
        </p:spPr>
      </p:sp>
      <p:sp>
        <p:nvSpPr>
          <p:cNvPr id="16" name="Text 14"/>
          <p:cNvSpPr txBox="1"/>
          <p:nvPr/>
        </p:nvSpPr>
        <p:spPr>
          <a:xfrm>
            <a:off x="6498184" y="3584448"/>
            <a:ext cx="1737360" cy="566928"/>
          </a:xfrm>
          <a:prstGeom prst="rect">
            <a:avLst/>
          </a:prstGeom>
          <a:noFill/>
          <a:ln/>
        </p:spPr>
        <p:txBody>
          <a:bodyPr wrap="square" lIns="0" tIns="0" rIns="0" bIns="0" rtlCol="0" anchor="ctr"/>
          <a:lstStyle/>
          <a:p>
            <a:pPr rtl="1" algn="r" indent="0" marL="0">
              <a:buNone/>
            </a:pPr>
            <a:r>
              <a:rPr lang="en-US" sz="1200" b="1" dirty="0">
                <a:solidFill>
                  <a:srgbClr val="02717D"/>
                </a:solidFill>
                <a:latin typeface="Arial" pitchFamily="34" charset="0"/>
                <a:ea typeface="Arial" pitchFamily="34" charset="-122"/>
                <a:cs typeface="Arial" pitchFamily="34" charset="-120"/>
              </a:rPr>
              <a:t>إدارة الأكواد</a:t>
            </a:r>
            <a:endParaRPr lang="en-US" sz="1200" dirty="0"/>
          </a:p>
        </p:txBody>
      </p:sp>
      <p:sp>
        <p:nvSpPr>
          <p:cNvPr id="17" name="Text 15"/>
          <p:cNvSpPr txBox="1"/>
          <p:nvPr/>
        </p:nvSpPr>
        <p:spPr>
          <a:xfrm>
            <a:off x="8290408" y="3584448"/>
            <a:ext cx="3133192" cy="566928"/>
          </a:xfrm>
          <a:prstGeom prst="rect">
            <a:avLst/>
          </a:prstGeom>
          <a:noFill/>
          <a:ln/>
        </p:spPr>
        <p:txBody>
          <a:bodyPr wrap="square" lIns="0" tIns="0" rIns="0" bIns="0" rtlCol="0" anchor="ctr"/>
          <a:lstStyle/>
          <a:p>
            <a:pPr rtl="1" algn="r" indent="0" marL="0">
              <a:buNone/>
            </a:pPr>
            <a:r>
              <a:rPr lang="en-US" sz="1100" dirty="0">
                <a:solidFill>
                  <a:srgbClr val="5C7378"/>
                </a:solidFill>
                <a:latin typeface="Arial" pitchFamily="34" charset="0"/>
                <a:ea typeface="Arial" pitchFamily="34" charset="-122"/>
                <a:cs typeface="Arial" pitchFamily="34" charset="-120"/>
              </a:rPr>
              <a:t>⁦Git⁩ و ⁦GitHub⁩، مع فحص آلي عند كل تعديل</a:t>
            </a:r>
            <a:endParaRPr lang="en-US" sz="1100" dirty="0"/>
          </a:p>
        </p:txBody>
      </p:sp>
      <p:sp>
        <p:nvSpPr>
          <p:cNvPr id="18" name="Shape 16"/>
          <p:cNvSpPr/>
          <p:nvPr/>
        </p:nvSpPr>
        <p:spPr>
          <a:xfrm>
            <a:off x="6278728" y="4242816"/>
            <a:ext cx="5364328" cy="566928"/>
          </a:xfrm>
          <a:prstGeom prst="roundRect">
            <a:avLst>
              <a:gd name="adj" fmla="val 14516"/>
            </a:avLst>
          </a:prstGeom>
          <a:solidFill>
            <a:srgbClr val="FFFFFF"/>
          </a:solidFill>
          <a:ln/>
          <a:effectLst>
            <a:outerShdw sx="100000" sy="100000" kx="0" ky="0" algn="bl" rotWithShape="0" blurRad="127000" dist="25400" dir="5400000">
              <a:srgbClr val="0A2E36">
                <a:alpha val="10000"/>
              </a:srgbClr>
            </a:outerShdw>
          </a:effectLst>
        </p:spPr>
      </p:sp>
      <p:sp>
        <p:nvSpPr>
          <p:cNvPr id="19" name="Text 17"/>
          <p:cNvSpPr txBox="1"/>
          <p:nvPr/>
        </p:nvSpPr>
        <p:spPr>
          <a:xfrm>
            <a:off x="6498184" y="4242816"/>
            <a:ext cx="1737360" cy="566928"/>
          </a:xfrm>
          <a:prstGeom prst="rect">
            <a:avLst/>
          </a:prstGeom>
          <a:noFill/>
          <a:ln/>
        </p:spPr>
        <p:txBody>
          <a:bodyPr wrap="square" lIns="0" tIns="0" rIns="0" bIns="0" rtlCol="0" anchor="ctr"/>
          <a:lstStyle/>
          <a:p>
            <a:pPr rtl="1" algn="r" indent="0" marL="0">
              <a:buNone/>
            </a:pPr>
            <a:r>
              <a:rPr lang="en-US" sz="1200" b="1" dirty="0">
                <a:solidFill>
                  <a:srgbClr val="02717D"/>
                </a:solidFill>
                <a:latin typeface="Arial" pitchFamily="34" charset="0"/>
                <a:ea typeface="Arial" pitchFamily="34" charset="-122"/>
                <a:cs typeface="Arial" pitchFamily="34" charset="-120"/>
              </a:rPr>
              <a:t>بيئة التطوير</a:t>
            </a:r>
            <a:endParaRPr lang="en-US" sz="1200" dirty="0"/>
          </a:p>
        </p:txBody>
      </p:sp>
      <p:sp>
        <p:nvSpPr>
          <p:cNvPr id="20" name="Text 18"/>
          <p:cNvSpPr txBox="1"/>
          <p:nvPr/>
        </p:nvSpPr>
        <p:spPr>
          <a:xfrm>
            <a:off x="8290408" y="4242816"/>
            <a:ext cx="3133192" cy="566928"/>
          </a:xfrm>
          <a:prstGeom prst="rect">
            <a:avLst/>
          </a:prstGeom>
          <a:noFill/>
          <a:ln/>
        </p:spPr>
        <p:txBody>
          <a:bodyPr wrap="square" lIns="0" tIns="0" rIns="0" bIns="0" rtlCol="0" anchor="ctr"/>
          <a:lstStyle/>
          <a:p>
            <a:pPr rtl="1" algn="r" indent="0" marL="0">
              <a:buNone/>
            </a:pPr>
            <a:r>
              <a:rPr lang="en-US" sz="1100" dirty="0">
                <a:solidFill>
                  <a:srgbClr val="5C7378"/>
                </a:solidFill>
                <a:latin typeface="Arial" pitchFamily="34" charset="0"/>
                <a:ea typeface="Arial" pitchFamily="34" charset="-122"/>
                <a:cs typeface="Arial" pitchFamily="34" charset="-120"/>
              </a:rPr>
              <a:t>⁦XAMPP⁩ محليًا، ونشر على خادم عادي دون متطلّبات خاصة</a:t>
            </a:r>
            <a:endParaRPr lang="en-US" sz="1100" dirty="0"/>
          </a:p>
        </p:txBody>
      </p:sp>
      <p:sp>
        <p:nvSpPr>
          <p:cNvPr id="21" name="Text 19"/>
          <p:cNvSpPr txBox="1"/>
          <p:nvPr/>
        </p:nvSpPr>
        <p:spPr>
          <a:xfrm>
            <a:off x="548640" y="1609344"/>
            <a:ext cx="5364328" cy="292608"/>
          </a:xfrm>
          <a:prstGeom prst="rect">
            <a:avLst/>
          </a:prstGeom>
          <a:noFill/>
          <a:ln/>
        </p:spPr>
        <p:txBody>
          <a:bodyPr wrap="square" lIns="0" tIns="0" rIns="0" bIns="0" rtlCol="0" anchor="ctr"/>
          <a:lstStyle/>
          <a:p>
            <a:pPr rtl="1" algn="r" indent="0" marL="0">
              <a:buNone/>
            </a:pPr>
            <a:r>
              <a:rPr lang="en-US" sz="1300" b="1" dirty="0">
                <a:solidFill>
                  <a:srgbClr val="02717D"/>
                </a:solidFill>
                <a:latin typeface="Arial" pitchFamily="34" charset="0"/>
                <a:ea typeface="Arial" pitchFamily="34" charset="-122"/>
                <a:cs typeface="Arial" pitchFamily="34" charset="-120"/>
              </a:rPr>
              <a:t>وما يدعم الموثوقية</a:t>
            </a:r>
            <a:endParaRPr lang="en-US" sz="1300" dirty="0"/>
          </a:p>
        </p:txBody>
      </p:sp>
      <p:sp>
        <p:nvSpPr>
          <p:cNvPr id="22" name="Shape 20"/>
          <p:cNvSpPr/>
          <p:nvPr/>
        </p:nvSpPr>
        <p:spPr>
          <a:xfrm>
            <a:off x="548640" y="2029968"/>
            <a:ext cx="5364328" cy="786384"/>
          </a:xfrm>
          <a:prstGeom prst="roundRect">
            <a:avLst>
              <a:gd name="adj" fmla="val 10465"/>
            </a:avLst>
          </a:prstGeom>
          <a:solidFill>
            <a:srgbClr val="FFFFFF"/>
          </a:solidFill>
          <a:ln/>
          <a:effectLst>
            <a:outerShdw sx="100000" sy="100000" kx="0" ky="0" algn="bl" rotWithShape="0" blurRad="127000" dist="25400" dir="5400000">
              <a:srgbClr val="0A2E36">
                <a:alpha val="10000"/>
              </a:srgbClr>
            </a:outerShdw>
          </a:effectLst>
        </p:spPr>
      </p:sp>
      <p:sp>
        <p:nvSpPr>
          <p:cNvPr id="23" name="Shape 21"/>
          <p:cNvSpPr/>
          <p:nvPr/>
        </p:nvSpPr>
        <p:spPr>
          <a:xfrm>
            <a:off x="4724248" y="2176272"/>
            <a:ext cx="969264" cy="493776"/>
          </a:xfrm>
          <a:prstGeom prst="roundRect">
            <a:avLst>
              <a:gd name="adj" fmla="val 14815"/>
            </a:avLst>
          </a:prstGeom>
          <a:solidFill>
            <a:srgbClr val="02717D"/>
          </a:solidFill>
          <a:ln/>
        </p:spPr>
      </p:sp>
      <p:sp>
        <p:nvSpPr>
          <p:cNvPr id="24" name="Text 22"/>
          <p:cNvSpPr txBox="1"/>
          <p:nvPr/>
        </p:nvSpPr>
        <p:spPr>
          <a:xfrm>
            <a:off x="4724248" y="2176272"/>
            <a:ext cx="969264" cy="493776"/>
          </a:xfrm>
          <a:prstGeom prst="rect">
            <a:avLst/>
          </a:prstGeom>
          <a:noFill/>
          <a:ln/>
        </p:spPr>
        <p:txBody>
          <a:bodyPr wrap="square" lIns="0" tIns="0" rIns="0" bIns="0" rtlCol="0" anchor="ctr"/>
          <a:lstStyle/>
          <a:p>
            <a:pPr rtl="1" algn="ctr" indent="0" marL="0">
              <a:buNone/>
            </a:pPr>
            <a:r>
              <a:rPr lang="en-US" sz="1700" b="1" dirty="0">
                <a:solidFill>
                  <a:srgbClr val="FFFFFF"/>
                </a:solidFill>
                <a:latin typeface="Arial" pitchFamily="34" charset="0"/>
                <a:ea typeface="Arial" pitchFamily="34" charset="-122"/>
                <a:cs typeface="Arial" pitchFamily="34" charset="-120"/>
              </a:rPr>
              <a:t>٧</a:t>
            </a:r>
            <a:endParaRPr lang="en-US" sz="1700" dirty="0"/>
          </a:p>
        </p:txBody>
      </p:sp>
      <p:sp>
        <p:nvSpPr>
          <p:cNvPr id="25" name="Text 23"/>
          <p:cNvSpPr txBox="1"/>
          <p:nvPr/>
        </p:nvSpPr>
        <p:spPr>
          <a:xfrm>
            <a:off x="768096" y="2029968"/>
            <a:ext cx="3791560" cy="786384"/>
          </a:xfrm>
          <a:prstGeom prst="rect">
            <a:avLst/>
          </a:prstGeom>
          <a:noFill/>
          <a:ln/>
        </p:spPr>
        <p:txBody>
          <a:bodyPr wrap="square" lIns="0" tIns="0" rIns="0" bIns="0" rtlCol="0" anchor="ctr"/>
          <a:lstStyle/>
          <a:p>
            <a:pPr rtl="1" algn="r" indent="0" marL="0">
              <a:buNone/>
            </a:pPr>
            <a:r>
              <a:rPr lang="en-US" sz="1200" dirty="0">
                <a:solidFill>
                  <a:srgbClr val="16292E"/>
                </a:solidFill>
                <a:latin typeface="Arial" pitchFamily="34" charset="0"/>
                <a:ea typeface="Arial" pitchFamily="34" charset="-122"/>
                <a:cs typeface="Arial" pitchFamily="34" charset="-120"/>
              </a:rPr>
              <a:t>أدوار بصلاحيات منفصلة</a:t>
            </a:r>
            <a:endParaRPr lang="en-US" sz="1200" dirty="0"/>
          </a:p>
        </p:txBody>
      </p:sp>
      <p:sp>
        <p:nvSpPr>
          <p:cNvPr id="26" name="Shape 24"/>
          <p:cNvSpPr/>
          <p:nvPr/>
        </p:nvSpPr>
        <p:spPr>
          <a:xfrm>
            <a:off x="548640" y="2944368"/>
            <a:ext cx="5364328" cy="786384"/>
          </a:xfrm>
          <a:prstGeom prst="roundRect">
            <a:avLst>
              <a:gd name="adj" fmla="val 10465"/>
            </a:avLst>
          </a:prstGeom>
          <a:solidFill>
            <a:srgbClr val="FFFFFF"/>
          </a:solidFill>
          <a:ln/>
          <a:effectLst>
            <a:outerShdw sx="100000" sy="100000" kx="0" ky="0" algn="bl" rotWithShape="0" blurRad="127000" dist="25400" dir="5400000">
              <a:srgbClr val="0A2E36">
                <a:alpha val="10000"/>
              </a:srgbClr>
            </a:outerShdw>
          </a:effectLst>
        </p:spPr>
      </p:sp>
      <p:sp>
        <p:nvSpPr>
          <p:cNvPr id="27" name="Shape 25"/>
          <p:cNvSpPr/>
          <p:nvPr/>
        </p:nvSpPr>
        <p:spPr>
          <a:xfrm>
            <a:off x="4724248" y="3090672"/>
            <a:ext cx="969264" cy="493776"/>
          </a:xfrm>
          <a:prstGeom prst="roundRect">
            <a:avLst>
              <a:gd name="adj" fmla="val 14815"/>
            </a:avLst>
          </a:prstGeom>
          <a:solidFill>
            <a:srgbClr val="02717D"/>
          </a:solidFill>
          <a:ln/>
        </p:spPr>
      </p:sp>
      <p:sp>
        <p:nvSpPr>
          <p:cNvPr id="28" name="Text 26"/>
          <p:cNvSpPr txBox="1"/>
          <p:nvPr/>
        </p:nvSpPr>
        <p:spPr>
          <a:xfrm>
            <a:off x="4724248" y="3090672"/>
            <a:ext cx="969264" cy="493776"/>
          </a:xfrm>
          <a:prstGeom prst="rect">
            <a:avLst/>
          </a:prstGeom>
          <a:noFill/>
          <a:ln/>
        </p:spPr>
        <p:txBody>
          <a:bodyPr wrap="square" lIns="0" tIns="0" rIns="0" bIns="0" rtlCol="0" anchor="ctr"/>
          <a:lstStyle/>
          <a:p>
            <a:pPr rtl="1" algn="ctr" indent="0" marL="0">
              <a:buNone/>
            </a:pPr>
            <a:r>
              <a:rPr lang="en-US" sz="1700" b="1" dirty="0">
                <a:solidFill>
                  <a:srgbClr val="FFFFFF"/>
                </a:solidFill>
                <a:latin typeface="Arial" pitchFamily="34" charset="0"/>
                <a:ea typeface="Arial" pitchFamily="34" charset="-122"/>
                <a:cs typeface="Arial" pitchFamily="34" charset="-120"/>
              </a:rPr>
              <a:t>٥</a:t>
            </a:r>
            <a:endParaRPr lang="en-US" sz="1700" dirty="0"/>
          </a:p>
        </p:txBody>
      </p:sp>
      <p:sp>
        <p:nvSpPr>
          <p:cNvPr id="29" name="Text 27"/>
          <p:cNvSpPr txBox="1"/>
          <p:nvPr/>
        </p:nvSpPr>
        <p:spPr>
          <a:xfrm>
            <a:off x="768096" y="2944368"/>
            <a:ext cx="3791560" cy="786384"/>
          </a:xfrm>
          <a:prstGeom prst="rect">
            <a:avLst/>
          </a:prstGeom>
          <a:noFill/>
          <a:ln/>
        </p:spPr>
        <p:txBody>
          <a:bodyPr wrap="square" lIns="0" tIns="0" rIns="0" bIns="0" rtlCol="0" anchor="ctr"/>
          <a:lstStyle/>
          <a:p>
            <a:pPr rtl="1" algn="r" indent="0" marL="0">
              <a:buNone/>
            </a:pPr>
            <a:r>
              <a:rPr lang="en-US" sz="1200" dirty="0">
                <a:solidFill>
                  <a:srgbClr val="16292E"/>
                </a:solidFill>
                <a:latin typeface="Arial" pitchFamily="34" charset="0"/>
                <a:ea typeface="Arial" pitchFamily="34" charset="-122"/>
                <a:cs typeface="Arial" pitchFamily="34" charset="-120"/>
              </a:rPr>
              <a:t>وحدات وظيفية مترابطة</a:t>
            </a:r>
            <a:endParaRPr lang="en-US" sz="1200" dirty="0"/>
          </a:p>
        </p:txBody>
      </p:sp>
      <p:sp>
        <p:nvSpPr>
          <p:cNvPr id="30" name="Shape 28"/>
          <p:cNvSpPr/>
          <p:nvPr/>
        </p:nvSpPr>
        <p:spPr>
          <a:xfrm>
            <a:off x="548640" y="3858768"/>
            <a:ext cx="5364328" cy="786384"/>
          </a:xfrm>
          <a:prstGeom prst="roundRect">
            <a:avLst>
              <a:gd name="adj" fmla="val 10465"/>
            </a:avLst>
          </a:prstGeom>
          <a:solidFill>
            <a:srgbClr val="FFFFFF"/>
          </a:solidFill>
          <a:ln/>
          <a:effectLst>
            <a:outerShdw sx="100000" sy="100000" kx="0" ky="0" algn="bl" rotWithShape="0" blurRad="127000" dist="25400" dir="5400000">
              <a:srgbClr val="0A2E36">
                <a:alpha val="10000"/>
              </a:srgbClr>
            </a:outerShdw>
          </a:effectLst>
        </p:spPr>
      </p:sp>
      <p:sp>
        <p:nvSpPr>
          <p:cNvPr id="31" name="Shape 29"/>
          <p:cNvSpPr/>
          <p:nvPr/>
        </p:nvSpPr>
        <p:spPr>
          <a:xfrm>
            <a:off x="4724248" y="4005072"/>
            <a:ext cx="969264" cy="493776"/>
          </a:xfrm>
          <a:prstGeom prst="roundRect">
            <a:avLst>
              <a:gd name="adj" fmla="val 14815"/>
            </a:avLst>
          </a:prstGeom>
          <a:solidFill>
            <a:srgbClr val="E9A13B"/>
          </a:solidFill>
          <a:ln/>
        </p:spPr>
      </p:sp>
      <p:sp>
        <p:nvSpPr>
          <p:cNvPr id="32" name="Text 30"/>
          <p:cNvSpPr txBox="1"/>
          <p:nvPr/>
        </p:nvSpPr>
        <p:spPr>
          <a:xfrm>
            <a:off x="4724248" y="4005072"/>
            <a:ext cx="969264" cy="493776"/>
          </a:xfrm>
          <a:prstGeom prst="rect">
            <a:avLst/>
          </a:prstGeom>
          <a:noFill/>
          <a:ln/>
        </p:spPr>
        <p:txBody>
          <a:bodyPr wrap="square" lIns="0" tIns="0" rIns="0" bIns="0" rtlCol="0" anchor="ctr"/>
          <a:lstStyle/>
          <a:p>
            <a:pPr rtl="1" algn="ctr" indent="0" marL="0">
              <a:buNone/>
            </a:pPr>
            <a:r>
              <a:rPr lang="en-US" sz="1700" b="1" dirty="0">
                <a:solidFill>
                  <a:srgbClr val="FFFFFF"/>
                </a:solidFill>
                <a:latin typeface="Arial" pitchFamily="34" charset="0"/>
                <a:ea typeface="Arial" pitchFamily="34" charset="-122"/>
                <a:cs typeface="Arial" pitchFamily="34" charset="-120"/>
              </a:rPr>
              <a:t>٣٤٧</a:t>
            </a:r>
            <a:endParaRPr lang="en-US" sz="1700" dirty="0"/>
          </a:p>
        </p:txBody>
      </p:sp>
      <p:sp>
        <p:nvSpPr>
          <p:cNvPr id="33" name="Text 31"/>
          <p:cNvSpPr txBox="1"/>
          <p:nvPr/>
        </p:nvSpPr>
        <p:spPr>
          <a:xfrm>
            <a:off x="768096" y="3858768"/>
            <a:ext cx="3791560" cy="786384"/>
          </a:xfrm>
          <a:prstGeom prst="rect">
            <a:avLst/>
          </a:prstGeom>
          <a:noFill/>
          <a:ln/>
        </p:spPr>
        <p:txBody>
          <a:bodyPr wrap="square" lIns="0" tIns="0" rIns="0" bIns="0" rtlCol="0" anchor="ctr"/>
          <a:lstStyle/>
          <a:p>
            <a:pPr rtl="1" algn="r" indent="0" marL="0">
              <a:buNone/>
            </a:pPr>
            <a:r>
              <a:rPr lang="en-US" sz="1200" dirty="0">
                <a:solidFill>
                  <a:srgbClr val="16292E"/>
                </a:solidFill>
                <a:latin typeface="Arial" pitchFamily="34" charset="0"/>
                <a:ea typeface="Arial" pitchFamily="34" charset="-122"/>
                <a:cs typeface="Arial" pitchFamily="34" charset="-120"/>
              </a:rPr>
              <a:t>اختبارًا آليًا يعمل عند كل تعديل</a:t>
            </a:r>
            <a:endParaRPr lang="en-US" sz="1200" dirty="0"/>
          </a:p>
        </p:txBody>
      </p:sp>
      <p:sp>
        <p:nvSpPr>
          <p:cNvPr id="34" name="Shape 32"/>
          <p:cNvSpPr/>
          <p:nvPr/>
        </p:nvSpPr>
        <p:spPr>
          <a:xfrm>
            <a:off x="548640" y="5212080"/>
            <a:ext cx="11094415" cy="969264"/>
          </a:xfrm>
          <a:prstGeom prst="roundRect">
            <a:avLst>
              <a:gd name="adj" fmla="val 9434"/>
            </a:avLst>
          </a:prstGeom>
          <a:solidFill>
            <a:srgbClr val="0A2E36"/>
          </a:solidFill>
          <a:ln/>
        </p:spPr>
      </p:sp>
      <p:sp>
        <p:nvSpPr>
          <p:cNvPr id="35" name="Text 33"/>
          <p:cNvSpPr txBox="1"/>
          <p:nvPr/>
        </p:nvSpPr>
        <p:spPr>
          <a:xfrm>
            <a:off x="1005840" y="5212080"/>
            <a:ext cx="10180015" cy="969264"/>
          </a:xfrm>
          <a:prstGeom prst="rect">
            <a:avLst/>
          </a:prstGeom>
          <a:noFill/>
          <a:ln/>
        </p:spPr>
        <p:txBody>
          <a:bodyPr wrap="square" lIns="0" tIns="0" rIns="0" bIns="0" rtlCol="0" anchor="ctr"/>
          <a:lstStyle/>
          <a:p>
            <a:pPr rtl="1" algn="ctr" indent="0" marL="0">
              <a:lnSpc>
                <a:spcPts val="1800"/>
              </a:lnSpc>
              <a:buNone/>
            </a:pPr>
            <a:r>
              <a:rPr lang="en-US" sz="1250" dirty="0">
                <a:solidFill>
                  <a:srgbClr val="BFD4D7"/>
                </a:solidFill>
                <a:latin typeface="Arial" pitchFamily="34" charset="0"/>
                <a:ea typeface="Arial" pitchFamily="34" charset="-122"/>
                <a:cs typeface="Arial" pitchFamily="34" charset="-120"/>
              </a:rPr>
              <a:t>كل هذه الأدوات مفتوحة المصدر ومجانية الترخيص، ولا يعتمد النظام على أي خدمة خارجية مدفوعة — وهذا شرط عملي في مؤسسة تعمل بتمويل الجهات المانحة</a:t>
            </a:r>
            <a:endParaRPr lang="en-US" sz="1250" dirty="0"/>
          </a:p>
        </p:txBody>
      </p:sp>
      <p:sp>
        <p:nvSpPr>
          <p:cNvPr id="36" name="Shape 34"/>
          <p:cNvSpPr/>
          <p:nvPr/>
        </p:nvSpPr>
        <p:spPr>
          <a:xfrm>
            <a:off x="548640" y="6364224"/>
            <a:ext cx="11094415" cy="16459"/>
          </a:xfrm>
          <a:prstGeom prst="rect">
            <a:avLst/>
          </a:prstGeom>
          <a:solidFill>
            <a:srgbClr val="DCE6E7"/>
          </a:solidFill>
          <a:ln/>
        </p:spPr>
      </p:sp>
      <p:sp>
        <p:nvSpPr>
          <p:cNvPr id="37" name="Text 35"/>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38" name="Text 36"/>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02717D"/>
                </a:solidFill>
                <a:latin typeface="Arial" pitchFamily="34" charset="0"/>
                <a:ea typeface="Arial" pitchFamily="34" charset="-122"/>
                <a:cs typeface="Arial" pitchFamily="34" charset="-120"/>
              </a:rPr>
              <a:t>شريحة احتياطية</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8"/>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02717D"/>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02717D"/>
                </a:solidFill>
                <a:latin typeface="Arial" pitchFamily="34" charset="0"/>
                <a:ea typeface="Arial" pitchFamily="34" charset="-122"/>
                <a:cs typeface="Arial" pitchFamily="34" charset="-120"/>
              </a:rPr>
              <a:t>شريحة احتياطية · تُعرض عند السؤال</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كيف يفهم المساعد السؤال</a:t>
            </a:r>
            <a:endParaRPr lang="en-US" sz="3400" dirty="0"/>
          </a:p>
        </p:txBody>
      </p:sp>
      <p:sp>
        <p:nvSpPr>
          <p:cNvPr id="5" name="Shape 3"/>
          <p:cNvSpPr/>
          <p:nvPr/>
        </p:nvSpPr>
        <p:spPr>
          <a:xfrm>
            <a:off x="548640" y="1408176"/>
            <a:ext cx="11094415" cy="16459"/>
          </a:xfrm>
          <a:prstGeom prst="rect">
            <a:avLst/>
          </a:prstGeom>
          <a:solidFill>
            <a:srgbClr val="DCE6E7"/>
          </a:solidFill>
          <a:ln/>
        </p:spPr>
      </p:sp>
      <p:sp>
        <p:nvSpPr>
          <p:cNvPr id="6" name="Shape 4"/>
          <p:cNvSpPr/>
          <p:nvPr/>
        </p:nvSpPr>
        <p:spPr>
          <a:xfrm>
            <a:off x="9034043" y="1609344"/>
            <a:ext cx="2609012" cy="2286000"/>
          </a:xfrm>
          <a:prstGeom prst="roundRect">
            <a:avLst>
              <a:gd name="adj" fmla="val 3600"/>
            </a:avLst>
          </a:prstGeom>
          <a:solidFill>
            <a:srgbClr val="FFFFFF"/>
          </a:solidFill>
          <a:ln/>
          <a:effectLst>
            <a:outerShdw sx="100000" sy="100000" kx="0" ky="0" algn="bl" rotWithShape="0" blurRad="127000" dist="25400" dir="5400000">
              <a:srgbClr val="0A2E36">
                <a:alpha val="10000"/>
              </a:srgbClr>
            </a:outerShdw>
          </a:effectLst>
        </p:spPr>
      </p:sp>
      <p:sp>
        <p:nvSpPr>
          <p:cNvPr id="7" name="Shape 5"/>
          <p:cNvSpPr/>
          <p:nvPr/>
        </p:nvSpPr>
        <p:spPr>
          <a:xfrm>
            <a:off x="10893247" y="1828800"/>
            <a:ext cx="457200" cy="457200"/>
          </a:xfrm>
          <a:prstGeom prst="ellipse">
            <a:avLst/>
          </a:prstGeom>
          <a:solidFill>
            <a:srgbClr val="02717D"/>
          </a:solidFill>
          <a:ln/>
        </p:spPr>
      </p:sp>
      <p:sp>
        <p:nvSpPr>
          <p:cNvPr id="8" name="Text 6"/>
          <p:cNvSpPr txBox="1"/>
          <p:nvPr/>
        </p:nvSpPr>
        <p:spPr>
          <a:xfrm>
            <a:off x="10893247" y="1828800"/>
            <a:ext cx="457200" cy="45720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١</a:t>
            </a:r>
            <a:endParaRPr lang="en-US" sz="1500" dirty="0"/>
          </a:p>
        </p:txBody>
      </p:sp>
      <p:sp>
        <p:nvSpPr>
          <p:cNvPr id="9" name="Text 7"/>
          <p:cNvSpPr txBox="1"/>
          <p:nvPr/>
        </p:nvSpPr>
        <p:spPr>
          <a:xfrm>
            <a:off x="9253499" y="1865376"/>
            <a:ext cx="1566596" cy="384048"/>
          </a:xfrm>
          <a:prstGeom prst="rect">
            <a:avLst/>
          </a:prstGeom>
          <a:noFill/>
          <a:ln/>
        </p:spPr>
        <p:txBody>
          <a:bodyPr wrap="square" lIns="0" tIns="0" rIns="0" bIns="0" rtlCol="0" anchor="ctr"/>
          <a:lstStyle/>
          <a:p>
            <a:pPr rtl="1" algn="r" indent="0" marL="0">
              <a:lnSpc>
                <a:spcPts val="1700"/>
              </a:lnSpc>
              <a:buNone/>
            </a:pPr>
            <a:r>
              <a:rPr lang="en-US" sz="1350" b="1" dirty="0">
                <a:solidFill>
                  <a:srgbClr val="16292E"/>
                </a:solidFill>
                <a:latin typeface="Arial" pitchFamily="34" charset="0"/>
                <a:ea typeface="Arial" pitchFamily="34" charset="-122"/>
                <a:cs typeface="Arial" pitchFamily="34" charset="-120"/>
              </a:rPr>
              <a:t>توحيد صورة النص</a:t>
            </a:r>
            <a:endParaRPr lang="en-US" sz="1350" dirty="0"/>
          </a:p>
        </p:txBody>
      </p:sp>
      <p:sp>
        <p:nvSpPr>
          <p:cNvPr id="10" name="Text 8"/>
          <p:cNvSpPr txBox="1"/>
          <p:nvPr/>
        </p:nvSpPr>
        <p:spPr>
          <a:xfrm>
            <a:off x="9253499" y="2395728"/>
            <a:ext cx="2170100" cy="1298448"/>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تُوحَّد الهمزات والتاء المربوطة والتشكيل والأرقام، فتصير «اين يسكن احمد» و«أين يسكن أحمد» سؤالًا واحدًا</a:t>
            </a:r>
            <a:endParaRPr lang="en-US" sz="1100" dirty="0"/>
          </a:p>
        </p:txBody>
      </p:sp>
      <p:sp>
        <p:nvSpPr>
          <p:cNvPr id="11" name="Shape 9"/>
          <p:cNvSpPr/>
          <p:nvPr/>
        </p:nvSpPr>
        <p:spPr>
          <a:xfrm>
            <a:off x="6205576" y="1609344"/>
            <a:ext cx="2609012" cy="2286000"/>
          </a:xfrm>
          <a:prstGeom prst="roundRect">
            <a:avLst>
              <a:gd name="adj" fmla="val 3600"/>
            </a:avLst>
          </a:prstGeom>
          <a:solidFill>
            <a:srgbClr val="FFFFFF"/>
          </a:solidFill>
          <a:ln/>
          <a:effectLst>
            <a:outerShdw sx="100000" sy="100000" kx="0" ky="0" algn="bl" rotWithShape="0" blurRad="127000" dist="25400" dir="5400000">
              <a:srgbClr val="0A2E36">
                <a:alpha val="10000"/>
              </a:srgbClr>
            </a:outerShdw>
          </a:effectLst>
        </p:spPr>
      </p:sp>
      <p:sp>
        <p:nvSpPr>
          <p:cNvPr id="12" name="Shape 10"/>
          <p:cNvSpPr/>
          <p:nvPr/>
        </p:nvSpPr>
        <p:spPr>
          <a:xfrm>
            <a:off x="8064779" y="1828800"/>
            <a:ext cx="457200" cy="457200"/>
          </a:xfrm>
          <a:prstGeom prst="ellipse">
            <a:avLst/>
          </a:prstGeom>
          <a:solidFill>
            <a:srgbClr val="02717D"/>
          </a:solidFill>
          <a:ln/>
        </p:spPr>
      </p:sp>
      <p:sp>
        <p:nvSpPr>
          <p:cNvPr id="13" name="Text 11"/>
          <p:cNvSpPr txBox="1"/>
          <p:nvPr/>
        </p:nvSpPr>
        <p:spPr>
          <a:xfrm>
            <a:off x="8064779" y="1828800"/>
            <a:ext cx="457200" cy="45720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٢</a:t>
            </a:r>
            <a:endParaRPr lang="en-US" sz="1500" dirty="0"/>
          </a:p>
        </p:txBody>
      </p:sp>
      <p:sp>
        <p:nvSpPr>
          <p:cNvPr id="14" name="Text 12"/>
          <p:cNvSpPr txBox="1"/>
          <p:nvPr/>
        </p:nvSpPr>
        <p:spPr>
          <a:xfrm>
            <a:off x="6425032" y="1865376"/>
            <a:ext cx="1566596" cy="384048"/>
          </a:xfrm>
          <a:prstGeom prst="rect">
            <a:avLst/>
          </a:prstGeom>
          <a:noFill/>
          <a:ln/>
        </p:spPr>
        <p:txBody>
          <a:bodyPr wrap="square" lIns="0" tIns="0" rIns="0" bIns="0" rtlCol="0" anchor="ctr"/>
          <a:lstStyle/>
          <a:p>
            <a:pPr rtl="1" algn="r" indent="0" marL="0">
              <a:lnSpc>
                <a:spcPts val="1700"/>
              </a:lnSpc>
              <a:buNone/>
            </a:pPr>
            <a:r>
              <a:rPr lang="en-US" sz="1350" b="1" dirty="0">
                <a:solidFill>
                  <a:srgbClr val="16292E"/>
                </a:solidFill>
                <a:latin typeface="Arial" pitchFamily="34" charset="0"/>
                <a:ea typeface="Arial" pitchFamily="34" charset="-122"/>
                <a:cs typeface="Arial" pitchFamily="34" charset="-120"/>
              </a:rPr>
              <a:t>مطابقة النيّة</a:t>
            </a:r>
            <a:endParaRPr lang="en-US" sz="1350" dirty="0"/>
          </a:p>
        </p:txBody>
      </p:sp>
      <p:sp>
        <p:nvSpPr>
          <p:cNvPr id="15" name="Text 13"/>
          <p:cNvSpPr txBox="1"/>
          <p:nvPr/>
        </p:nvSpPr>
        <p:spPr>
          <a:xfrm>
            <a:off x="6425032" y="2395728"/>
            <a:ext cx="2170100" cy="1298448"/>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سبع عشرة نيّة معرَّفة مسبقًا، وكل واحدة تفحص السؤال: هل يخصّني؟</a:t>
            </a:r>
            <a:endParaRPr lang="en-US" sz="1100" dirty="0"/>
          </a:p>
        </p:txBody>
      </p:sp>
      <p:sp>
        <p:nvSpPr>
          <p:cNvPr id="16" name="Shape 14"/>
          <p:cNvSpPr/>
          <p:nvPr/>
        </p:nvSpPr>
        <p:spPr>
          <a:xfrm>
            <a:off x="3377108" y="1609344"/>
            <a:ext cx="2609012" cy="2286000"/>
          </a:xfrm>
          <a:prstGeom prst="roundRect">
            <a:avLst>
              <a:gd name="adj" fmla="val 3600"/>
            </a:avLst>
          </a:prstGeom>
          <a:solidFill>
            <a:srgbClr val="FFFFFF"/>
          </a:solidFill>
          <a:ln/>
          <a:effectLst>
            <a:outerShdw sx="100000" sy="100000" kx="0" ky="0" algn="bl" rotWithShape="0" blurRad="127000" dist="25400" dir="5400000">
              <a:srgbClr val="0A2E36">
                <a:alpha val="10000"/>
              </a:srgbClr>
            </a:outerShdw>
          </a:effectLst>
        </p:spPr>
      </p:sp>
      <p:sp>
        <p:nvSpPr>
          <p:cNvPr id="17" name="Shape 15"/>
          <p:cNvSpPr/>
          <p:nvPr/>
        </p:nvSpPr>
        <p:spPr>
          <a:xfrm>
            <a:off x="5236312" y="1828800"/>
            <a:ext cx="457200" cy="457200"/>
          </a:xfrm>
          <a:prstGeom prst="ellipse">
            <a:avLst/>
          </a:prstGeom>
          <a:solidFill>
            <a:srgbClr val="E9A13B"/>
          </a:solidFill>
          <a:ln/>
        </p:spPr>
      </p:sp>
      <p:sp>
        <p:nvSpPr>
          <p:cNvPr id="18" name="Text 16"/>
          <p:cNvSpPr txBox="1"/>
          <p:nvPr/>
        </p:nvSpPr>
        <p:spPr>
          <a:xfrm>
            <a:off x="5236312" y="1828800"/>
            <a:ext cx="457200" cy="45720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٣</a:t>
            </a:r>
            <a:endParaRPr lang="en-US" sz="1500" dirty="0"/>
          </a:p>
        </p:txBody>
      </p:sp>
      <p:sp>
        <p:nvSpPr>
          <p:cNvPr id="19" name="Text 17"/>
          <p:cNvSpPr txBox="1"/>
          <p:nvPr/>
        </p:nvSpPr>
        <p:spPr>
          <a:xfrm>
            <a:off x="3596564" y="1865376"/>
            <a:ext cx="1566596" cy="384048"/>
          </a:xfrm>
          <a:prstGeom prst="rect">
            <a:avLst/>
          </a:prstGeom>
          <a:noFill/>
          <a:ln/>
        </p:spPr>
        <p:txBody>
          <a:bodyPr wrap="square" lIns="0" tIns="0" rIns="0" bIns="0" rtlCol="0" anchor="ctr"/>
          <a:lstStyle/>
          <a:p>
            <a:pPr rtl="1" algn="r" indent="0" marL="0">
              <a:lnSpc>
                <a:spcPts val="1700"/>
              </a:lnSpc>
              <a:buNone/>
            </a:pPr>
            <a:r>
              <a:rPr lang="en-US" sz="1350" b="1" dirty="0">
                <a:solidFill>
                  <a:srgbClr val="16292E"/>
                </a:solidFill>
                <a:latin typeface="Arial" pitchFamily="34" charset="0"/>
                <a:ea typeface="Arial" pitchFamily="34" charset="-122"/>
                <a:cs typeface="Arial" pitchFamily="34" charset="-120"/>
              </a:rPr>
              <a:t>الترجيح بالنقاط</a:t>
            </a:r>
            <a:endParaRPr lang="en-US" sz="1350" dirty="0"/>
          </a:p>
        </p:txBody>
      </p:sp>
      <p:sp>
        <p:nvSpPr>
          <p:cNvPr id="20" name="Text 18"/>
          <p:cNvSpPr txBox="1"/>
          <p:nvPr/>
        </p:nvSpPr>
        <p:spPr>
          <a:xfrm>
            <a:off x="3596564" y="2395728"/>
            <a:ext cx="2170100" cy="1298448"/>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لا تجيب النيّة بنعم أو لا، بل بدرجة ثقة. وتفوز صاحبة الدرجة الأعلى، فلا يذهب السؤال إلى غير صاحبه</a:t>
            </a:r>
            <a:endParaRPr lang="en-US" sz="1100" dirty="0"/>
          </a:p>
        </p:txBody>
      </p:sp>
      <p:sp>
        <p:nvSpPr>
          <p:cNvPr id="21" name="Shape 19"/>
          <p:cNvSpPr/>
          <p:nvPr/>
        </p:nvSpPr>
        <p:spPr>
          <a:xfrm>
            <a:off x="548640" y="1609344"/>
            <a:ext cx="2609012" cy="2286000"/>
          </a:xfrm>
          <a:prstGeom prst="roundRect">
            <a:avLst>
              <a:gd name="adj" fmla="val 3600"/>
            </a:avLst>
          </a:prstGeom>
          <a:solidFill>
            <a:srgbClr val="FFFFFF"/>
          </a:solidFill>
          <a:ln/>
          <a:effectLst>
            <a:outerShdw sx="100000" sy="100000" kx="0" ky="0" algn="bl" rotWithShape="0" blurRad="127000" dist="25400" dir="5400000">
              <a:srgbClr val="0A2E36">
                <a:alpha val="10000"/>
              </a:srgbClr>
            </a:outerShdw>
          </a:effectLst>
        </p:spPr>
      </p:sp>
      <p:sp>
        <p:nvSpPr>
          <p:cNvPr id="22" name="Shape 20"/>
          <p:cNvSpPr/>
          <p:nvPr/>
        </p:nvSpPr>
        <p:spPr>
          <a:xfrm>
            <a:off x="2407844" y="1828800"/>
            <a:ext cx="457200" cy="457200"/>
          </a:xfrm>
          <a:prstGeom prst="ellipse">
            <a:avLst/>
          </a:prstGeom>
          <a:solidFill>
            <a:srgbClr val="02717D"/>
          </a:solidFill>
          <a:ln/>
        </p:spPr>
      </p:sp>
      <p:sp>
        <p:nvSpPr>
          <p:cNvPr id="23" name="Text 21"/>
          <p:cNvSpPr txBox="1"/>
          <p:nvPr/>
        </p:nvSpPr>
        <p:spPr>
          <a:xfrm>
            <a:off x="2407844" y="1828800"/>
            <a:ext cx="457200" cy="45720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٤</a:t>
            </a:r>
            <a:endParaRPr lang="en-US" sz="1500" dirty="0"/>
          </a:p>
        </p:txBody>
      </p:sp>
      <p:sp>
        <p:nvSpPr>
          <p:cNvPr id="24" name="Text 22"/>
          <p:cNvSpPr txBox="1"/>
          <p:nvPr/>
        </p:nvSpPr>
        <p:spPr>
          <a:xfrm>
            <a:off x="768096" y="1865376"/>
            <a:ext cx="1566596" cy="384048"/>
          </a:xfrm>
          <a:prstGeom prst="rect">
            <a:avLst/>
          </a:prstGeom>
          <a:noFill/>
          <a:ln/>
        </p:spPr>
        <p:txBody>
          <a:bodyPr wrap="square" lIns="0" tIns="0" rIns="0" bIns="0" rtlCol="0" anchor="ctr"/>
          <a:lstStyle/>
          <a:p>
            <a:pPr rtl="1" algn="r" indent="0" marL="0">
              <a:lnSpc>
                <a:spcPts val="1700"/>
              </a:lnSpc>
              <a:buNone/>
            </a:pPr>
            <a:r>
              <a:rPr lang="en-US" sz="1350" b="1" dirty="0">
                <a:solidFill>
                  <a:srgbClr val="16292E"/>
                </a:solidFill>
                <a:latin typeface="Arial" pitchFamily="34" charset="0"/>
                <a:ea typeface="Arial" pitchFamily="34" charset="-122"/>
                <a:cs typeface="Arial" pitchFamily="34" charset="-120"/>
              </a:rPr>
              <a:t>استعلام جاهز</a:t>
            </a:r>
            <a:endParaRPr lang="en-US" sz="1350" dirty="0"/>
          </a:p>
        </p:txBody>
      </p:sp>
      <p:sp>
        <p:nvSpPr>
          <p:cNvPr id="25" name="Text 23"/>
          <p:cNvSpPr txBox="1"/>
          <p:nvPr/>
        </p:nvSpPr>
        <p:spPr>
          <a:xfrm>
            <a:off x="768096" y="2395728"/>
            <a:ext cx="2170100" cy="1298448"/>
          </a:xfrm>
          <a:prstGeom prst="rect">
            <a:avLst/>
          </a:prstGeom>
          <a:noFill/>
          <a:ln/>
        </p:spPr>
        <p:txBody>
          <a:bodyPr wrap="square" lIns="0" tIns="0" rIns="0" bIns="0" rtlCol="0" anchor="ctr"/>
          <a:lstStyle/>
          <a:p>
            <a:pPr rtl="1" algn="r" indent="0" marL="0">
              <a:lnSpc>
                <a:spcPts val="1600"/>
              </a:lnSpc>
              <a:buNone/>
            </a:pPr>
            <a:r>
              <a:rPr lang="en-US" sz="1100" dirty="0">
                <a:solidFill>
                  <a:srgbClr val="5C7378"/>
                </a:solidFill>
                <a:latin typeface="Arial" pitchFamily="34" charset="0"/>
                <a:ea typeface="Arial" pitchFamily="34" charset="-122"/>
                <a:cs typeface="Arial" pitchFamily="34" charset="-120"/>
              </a:rPr>
              <a:t>تُنفَّذ استعلامًا كتبه مطوّر ويغطّيه اختبار. فلا يولّد النظام استعلامًا من عنده</a:t>
            </a:r>
            <a:endParaRPr lang="en-US" sz="1100" dirty="0"/>
          </a:p>
        </p:txBody>
      </p:sp>
      <p:sp>
        <p:nvSpPr>
          <p:cNvPr id="26" name="Shape 24"/>
          <p:cNvSpPr/>
          <p:nvPr/>
        </p:nvSpPr>
        <p:spPr>
          <a:xfrm>
            <a:off x="548640" y="4078224"/>
            <a:ext cx="11094415" cy="1133856"/>
          </a:xfrm>
          <a:prstGeom prst="roundRect">
            <a:avLst>
              <a:gd name="adj" fmla="val 8065"/>
            </a:avLst>
          </a:prstGeom>
          <a:solidFill>
            <a:srgbClr val="0A2E36"/>
          </a:solidFill>
          <a:ln/>
        </p:spPr>
      </p:sp>
      <p:sp>
        <p:nvSpPr>
          <p:cNvPr id="27" name="Text 25"/>
          <p:cNvSpPr txBox="1"/>
          <p:nvPr/>
        </p:nvSpPr>
        <p:spPr>
          <a:xfrm>
            <a:off x="914400" y="4224528"/>
            <a:ext cx="10362895" cy="292608"/>
          </a:xfrm>
          <a:prstGeom prst="rect">
            <a:avLst/>
          </a:prstGeom>
          <a:noFill/>
          <a:ln/>
        </p:spPr>
        <p:txBody>
          <a:bodyPr wrap="square" lIns="0" tIns="0" rIns="0" bIns="0" rtlCol="0" anchor="ctr"/>
          <a:lstStyle/>
          <a:p>
            <a:pPr rtl="1" algn="ctr" indent="0" marL="0">
              <a:buNone/>
            </a:pPr>
            <a:r>
              <a:rPr lang="en-US" sz="1350" b="1" dirty="0">
                <a:solidFill>
                  <a:srgbClr val="00A896"/>
                </a:solidFill>
                <a:latin typeface="Arial" pitchFamily="34" charset="0"/>
                <a:ea typeface="Arial" pitchFamily="34" charset="-122"/>
                <a:cs typeface="Arial" pitchFamily="34" charset="-120"/>
              </a:rPr>
              <a:t>وهذا ليس نموذجًا لغويًا خارجيًا</a:t>
            </a:r>
            <a:endParaRPr lang="en-US" sz="1350" dirty="0"/>
          </a:p>
        </p:txBody>
      </p:sp>
      <p:sp>
        <p:nvSpPr>
          <p:cNvPr id="28" name="Text 26"/>
          <p:cNvSpPr txBox="1"/>
          <p:nvPr/>
        </p:nvSpPr>
        <p:spPr>
          <a:xfrm>
            <a:off x="1097280" y="4590288"/>
            <a:ext cx="9997135" cy="512064"/>
          </a:xfrm>
          <a:prstGeom prst="rect">
            <a:avLst/>
          </a:prstGeom>
          <a:noFill/>
          <a:ln/>
        </p:spPr>
        <p:txBody>
          <a:bodyPr wrap="square" lIns="0" tIns="0" rIns="0" bIns="0" rtlCol="0" anchor="ctr"/>
          <a:lstStyle/>
          <a:p>
            <a:pPr rtl="1" algn="ctr" indent="0" marL="0">
              <a:lnSpc>
                <a:spcPts val="1700"/>
              </a:lnSpc>
              <a:buNone/>
            </a:pPr>
            <a:r>
              <a:rPr lang="en-US" sz="1200" dirty="0">
                <a:solidFill>
                  <a:srgbClr val="BFD4D7"/>
                </a:solidFill>
                <a:latin typeface="Arial" pitchFamily="34" charset="0"/>
                <a:ea typeface="Arial" pitchFamily="34" charset="-122"/>
                <a:cs typeface="Arial" pitchFamily="34" charset="-120"/>
              </a:rPr>
              <a:t>لا تغادر بيانات اللاجئين خادم النظام، ولا يُرسَل السؤال إلى أي جهة خارجية. وكل إجابة تعود إلى استعلام مكتوب ومُختبَر، لا إلى توليد نصّ</a:t>
            </a:r>
            <a:endParaRPr lang="en-US" sz="1200" dirty="0"/>
          </a:p>
        </p:txBody>
      </p:sp>
      <p:sp>
        <p:nvSpPr>
          <p:cNvPr id="29" name="Shape 27"/>
          <p:cNvSpPr/>
          <p:nvPr/>
        </p:nvSpPr>
        <p:spPr>
          <a:xfrm>
            <a:off x="548640" y="5394960"/>
            <a:ext cx="11094415" cy="786384"/>
          </a:xfrm>
          <a:prstGeom prst="roundRect">
            <a:avLst>
              <a:gd name="adj" fmla="val 11628"/>
            </a:avLst>
          </a:prstGeom>
          <a:solidFill>
            <a:srgbClr val="FDF3E3"/>
          </a:solidFill>
          <a:ln/>
        </p:spPr>
      </p:sp>
      <p:sp>
        <p:nvSpPr>
          <p:cNvPr id="30" name="Text 28"/>
          <p:cNvSpPr txBox="1"/>
          <p:nvPr/>
        </p:nvSpPr>
        <p:spPr>
          <a:xfrm>
            <a:off x="1005840" y="5394960"/>
            <a:ext cx="10180015" cy="786384"/>
          </a:xfrm>
          <a:prstGeom prst="rect">
            <a:avLst/>
          </a:prstGeom>
          <a:noFill/>
          <a:ln/>
        </p:spPr>
        <p:txBody>
          <a:bodyPr wrap="square" lIns="0" tIns="0" rIns="0" bIns="0" rtlCol="0" anchor="ctr"/>
          <a:lstStyle/>
          <a:p>
            <a:pPr rtl="1" algn="ctr" indent="0" marL="0">
              <a:lnSpc>
                <a:spcPts val="1700"/>
              </a:lnSpc>
              <a:buNone/>
            </a:pPr>
            <a:r>
              <a:rPr lang="en-US" sz="1200" dirty="0">
                <a:solidFill>
                  <a:srgbClr val="A0532F"/>
                </a:solidFill>
                <a:latin typeface="Arial" pitchFamily="34" charset="0"/>
                <a:ea typeface="Arial" pitchFamily="34" charset="-122"/>
                <a:cs typeface="Arial" pitchFamily="34" charset="-120"/>
              </a:rPr>
              <a:t>وإن لم يفهم السؤال: يُمرَّر إلى بحث شامل في اللاجئين والأسر والوحدات والجهات، ثم تُعرض أمثلة يفهمها النظام. فلا يُقابَل المستخدم بصمت ولا برسالة خطأ</a:t>
            </a:r>
            <a:endParaRPr lang="en-US" sz="1200" dirty="0"/>
          </a:p>
        </p:txBody>
      </p:sp>
      <p:sp>
        <p:nvSpPr>
          <p:cNvPr id="31" name="Shape 29"/>
          <p:cNvSpPr/>
          <p:nvPr/>
        </p:nvSpPr>
        <p:spPr>
          <a:xfrm>
            <a:off x="548640" y="6364224"/>
            <a:ext cx="11094415" cy="16459"/>
          </a:xfrm>
          <a:prstGeom prst="rect">
            <a:avLst/>
          </a:prstGeom>
          <a:solidFill>
            <a:srgbClr val="DCE6E7"/>
          </a:solidFill>
          <a:ln/>
        </p:spPr>
      </p:sp>
      <p:sp>
        <p:nvSpPr>
          <p:cNvPr id="32" name="Text 30"/>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33" name="Text 31"/>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02717D"/>
                </a:solidFill>
                <a:latin typeface="Arial" pitchFamily="34" charset="0"/>
                <a:ea typeface="Arial" pitchFamily="34" charset="-122"/>
                <a:cs typeface="Arial" pitchFamily="34" charset="-120"/>
              </a:rPr>
              <a:t>شريحة احتياطية</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8"/>
        </a:solidFill>
      </p:bgPr>
    </p:bg>
    <p:spTree>
      <p:nvGrpSpPr>
        <p:cNvPr id="1" name=""/>
        <p:cNvGrpSpPr/>
        <p:nvPr/>
      </p:nvGrpSpPr>
      <p:grpSpPr>
        <a:xfrm>
          <a:off x="0" y="0"/>
          <a:ext cx="0" cy="0"/>
          <a:chOff x="0" y="0"/>
          <a:chExt cx="0" cy="0"/>
        </a:xfrm>
      </p:grpSpPr>
      <p:sp>
        <p:nvSpPr>
          <p:cNvPr id="2" name="Shape 0"/>
          <p:cNvSpPr/>
          <p:nvPr/>
        </p:nvSpPr>
        <p:spPr>
          <a:xfrm>
            <a:off x="11592763" y="457200"/>
            <a:ext cx="50292" cy="274320"/>
          </a:xfrm>
          <a:prstGeom prst="rect">
            <a:avLst/>
          </a:prstGeom>
          <a:solidFill>
            <a:srgbClr val="02717D"/>
          </a:solidFill>
          <a:ln/>
        </p:spPr>
      </p:sp>
      <p:sp>
        <p:nvSpPr>
          <p:cNvPr id="3" name="Text 1"/>
          <p:cNvSpPr txBox="1"/>
          <p:nvPr/>
        </p:nvSpPr>
        <p:spPr>
          <a:xfrm>
            <a:off x="548640" y="429768"/>
            <a:ext cx="10929823" cy="274320"/>
          </a:xfrm>
          <a:prstGeom prst="rect">
            <a:avLst/>
          </a:prstGeom>
          <a:noFill/>
          <a:ln/>
        </p:spPr>
        <p:txBody>
          <a:bodyPr wrap="square" lIns="0" tIns="0" rIns="0" bIns="0" rtlCol="0" anchor="ctr"/>
          <a:lstStyle/>
          <a:p>
            <a:pPr rtl="1" algn="r" indent="0" marL="0">
              <a:buNone/>
            </a:pPr>
            <a:r>
              <a:rPr lang="en-US" sz="1250" b="1" spc="100" kern="0" dirty="0">
                <a:solidFill>
                  <a:srgbClr val="02717D"/>
                </a:solidFill>
                <a:latin typeface="Arial" pitchFamily="34" charset="0"/>
                <a:ea typeface="Arial" pitchFamily="34" charset="-122"/>
                <a:cs typeface="Arial" pitchFamily="34" charset="-120"/>
              </a:rPr>
              <a:t>شريحة احتياطية · ما نصرّح به من تلقاء أنفسنا</a:t>
            </a:r>
            <a:endParaRPr lang="en-US" sz="1250" dirty="0"/>
          </a:p>
        </p:txBody>
      </p:sp>
      <p:sp>
        <p:nvSpPr>
          <p:cNvPr id="4" name="Text 2"/>
          <p:cNvSpPr txBox="1"/>
          <p:nvPr/>
        </p:nvSpPr>
        <p:spPr>
          <a:xfrm>
            <a:off x="548640" y="749808"/>
            <a:ext cx="11094415" cy="585216"/>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حدود المشروع وما لم يُنجز بعد</a:t>
            </a:r>
            <a:endParaRPr lang="en-US" sz="3400" dirty="0"/>
          </a:p>
        </p:txBody>
      </p:sp>
      <p:sp>
        <p:nvSpPr>
          <p:cNvPr id="5" name="Shape 3"/>
          <p:cNvSpPr/>
          <p:nvPr/>
        </p:nvSpPr>
        <p:spPr>
          <a:xfrm>
            <a:off x="548640" y="1408176"/>
            <a:ext cx="11094415" cy="16459"/>
          </a:xfrm>
          <a:prstGeom prst="rect">
            <a:avLst/>
          </a:prstGeom>
          <a:solidFill>
            <a:srgbClr val="DCE6E7"/>
          </a:solidFill>
          <a:ln/>
        </p:spPr>
      </p:sp>
      <p:sp>
        <p:nvSpPr>
          <p:cNvPr id="6" name="Shape 4"/>
          <p:cNvSpPr/>
          <p:nvPr/>
        </p:nvSpPr>
        <p:spPr>
          <a:xfrm>
            <a:off x="6233008" y="1609344"/>
            <a:ext cx="5410048" cy="1335024"/>
          </a:xfrm>
          <a:prstGeom prst="roundRect">
            <a:avLst>
              <a:gd name="adj" fmla="val 6164"/>
            </a:avLst>
          </a:prstGeom>
          <a:solidFill>
            <a:srgbClr val="FFFFFF"/>
          </a:solidFill>
          <a:ln/>
          <a:effectLst>
            <a:outerShdw sx="100000" sy="100000" kx="0" ky="0" algn="bl" rotWithShape="0" blurRad="127000" dist="25400" dir="5400000">
              <a:srgbClr val="0A2E36">
                <a:alpha val="10000"/>
              </a:srgbClr>
            </a:outerShdw>
          </a:effectLst>
        </p:spPr>
      </p:sp>
      <p:sp>
        <p:nvSpPr>
          <p:cNvPr id="7" name="Shape 5"/>
          <p:cNvSpPr/>
          <p:nvPr/>
        </p:nvSpPr>
        <p:spPr>
          <a:xfrm>
            <a:off x="10966399" y="1792224"/>
            <a:ext cx="384048" cy="384048"/>
          </a:xfrm>
          <a:prstGeom prst="ellipse">
            <a:avLst/>
          </a:prstGeom>
          <a:solidFill>
            <a:srgbClr val="E9A13B"/>
          </a:solidFill>
          <a:ln/>
        </p:spPr>
      </p:sp>
      <p:pic>
        <p:nvPicPr>
          <p:cNvPr id="8" name="Image 0" descr="preencoded.png">    </p:cNvPr>
          <p:cNvPicPr>
            <a:picLocks noChangeAspect="1"/>
          </p:cNvPicPr>
          <p:nvPr/>
        </p:nvPicPr>
        <p:blipFill>
          <a:blip r:embed="rId1"/>
          <a:stretch>
            <a:fillRect/>
          </a:stretch>
        </p:blipFill>
        <p:spPr>
          <a:xfrm>
            <a:off x="11062411" y="1892808"/>
            <a:ext cx="192024" cy="192024"/>
          </a:xfrm>
          <a:prstGeom prst="rect">
            <a:avLst/>
          </a:prstGeom>
        </p:spPr>
      </p:pic>
      <p:sp>
        <p:nvSpPr>
          <p:cNvPr id="9" name="Text 6"/>
          <p:cNvSpPr txBox="1"/>
          <p:nvPr/>
        </p:nvSpPr>
        <p:spPr>
          <a:xfrm>
            <a:off x="6452464" y="1755648"/>
            <a:ext cx="4459072" cy="292608"/>
          </a:xfrm>
          <a:prstGeom prst="rect">
            <a:avLst/>
          </a:prstGeom>
          <a:noFill/>
          <a:ln/>
        </p:spPr>
        <p:txBody>
          <a:bodyPr wrap="square" lIns="0" tIns="0" rIns="0" bIns="0" rtlCol="0" anchor="ctr"/>
          <a:lstStyle/>
          <a:p>
            <a:pPr rtl="1" algn="r" indent="0" marL="0">
              <a:buNone/>
            </a:pPr>
            <a:r>
              <a:rPr lang="en-US" sz="1350" b="1" dirty="0">
                <a:solidFill>
                  <a:srgbClr val="16292E"/>
                </a:solidFill>
                <a:latin typeface="Arial" pitchFamily="34" charset="0"/>
                <a:ea typeface="Arial" pitchFamily="34" charset="-122"/>
                <a:cs typeface="Arial" pitchFamily="34" charset="-120"/>
              </a:rPr>
              <a:t>البيانات الحالية اختبارية</a:t>
            </a:r>
            <a:endParaRPr lang="en-US" sz="1350" dirty="0"/>
          </a:p>
        </p:txBody>
      </p:sp>
      <p:sp>
        <p:nvSpPr>
          <p:cNvPr id="10" name="Text 7"/>
          <p:cNvSpPr txBox="1"/>
          <p:nvPr/>
        </p:nvSpPr>
        <p:spPr>
          <a:xfrm>
            <a:off x="6452464" y="2084832"/>
            <a:ext cx="4971136" cy="347472"/>
          </a:xfrm>
          <a:prstGeom prst="rect">
            <a:avLst/>
          </a:prstGeom>
          <a:noFill/>
          <a:ln/>
        </p:spPr>
        <p:txBody>
          <a:bodyPr wrap="square" lIns="0" tIns="0" rIns="0" bIns="0" rtlCol="0" anchor="ctr"/>
          <a:lstStyle/>
          <a:p>
            <a:pPr rtl="1" algn="r" indent="0" marL="0">
              <a:lnSpc>
                <a:spcPts val="1500"/>
              </a:lnSpc>
              <a:buNone/>
            </a:pPr>
            <a:r>
              <a:rPr lang="en-US" sz="1100" dirty="0">
                <a:solidFill>
                  <a:srgbClr val="5C7378"/>
                </a:solidFill>
                <a:latin typeface="Arial" pitchFamily="34" charset="0"/>
                <a:ea typeface="Arial" pitchFamily="34" charset="-122"/>
                <a:cs typeface="Arial" pitchFamily="34" charset="-120"/>
              </a:rPr>
              <a:t>النظام لم يُشغَّل في مخيم حقيقي بعد؛ ما نعرضه بيانات مولَّدة للاختبار</a:t>
            </a:r>
            <a:endParaRPr lang="en-US" sz="1100" dirty="0"/>
          </a:p>
        </p:txBody>
      </p:sp>
      <p:sp>
        <p:nvSpPr>
          <p:cNvPr id="11" name="Shape 8"/>
          <p:cNvSpPr/>
          <p:nvPr/>
        </p:nvSpPr>
        <p:spPr>
          <a:xfrm>
            <a:off x="6452464" y="2468880"/>
            <a:ext cx="4971136" cy="347472"/>
          </a:xfrm>
          <a:prstGeom prst="roundRect">
            <a:avLst>
              <a:gd name="adj" fmla="val 15789"/>
            </a:avLst>
          </a:prstGeom>
          <a:solidFill>
            <a:srgbClr val="ECF4F4"/>
          </a:solidFill>
          <a:ln/>
        </p:spPr>
      </p:sp>
      <p:sp>
        <p:nvSpPr>
          <p:cNvPr id="12" name="Text 9"/>
          <p:cNvSpPr txBox="1"/>
          <p:nvPr/>
        </p:nvSpPr>
        <p:spPr>
          <a:xfrm>
            <a:off x="6598768" y="2468880"/>
            <a:ext cx="4678528" cy="347472"/>
          </a:xfrm>
          <a:prstGeom prst="rect">
            <a:avLst/>
          </a:prstGeom>
          <a:noFill/>
          <a:ln/>
        </p:spPr>
        <p:txBody>
          <a:bodyPr wrap="square" lIns="0" tIns="0" rIns="0" bIns="0" rtlCol="0" anchor="ctr"/>
          <a:lstStyle/>
          <a:p>
            <a:pPr rtl="1" algn="r" indent="0" marL="0">
              <a:buNone/>
            </a:pPr>
            <a:r>
              <a:rPr lang="en-US" sz="1050" b="1" dirty="0">
                <a:solidFill>
                  <a:srgbClr val="02717D"/>
                </a:solidFill>
                <a:latin typeface="Arial" pitchFamily="34" charset="0"/>
                <a:ea typeface="Arial" pitchFamily="34" charset="-122"/>
                <a:cs typeface="Arial" pitchFamily="34" charset="-120"/>
              </a:rPr>
              <a:t>الخطوة التالية: تجربة محدودة مع جهة واحدة قبل التوسّع</a:t>
            </a:r>
            <a:endParaRPr lang="en-US" sz="1050" dirty="0"/>
          </a:p>
        </p:txBody>
      </p:sp>
      <p:sp>
        <p:nvSpPr>
          <p:cNvPr id="13" name="Shape 10"/>
          <p:cNvSpPr/>
          <p:nvPr/>
        </p:nvSpPr>
        <p:spPr>
          <a:xfrm>
            <a:off x="548640" y="1609344"/>
            <a:ext cx="5410048" cy="1335024"/>
          </a:xfrm>
          <a:prstGeom prst="roundRect">
            <a:avLst>
              <a:gd name="adj" fmla="val 6164"/>
            </a:avLst>
          </a:prstGeom>
          <a:solidFill>
            <a:srgbClr val="FFFFFF"/>
          </a:solidFill>
          <a:ln/>
          <a:effectLst>
            <a:outerShdw sx="100000" sy="100000" kx="0" ky="0" algn="bl" rotWithShape="0" blurRad="127000" dist="25400" dir="5400000">
              <a:srgbClr val="0A2E36">
                <a:alpha val="10000"/>
              </a:srgbClr>
            </a:outerShdw>
          </a:effectLst>
        </p:spPr>
      </p:sp>
      <p:sp>
        <p:nvSpPr>
          <p:cNvPr id="14" name="Shape 11"/>
          <p:cNvSpPr/>
          <p:nvPr/>
        </p:nvSpPr>
        <p:spPr>
          <a:xfrm>
            <a:off x="5282032" y="1792224"/>
            <a:ext cx="384048" cy="384048"/>
          </a:xfrm>
          <a:prstGeom prst="ellipse">
            <a:avLst/>
          </a:prstGeom>
          <a:solidFill>
            <a:srgbClr val="E9A13B"/>
          </a:solidFill>
          <a:ln/>
        </p:spPr>
      </p:sp>
      <p:pic>
        <p:nvPicPr>
          <p:cNvPr id="15" name="Image 1" descr="preencoded.png">    </p:cNvPr>
          <p:cNvPicPr>
            <a:picLocks noChangeAspect="1"/>
          </p:cNvPicPr>
          <p:nvPr/>
        </p:nvPicPr>
        <p:blipFill>
          <a:blip r:embed="rId2"/>
          <a:stretch>
            <a:fillRect/>
          </a:stretch>
        </p:blipFill>
        <p:spPr>
          <a:xfrm>
            <a:off x="5378044" y="1892808"/>
            <a:ext cx="192024" cy="192024"/>
          </a:xfrm>
          <a:prstGeom prst="rect">
            <a:avLst/>
          </a:prstGeom>
        </p:spPr>
      </p:pic>
      <p:sp>
        <p:nvSpPr>
          <p:cNvPr id="16" name="Text 12"/>
          <p:cNvSpPr txBox="1"/>
          <p:nvPr/>
        </p:nvSpPr>
        <p:spPr>
          <a:xfrm>
            <a:off x="768096" y="1755648"/>
            <a:ext cx="4459072" cy="292608"/>
          </a:xfrm>
          <a:prstGeom prst="rect">
            <a:avLst/>
          </a:prstGeom>
          <a:noFill/>
          <a:ln/>
        </p:spPr>
        <p:txBody>
          <a:bodyPr wrap="square" lIns="0" tIns="0" rIns="0" bIns="0" rtlCol="0" anchor="ctr"/>
          <a:lstStyle/>
          <a:p>
            <a:pPr rtl="1" algn="r" indent="0" marL="0">
              <a:buNone/>
            </a:pPr>
            <a:r>
              <a:rPr lang="en-US" sz="1350" b="1" dirty="0">
                <a:solidFill>
                  <a:srgbClr val="16292E"/>
                </a:solidFill>
                <a:latin typeface="Arial" pitchFamily="34" charset="0"/>
                <a:ea typeface="Arial" pitchFamily="34" charset="-122"/>
                <a:cs typeface="Arial" pitchFamily="34" charset="-120"/>
              </a:rPr>
              <a:t>لا يعمل دون اتصال</a:t>
            </a:r>
            <a:endParaRPr lang="en-US" sz="1350" dirty="0"/>
          </a:p>
        </p:txBody>
      </p:sp>
      <p:sp>
        <p:nvSpPr>
          <p:cNvPr id="17" name="Text 13"/>
          <p:cNvSpPr txBox="1"/>
          <p:nvPr/>
        </p:nvSpPr>
        <p:spPr>
          <a:xfrm>
            <a:off x="768096" y="2084832"/>
            <a:ext cx="4971136" cy="347472"/>
          </a:xfrm>
          <a:prstGeom prst="rect">
            <a:avLst/>
          </a:prstGeom>
          <a:noFill/>
          <a:ln/>
        </p:spPr>
        <p:txBody>
          <a:bodyPr wrap="square" lIns="0" tIns="0" rIns="0" bIns="0" rtlCol="0" anchor="ctr"/>
          <a:lstStyle/>
          <a:p>
            <a:pPr rtl="1" algn="r" indent="0" marL="0">
              <a:lnSpc>
                <a:spcPts val="1500"/>
              </a:lnSpc>
              <a:buNone/>
            </a:pPr>
            <a:r>
              <a:rPr lang="en-US" sz="1100" dirty="0">
                <a:solidFill>
                  <a:srgbClr val="5C7378"/>
                </a:solidFill>
                <a:latin typeface="Arial" pitchFamily="34" charset="0"/>
                <a:ea typeface="Arial" pitchFamily="34" charset="-122"/>
                <a:cs typeface="Arial" pitchFamily="34" charset="-120"/>
              </a:rPr>
              <a:t>يتطلّب اتصالًا بالخادم، والاتصال في بيئة المخيمات غير مضمون</a:t>
            </a:r>
            <a:endParaRPr lang="en-US" sz="1100" dirty="0"/>
          </a:p>
        </p:txBody>
      </p:sp>
      <p:sp>
        <p:nvSpPr>
          <p:cNvPr id="18" name="Shape 14"/>
          <p:cNvSpPr/>
          <p:nvPr/>
        </p:nvSpPr>
        <p:spPr>
          <a:xfrm>
            <a:off x="768096" y="2468880"/>
            <a:ext cx="4971136" cy="347472"/>
          </a:xfrm>
          <a:prstGeom prst="roundRect">
            <a:avLst>
              <a:gd name="adj" fmla="val 15789"/>
            </a:avLst>
          </a:prstGeom>
          <a:solidFill>
            <a:srgbClr val="ECF4F4"/>
          </a:solidFill>
          <a:ln/>
        </p:spPr>
      </p:sp>
      <p:sp>
        <p:nvSpPr>
          <p:cNvPr id="19" name="Text 15"/>
          <p:cNvSpPr txBox="1"/>
          <p:nvPr/>
        </p:nvSpPr>
        <p:spPr>
          <a:xfrm>
            <a:off x="914400" y="2468880"/>
            <a:ext cx="4678528" cy="347472"/>
          </a:xfrm>
          <a:prstGeom prst="rect">
            <a:avLst/>
          </a:prstGeom>
          <a:noFill/>
          <a:ln/>
        </p:spPr>
        <p:txBody>
          <a:bodyPr wrap="square" lIns="0" tIns="0" rIns="0" bIns="0" rtlCol="0" anchor="ctr"/>
          <a:lstStyle/>
          <a:p>
            <a:pPr rtl="1" algn="r" indent="0" marL="0">
              <a:buNone/>
            </a:pPr>
            <a:r>
              <a:rPr lang="en-US" sz="1050" b="1" dirty="0">
                <a:solidFill>
                  <a:srgbClr val="02717D"/>
                </a:solidFill>
                <a:latin typeface="Arial" pitchFamily="34" charset="0"/>
                <a:ea typeface="Arial" pitchFamily="34" charset="-122"/>
                <a:cs typeface="Arial" pitchFamily="34" charset="-120"/>
              </a:rPr>
              <a:t>الخطوة التالية: التطبيق الميداني بقدرة على العمل ثم المزامنة</a:t>
            </a:r>
            <a:endParaRPr lang="en-US" sz="1050" dirty="0"/>
          </a:p>
        </p:txBody>
      </p:sp>
      <p:sp>
        <p:nvSpPr>
          <p:cNvPr id="20" name="Shape 16"/>
          <p:cNvSpPr/>
          <p:nvPr/>
        </p:nvSpPr>
        <p:spPr>
          <a:xfrm>
            <a:off x="6233008" y="3127248"/>
            <a:ext cx="5410048" cy="1335024"/>
          </a:xfrm>
          <a:prstGeom prst="roundRect">
            <a:avLst>
              <a:gd name="adj" fmla="val 6164"/>
            </a:avLst>
          </a:prstGeom>
          <a:solidFill>
            <a:srgbClr val="FFFFFF"/>
          </a:solidFill>
          <a:ln/>
          <a:effectLst>
            <a:outerShdw sx="100000" sy="100000" kx="0" ky="0" algn="bl" rotWithShape="0" blurRad="127000" dist="25400" dir="5400000">
              <a:srgbClr val="0A2E36">
                <a:alpha val="10000"/>
              </a:srgbClr>
            </a:outerShdw>
          </a:effectLst>
        </p:spPr>
      </p:sp>
      <p:sp>
        <p:nvSpPr>
          <p:cNvPr id="21" name="Shape 17"/>
          <p:cNvSpPr/>
          <p:nvPr/>
        </p:nvSpPr>
        <p:spPr>
          <a:xfrm>
            <a:off x="10966399" y="3310128"/>
            <a:ext cx="384048" cy="384048"/>
          </a:xfrm>
          <a:prstGeom prst="ellipse">
            <a:avLst/>
          </a:prstGeom>
          <a:solidFill>
            <a:srgbClr val="E9A13B"/>
          </a:solidFill>
          <a:ln/>
        </p:spPr>
      </p:sp>
      <p:pic>
        <p:nvPicPr>
          <p:cNvPr id="22" name="Image 2" descr="preencoded.png">    </p:cNvPr>
          <p:cNvPicPr>
            <a:picLocks noChangeAspect="1"/>
          </p:cNvPicPr>
          <p:nvPr/>
        </p:nvPicPr>
        <p:blipFill>
          <a:blip r:embed="rId3"/>
          <a:stretch>
            <a:fillRect/>
          </a:stretch>
        </p:blipFill>
        <p:spPr>
          <a:xfrm>
            <a:off x="11062411" y="3410712"/>
            <a:ext cx="192024" cy="192024"/>
          </a:xfrm>
          <a:prstGeom prst="rect">
            <a:avLst/>
          </a:prstGeom>
        </p:spPr>
      </p:pic>
      <p:sp>
        <p:nvSpPr>
          <p:cNvPr id="23" name="Text 18"/>
          <p:cNvSpPr txBox="1"/>
          <p:nvPr/>
        </p:nvSpPr>
        <p:spPr>
          <a:xfrm>
            <a:off x="6452464" y="3273552"/>
            <a:ext cx="4459072" cy="292608"/>
          </a:xfrm>
          <a:prstGeom prst="rect">
            <a:avLst/>
          </a:prstGeom>
          <a:noFill/>
          <a:ln/>
        </p:spPr>
        <p:txBody>
          <a:bodyPr wrap="square" lIns="0" tIns="0" rIns="0" bIns="0" rtlCol="0" anchor="ctr"/>
          <a:lstStyle/>
          <a:p>
            <a:pPr rtl="1" algn="r" indent="0" marL="0">
              <a:buNone/>
            </a:pPr>
            <a:r>
              <a:rPr lang="en-US" sz="1350" b="1" dirty="0">
                <a:solidFill>
                  <a:srgbClr val="16292E"/>
                </a:solidFill>
                <a:latin typeface="Arial" pitchFamily="34" charset="0"/>
                <a:ea typeface="Arial" pitchFamily="34" charset="-122"/>
                <a:cs typeface="Arial" pitchFamily="34" charset="-120"/>
              </a:rPr>
              <a:t>لا تكامل مباشر مع المنظمات</a:t>
            </a:r>
            <a:endParaRPr lang="en-US" sz="1350" dirty="0"/>
          </a:p>
        </p:txBody>
      </p:sp>
      <p:sp>
        <p:nvSpPr>
          <p:cNvPr id="24" name="Text 19"/>
          <p:cNvSpPr txBox="1"/>
          <p:nvPr/>
        </p:nvSpPr>
        <p:spPr>
          <a:xfrm>
            <a:off x="6452464" y="3602736"/>
            <a:ext cx="4971136" cy="347472"/>
          </a:xfrm>
          <a:prstGeom prst="rect">
            <a:avLst/>
          </a:prstGeom>
          <a:noFill/>
          <a:ln/>
        </p:spPr>
        <p:txBody>
          <a:bodyPr wrap="square" lIns="0" tIns="0" rIns="0" bIns="0" rtlCol="0" anchor="ctr"/>
          <a:lstStyle/>
          <a:p>
            <a:pPr rtl="1" algn="r" indent="0" marL="0">
              <a:lnSpc>
                <a:spcPts val="1500"/>
              </a:lnSpc>
              <a:buNone/>
            </a:pPr>
            <a:r>
              <a:rPr lang="en-US" sz="1100" dirty="0">
                <a:solidFill>
                  <a:srgbClr val="5C7378"/>
                </a:solidFill>
                <a:latin typeface="Arial" pitchFamily="34" charset="0"/>
                <a:ea typeface="Arial" pitchFamily="34" charset="-122"/>
                <a:cs typeface="Arial" pitchFamily="34" charset="-120"/>
              </a:rPr>
              <a:t>التقارير تُصدَّر يدويًا، ولا توجد قناة تبادل آلية بعد</a:t>
            </a:r>
            <a:endParaRPr lang="en-US" sz="1100" dirty="0"/>
          </a:p>
        </p:txBody>
      </p:sp>
      <p:sp>
        <p:nvSpPr>
          <p:cNvPr id="25" name="Shape 20"/>
          <p:cNvSpPr/>
          <p:nvPr/>
        </p:nvSpPr>
        <p:spPr>
          <a:xfrm>
            <a:off x="6452464" y="3986784"/>
            <a:ext cx="4971136" cy="347472"/>
          </a:xfrm>
          <a:prstGeom prst="roundRect">
            <a:avLst>
              <a:gd name="adj" fmla="val 15789"/>
            </a:avLst>
          </a:prstGeom>
          <a:solidFill>
            <a:srgbClr val="ECF4F4"/>
          </a:solidFill>
          <a:ln/>
        </p:spPr>
      </p:sp>
      <p:sp>
        <p:nvSpPr>
          <p:cNvPr id="26" name="Text 21"/>
          <p:cNvSpPr txBox="1"/>
          <p:nvPr/>
        </p:nvSpPr>
        <p:spPr>
          <a:xfrm>
            <a:off x="6598768" y="3986784"/>
            <a:ext cx="4678528" cy="347472"/>
          </a:xfrm>
          <a:prstGeom prst="rect">
            <a:avLst/>
          </a:prstGeom>
          <a:noFill/>
          <a:ln/>
        </p:spPr>
        <p:txBody>
          <a:bodyPr wrap="square" lIns="0" tIns="0" rIns="0" bIns="0" rtlCol="0" anchor="ctr"/>
          <a:lstStyle/>
          <a:p>
            <a:pPr rtl="1" algn="r" indent="0" marL="0">
              <a:buNone/>
            </a:pPr>
            <a:r>
              <a:rPr lang="en-US" sz="1050" b="1" dirty="0">
                <a:solidFill>
                  <a:srgbClr val="02717D"/>
                </a:solidFill>
                <a:latin typeface="Arial" pitchFamily="34" charset="0"/>
                <a:ea typeface="Arial" pitchFamily="34" charset="-122"/>
                <a:cs typeface="Arial" pitchFamily="34" charset="-120"/>
              </a:rPr>
              <a:t>الخطوة التالية: واجهة تبادل آمنة حسب معايير الجهة المستقبِلة</a:t>
            </a:r>
            <a:endParaRPr lang="en-US" sz="1050" dirty="0"/>
          </a:p>
        </p:txBody>
      </p:sp>
      <p:sp>
        <p:nvSpPr>
          <p:cNvPr id="27" name="Shape 22"/>
          <p:cNvSpPr/>
          <p:nvPr/>
        </p:nvSpPr>
        <p:spPr>
          <a:xfrm>
            <a:off x="548640" y="3127248"/>
            <a:ext cx="5410048" cy="1335024"/>
          </a:xfrm>
          <a:prstGeom prst="roundRect">
            <a:avLst>
              <a:gd name="adj" fmla="val 6164"/>
            </a:avLst>
          </a:prstGeom>
          <a:solidFill>
            <a:srgbClr val="FFFFFF"/>
          </a:solidFill>
          <a:ln/>
          <a:effectLst>
            <a:outerShdw sx="100000" sy="100000" kx="0" ky="0" algn="bl" rotWithShape="0" blurRad="127000" dist="25400" dir="5400000">
              <a:srgbClr val="0A2E36">
                <a:alpha val="10000"/>
              </a:srgbClr>
            </a:outerShdw>
          </a:effectLst>
        </p:spPr>
      </p:sp>
      <p:sp>
        <p:nvSpPr>
          <p:cNvPr id="28" name="Shape 23"/>
          <p:cNvSpPr/>
          <p:nvPr/>
        </p:nvSpPr>
        <p:spPr>
          <a:xfrm>
            <a:off x="5282032" y="3310128"/>
            <a:ext cx="384048" cy="384048"/>
          </a:xfrm>
          <a:prstGeom prst="ellipse">
            <a:avLst/>
          </a:prstGeom>
          <a:solidFill>
            <a:srgbClr val="E9A13B"/>
          </a:solidFill>
          <a:ln/>
        </p:spPr>
      </p:sp>
      <p:pic>
        <p:nvPicPr>
          <p:cNvPr id="29" name="Image 3" descr="preencoded.png">    </p:cNvPr>
          <p:cNvPicPr>
            <a:picLocks noChangeAspect="1"/>
          </p:cNvPicPr>
          <p:nvPr/>
        </p:nvPicPr>
        <p:blipFill>
          <a:blip r:embed="rId4"/>
          <a:stretch>
            <a:fillRect/>
          </a:stretch>
        </p:blipFill>
        <p:spPr>
          <a:xfrm>
            <a:off x="5378044" y="3410712"/>
            <a:ext cx="192024" cy="192024"/>
          </a:xfrm>
          <a:prstGeom prst="rect">
            <a:avLst/>
          </a:prstGeom>
        </p:spPr>
      </p:pic>
      <p:sp>
        <p:nvSpPr>
          <p:cNvPr id="30" name="Text 24"/>
          <p:cNvSpPr txBox="1"/>
          <p:nvPr/>
        </p:nvSpPr>
        <p:spPr>
          <a:xfrm>
            <a:off x="768096" y="3273552"/>
            <a:ext cx="4459072" cy="292608"/>
          </a:xfrm>
          <a:prstGeom prst="rect">
            <a:avLst/>
          </a:prstGeom>
          <a:noFill/>
          <a:ln/>
        </p:spPr>
        <p:txBody>
          <a:bodyPr wrap="square" lIns="0" tIns="0" rIns="0" bIns="0" rtlCol="0" anchor="ctr"/>
          <a:lstStyle/>
          <a:p>
            <a:pPr rtl="1" algn="r" indent="0" marL="0">
              <a:buNone/>
            </a:pPr>
            <a:r>
              <a:rPr lang="en-US" sz="1350" b="1" dirty="0">
                <a:solidFill>
                  <a:srgbClr val="16292E"/>
                </a:solidFill>
                <a:latin typeface="Arial" pitchFamily="34" charset="0"/>
                <a:ea typeface="Arial" pitchFamily="34" charset="-122"/>
                <a:cs typeface="Arial" pitchFamily="34" charset="-120"/>
              </a:rPr>
              <a:t>المساعد يفهم ما عُرِّف له</a:t>
            </a:r>
            <a:endParaRPr lang="en-US" sz="1350" dirty="0"/>
          </a:p>
        </p:txBody>
      </p:sp>
      <p:sp>
        <p:nvSpPr>
          <p:cNvPr id="31" name="Text 25"/>
          <p:cNvSpPr txBox="1"/>
          <p:nvPr/>
        </p:nvSpPr>
        <p:spPr>
          <a:xfrm>
            <a:off x="768096" y="3602736"/>
            <a:ext cx="4971136" cy="347472"/>
          </a:xfrm>
          <a:prstGeom prst="rect">
            <a:avLst/>
          </a:prstGeom>
          <a:noFill/>
          <a:ln/>
        </p:spPr>
        <p:txBody>
          <a:bodyPr wrap="square" lIns="0" tIns="0" rIns="0" bIns="0" rtlCol="0" anchor="ctr"/>
          <a:lstStyle/>
          <a:p>
            <a:pPr rtl="1" algn="r" indent="0" marL="0">
              <a:lnSpc>
                <a:spcPts val="1500"/>
              </a:lnSpc>
              <a:buNone/>
            </a:pPr>
            <a:r>
              <a:rPr lang="en-US" sz="1100" dirty="0">
                <a:solidFill>
                  <a:srgbClr val="5C7378"/>
                </a:solidFill>
                <a:latin typeface="Arial" pitchFamily="34" charset="0"/>
                <a:ea typeface="Arial" pitchFamily="34" charset="-122"/>
                <a:cs typeface="Arial" pitchFamily="34" charset="-120"/>
              </a:rPr>
              <a:t>يغطّي أسئلة أربعة محاور؛ وما خرج عنها يُحال إلى البحث الشامل</a:t>
            </a:r>
            <a:endParaRPr lang="en-US" sz="1100" dirty="0"/>
          </a:p>
        </p:txBody>
      </p:sp>
      <p:sp>
        <p:nvSpPr>
          <p:cNvPr id="32" name="Shape 26"/>
          <p:cNvSpPr/>
          <p:nvPr/>
        </p:nvSpPr>
        <p:spPr>
          <a:xfrm>
            <a:off x="768096" y="3986784"/>
            <a:ext cx="4971136" cy="347472"/>
          </a:xfrm>
          <a:prstGeom prst="roundRect">
            <a:avLst>
              <a:gd name="adj" fmla="val 15789"/>
            </a:avLst>
          </a:prstGeom>
          <a:solidFill>
            <a:srgbClr val="ECF4F4"/>
          </a:solidFill>
          <a:ln/>
        </p:spPr>
      </p:sp>
      <p:sp>
        <p:nvSpPr>
          <p:cNvPr id="33" name="Text 27"/>
          <p:cNvSpPr txBox="1"/>
          <p:nvPr/>
        </p:nvSpPr>
        <p:spPr>
          <a:xfrm>
            <a:off x="914400" y="3986784"/>
            <a:ext cx="4678528" cy="347472"/>
          </a:xfrm>
          <a:prstGeom prst="rect">
            <a:avLst/>
          </a:prstGeom>
          <a:noFill/>
          <a:ln/>
        </p:spPr>
        <p:txBody>
          <a:bodyPr wrap="square" lIns="0" tIns="0" rIns="0" bIns="0" rtlCol="0" anchor="ctr"/>
          <a:lstStyle/>
          <a:p>
            <a:pPr rtl="1" algn="r" indent="0" marL="0">
              <a:buNone/>
            </a:pPr>
            <a:r>
              <a:rPr lang="en-US" sz="1050" b="1" dirty="0">
                <a:solidFill>
                  <a:srgbClr val="02717D"/>
                </a:solidFill>
                <a:latin typeface="Arial" pitchFamily="34" charset="0"/>
                <a:ea typeface="Arial" pitchFamily="34" charset="-122"/>
                <a:cs typeface="Arial" pitchFamily="34" charset="-120"/>
              </a:rPr>
              <a:t>الخطوة التالية: توسيع النوايا بحسب ما يسأله المستخدمون فعلًا</a:t>
            </a:r>
            <a:endParaRPr lang="en-US" sz="1050" dirty="0"/>
          </a:p>
        </p:txBody>
      </p:sp>
      <p:sp>
        <p:nvSpPr>
          <p:cNvPr id="34" name="Shape 28"/>
          <p:cNvSpPr/>
          <p:nvPr/>
        </p:nvSpPr>
        <p:spPr>
          <a:xfrm>
            <a:off x="548640" y="4901184"/>
            <a:ext cx="11094415" cy="1280160"/>
          </a:xfrm>
          <a:prstGeom prst="roundRect">
            <a:avLst>
              <a:gd name="adj" fmla="val 7143"/>
            </a:avLst>
          </a:prstGeom>
          <a:solidFill>
            <a:srgbClr val="0A2E36"/>
          </a:solidFill>
          <a:ln/>
        </p:spPr>
      </p:sp>
      <p:sp>
        <p:nvSpPr>
          <p:cNvPr id="35" name="Text 29"/>
          <p:cNvSpPr txBox="1"/>
          <p:nvPr/>
        </p:nvSpPr>
        <p:spPr>
          <a:xfrm>
            <a:off x="914400" y="5065776"/>
            <a:ext cx="10362895" cy="292608"/>
          </a:xfrm>
          <a:prstGeom prst="rect">
            <a:avLst/>
          </a:prstGeom>
          <a:noFill/>
          <a:ln/>
        </p:spPr>
        <p:txBody>
          <a:bodyPr wrap="square" lIns="0" tIns="0" rIns="0" bIns="0" rtlCol="0" anchor="ctr"/>
          <a:lstStyle/>
          <a:p>
            <a:pPr rtl="1" algn="ctr" indent="0" marL="0">
              <a:buNone/>
            </a:pPr>
            <a:r>
              <a:rPr lang="en-US" sz="1350" b="1" dirty="0">
                <a:solidFill>
                  <a:srgbClr val="00A896"/>
                </a:solidFill>
                <a:latin typeface="Arial" pitchFamily="34" charset="0"/>
                <a:ea typeface="Arial" pitchFamily="34" charset="-122"/>
                <a:cs typeface="Arial" pitchFamily="34" charset="-120"/>
              </a:rPr>
              <a:t>لماذا نعرض هذه الشريحة أصلًا</a:t>
            </a:r>
            <a:endParaRPr lang="en-US" sz="1350" dirty="0"/>
          </a:p>
        </p:txBody>
      </p:sp>
      <p:sp>
        <p:nvSpPr>
          <p:cNvPr id="36" name="Text 30"/>
          <p:cNvSpPr txBox="1"/>
          <p:nvPr/>
        </p:nvSpPr>
        <p:spPr>
          <a:xfrm>
            <a:off x="1097280" y="5449824"/>
            <a:ext cx="9997135" cy="585216"/>
          </a:xfrm>
          <a:prstGeom prst="rect">
            <a:avLst/>
          </a:prstGeom>
          <a:noFill/>
          <a:ln/>
        </p:spPr>
        <p:txBody>
          <a:bodyPr wrap="square" lIns="0" tIns="0" rIns="0" bIns="0" rtlCol="0" anchor="ctr"/>
          <a:lstStyle/>
          <a:p>
            <a:pPr rtl="1" algn="ctr" indent="0" marL="0">
              <a:lnSpc>
                <a:spcPts val="1800"/>
              </a:lnSpc>
              <a:buNone/>
            </a:pPr>
            <a:r>
              <a:rPr lang="en-US" sz="1250" dirty="0">
                <a:solidFill>
                  <a:srgbClr val="BFD4D7"/>
                </a:solidFill>
                <a:latin typeface="Arial" pitchFamily="34" charset="0"/>
                <a:ea typeface="Arial" pitchFamily="34" charset="-122"/>
                <a:cs typeface="Arial" pitchFamily="34" charset="-120"/>
              </a:rPr>
              <a:t>لأن معرفة حدود ما بنيناه جزء من فهمه. ونفضّل أن نذكرها نحن بدقّة، مع الخطوة التالية لكلٍّ منها، على أن تُكتشف في سؤال</a:t>
            </a:r>
            <a:endParaRPr lang="en-US" sz="1250" dirty="0"/>
          </a:p>
        </p:txBody>
      </p:sp>
      <p:sp>
        <p:nvSpPr>
          <p:cNvPr id="37" name="Shape 31"/>
          <p:cNvSpPr/>
          <p:nvPr/>
        </p:nvSpPr>
        <p:spPr>
          <a:xfrm>
            <a:off x="548640" y="6364224"/>
            <a:ext cx="11094415" cy="16459"/>
          </a:xfrm>
          <a:prstGeom prst="rect">
            <a:avLst/>
          </a:prstGeom>
          <a:solidFill>
            <a:srgbClr val="DCE6E7"/>
          </a:solidFill>
          <a:ln/>
        </p:spPr>
      </p:sp>
      <p:sp>
        <p:nvSpPr>
          <p:cNvPr id="38" name="Text 32"/>
          <p:cNvSpPr txBox="1"/>
          <p:nvPr/>
        </p:nvSpPr>
        <p:spPr>
          <a:xfrm>
            <a:off x="4785055" y="6437376"/>
            <a:ext cx="6858000" cy="256032"/>
          </a:xfrm>
          <a:prstGeom prst="rect">
            <a:avLst/>
          </a:prstGeom>
          <a:noFill/>
          <a:ln/>
        </p:spPr>
        <p:txBody>
          <a:bodyPr wrap="square" lIns="0" tIns="0" rIns="0" bIns="0" rtlCol="0" anchor="ctr"/>
          <a:lstStyle/>
          <a:p>
            <a:pPr rtl="1" algn="r" indent="0" marL="0">
              <a:buNone/>
            </a:pPr>
            <a:r>
              <a:rPr lang="en-US" sz="950" dirty="0">
                <a:solidFill>
                  <a:srgbClr val="5C7378"/>
                </a:solidFill>
                <a:latin typeface="Arial" pitchFamily="34" charset="0"/>
                <a:ea typeface="Arial" pitchFamily="34" charset="-122"/>
                <a:cs typeface="Arial" pitchFamily="34" charset="-120"/>
              </a:rPr>
              <a:t>نظام إدارة المخيمات  ·  مشروع فصلي  ·  جامعة الشمال الخاصة</a:t>
            </a:r>
            <a:endParaRPr lang="en-US" sz="950" dirty="0"/>
          </a:p>
        </p:txBody>
      </p:sp>
      <p:sp>
        <p:nvSpPr>
          <p:cNvPr id="39" name="Text 33"/>
          <p:cNvSpPr txBox="1"/>
          <p:nvPr/>
        </p:nvSpPr>
        <p:spPr>
          <a:xfrm>
            <a:off x="548640" y="6437376"/>
            <a:ext cx="2743200" cy="256032"/>
          </a:xfrm>
          <a:prstGeom prst="rect">
            <a:avLst/>
          </a:prstGeom>
          <a:noFill/>
          <a:ln/>
        </p:spPr>
        <p:txBody>
          <a:bodyPr wrap="square" lIns="0" tIns="0" rIns="0" bIns="0" rtlCol="0" anchor="ctr"/>
          <a:lstStyle/>
          <a:p>
            <a:pPr rtl="1" algn="l" indent="0" marL="0">
              <a:buNone/>
            </a:pPr>
            <a:r>
              <a:rPr lang="en-US" sz="950" b="1" dirty="0">
                <a:solidFill>
                  <a:srgbClr val="02717D"/>
                </a:solidFill>
                <a:latin typeface="Arial" pitchFamily="34" charset="0"/>
                <a:ea typeface="Arial" pitchFamily="34" charset="-122"/>
                <a:cs typeface="Arial" pitchFamily="34" charset="-120"/>
              </a:rPr>
              <a:t>شريحة احتياطية</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نظام إدارة المخيمات — العرض الاستراتيجي</dc:title>
  <dc:subject>PptxGenJS Presentation</dc:subject>
  <dc:creator>Camp Management System</dc:creator>
  <cp:lastModifiedBy>Camp Management System</cp:lastModifiedBy>
  <cp:revision>1</cp:revision>
  <dcterms:created xsi:type="dcterms:W3CDTF">2026-09-03T02:34:27Z</dcterms:created>
  <dcterms:modified xsi:type="dcterms:W3CDTF">2026-09-03T02:34:27Z</dcterms:modified>
</cp:coreProperties>
</file>